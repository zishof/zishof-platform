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017e48e12e46c9" /><Relationship Type="http://schemas.openxmlformats.org/officeDocument/2006/relationships/extended-properties" Target="/docProps/app.xml" Id="Raafbcb2694e34fee" /><Relationship Type="http://schemas.openxmlformats.org/officeDocument/2006/relationships/officeDocument" Target="/ppt/presentation.xml" Id="R7cf48532baab45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9f70e2519d4f90"/>
  </p:sldMasterIdLst>
  <p:notesMasterIdLst>
    <p:notesMasterId xmlns:r="http://schemas.openxmlformats.org/officeDocument/2006/relationships" r:id="R47c2c60d4fda495c"/>
  </p:notesMasterIdLst>
  <p:sldIdLst>
    <p:sldId xmlns:r="http://schemas.openxmlformats.org/officeDocument/2006/relationships" id="256" r:id="Ra4a8ae84b57f4ead"/>
    <p:sldId xmlns:r="http://schemas.openxmlformats.org/officeDocument/2006/relationships" id="257" r:id="R4193506aff15424e"/>
    <p:sldId xmlns:r="http://schemas.openxmlformats.org/officeDocument/2006/relationships" id="258" r:id="R0c94200fceaa4d85"/>
    <p:sldId xmlns:r="http://schemas.openxmlformats.org/officeDocument/2006/relationships" id="259" r:id="R6fb3da9fe5074f10"/>
    <p:sldId xmlns:r="http://schemas.openxmlformats.org/officeDocument/2006/relationships" id="260" r:id="Rb2cd6ebcbe2a427c"/>
    <p:sldId xmlns:r="http://schemas.openxmlformats.org/officeDocument/2006/relationships" id="261" r:id="R6cf8e3d6bd294df7"/>
    <p:sldId xmlns:r="http://schemas.openxmlformats.org/officeDocument/2006/relationships" id="262" r:id="Ra0190cf8fa23417d"/>
    <p:sldId xmlns:r="http://schemas.openxmlformats.org/officeDocument/2006/relationships" id="263" r:id="R312b87d785c444e5"/>
    <p:sldId xmlns:r="http://schemas.openxmlformats.org/officeDocument/2006/relationships" id="264" r:id="R675979dedcf64da9"/>
    <p:sldId xmlns:r="http://schemas.openxmlformats.org/officeDocument/2006/relationships" id="265" r:id="Rad37660110fa4d30"/>
    <p:sldId xmlns:r="http://schemas.openxmlformats.org/officeDocument/2006/relationships" id="266" r:id="Ra817891e540c4a5e"/>
    <p:sldId xmlns:r="http://schemas.openxmlformats.org/officeDocument/2006/relationships" id="267" r:id="R902fd3ecb74f41be"/>
    <p:sldId xmlns:r="http://schemas.openxmlformats.org/officeDocument/2006/relationships" id="268" r:id="Rb757fa2e80bb4a7e"/>
    <p:sldId xmlns:r="http://schemas.openxmlformats.org/officeDocument/2006/relationships" id="269" r:id="Raa6c5c8155164a6a"/>
    <p:sldId xmlns:r="http://schemas.openxmlformats.org/officeDocument/2006/relationships" id="270" r:id="Rc973317ba6524496"/>
    <p:sldId xmlns:r="http://schemas.openxmlformats.org/officeDocument/2006/relationships" id="271" r:id="Rc26c44d83c9144bb"/>
    <p:sldId xmlns:r="http://schemas.openxmlformats.org/officeDocument/2006/relationships" id="272" r:id="R328ffc5ea40640a9"/>
    <p:sldId xmlns:r="http://schemas.openxmlformats.org/officeDocument/2006/relationships" id="273" r:id="R43556d33c77148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2ad0ef2d7b4918" /><Relationship Type="http://schemas.openxmlformats.org/officeDocument/2006/relationships/slideMaster" Target="/ppt/slideMasters/slideMaster1.xml" Id="R489f70e2519d4f90" /><Relationship Type="http://schemas.openxmlformats.org/officeDocument/2006/relationships/notesMaster" Target="/ppt/notesMasters/notesMaster1.xml" Id="R47c2c60d4fda495c" /><Relationship Type="http://schemas.openxmlformats.org/officeDocument/2006/relationships/presProps" Target="/ppt/presProps.xml" Id="R213861be20704099" /><Relationship Type="http://schemas.openxmlformats.org/officeDocument/2006/relationships/tableStyles" Target="/ppt/tableStyles.xml" Id="Rea5b1f3bca704919" /><Relationship Type="http://schemas.openxmlformats.org/officeDocument/2006/relationships/slide" Target="/ppt/slides/slide1.xml" Id="Ra4a8ae84b57f4ead" /><Relationship Type="http://schemas.openxmlformats.org/officeDocument/2006/relationships/slide" Target="/ppt/slides/slide2.xml" Id="R4193506aff15424e" /><Relationship Type="http://schemas.openxmlformats.org/officeDocument/2006/relationships/slide" Target="/ppt/slides/slide3.xml" Id="R0c94200fceaa4d85" /><Relationship Type="http://schemas.openxmlformats.org/officeDocument/2006/relationships/slide" Target="/ppt/slides/slide4.xml" Id="R6fb3da9fe5074f10" /><Relationship Type="http://schemas.openxmlformats.org/officeDocument/2006/relationships/slide" Target="/ppt/slides/slide5.xml" Id="Rb2cd6ebcbe2a427c" /><Relationship Type="http://schemas.openxmlformats.org/officeDocument/2006/relationships/slide" Target="/ppt/slides/slide6.xml" Id="R6cf8e3d6bd294df7" /><Relationship Type="http://schemas.openxmlformats.org/officeDocument/2006/relationships/slide" Target="/ppt/slides/slide7.xml" Id="Ra0190cf8fa23417d" /><Relationship Type="http://schemas.openxmlformats.org/officeDocument/2006/relationships/slide" Target="/ppt/slides/slide8.xml" Id="R312b87d785c444e5" /><Relationship Type="http://schemas.openxmlformats.org/officeDocument/2006/relationships/slide" Target="/ppt/slides/slide9.xml" Id="R675979dedcf64da9" /><Relationship Type="http://schemas.openxmlformats.org/officeDocument/2006/relationships/slide" Target="/ppt/slides/slide10.xml" Id="Rad37660110fa4d30" /><Relationship Type="http://schemas.openxmlformats.org/officeDocument/2006/relationships/slide" Target="/ppt/slides/slide11.xml" Id="Ra817891e540c4a5e" /><Relationship Type="http://schemas.openxmlformats.org/officeDocument/2006/relationships/slide" Target="/ppt/slides/slide12.xml" Id="R902fd3ecb74f41be" /><Relationship Type="http://schemas.openxmlformats.org/officeDocument/2006/relationships/slide" Target="/ppt/slides/slide13.xml" Id="Rb757fa2e80bb4a7e" /><Relationship Type="http://schemas.openxmlformats.org/officeDocument/2006/relationships/slide" Target="/ppt/slides/slide14.xml" Id="Raa6c5c8155164a6a" /><Relationship Type="http://schemas.openxmlformats.org/officeDocument/2006/relationships/slide" Target="/ppt/slides/slide15.xml" Id="Rc973317ba6524496" /><Relationship Type="http://schemas.openxmlformats.org/officeDocument/2006/relationships/slide" Target="/ppt/slides/slide16.xml" Id="Rc26c44d83c9144bb" /><Relationship Type="http://schemas.openxmlformats.org/officeDocument/2006/relationships/slide" Target="/ppt/slides/slide17.xml" Id="R328ffc5ea40640a9" /><Relationship Type="http://schemas.openxmlformats.org/officeDocument/2006/relationships/slide" Target="/ppt/slides/slide18.xml" Id="R43556d33c77148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5a178b43740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c0e301f74f4990" /><Relationship Type="http://schemas.openxmlformats.org/officeDocument/2006/relationships/notesMaster" Target="/ppt/notesMasters/notesMaster1.xml" Id="R5567c69b835d41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5a3e3c57304235" /><Relationship Type="http://schemas.openxmlformats.org/officeDocument/2006/relationships/notesMaster" Target="/ppt/notesMasters/notesMaster1.xml" Id="Rc8d6e7e92ef946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45e0cc85c04bf8" /><Relationship Type="http://schemas.openxmlformats.org/officeDocument/2006/relationships/notesMaster" Target="/ppt/notesMasters/notesMaster1.xml" Id="R780bddf2bf5e42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d2012a0c6843c5" /><Relationship Type="http://schemas.openxmlformats.org/officeDocument/2006/relationships/notesMaster" Target="/ppt/notesMasters/notesMaster1.xml" Id="Rdd1d555e7e7e44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bca40a7b2f4c0c" /><Relationship Type="http://schemas.openxmlformats.org/officeDocument/2006/relationships/notesMaster" Target="/ppt/notesMasters/notesMaster1.xml" Id="Rab77165a3ab749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517b7162e445da" /><Relationship Type="http://schemas.openxmlformats.org/officeDocument/2006/relationships/notesMaster" Target="/ppt/notesMasters/notesMaster1.xml" Id="Rca7152246992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379513f63046c7" /><Relationship Type="http://schemas.openxmlformats.org/officeDocument/2006/relationships/notesMaster" Target="/ppt/notesMasters/notesMaster1.xml" Id="R5066cc9aa7ec40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e3934b68904b39" /><Relationship Type="http://schemas.openxmlformats.org/officeDocument/2006/relationships/notesMaster" Target="/ppt/notesMasters/notesMaster1.xml" Id="Re83656b0b06248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47de4d53774706" /><Relationship Type="http://schemas.openxmlformats.org/officeDocument/2006/relationships/notesMaster" Target="/ppt/notesMasters/notesMaster1.xml" Id="Re5d6b9f8f93542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8987c73f9641f5" /><Relationship Type="http://schemas.openxmlformats.org/officeDocument/2006/relationships/notesMaster" Target="/ppt/notesMasters/notesMaster1.xml" Id="R49afaee353bb4d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d7d49e5d1541de" /><Relationship Type="http://schemas.openxmlformats.org/officeDocument/2006/relationships/notesMaster" Target="/ppt/notesMasters/notesMaster1.xml" Id="Rb6d74fcff6f547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d7546d077e4223" /><Relationship Type="http://schemas.openxmlformats.org/officeDocument/2006/relationships/notesMaster" Target="/ppt/notesMasters/notesMaster1.xml" Id="R81a5213ef07646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abb1d5b28f4ed6" /><Relationship Type="http://schemas.openxmlformats.org/officeDocument/2006/relationships/notesMaster" Target="/ppt/notesMasters/notesMaster1.xml" Id="R47626128f14d40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37b41854e1412d" /><Relationship Type="http://schemas.openxmlformats.org/officeDocument/2006/relationships/notesMaster" Target="/ppt/notesMasters/notesMaster1.xml" Id="Rd7157095f4b143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02c8e9e1ef4b89" /><Relationship Type="http://schemas.openxmlformats.org/officeDocument/2006/relationships/notesMaster" Target="/ppt/notesMasters/notesMaster1.xml" Id="R2297cac9ab7245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642c34e36f40cc" /><Relationship Type="http://schemas.openxmlformats.org/officeDocument/2006/relationships/notesMaster" Target="/ppt/notesMasters/notesMaster1.xml" Id="Ra4fb2eab4d0a4a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715ae5986444be" /><Relationship Type="http://schemas.openxmlformats.org/officeDocument/2006/relationships/notesMaster" Target="/ppt/notesMasters/notesMaster1.xml" Id="Rb3f8de8448854e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d874345d7c4ba9" /><Relationship Type="http://schemas.openxmlformats.org/officeDocument/2006/relationships/notesMaster" Target="/ppt/notesMasters/notesMaster1.xml" Id="Rdaeb352cc3604e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C:\opt\AIS\ais\src\main\docs\abchicken\uat-pos-desktop-e2e-20260909\08-hasil-verifikasi-kandidat-rilis-v1.34.30.md</a:t>
            </a:r>
          </a:p>
          <a:p xmlns:a="http://schemas.openxmlformats.org/drawingml/2006/main">
            <a:r>
              <a:t>Status: Kandidat rilis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C:\opt\AIS\ais\src\main\docs\abchicken\uat-pos-desktop-e2e-20260909\08-hasil-verifikasi-kandidat-rilis-v1.34.30.md</a:t>
            </a:r>
          </a:p>
          <a:p xmlns:a="http://schemas.openxmlformats.org/drawingml/2006/main">
            <a:r>
              <a:t>Status: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C:\opt\AIS\ais\src\main\docs\abchicken\uat-pos-desktop-e2e-20260909\07-hasil-uat-pos-desktop-e2e-20260909.md</a:t>
            </a:r>
          </a:p>
          <a:p xmlns:a="http://schemas.openxmlformats.org/drawingml/2006/main">
            <a:r>
              <a:t>Status: Batas operasi terverifikasi pada UAT 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C:\opt\AIS\ais\src\main\docs\abchicken\uat-pos-desktop-e2e-20260909\evidence\release-candidate-1.34.30\data\hasil-gate-data-desktop.txt</a:t>
            </a:r>
          </a:p>
          <a:p xmlns:a="http://schemas.openxmlformats.org/drawingml/2006/main">
            <a:r>
              <a:t>Status: 13/13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C:\opt\AIS\ais\src\main\docs\abchicken\uat-pos-desktop-e2e-20260909\diagrams\02-use-case-peran.png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C:\opt\AIS\ais\src\main\docs\abchicken\uat-pos-desktop-e2e-20260909\diagrams\01-flow-siklus-operasional.png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C:\opt\AIS\ais\src\main\docs\abchicken\uat-pos-desktop-e2e-20260909\diagrams\03-erd-aliran-data.png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C:\opt\AIS\ais\src\main\docs\abchicken\uat-pos-desktop-e2e-20260909\evidence\screenshots-beranotasi\01-outlet_order-50-record.png</a:t>
            </a:r>
          </a:p>
          <a:p xmlns:a="http://schemas.openxmlformats.org/drawingml/2006/main">
            <a:r>
              <a:t>Status: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C:\opt\AIS\ais\src\main\docs\abchicken\uat-pos-desktop-e2e-20260909\evidence\screenshots-beranotasi\02-procurement_pr-approved.png</a:t>
            </a:r>
          </a:p>
          <a:p xmlns:a="http://schemas.openxmlformats.org/drawingml/2006/main">
            <a:r>
              <a:t>C:\opt\AIS\ais\src\main\docs\abchicken\uat-pos-desktop-e2e-20260909\evidence\screenshots-beranotasi\03-procurement_po-approved.png</a:t>
            </a:r>
          </a:p>
          <a:p xmlns:a="http://schemas.openxmlformats.org/drawingml/2006/main">
            <a:r>
              <a:t>Status: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C:\opt\AIS\ais\src\main\docs\abchicken\uat-pos-desktop-e2e-20260909\evidence\screenshots-beranotasi\04-procurement_bast-posted.png</a:t>
            </a:r>
          </a:p>
          <a:p xmlns:a="http://schemas.openxmlformats.org/drawingml/2006/main">
            <a:r>
              <a:t>C:\opt\AIS\ais\src\main\docs\abchicken\uat-pos-desktop-e2e-20260909\evidence\screenshots-beranotasi\05-procurement_invoice-posted.png</a:t>
            </a:r>
          </a:p>
          <a:p xmlns:a="http://schemas.openxmlformats.org/drawingml/2006/main">
            <a:r>
              <a:t>Status: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C:\opt\AIS\ais\src\main\docs\abchicken\uat-pos-desktop-e2e-20260909\evidence\screenshots-beranotasi\06-procurement_payment-posted.png</a:t>
            </a:r>
          </a:p>
          <a:p xmlns:a="http://schemas.openxmlformats.org/drawingml/2006/main">
            <a:r>
              <a:t>C:\opt\AIS\ais\src\main\docs\abchicken\uat-pos-desktop-e2e-20260909\evidence\screenshots-beranotasi\07-production-posted.png</a:t>
            </a:r>
          </a:p>
          <a:p xmlns:a="http://schemas.openxmlformats.org/drawingml/2006/main">
            <a:r>
              <a:t>Status: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C:\opt\AIS\ais\src\main\docs\abchicken\uat-pos-desktop-e2e-20260909\evidence\screenshots-beranotasi\08-shipment-arrived.png</a:t>
            </a:r>
          </a:p>
          <a:p xmlns:a="http://schemas.openxmlformats.org/drawingml/2006/main">
            <a:r>
              <a:t>C:\opt\AIS\ais\src\main\docs\abchicken\uat-pos-desktop-e2e-20260909\evidence\screenshots-beranotasi\08-shipment-posted.png</a:t>
            </a:r>
          </a:p>
          <a:p xmlns:a="http://schemas.openxmlformats.org/drawingml/2006/main">
            <a:r>
              <a:t>Status: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C:\opt\AIS\ais\src\main\docs\abchicken\uat-pos-desktop-e2e-20260909\evidence\screenshots-beranotasi\10-pos_sale-posted.png</a:t>
            </a:r>
          </a:p>
          <a:p xmlns:a="http://schemas.openxmlformats.org/drawingml/2006/main">
            <a:r>
              <a:t>Status: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C:\opt\AIS\ais\src\main\docs\abchicken\uat-pos-desktop-e2e-20260909\diagrams\04-relasi-akun-posting.png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C:\opt\AIS\ais\src\main\docs\abchicken\uat-pos-desktop-e2e-20260909\evidence\release-candidate-1.34.30\annotated\03-jurnal-halaman-terakhir-beranotasi.png</a:t>
            </a:r>
          </a:p>
          <a:p xmlns:a="http://schemas.openxmlformats.org/drawingml/2006/main">
            <a:r>
              <a:t>Status: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C:\opt\AIS\ais\src\main\docs\abchicken\uat-pos-desktop-e2e-20260909\evidence\screenshots-beranotasi\23-laba-rugi.png</a:t>
            </a:r>
          </a:p>
          <a:p xmlns:a="http://schemas.openxmlformats.org/drawingml/2006/main">
            <a:r>
              <a:t>C:\opt\AIS\ais\src\main\docs\abchicken\uat-pos-desktop-e2e-20260909\evidence\screenshots-beranotasi\24-neraca.png</a:t>
            </a:r>
          </a:p>
          <a:p xmlns:a="http://schemas.openxmlformats.org/drawingml/2006/main">
            <a:r>
              <a:t>Status: 6/6 LULUS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E:\opt\Codex-Worspace\release-abchicken-20260909\apps\ebisnis</a:t>
            </a:r>
          </a:p>
          <a:p xmlns:a="http://schemas.openxmlformats.org/drawingml/2006/main">
            <a:r>
              <a:t>Status: Batas verifikasi platform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C:\opt\AIS\ais\src\main\docs\abchicken\uat-pos-desktop-e2e-20260909\08-hasil-verifikasi-kandidat-rilis-v1.34.30.md</a:t>
            </a:r>
          </a:p>
          <a:p xmlns:a="http://schemas.openxmlformats.org/drawingml/2006/main">
            <a:r>
              <a:t>Status: Siap untuk packaging setelah signing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1ff62185146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466c59cf9a49b2" /><Relationship Type="http://schemas.openxmlformats.org/officeDocument/2006/relationships/slideLayout" Target="/ppt/slideLayouts/slideLayout1.xml" Id="R2bda93765fee4d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da93765fee4d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d5ffedcb54f91" /><Relationship Type="http://schemas.openxmlformats.org/officeDocument/2006/relationships/image" Target="/ppt/media/image.png" Id="R9e41e97de4714ef6" /><Relationship Type="http://schemas.openxmlformats.org/officeDocument/2006/relationships/notesSlide" Target="/ppt/notesSlides/notesSlide1.xml" Id="R6d19df867c8647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5ab3cf25647a0" /><Relationship Type="http://schemas.openxmlformats.org/officeDocument/2006/relationships/notesSlide" Target="/ppt/notesSlides/notesSlide2.xml" Id="Rdc1a22770e3149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0cb5870c24a44" /><Relationship Type="http://schemas.openxmlformats.org/officeDocument/2006/relationships/notesSlide" Target="/ppt/notesSlides/notesSlide3.xml" Id="R397419d584784c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56136945d40f6" /><Relationship Type="http://schemas.openxmlformats.org/officeDocument/2006/relationships/notesSlide" Target="/ppt/notesSlides/notesSlide4.xml" Id="Rbf74f5240d8440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d0176f4d34052" /><Relationship Type="http://schemas.openxmlformats.org/officeDocument/2006/relationships/image" Target="/ppt/media/image2.png" Id="Rdc3e607c23ab4b9a" /><Relationship Type="http://schemas.openxmlformats.org/officeDocument/2006/relationships/notesSlide" Target="/ppt/notesSlides/notesSlide5.xml" Id="R8f46bec61d3343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2e5d009214f69" /><Relationship Type="http://schemas.openxmlformats.org/officeDocument/2006/relationships/image" Target="/ppt/media/image3.png" Id="R6712e0be816f4535" /><Relationship Type="http://schemas.openxmlformats.org/officeDocument/2006/relationships/notesSlide" Target="/ppt/notesSlides/notesSlide6.xml" Id="R38514ab3dedf42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41e1bda264f0a" /><Relationship Type="http://schemas.openxmlformats.org/officeDocument/2006/relationships/image" Target="/ppt/media/image4.png" Id="R882eac1b2c604f24" /><Relationship Type="http://schemas.openxmlformats.org/officeDocument/2006/relationships/notesSlide" Target="/ppt/notesSlides/notesSlide7.xml" Id="Rd1d9f69f261641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8d143dc2043a6" /><Relationship Type="http://schemas.openxmlformats.org/officeDocument/2006/relationships/image" Target="/ppt/media/image5.png" Id="R4b0ff8f2d86b4b79" /><Relationship Type="http://schemas.openxmlformats.org/officeDocument/2006/relationships/notesSlide" Target="/ppt/notesSlides/notesSlide8.xml" Id="R594b8f75f0f144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b0268ff69457d" /><Relationship Type="http://schemas.openxmlformats.org/officeDocument/2006/relationships/image" Target="/ppt/media/image6.png" Id="R9a2175911b9b49a6" /><Relationship Type="http://schemas.openxmlformats.org/officeDocument/2006/relationships/image" Target="/ppt/media/image7.png" Id="R284ada46bbf540d1" /><Relationship Type="http://schemas.openxmlformats.org/officeDocument/2006/relationships/notesSlide" Target="/ppt/notesSlides/notesSlide9.xml" Id="R4e15ad6f2c9d40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c16bd92eb4c01" /><Relationship Type="http://schemas.openxmlformats.org/officeDocument/2006/relationships/image" Target="/ppt/media/image8.png" Id="R5891086c506a482c" /><Relationship Type="http://schemas.openxmlformats.org/officeDocument/2006/relationships/image" Target="/ppt/media/image9.png" Id="R393cba6a5bbc40f6" /><Relationship Type="http://schemas.openxmlformats.org/officeDocument/2006/relationships/notesSlide" Target="/ppt/notesSlides/notesSlide10.xml" Id="Rd7328cb7787a48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558475899422c" /><Relationship Type="http://schemas.openxmlformats.org/officeDocument/2006/relationships/image" Target="/ppt/media/image10.png" Id="R32b58c4ed633488a" /><Relationship Type="http://schemas.openxmlformats.org/officeDocument/2006/relationships/image" Target="/ppt/media/image11.png" Id="R34ef6d804c8c4db1" /><Relationship Type="http://schemas.openxmlformats.org/officeDocument/2006/relationships/notesSlide" Target="/ppt/notesSlides/notesSlide11.xml" Id="Re2fe33e0572641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fcbb2e8e44b5c" /><Relationship Type="http://schemas.openxmlformats.org/officeDocument/2006/relationships/image" Target="/ppt/media/image12.png" Id="R1a1621cd5aab4c62" /><Relationship Type="http://schemas.openxmlformats.org/officeDocument/2006/relationships/image" Target="/ppt/media/image13.png" Id="R9f023c40dcbb450d" /><Relationship Type="http://schemas.openxmlformats.org/officeDocument/2006/relationships/notesSlide" Target="/ppt/notesSlides/notesSlide12.xml" Id="R955c8c652f3f47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3f947c20e4462" /><Relationship Type="http://schemas.openxmlformats.org/officeDocument/2006/relationships/image" Target="/ppt/media/image14.png" Id="R0c93daee60f34473" /><Relationship Type="http://schemas.openxmlformats.org/officeDocument/2006/relationships/notesSlide" Target="/ppt/notesSlides/notesSlide13.xml" Id="R6896957343d943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89a3fbbda4ad7" /><Relationship Type="http://schemas.openxmlformats.org/officeDocument/2006/relationships/image" Target="/ppt/media/image15.png" Id="Rbe9fcabfbe394bf9" /><Relationship Type="http://schemas.openxmlformats.org/officeDocument/2006/relationships/notesSlide" Target="/ppt/notesSlides/notesSlide14.xml" Id="R64aadf9f66364f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cab684d0b4a0a" /><Relationship Type="http://schemas.openxmlformats.org/officeDocument/2006/relationships/image" Target="/ppt/media/image16.png" Id="R234308931e2b465b" /><Relationship Type="http://schemas.openxmlformats.org/officeDocument/2006/relationships/notesSlide" Target="/ppt/notesSlides/notesSlide15.xml" Id="R0a782a87d19f4f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595b5ea6b4e4b" /><Relationship Type="http://schemas.openxmlformats.org/officeDocument/2006/relationships/image" Target="/ppt/media/image17.png" Id="R12f262a303fb4382" /><Relationship Type="http://schemas.openxmlformats.org/officeDocument/2006/relationships/image" Target="/ppt/media/image18.png" Id="R8c72faa2794a4b6d" /><Relationship Type="http://schemas.openxmlformats.org/officeDocument/2006/relationships/notesSlide" Target="/ppt/notesSlides/notesSlide16.xml" Id="Rf0d2e50b91f64c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86ba09fa2483a" /><Relationship Type="http://schemas.openxmlformats.org/officeDocument/2006/relationships/notesSlide" Target="/ppt/notesSlides/notesSlide17.xml" Id="Ra5287c2457624a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329cdf5044ac1" /><Relationship Type="http://schemas.openxmlformats.org/officeDocument/2006/relationships/notesSlide" Target="/ppt/notesSlides/notesSlide18.xml" Id="Rc2e7437d6c6949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189E7-2F88-4E6D-8347-EDBC42E1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A12"/>
          </a:solidFill>
          <a:ln xmlns:a="http://schemas.openxmlformats.org/drawingml/2006/main" w="11430">
            <a:solidFill>
              <a:srgbClr val="D56A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18F5C-36E8-4A3A-913B-FDC7B95C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7725"/>
            <a:ext cx="1485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1e97de4714ef6"/>
          <a:stretch xmlns:a="http://schemas.openxmlformats.org/drawingml/2006/main"/>
        </p:blipFill>
        <p:spPr>
          <a:xfrm xmlns:a="http://schemas.openxmlformats.org/drawingml/2006/main">
            <a:off x="819150" y="8763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97608-1E36-4BA9-80DB-D036A66C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048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C5E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C5E2"/>
                </a:solidFill>
                <a:latin typeface="Arial"/>
                <a:ea typeface="Arial"/>
                <a:cs typeface="Arial"/>
              </a:rPr>
              <a:t>MANUAL UAT DAN RINGKASAN EKSEKUTIF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13949-2F0E-4EE0-AF8D-B5104263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3350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UAT End-to-End AB Chicken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F8FA3-9B7F-4D71-9F97-C9798758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766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A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AF4"/>
                </a:solidFill>
                <a:latin typeface="Arial"/>
                <a:ea typeface="Arial"/>
                <a:cs typeface="Arial"/>
              </a:rPr>
              <a:t>Pesanan outlet, pengadaan, penerimaan, produksi, pengiriman, penjualan POS, posting, dan laporan keuangan dalam satu siklus yang dapat ditelusuri.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2D7FA-0269-482E-9F54-3D518622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B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BD9"/>
                </a:solidFill>
                <a:latin typeface="Arial"/>
                <a:ea typeface="Arial"/>
                <a:cs typeface="Arial"/>
              </a:rPr>
              <a:t>Kandidat rilis 1.34.30 build 193  |  9 September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82E58-BB26-42B3-B881-C9F99EA5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BD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D9"/>
                </a:solidFill>
                <a:latin typeface="Arial"/>
                <a:ea typeface="Arial"/>
                <a:cs typeface="Arial"/>
              </a:rPr>
              <a:t>Tenant abchiken  |  Mode TENANT_ONLY  |  Operasional POS Desktop dan Android</a:t>
            </a:r>
          </a:p>
        </p:txBody>
      </p:sp>
    </p:spTree>
    <p:extLst>
      <p:ext uri="{BB962C8B-B14F-4D97-AF65-F5344CB8AC3E}">
        <p14:creationId xmlns:p14="http://schemas.microsoft.com/office/powerpoint/2010/main" val="538072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EFAAB-219F-4651-82A3-3554F487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Gerbang rilis kandidat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46F78-52E1-49BC-9F99-B48B7062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HASIL 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9FFF4-04B5-47C4-9048-4893EE48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14E5D-3983-483C-BA34-9C7A81F4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C6AE1-8440-41A3-92F9-8CDC798F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1055F-E2A7-47EC-AD8A-674075AC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seluruh gerbang yang didefinisikan lulus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C915F-085C-439F-BD97-7CF12967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287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23/23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92C8E-30B2-4FD9-971B-74887491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tes kontrak dan unit kandidat rilis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03AE3-2CBE-43C3-9B00-6134D075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13/13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A21D1-1463-4D05-9132-2FADA209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layar data memenuhi ambang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28CEB-E4F8-4EF5-A132-A477B1D4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8EB2C-DDEF-47C0-97D2-F74C1A60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aksi Desktop end-to-end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B2C12-2F00-43DF-BA99-5A687C56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0287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9875D-28C9-4BC0-9DBF-F608F949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942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6/6 laporan akuntansi lulus. Keseluruhan Jurnal dan Buku Besar masing-masing memuat 608 baris. Neraca Saldo seimbang dan selisih debit-kredit bernilai nol.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6AB2C-E525-4C77-BB00-23E6285B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Bukti regresi terbaru membentuk jurnal 307 sampai 312 dari BAST, tagihan, pembayaran, produksi, pengiriman, dan penjualan POS.</a:t>
            </a:r>
          </a:p>
        </p:txBody>
      </p:sp>
    </p:spTree>
    <p:extLst>
      <p:ext uri="{BB962C8B-B14F-4D97-AF65-F5344CB8AC3E}">
        <p14:creationId xmlns:p14="http://schemas.microsoft.com/office/powerpoint/2010/main" val="496088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44A6B-A3A9-4C6D-A7C6-288BC063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Batas peran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268C3-3DC3-46D6-A25C-C43733B2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7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ARSITEKTUR OPERASI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95DCD-7612-4DB4-A87D-CBE2C2DB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2A681-15C9-44D3-85D9-19F73CD6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41479-AC46-4D6B-B1C8-C523B73C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POS 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F5BD2-CB45-4B36-8FE1-45BA2AFB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Terminal utama untuk seluruh transaksi operasional pilot: pesanan bahan, PR/PO/BAST, tagihan, pembayaran, produksi, pengiriman, penerimaan outlet, POS, posting, dan laporan.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2C0FD-B69F-498D-B750-BE796D24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6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POS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CFE5D-6667-4C25-AB11-A51E8584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Client bergerak dengan variant, tenant lock, endpoint, aset merek, dan kontrak data yang sama. Paket Android ikut gerbang build dan penandatanganan rilis.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DD830-93B9-4550-ABE0-6EE57BAD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Web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EB75E-2B6F-44CF-BFDD-54073F80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Dipakai admin utama untuk registrasi tenant, konfigurasi akses, monitoring, audit, dan perbaikan administratif. Operator tidak menjalankan transaksi harian melalui Web.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1B82C-B696-4C19-9EE0-E6DD0C7A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5346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CB6B1-4C25-450F-90D7-163F9E61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81600"/>
            <a:ext cx="976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Satu tenant, satu sumber data server, dua client operasional. Status final selalu dibaca kembali dari API.</a:t>
            </a:r>
          </a:p>
        </p:txBody>
      </p:sp>
    </p:spTree>
    <p:extLst>
      <p:ext uri="{BB962C8B-B14F-4D97-AF65-F5344CB8AC3E}">
        <p14:creationId xmlns:p14="http://schemas.microsoft.com/office/powerpoint/2010/main" val="1741460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B9661-76C4-4CEB-AE2A-CAD0A57A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pilot yang diuji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1BF05-42BA-4B5D-87E4-E77A383C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CAKUPAN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D61B4-1BAD-409A-AFEA-8786DECA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C7761-391D-45F6-9F15-9EB57A11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E0305-58D1-48D7-9AC4-97F460F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9C9-541A-4E98-8818-10991FF5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288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pesanan outlet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C16A0-6155-44CF-ADAE-6CE12F93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811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F9CC4-06F7-43F1-B24F-937C3D69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288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PR, PO, BAST, tagihan, bayar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3B8C1-CCBF-4D4A-905E-320DCF2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CD5BA-D123-4866-A05F-9B5D839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288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produksi dan pengiriman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A1B93-270D-488A-9325-7912DBEC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BAC11-DE54-4821-88AD-025B78DA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288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penjualan POS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13228-218B-46A1-B2D6-8CC2B62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0DEAB-C68D-4E50-BC98-35AA83AC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29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produk jual dan BOM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1F9DA-37E8-453F-AD25-BA14C15E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137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A77F1-17BB-4A28-B6E6-C901530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bahan baku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02886-D7AE-4BEE-BF95-9E6EA8E6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8137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5C46A-620D-462E-B3E6-24B7B414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29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klaim atau backorder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CEC79-65AB-450D-B99D-E48BDEE3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8137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B7C5A-1CE4-417E-B9DD-EEBE27E1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29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baris jurnal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10FF-9408-4A09-A93D-2B80E5E8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9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778"/>
                </a:solidFill>
                <a:latin typeface="Arial"/>
                <a:ea typeface="Arial"/>
                <a:cs typeface="Arial"/>
              </a:rPr>
              <a:t>Setiap halaman proses menampilkan sekurang-kurangnya 50 record dan tidak ada halaman pengujian utama yang kosong.</a:t>
            </a:r>
          </a:p>
        </p:txBody>
      </p:sp>
    </p:spTree>
    <p:extLst>
      <p:ext uri="{BB962C8B-B14F-4D97-AF65-F5344CB8AC3E}">
        <p14:creationId xmlns:p14="http://schemas.microsoft.com/office/powerpoint/2010/main" val="145662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31E73-06A0-4990-938F-EF095186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Peran dalam siklus operasional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DFBA5-7B32-4DB7-93D9-C364E7FD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1CC6A-0434-4D22-84F7-FE65EEBE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8BDEE-16C2-47A4-9D10-75F7DC80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34AD5-0AD7-4C46-956A-B649932A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10763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e607c23ab4b9a"/>
          <a:stretch xmlns:a="http://schemas.openxmlformats.org/drawingml/2006/main"/>
        </p:blipFill>
        <p:spPr>
          <a:xfrm xmlns:a="http://schemas.openxmlformats.org/drawingml/2006/main">
            <a:off x="2524125" y="12001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05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7E19B-6B29-45ED-A594-0556822B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Siklus replenishment outlet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1AD4F-5372-440A-8586-C845FAA1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FLOWCHART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C93AB-CE4E-4E81-84EC-E7F58AA4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8397C-D5EC-4D86-9CFE-34486EC9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25597-C7FF-4E96-84DE-A641A0C5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10763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2e0be816f4535"/>
          <a:stretch xmlns:a="http://schemas.openxmlformats.org/drawingml/2006/main"/>
        </p:blipFill>
        <p:spPr>
          <a:xfrm xmlns:a="http://schemas.openxmlformats.org/drawingml/2006/main">
            <a:off x="2524125" y="12001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660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5AC33-F1B4-4DCB-98AA-46A56973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Ketertelusuran dokumen dan jurnal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F2E39-9B76-45E5-BCF1-9547BBE5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7241D-D961-468A-B844-C7EB0D4B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58718-1F7D-4D99-B44F-D1922A18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4E443-9E6B-409E-A3F4-F5833F1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10763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eac1b2c604f24"/>
          <a:stretch xmlns:a="http://schemas.openxmlformats.org/drawingml/2006/main"/>
        </p:blipFill>
        <p:spPr>
          <a:xfrm xmlns:a="http://schemas.openxmlformats.org/drawingml/2006/main">
            <a:off x="2524125" y="12001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81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E771F-E7B9-4614-A5A2-B4AD5760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Pesanan bahan baku outlet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897DE-E4C5-43A2-BBE9-C146666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BUKTI DESKTOP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10586-CD22-4165-8D26-33F44E83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5A2B-9F29-4C5D-8945-A62A5A98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DE677-F66D-4D4A-B8CA-283DE129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8153400" cy="458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ff8f2d86b4b79"/>
          <a:stretch xmlns:a="http://schemas.openxmlformats.org/drawingml/2006/main"/>
        </p:blipFill>
        <p:spPr>
          <a:xfrm xmlns:a="http://schemas.openxmlformats.org/drawingml/2006/main">
            <a:off x="619125" y="1266825"/>
            <a:ext cx="8096250" cy="4429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2913F-FC76-4881-BEDD-9182A0EF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9525">
            <a:solidFill>
              <a:srgbClr val="1F5D8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F8304-EE5A-4EDC-A33E-ADCD705E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409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Pilih pesanan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246C8-4241-41B8-9536-57FC359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7335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Operator memakai filter status dan membuka dokumen sumber.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B42A0-0581-47EA-9789-FC95E7ED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6A12"/>
          </a:solidFill>
          <a:ln xmlns:a="http://schemas.openxmlformats.org/drawingml/2006/main" w="9525">
            <a:solidFill>
              <a:srgbClr val="D56A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1D8F1-6E96-4A1D-B8FE-57D8316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955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Periksa kebutuhan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34AFA-09BB-4EE4-BAB1-1F536420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019425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Halaman pertama menampilkan 50 dari 170 record.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B10A7-65C7-473C-93B8-371F0136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F33"/>
          </a:solidFill>
          <a:ln xmlns:a="http://schemas.openxmlformats.org/drawingml/2006/main" w="9525">
            <a:solidFill>
              <a:srgbClr val="4D7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C109D-2EF0-49CA-9796-FE1BBE53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814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Alokasikan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E961F-D2FD-422E-A37D-80016029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053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Pesanan UAT-AB-REQ-0006 berubah dari DRAFT menjadi ALLOCATED.</a:t>
            </a:r>
          </a:p>
        </p:txBody>
      </p:sp>
    </p:spTree>
    <p:extLst>
      <p:ext uri="{BB962C8B-B14F-4D97-AF65-F5344CB8AC3E}">
        <p14:creationId xmlns:p14="http://schemas.microsoft.com/office/powerpoint/2010/main" val="1964948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6CB11-9763-4FE1-91FC-87C32752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Jalur stok kurang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6EBAC-2180-4A3A-BA58-99949BC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PENGADAAN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9596B-CEF9-4BE9-A07C-796C4B33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22110-9491-441F-9525-3F60D533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7EF3B-4BAD-4EF9-BE44-BF50223E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175911b9b49a6"/>
          <a:stretch xmlns:a="http://schemas.openxmlformats.org/drawingml/2006/main"/>
        </p:blipFill>
        <p:spPr>
          <a:xfrm xmlns:a="http://schemas.openxmlformats.org/drawingml/2006/main">
            <a:off x="619125" y="1367270"/>
            <a:ext cx="5257800" cy="28471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388A6-D21C-4C02-8541-6DEC39DB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858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ada46bbf540d1"/>
          <a:stretch xmlns:a="http://schemas.openxmlformats.org/drawingml/2006/main"/>
        </p:blipFill>
        <p:spPr>
          <a:xfrm xmlns:a="http://schemas.openxmlformats.org/drawingml/2006/main">
            <a:off x="6315075" y="1366720"/>
            <a:ext cx="5257800" cy="284820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B9C47-4E84-4F17-93B7-64BFD76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PR UAT-AB-PR-0008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8D2EF-D31B-4F7F-AF69-385D153A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958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DRAFT menjadi 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9FCCC-936F-4230-97EF-F1B17775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PO UAT-AB-PO-0008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8FCC8-7399-4FD8-A9B4-6BC10F4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DRAFT menjadi APPROVED dan membawa referensi PR</a:t>
            </a:r>
          </a:p>
        </p:txBody>
      </p:sp>
    </p:spTree>
    <p:extLst>
      <p:ext uri="{BB962C8B-B14F-4D97-AF65-F5344CB8AC3E}">
        <p14:creationId xmlns:p14="http://schemas.microsoft.com/office/powerpoint/2010/main" val="1437163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3F5D5-C8AD-405B-9F08-4159BE33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BAST vendor dan kewajiban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37A05-FC51-4A6C-9D1D-26E421F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PENERIMAAN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D3E84-CD5D-4869-B8FB-91977425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1B670-839A-472F-A280-8A4D3BB4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6D009-51DB-405F-8405-4AD68CE1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1086c506a482c"/>
          <a:stretch xmlns:a="http://schemas.openxmlformats.org/drawingml/2006/main"/>
        </p:blipFill>
        <p:spPr>
          <a:xfrm xmlns:a="http://schemas.openxmlformats.org/drawingml/2006/main">
            <a:off x="619125" y="1366720"/>
            <a:ext cx="5257800" cy="2848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93AFC-9BE7-4DFC-BD7C-EED5F913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858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cba6a5bbc40f6"/>
          <a:stretch xmlns:a="http://schemas.openxmlformats.org/drawingml/2006/main"/>
        </p:blipFill>
        <p:spPr>
          <a:xfrm xmlns:a="http://schemas.openxmlformats.org/drawingml/2006/main">
            <a:off x="6315075" y="1366720"/>
            <a:ext cx="5257800" cy="284820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A2BE1-C49C-4427-BF0E-621F8F71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72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Jurnal 307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A8EC2-8488-42FA-B2FF-7491549C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Persediaan bertambah dan GRNI terbentuk.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58ED9-871E-46C2-AA1B-3D485D5A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72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Jurnal 308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B37AA-3664-41F2-9AF1-624611F4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Tagihan memindahkan GRNI menjadi hutang vendor.</a:t>
            </a:r>
          </a:p>
        </p:txBody>
      </p:sp>
    </p:spTree>
    <p:extLst>
      <p:ext uri="{BB962C8B-B14F-4D97-AF65-F5344CB8AC3E}">
        <p14:creationId xmlns:p14="http://schemas.microsoft.com/office/powerpoint/2010/main" val="9314859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EB0A9-66E0-47AC-A004-AFA2183D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Pembayaran dan produksi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B552A-7E07-4CAD-875B-57568655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73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KEUANGAN PRODUKSI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7934F-538A-4F4E-BB56-ED52CFF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07262-6878-49BE-89DD-1D4B1156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51AA7-BA9C-460B-9C95-8A7685CB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58c4ed633488a"/>
          <a:stretch xmlns:a="http://schemas.openxmlformats.org/drawingml/2006/main"/>
        </p:blipFill>
        <p:spPr>
          <a:xfrm xmlns:a="http://schemas.openxmlformats.org/drawingml/2006/main">
            <a:off x="619125" y="1366720"/>
            <a:ext cx="5257800" cy="2848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C1893-A0A4-4147-AAB9-9BC4B6F2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858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f6d804c8c4db1"/>
          <a:stretch xmlns:a="http://schemas.openxmlformats.org/drawingml/2006/main"/>
        </p:blipFill>
        <p:spPr>
          <a:xfrm xmlns:a="http://schemas.openxmlformats.org/drawingml/2006/main">
            <a:off x="6315075" y="1366720"/>
            <a:ext cx="5257800" cy="284820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4B95A-AD79-41EF-BAA2-B252E344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Jurnal 309 menutup hutang vendor melalui bank operasional.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C61B6-C0C1-4246-B085-FB53E8CC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Jurnal 310 mengubah bahan baku menjadi hasil produksi atau repack.</a:t>
            </a:r>
          </a:p>
        </p:txBody>
      </p:sp>
    </p:spTree>
    <p:extLst>
      <p:ext uri="{BB962C8B-B14F-4D97-AF65-F5344CB8AC3E}">
        <p14:creationId xmlns:p14="http://schemas.microsoft.com/office/powerpoint/2010/main" val="2089589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4B1FE-3E36-4617-92B9-C34F22C6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Delivery Order dan penerimaan outlet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E69CF-8CD3-4230-96BA-9EB73ABF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PENGIRIMAN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7A5B6-7A71-45A1-8864-9E5C351D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7C7FD-B179-4496-AA0E-61A5BB1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6973F-BA30-4C5D-A469-DABD0E67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621cd5aab4c62"/>
          <a:stretch xmlns:a="http://schemas.openxmlformats.org/drawingml/2006/main"/>
        </p:blipFill>
        <p:spPr>
          <a:xfrm xmlns:a="http://schemas.openxmlformats.org/drawingml/2006/main">
            <a:off x="619125" y="1366720"/>
            <a:ext cx="5257800" cy="2848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A2141-9AA5-451D-9363-9DDE6367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858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23c40dcbb450d"/>
          <a:stretch xmlns:a="http://schemas.openxmlformats.org/drawingml/2006/main"/>
        </p:blipFill>
        <p:spPr>
          <a:xfrm xmlns:a="http://schemas.openxmlformats.org/drawingml/2006/main">
            <a:off x="6315075" y="1366720"/>
            <a:ext cx="5257800" cy="284820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9D3D5-83F3-4F68-A6ED-7757C487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43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837DF-7A69-4B2C-A8A6-9A98FAD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43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ARRIVED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DEB82-DD7D-4554-9B45-1948E09F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434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D55C8-A515-4DAA-B50F-710958B0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97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778"/>
                </a:solidFill>
                <a:latin typeface="Arial"/>
                <a:ea typeface="Arial"/>
                <a:cs typeface="Arial"/>
              </a:rPr>
              <a:t>Jurnal 311 mengunci perpindahan persediaan antarlokasi setelah BAST outlet diterima.</a:t>
            </a:r>
          </a:p>
        </p:txBody>
      </p:sp>
    </p:spTree>
    <p:extLst>
      <p:ext uri="{BB962C8B-B14F-4D97-AF65-F5344CB8AC3E}">
        <p14:creationId xmlns:p14="http://schemas.microsoft.com/office/powerpoint/2010/main" val="176650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76CE2-9C68-4172-BDA0-037602EA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Produksi outlet dan penjualan POS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C2CE2-BA72-4BA0-8A22-175E557B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POS KASIR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C35A9-C79C-45C7-8860-F2C73CBE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46E6F-2A8F-41BC-A607-57FE2FE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38F98-0FEE-4DE3-8CCE-73ABA83F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8153400" cy="458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3daee60f34473"/>
          <a:stretch xmlns:a="http://schemas.openxmlformats.org/drawingml/2006/main"/>
        </p:blipFill>
        <p:spPr>
          <a:xfrm xmlns:a="http://schemas.openxmlformats.org/drawingml/2006/main">
            <a:off x="619125" y="1288473"/>
            <a:ext cx="8096250" cy="4385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37EF0-38DD-4437-9913-1A7852B9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9525">
            <a:solidFill>
              <a:srgbClr val="1F5D8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72B0D-A43C-4F19-AFC8-21AD4EAD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409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Pilih faktur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5FDB6-B93F-4D1C-A442-75166C6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7335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UAT-AB-POS-00016 diproses sebagai transaksi outlet.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036B6-7377-4618-9386-B82482B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6A12"/>
          </a:solidFill>
          <a:ln xmlns:a="http://schemas.openxmlformats.org/drawingml/2006/main" w="9525">
            <a:solidFill>
              <a:srgbClr val="D56A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E044C-5A97-430B-ACEB-499D61CE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955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Periksa HPP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36841-101D-46DB-B508-3CFF8CF5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019425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Produk membawa BOM dan sumber akun persediaan.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ECBEB-F23D-4ADE-BF5B-E3A2D18C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F33"/>
          </a:solidFill>
          <a:ln xmlns:a="http://schemas.openxmlformats.org/drawingml/2006/main" w="9525">
            <a:solidFill>
              <a:srgbClr val="4D7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89E6E-7006-4F5D-9575-FDF04B73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814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0EED4-3B7E-4896-ADF9-6CCC9CE8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053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Status TERPOSTING membentuk jurnal 312.</a:t>
            </a:r>
          </a:p>
        </p:txBody>
      </p:sp>
    </p:spTree>
    <p:extLst>
      <p:ext uri="{BB962C8B-B14F-4D97-AF65-F5344CB8AC3E}">
        <p14:creationId xmlns:p14="http://schemas.microsoft.com/office/powerpoint/2010/main" val="17938217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00475-FAAA-46B3-9959-8FB25861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Sumber akun pada setiap posting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DF76F-58DB-4465-9EF3-E7B9F7BE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AKUNTANSI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92E77-0228-4A40-BAFA-C2540340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F7BA4-0653-4011-8CDF-E20C38CA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DD496-E1F1-4F99-83B0-B536459A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10763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fcabfbe394bf9"/>
          <a:stretch xmlns:a="http://schemas.openxmlformats.org/drawingml/2006/main"/>
        </p:blipFill>
        <p:spPr>
          <a:xfrm xmlns:a="http://schemas.openxmlformats.org/drawingml/2006/main">
            <a:off x="2524125" y="12001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145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6294F-CFDF-4D76-A39D-65C721FD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Jurnal setelah satu siklus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C720C-E7D1-4916-9D30-DBF7D550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BUKTI AKUNTANSI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3D23F-B491-4A83-B672-C3E4479D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A288C-F172-46DB-960B-90C5743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E60AC-765E-463F-AFD0-8F3654D0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8153400" cy="458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308931e2b465b"/>
          <a:stretch xmlns:a="http://schemas.openxmlformats.org/drawingml/2006/main"/>
        </p:blipFill>
        <p:spPr>
          <a:xfrm xmlns:a="http://schemas.openxmlformats.org/drawingml/2006/main">
            <a:off x="619125" y="1265461"/>
            <a:ext cx="8096250" cy="44318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5387D-17F4-43B1-926F-61FF7AEE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608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6E33F-475C-4800-A953-537D10EE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baris jurnal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27CD0-B4A6-44FB-A951-5D04E78D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051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44/44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A3C8F-62DD-4517-89F4-D1899D25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528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halaman terakhir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96EE8-EAC9-48BC-83AF-D718349F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815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Rp0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0B17F-A7B7-4DEA-911C-4FF77E28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292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selisih debit-kredit</a:t>
            </a:r>
          </a:p>
        </p:txBody>
      </p:sp>
    </p:spTree>
    <p:extLst>
      <p:ext uri="{BB962C8B-B14F-4D97-AF65-F5344CB8AC3E}">
        <p14:creationId xmlns:p14="http://schemas.microsoft.com/office/powerpoint/2010/main" val="1992832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F6F6B-E6D4-4DBE-9D16-A239BA7D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Laporan keuangan setelah posting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E05D2-2AC0-456E-BEA0-6AA281DD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LAPORAN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3129F-ABAD-4AD8-8602-C4B72FD8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1F0BE-8349-4194-9F26-C7A121E0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B06A2-027F-4A44-BBD1-9DE89BC7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262a303fb4382"/>
          <a:stretch xmlns:a="http://schemas.openxmlformats.org/drawingml/2006/main"/>
        </p:blipFill>
        <p:spPr>
          <a:xfrm xmlns:a="http://schemas.openxmlformats.org/drawingml/2006/main">
            <a:off x="619125" y="1285936"/>
            <a:ext cx="5257800" cy="28573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913CA-5B74-4594-B64F-1ACCCCDE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9675"/>
            <a:ext cx="5314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2faa2794a4b6d"/>
          <a:stretch xmlns:a="http://schemas.openxmlformats.org/drawingml/2006/main"/>
        </p:blipFill>
        <p:spPr>
          <a:xfrm xmlns:a="http://schemas.openxmlformats.org/drawingml/2006/main">
            <a:off x="6315075" y="1285936"/>
            <a:ext cx="5257800" cy="285737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71761-B7A8-4916-88DD-430B48C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6 laporan lulus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28E56-6CB1-4F5B-96A0-5C1A585D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Keseluruhan Jurnal, Buku Besar, Neraca Saldo, Laba Rugi, Neraca, dan Arus Kas tampil dari jurnal terposting.</a:t>
            </a:r>
          </a:p>
        </p:txBody>
      </p:sp>
    </p:spTree>
    <p:extLst>
      <p:ext uri="{BB962C8B-B14F-4D97-AF65-F5344CB8AC3E}">
        <p14:creationId xmlns:p14="http://schemas.microsoft.com/office/powerpoint/2010/main" val="20593293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C37B4-6A70-4781-B3CE-32BF0A38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Paket client yang dipublikasikan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453A3-3469-45AF-87BC-C11A3C0E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DESKTOP 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5CC51-7CE6-4951-AECF-0B3A3156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3BE46-9DD3-45D4-84A6-8945BEB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5B489-06FA-4354-88EA-B4D3635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Windows 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B4A99-964A-412D-B729-BFD08584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Installer AB Chicken memakai channel pembaruan abchicken, hostname terkunci pada abchiken.ebisnis.id, dan tidak memperbarui variant lain.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E0DE7-B627-41CA-A0F6-78D5F9C8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C6FEF-DB7D-4C4F-B36D-B1D291A1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APK release memakai applicationId khusus, aset AB Chicken, konfigurasi tenant yang sama, dan penandatanganan rilis. Kontrak API tetap identik dengan Desktop.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6697C-7E02-428B-88C6-785391A8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009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E5"/>
          </a:solidFill>
          <a:ln xmlns:a="http://schemas.openxmlformats.org/drawingml/2006/main" w="11430">
            <a:solidFill>
              <a:srgbClr val="4D7F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BFD91-6482-4948-9261-7C1455D0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UAT transaksi end-to-end dilaksanakan pada POS Desktop sesuai arahan. Android melewati build release, signing, serta tes kontrak client sebelum paket diterbitkan.</a:t>
            </a:r>
          </a:p>
        </p:txBody>
      </p:sp>
    </p:spTree>
    <p:extLst>
      <p:ext uri="{BB962C8B-B14F-4D97-AF65-F5344CB8AC3E}">
        <p14:creationId xmlns:p14="http://schemas.microsoft.com/office/powerpoint/2010/main" val="18583458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87627-BEDE-4192-AAF1-0108EBC2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Kandidat rilis siap setelah gerbang paket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05A76-379A-44A7-88A3-AFB830D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733D5-6D17-410E-8197-FF62864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526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Tidak ada halaman proses utama yang kosong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06B8F-30F5-41B8-B10A-823559D0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3C9A2-F380-4DEC-8B53-D07FA250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336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Sepuluh aksi Desktop selesai dan dapat dibaca ulang dari 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4193E-657F-404D-8895-9EDD43C6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06E62-DD26-48F1-8F9E-F1727597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147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Enam laporan akuntansi tampil dan seimbang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91DB2-C267-4E1A-AB83-5198429C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C2533-2BC3-4299-8667-0E89DB7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Diagram, manual, PDF, dan PPTX lolos pemeriksaan visual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8D322-47E7-4ED0-99BC-FE4401C6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A74C8-4B59-4F22-A572-326DFF86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Installer Desktop dan APK Android hanya membawa variant AB Chicken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7992F-B0C0-42C1-A248-9A89E01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B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BD9"/>
                </a:solidFill>
                <a:latin typeface="Arial"/>
                <a:ea typeface="Arial"/>
                <a:cs typeface="Arial"/>
              </a:rPr>
              <a:t>Catatan: arus kas pilot dapat negatif karena saldo awal kas/bank belum dimuat. Nilai tetap dapat ditelusuri dan tidak mengubah status kelulusan perhitungan.</a:t>
            </a:r>
          </a:p>
        </p:txBody>
      </p:sp>
    </p:spTree>
    <p:extLst>
      <p:ext uri="{BB962C8B-B14F-4D97-AF65-F5344CB8AC3E}">
        <p14:creationId xmlns:p14="http://schemas.microsoft.com/office/powerpoint/2010/main" val="1466932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2026-09-09T01:09:20.9640000Z</dcterms:created>
  <dcterms:modified xsi:type="dcterms:W3CDTF">2026-09-09T01:09:20.9640000Z</dcterms:modified>
</coreProperties>
</file>