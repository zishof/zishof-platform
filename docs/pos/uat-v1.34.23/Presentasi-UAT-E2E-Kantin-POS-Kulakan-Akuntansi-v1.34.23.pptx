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832159ab044579" /><Relationship Type="http://schemas.openxmlformats.org/officeDocument/2006/relationships/extended-properties" Target="/docProps/app.xml" Id="R3dda9bbb953143c2" /><Relationship Type="http://schemas.openxmlformats.org/officeDocument/2006/relationships/officeDocument" Target="/ppt/presentation.xml" Id="R8f84ecb510a640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9050caa8ec4e7f"/>
  </p:sldMasterIdLst>
  <p:notesMasterIdLst>
    <p:notesMasterId xmlns:r="http://schemas.openxmlformats.org/officeDocument/2006/relationships" r:id="R3da44e4c25fd4fcf"/>
  </p:notesMasterIdLst>
  <p:sldIdLst>
    <p:sldId xmlns:r="http://schemas.openxmlformats.org/officeDocument/2006/relationships" id="256" r:id="Rb8952f18d49a40ee"/>
    <p:sldId xmlns:r="http://schemas.openxmlformats.org/officeDocument/2006/relationships" id="257" r:id="R3cdb2d07d02c473f"/>
    <p:sldId xmlns:r="http://schemas.openxmlformats.org/officeDocument/2006/relationships" id="258" r:id="R2ca3abdb67d74cc2"/>
    <p:sldId xmlns:r="http://schemas.openxmlformats.org/officeDocument/2006/relationships" id="259" r:id="Ra2c7a1cd47044a80"/>
    <p:sldId xmlns:r="http://schemas.openxmlformats.org/officeDocument/2006/relationships" id="260" r:id="R31fbde699db341fb"/>
    <p:sldId xmlns:r="http://schemas.openxmlformats.org/officeDocument/2006/relationships" id="261" r:id="Re70fd3c7af47484e"/>
    <p:sldId xmlns:r="http://schemas.openxmlformats.org/officeDocument/2006/relationships" id="262" r:id="R6f63396bf06a4def"/>
    <p:sldId xmlns:r="http://schemas.openxmlformats.org/officeDocument/2006/relationships" id="263" r:id="Ra77b8e79c0b74aa9"/>
    <p:sldId xmlns:r="http://schemas.openxmlformats.org/officeDocument/2006/relationships" id="264" r:id="R9be5548a663744b1"/>
    <p:sldId xmlns:r="http://schemas.openxmlformats.org/officeDocument/2006/relationships" id="265" r:id="R4bac5b67ffa54cc8"/>
    <p:sldId xmlns:r="http://schemas.openxmlformats.org/officeDocument/2006/relationships" id="266" r:id="R50e54ec5490548da"/>
    <p:sldId xmlns:r="http://schemas.openxmlformats.org/officeDocument/2006/relationships" id="267" r:id="Rb0cf51263026453f"/>
    <p:sldId xmlns:r="http://schemas.openxmlformats.org/officeDocument/2006/relationships" id="268" r:id="Re55fc962b4eb468c"/>
    <p:sldId xmlns:r="http://schemas.openxmlformats.org/officeDocument/2006/relationships" id="269" r:id="R747a40a1a64e4bdd"/>
    <p:sldId xmlns:r="http://schemas.openxmlformats.org/officeDocument/2006/relationships" id="270" r:id="Rd9c13bcde7a54acc"/>
    <p:sldId xmlns:r="http://schemas.openxmlformats.org/officeDocument/2006/relationships" id="271" r:id="R1c03ce59a1484f62"/>
    <p:sldId xmlns:r="http://schemas.openxmlformats.org/officeDocument/2006/relationships" id="272" r:id="R5118bce720354b6a"/>
    <p:sldId xmlns:r="http://schemas.openxmlformats.org/officeDocument/2006/relationships" id="273" r:id="Ra68a6743ef4b4803"/>
    <p:sldId xmlns:r="http://schemas.openxmlformats.org/officeDocument/2006/relationships" id="274" r:id="R6b0cca4080df4e51"/>
    <p:sldId xmlns:r="http://schemas.openxmlformats.org/officeDocument/2006/relationships" id="275" r:id="Rfa28ed92434f4f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d442eb245f41ca" /><Relationship Type="http://schemas.openxmlformats.org/officeDocument/2006/relationships/slideMaster" Target="/ppt/slideMasters/slideMaster1.xml" Id="Rec9050caa8ec4e7f" /><Relationship Type="http://schemas.openxmlformats.org/officeDocument/2006/relationships/notesMaster" Target="/ppt/notesMasters/notesMaster1.xml" Id="R3da44e4c25fd4fcf" /><Relationship Type="http://schemas.openxmlformats.org/officeDocument/2006/relationships/presProps" Target="/ppt/presProps.xml" Id="R59df5d10b0ee48b3" /><Relationship Type="http://schemas.openxmlformats.org/officeDocument/2006/relationships/tableStyles" Target="/ppt/tableStyles.xml" Id="Ra750ec3ea16642fb" /><Relationship Type="http://schemas.openxmlformats.org/officeDocument/2006/relationships/slide" Target="/ppt/slides/slide1.xml" Id="Rb8952f18d49a40ee" /><Relationship Type="http://schemas.openxmlformats.org/officeDocument/2006/relationships/slide" Target="/ppt/slides/slide2.xml" Id="R3cdb2d07d02c473f" /><Relationship Type="http://schemas.openxmlformats.org/officeDocument/2006/relationships/slide" Target="/ppt/slides/slide3.xml" Id="R2ca3abdb67d74cc2" /><Relationship Type="http://schemas.openxmlformats.org/officeDocument/2006/relationships/slide" Target="/ppt/slides/slide4.xml" Id="Ra2c7a1cd47044a80" /><Relationship Type="http://schemas.openxmlformats.org/officeDocument/2006/relationships/slide" Target="/ppt/slides/slide5.xml" Id="R31fbde699db341fb" /><Relationship Type="http://schemas.openxmlformats.org/officeDocument/2006/relationships/slide" Target="/ppt/slides/slide6.xml" Id="Re70fd3c7af47484e" /><Relationship Type="http://schemas.openxmlformats.org/officeDocument/2006/relationships/slide" Target="/ppt/slides/slide7.xml" Id="R6f63396bf06a4def" /><Relationship Type="http://schemas.openxmlformats.org/officeDocument/2006/relationships/slide" Target="/ppt/slides/slide8.xml" Id="Ra77b8e79c0b74aa9" /><Relationship Type="http://schemas.openxmlformats.org/officeDocument/2006/relationships/slide" Target="/ppt/slides/slide9.xml" Id="R9be5548a663744b1" /><Relationship Type="http://schemas.openxmlformats.org/officeDocument/2006/relationships/slide" Target="/ppt/slides/slide10.xml" Id="R4bac5b67ffa54cc8" /><Relationship Type="http://schemas.openxmlformats.org/officeDocument/2006/relationships/slide" Target="/ppt/slides/slide11.xml" Id="R50e54ec5490548da" /><Relationship Type="http://schemas.openxmlformats.org/officeDocument/2006/relationships/slide" Target="/ppt/slides/slide12.xml" Id="Rb0cf51263026453f" /><Relationship Type="http://schemas.openxmlformats.org/officeDocument/2006/relationships/slide" Target="/ppt/slides/slide13.xml" Id="Re55fc962b4eb468c" /><Relationship Type="http://schemas.openxmlformats.org/officeDocument/2006/relationships/slide" Target="/ppt/slides/slide14.xml" Id="R747a40a1a64e4bdd" /><Relationship Type="http://schemas.openxmlformats.org/officeDocument/2006/relationships/slide" Target="/ppt/slides/slide15.xml" Id="Rd9c13bcde7a54acc" /><Relationship Type="http://schemas.openxmlformats.org/officeDocument/2006/relationships/slide" Target="/ppt/slides/slide16.xml" Id="R1c03ce59a1484f62" /><Relationship Type="http://schemas.openxmlformats.org/officeDocument/2006/relationships/slide" Target="/ppt/slides/slide17.xml" Id="R5118bce720354b6a" /><Relationship Type="http://schemas.openxmlformats.org/officeDocument/2006/relationships/slide" Target="/ppt/slides/slide18.xml" Id="Ra68a6743ef4b4803" /><Relationship Type="http://schemas.openxmlformats.org/officeDocument/2006/relationships/slide" Target="/ppt/slides/slide19.xml" Id="R6b0cca4080df4e51" /><Relationship Type="http://schemas.openxmlformats.org/officeDocument/2006/relationships/slide" Target="/ppt/slides/slide20.xml" Id="Rfa28ed92434f4f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3841ef2b1d40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c28677def4431e" /><Relationship Type="http://schemas.openxmlformats.org/officeDocument/2006/relationships/notesMaster" Target="/ppt/notesMasters/notesMaster1.xml" Id="Rd43453535c034f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cb513b814340ae" /><Relationship Type="http://schemas.openxmlformats.org/officeDocument/2006/relationships/notesMaster" Target="/ppt/notesMasters/notesMaster1.xml" Id="Raa370521727d4e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1202d3819d41cf" /><Relationship Type="http://schemas.openxmlformats.org/officeDocument/2006/relationships/notesMaster" Target="/ppt/notesMasters/notesMaster1.xml" Id="Rf34c22118e3343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7e9a20b4484223" /><Relationship Type="http://schemas.openxmlformats.org/officeDocument/2006/relationships/notesMaster" Target="/ppt/notesMasters/notesMaster1.xml" Id="Rc06c13da1f7e49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01df9bb3484d40" /><Relationship Type="http://schemas.openxmlformats.org/officeDocument/2006/relationships/notesMaster" Target="/ppt/notesMasters/notesMaster1.xml" Id="R79800ddcc09c49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2a4f2aa0b6405c" /><Relationship Type="http://schemas.openxmlformats.org/officeDocument/2006/relationships/notesMaster" Target="/ppt/notesMasters/notesMaster1.xml" Id="R99c7a9bde6c34c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9b9f7efb3c4d0c" /><Relationship Type="http://schemas.openxmlformats.org/officeDocument/2006/relationships/notesMaster" Target="/ppt/notesMasters/notesMaster1.xml" Id="R0b7e82f882cf4a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83ae6bbb71440c" /><Relationship Type="http://schemas.openxmlformats.org/officeDocument/2006/relationships/notesMaster" Target="/ppt/notesMasters/notesMaster1.xml" Id="Rad8aebcd326f43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0d5a52224b43e4" /><Relationship Type="http://schemas.openxmlformats.org/officeDocument/2006/relationships/notesMaster" Target="/ppt/notesMasters/notesMaster1.xml" Id="R287b755333ab42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b37fd1013f439a" /><Relationship Type="http://schemas.openxmlformats.org/officeDocument/2006/relationships/notesMaster" Target="/ppt/notesMasters/notesMaster1.xml" Id="R0fc928ec1f0142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aec53a07214a4d" /><Relationship Type="http://schemas.openxmlformats.org/officeDocument/2006/relationships/notesMaster" Target="/ppt/notesMasters/notesMaster1.xml" Id="Re69d909f057441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deddb6b7144643" /><Relationship Type="http://schemas.openxmlformats.org/officeDocument/2006/relationships/notesMaster" Target="/ppt/notesMasters/notesMaster1.xml" Id="R470c9be7ce6e43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105113b8a84c55" /><Relationship Type="http://schemas.openxmlformats.org/officeDocument/2006/relationships/notesMaster" Target="/ppt/notesMasters/notesMaster1.xml" Id="R8438444cec7447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98396630e14f5e" /><Relationship Type="http://schemas.openxmlformats.org/officeDocument/2006/relationships/notesMaster" Target="/ppt/notesMasters/notesMaster1.xml" Id="R1fc2d0a4660c47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d693379a17408d" /><Relationship Type="http://schemas.openxmlformats.org/officeDocument/2006/relationships/notesMaster" Target="/ppt/notesMasters/notesMaster1.xml" Id="R5f69b40126ed41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4dc8d9c2874456" /><Relationship Type="http://schemas.openxmlformats.org/officeDocument/2006/relationships/notesMaster" Target="/ppt/notesMasters/notesMaster1.xml" Id="Rdb3e6f89487746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56ccaf62fd427d" /><Relationship Type="http://schemas.openxmlformats.org/officeDocument/2006/relationships/notesMaster" Target="/ppt/notesMasters/notesMaster1.xml" Id="Rcbc817bcb7f545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e23281896764c1f" /><Relationship Type="http://schemas.openxmlformats.org/officeDocument/2006/relationships/notesMaster" Target="/ppt/notesMasters/notesMaster1.xml" Id="R33f3d723e3234b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95234ec24d4d41" /><Relationship Type="http://schemas.openxmlformats.org/officeDocument/2006/relationships/notesMaster" Target="/ppt/notesMasters/notesMaster1.xml" Id="R7ce4284fd98642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599a4cfe2664490" /><Relationship Type="http://schemas.openxmlformats.org/officeDocument/2006/relationships/notesMaster" Target="/ppt/notesMasters/notesMaster1.xml" Id="Rcaf89a82c7be43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42768b62d46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d9ccc5ae674d60" /><Relationship Type="http://schemas.openxmlformats.org/officeDocument/2006/relationships/slideLayout" Target="/ppt/slideLayouts/slideLayout1.xml" Id="R2e784c5b7f2647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784c5b7f2647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fa30418314b77" /><Relationship Type="http://schemas.openxmlformats.org/officeDocument/2006/relationships/notesSlide" Target="/ppt/notesSlides/notesSlide1.xml" Id="Ra3f30a9bfa0546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1c4a2cefa46ba" /><Relationship Type="http://schemas.openxmlformats.org/officeDocument/2006/relationships/notesSlide" Target="/ppt/notesSlides/notesSlide2.xml" Id="R2c872258a0534e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15ba7b49742b9" /><Relationship Type="http://schemas.openxmlformats.org/officeDocument/2006/relationships/notesSlide" Target="/ppt/notesSlides/notesSlide3.xml" Id="R3eabb7a5236449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88031ccc344a0" /><Relationship Type="http://schemas.openxmlformats.org/officeDocument/2006/relationships/notesSlide" Target="/ppt/notesSlides/notesSlide4.xml" Id="R6372b82b89b246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68868f25f4cd8" /><Relationship Type="http://schemas.openxmlformats.org/officeDocument/2006/relationships/image" Target="/ppt/media/image.png" Id="R8b2863e096904342" /><Relationship Type="http://schemas.openxmlformats.org/officeDocument/2006/relationships/notesSlide" Target="/ppt/notesSlides/notesSlide5.xml" Id="R80da0e9c906748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a26864817476f" /><Relationship Type="http://schemas.openxmlformats.org/officeDocument/2006/relationships/image" Target="/ppt/media/image2.png" Id="R99c81ce1822e4274" /><Relationship Type="http://schemas.openxmlformats.org/officeDocument/2006/relationships/notesSlide" Target="/ppt/notesSlides/notesSlide6.xml" Id="R98e9e33794b24e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bd5576de04185" /><Relationship Type="http://schemas.openxmlformats.org/officeDocument/2006/relationships/image" Target="/ppt/media/image3.png" Id="R2038df4bf3fe4463" /><Relationship Type="http://schemas.openxmlformats.org/officeDocument/2006/relationships/notesSlide" Target="/ppt/notesSlides/notesSlide7.xml" Id="R18b4aba6fe2946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03575aee646bf" /><Relationship Type="http://schemas.openxmlformats.org/officeDocument/2006/relationships/image" Target="/ppt/media/image4.png" Id="Ra2a91a77ddb542b7" /><Relationship Type="http://schemas.openxmlformats.org/officeDocument/2006/relationships/notesSlide" Target="/ppt/notesSlides/notesSlide8.xml" Id="Rf73d911f64ad42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2042a4684441d" /><Relationship Type="http://schemas.openxmlformats.org/officeDocument/2006/relationships/image" Target="/ppt/media/image5.png" Id="Ra13a4aa39e8d460b" /><Relationship Type="http://schemas.openxmlformats.org/officeDocument/2006/relationships/notesSlide" Target="/ppt/notesSlides/notesSlide9.xml" Id="R4ba585ed8d184e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405b1d9f14d3a" /><Relationship Type="http://schemas.openxmlformats.org/officeDocument/2006/relationships/image" Target="/ppt/media/image6.png" Id="Re601c6860ba54a48" /><Relationship Type="http://schemas.openxmlformats.org/officeDocument/2006/relationships/notesSlide" Target="/ppt/notesSlides/notesSlide10.xml" Id="Rbcc434dd08c848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b069243034626" /><Relationship Type="http://schemas.openxmlformats.org/officeDocument/2006/relationships/image" Target="/ppt/media/image7.png" Id="R3f60cb9d95d64b3e" /><Relationship Type="http://schemas.openxmlformats.org/officeDocument/2006/relationships/notesSlide" Target="/ppt/notesSlides/notesSlide11.xml" Id="R7c4901820c9b4c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c9fd56672427f" /><Relationship Type="http://schemas.openxmlformats.org/officeDocument/2006/relationships/notesSlide" Target="/ppt/notesSlides/notesSlide12.xml" Id="R5aa26952b7364c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c23b836944775" /><Relationship Type="http://schemas.openxmlformats.org/officeDocument/2006/relationships/notesSlide" Target="/ppt/notesSlides/notesSlide13.xml" Id="R363140e176014d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08eddf00349eb" /><Relationship Type="http://schemas.openxmlformats.org/officeDocument/2006/relationships/image" Target="/ppt/media/image8.png" Id="Ra3b15e205d514d7f" /><Relationship Type="http://schemas.openxmlformats.org/officeDocument/2006/relationships/notesSlide" Target="/ppt/notesSlides/notesSlide14.xml" Id="Rbe2a19f8e58142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0922c425c48e2" /><Relationship Type="http://schemas.openxmlformats.org/officeDocument/2006/relationships/image" Target="/ppt/media/image9.png" Id="Re1b72eab14cd4e7e" /><Relationship Type="http://schemas.openxmlformats.org/officeDocument/2006/relationships/notesSlide" Target="/ppt/notesSlides/notesSlide15.xml" Id="Ra6aaa402219b4a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8b19dd19a4247" /><Relationship Type="http://schemas.openxmlformats.org/officeDocument/2006/relationships/image" Target="/ppt/media/image10.png" Id="R2d9a16df34d548a5" /><Relationship Type="http://schemas.openxmlformats.org/officeDocument/2006/relationships/notesSlide" Target="/ppt/notesSlides/notesSlide16.xml" Id="R814ee178aab743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128ae18ae4e42" /><Relationship Type="http://schemas.openxmlformats.org/officeDocument/2006/relationships/image" Target="/ppt/media/image11.png" Id="R6ef62a8b163b4ca1" /><Relationship Type="http://schemas.openxmlformats.org/officeDocument/2006/relationships/notesSlide" Target="/ppt/notesSlides/notesSlide17.xml" Id="R16593a3f092349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3a5a2c7624782" /><Relationship Type="http://schemas.openxmlformats.org/officeDocument/2006/relationships/image" Target="/ppt/media/image12.png" Id="Rbf55d58575a04176" /><Relationship Type="http://schemas.openxmlformats.org/officeDocument/2006/relationships/notesSlide" Target="/ppt/notesSlides/notesSlide18.xml" Id="R61901183695043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30c035cf14d9b" /><Relationship Type="http://schemas.openxmlformats.org/officeDocument/2006/relationships/image" Target="/ppt/media/image13.png" Id="R1dbb004497fc4ae4" /><Relationship Type="http://schemas.openxmlformats.org/officeDocument/2006/relationships/notesSlide" Target="/ppt/notesSlides/notesSlide19.xml" Id="R6b135c5580fc4f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43239d0b141a4" /><Relationship Type="http://schemas.openxmlformats.org/officeDocument/2006/relationships/notesSlide" Target="/ppt/notesSlides/notesSlide20.xml" Id="R0210d725fb9e44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5011A-17D1-48AC-A83A-583C1990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CAA89-EE0D-42A7-8ACD-16304899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MANUAL PENGGUNA + HASIL UAT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27307-7F70-4C04-BA96-DD6D681C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Kantin POS, Kulakan,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Akuntansi, dan Laporan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8C14C-3A6E-4EA3-B69D-B5F187D6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7F5"/>
                </a:solidFill>
              </a:defRPr>
            </a:pPr>
            <a:r>
              <a:rPr sz="1800" b="0">
                <a:solidFill>
                  <a:srgbClr val="DCE7F5"/>
                </a:solidFill>
              </a:rPr>
              <a:t>Alur end-to-end dengan lebih dari 100 data per proses, sumber akun yang jelas, status posting, dan jurnal seimbang.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0DDD9-31B9-4EB7-8FF5-A15D58C4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8BDF8"/>
                </a:solidFill>
              </a:defRPr>
            </a:pPr>
            <a:r>
              <a:rPr sz="3150" b="1">
                <a:solidFill>
                  <a:srgbClr val="38BDF8"/>
                </a:solidFill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111DF-E5BA-4A3E-B2C5-EAAA9027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UAT lulus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96FC0-3165-4E8E-BE18-EFC06A90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62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86EFAC"/>
                </a:solidFill>
              </a:defRPr>
            </a:pPr>
            <a:r>
              <a:rPr sz="3150" b="1">
                <a:solidFill>
                  <a:srgbClr val="86EFAC"/>
                </a:solidFill>
              </a:rPr>
              <a:t>4.107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F5D5C-A65F-4D1F-9BE0-37EABB05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baris jurnal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2122E-5A70-4491-B8A1-773DA989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625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DE68A"/>
                </a:solidFill>
              </a:defRPr>
            </a:pPr>
            <a:r>
              <a:rPr sz="3150" b="1">
                <a:solidFill>
                  <a:srgbClr val="FDE68A"/>
                </a:solidFill>
              </a:rPr>
              <a:t>762/762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94EC8-997B-4EA2-9638-FE38CBB8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14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test regresi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FC8AD-4682-4F36-99F5-B52E2915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v1.34.23 • 5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927703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6A767-B8B2-443B-9ADD-1003058A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HASIL UAT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43ED3-D3D4-4E08-B423-7646902E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Bukti akhir menunjukkan tidak ada antrian posting tersisa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5F7D9-47C1-47A4-8114-F722C445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27C07-6277-4ACB-B42D-4A1C468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77898-0421-4FF5-B80A-D5895B46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62491-A99A-471E-9F5D-3DF1BC2C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403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572CC-4DC2-4ACE-8100-5B865287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Penjualan terposting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6126A-F962-48BB-9DB8-5C5A27D8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76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803D"/>
                </a:solidFill>
              </a:defRPr>
            </a:pPr>
            <a:r>
              <a:rPr sz="3150" b="1">
                <a:solidFill>
                  <a:srgbClr val="15803D"/>
                </a:solidFill>
              </a:rPr>
              <a:t>104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18877-A8C4-41C1-BF2E-E8D7C7B8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28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HPP terposting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D0E40-8E94-42B5-84F6-724A93FD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76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A5E9"/>
                </a:solidFill>
              </a:defRPr>
            </a:pPr>
            <a:r>
              <a:rPr sz="3150" b="1">
                <a:solidFill>
                  <a:srgbClr val="0EA5E9"/>
                </a:solidFill>
              </a:rPr>
              <a:t>402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B1D11-1DC8-4125-9DEC-09E970AB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8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Kulakan terposting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0BD5C-CA9C-4EE6-ABBB-B5E51814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76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45309"/>
                </a:solidFill>
              </a:defRPr>
            </a:pPr>
            <a:r>
              <a:rPr sz="3150" b="1">
                <a:solidFill>
                  <a:srgbClr val="B45309"/>
                </a:solidFill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84D55-A370-448D-BAD8-FF268C7D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28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Jurnal tidak seimbang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364D7-FDBD-4B8A-8B52-7BFA53BE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00393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DC12A-E4C8-418D-854A-B17A8290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4E77C-C86D-405A-A0D9-281E5B1F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965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803D"/>
                </a:solidFill>
              </a:defRPr>
            </a:pPr>
            <a:r>
              <a:rPr sz="1200" b="1">
                <a:solidFill>
                  <a:srgbClr val="15803D"/>
                </a:solidFill>
              </a:rPr>
              <a:t>Gerbang penerimaan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31947-2A55-49D4-A10A-DCD5A2B8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48075"/>
            <a:ext cx="9658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Belum diposting: Penjualan 0 • HPP 0 • Kulakan 0. Seluruh master akun wajib terpetakan dan enam laporan berhasil dimuat dari server.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AA680-BA48-4D8F-ABD8-5305FC33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F3A"/>
                </a:solidFill>
              </a:defRPr>
            </a:pPr>
            <a:r>
              <a:rPr sz="1800" b="1">
                <a:solidFill>
                  <a:srgbClr val="0F1F3A"/>
                </a:solidFill>
              </a:rPr>
              <a:t>Cakupan regresi aplikasi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E5813C-7E2A-4C3F-A7B7-A7A51265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</a:defRPr>
            </a:pPr>
            <a:r>
              <a:rPr sz="1425" b="0">
                <a:solidFill>
                  <a:srgbClr val="17233B"/>
                </a:solidFill>
              </a:rPr>
              <a:t>762 pengujian lulus tanpa kegagalan. Build yang sama digunakan untuk eBisnis, Al-Bahjah, dan Nahl.</a:t>
            </a:r>
          </a:p>
        </p:txBody>
      </p:sp>
    </p:spTree>
    <p:extLst>
      <p:ext uri="{BB962C8B-B14F-4D97-AF65-F5344CB8AC3E}">
        <p14:creationId xmlns:p14="http://schemas.microsoft.com/office/powerpoint/2010/main" val="1524202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7CB7AC-066C-47F5-960C-9078A30D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ALUR PROSES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93D8E-6913-42CD-BD85-296F96CE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Satu alur menghubungkan transaksi, stok, jurnal, dan laporan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1BB85-F3A2-40FD-9F26-63D48733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3DA55-B43F-4186-873F-627BA1FC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0BB7C-088A-4683-84A3-7B186C0E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1F851-D835-4A80-86D0-8E103824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47950"/>
            <a:ext cx="647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93C5F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DF37C-8543-400A-8120-53A47372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647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93C5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AB30A-F376-4323-9AB9-E2460C50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647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C509A-CB66-43BE-8CD6-27D8EF28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647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0">
            <a:solidFill>
              <a:srgbClr val="93C5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D9A3E-AD2F-43E4-B87F-CF39FBB8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752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48E97-CABC-488C-B220-05624A70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1F3A"/>
                </a:solidFill>
              </a:defRPr>
            </a:pPr>
            <a:r>
              <a:rPr sz="1725" b="1">
                <a:solidFill>
                  <a:srgbClr val="0F1F3A"/>
                </a:solidFill>
              </a:rPr>
              <a:t>Kantin POS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5C20C-6325-40ED-BD69-1F2F6145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Nota, pembayaran, produk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2935E-9565-4ED5-9867-2B124A9F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1752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08E21-1585-4A31-8D57-5B8BDD26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1F3A"/>
                </a:solidFill>
              </a:defRPr>
            </a:pPr>
            <a:r>
              <a:rPr sz="1725" b="1">
                <a:solidFill>
                  <a:srgbClr val="0F1F3A"/>
                </a:solidFill>
              </a:rPr>
              <a:t>Kulakan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E1996-192B-4547-8D17-1ABACBEC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813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Faktur, pemasok, stok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EB995-5703-4BA1-B0A9-4D845F04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76450"/>
            <a:ext cx="1752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8A1F9-2463-4C42-9484-A82AF284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431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1F3A"/>
                </a:solidFill>
              </a:defRPr>
            </a:pPr>
            <a:r>
              <a:rPr sz="1725" b="1">
                <a:solidFill>
                  <a:srgbClr val="0F1F3A"/>
                </a:solidFill>
              </a:rPr>
              <a:t>Pratinjau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90724-2BC1-489C-AB3E-735773C2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Akun debit/kredit dan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9FA34-3D0C-4B31-8DAD-E92B4F50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76450"/>
            <a:ext cx="1752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D3015-E7A7-4C82-8C12-9D0CA331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31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1F3A"/>
                </a:solidFill>
              </a:defRPr>
            </a:pPr>
            <a:r>
              <a:rPr sz="1725" b="1">
                <a:solidFill>
                  <a:srgbClr val="0F1F3A"/>
                </a:solidFill>
              </a:rPr>
              <a:t>Posting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B525B-B84B-47CC-9277-A2323708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Nomor jurnal dan buku besar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11103-0AC5-41C1-A938-55BB3122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76450"/>
            <a:ext cx="1752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137DA-7F28-4F47-9BA4-6DAF6D45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431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803D"/>
                </a:solidFill>
              </a:defRPr>
            </a:pPr>
            <a:r>
              <a:rPr sz="1725" b="1">
                <a:solidFill>
                  <a:srgbClr val="15803D"/>
                </a:solidFill>
              </a:rPr>
              <a:t>Laporan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51264-0A66-494B-A2B9-C1FE5CDE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Laba rugi, neraca, arus kas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E93F2B-376C-4DAE-B825-7F2EE6F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8877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B9884-11FB-48CD-A92E-C6732FA3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D2CE78-7D09-4B2E-B5AF-0E401497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849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Kontrol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453B47-BA7F-4731-8EC9-11AD27F0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33925"/>
            <a:ext cx="849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Jurnal Umum hanya untuk kejadian tanpa proses otomatis. Penjualan, HPP, dan Kulakan tidak boleh dicatat ulang secara manual.</a:t>
            </a:r>
          </a:p>
        </p:txBody>
      </p:sp>
    </p:spTree>
    <p:extLst>
      <p:ext uri="{BB962C8B-B14F-4D97-AF65-F5344CB8AC3E}">
        <p14:creationId xmlns:p14="http://schemas.microsoft.com/office/powerpoint/2010/main" val="716555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EC4B63-B0A2-4363-8C09-C62B8FF0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SUMBER AKUN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555C5-4A30-4549-9096-0ED2ED94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Akun berasal dari master bisnis, bukan diketik pada baris draf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C3CAC-4E65-498F-B3E3-31DC7D9A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1E84F-0C78-4A4B-A023-9CBBF2CB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1DDEE-F8EF-40BB-9569-F5731536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E5246-EC07-4CCA-8B07-5D94E384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4748B"/>
                </a:solidFill>
              </a:defRPr>
            </a:pPr>
            <a:r>
              <a:rPr sz="1275" b="1">
                <a:solidFill>
                  <a:srgbClr val="64748B"/>
                </a:solidFill>
              </a:rPr>
              <a:t>Proses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A9461-A79B-4C0B-AC35-EDBAA65E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81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DEBET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61825-3256-45A3-8330-E343A47F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811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803D"/>
                </a:solidFill>
              </a:defRPr>
            </a:pPr>
            <a:r>
              <a:rPr sz="1275" b="1">
                <a:solidFill>
                  <a:srgbClr val="15803D"/>
                </a:solidFill>
              </a:rPr>
              <a:t>KREDIT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856C6-FA0D-4A7C-A2FA-787C1CEC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00774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83433-5110-4B84-B1F9-3094BEAA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859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</a:defRPr>
            </a:pPr>
            <a:r>
              <a:rPr sz="1275" b="1">
                <a:solidFill>
                  <a:srgbClr val="17233B"/>
                </a:solidFill>
              </a:rPr>
              <a:t>Penjualan tunai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FB093-612B-4FA4-92D7-225C1EBB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859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</a:defRPr>
            </a:pPr>
            <a:r>
              <a:rPr sz="1275" b="0">
                <a:solidFill>
                  <a:srgbClr val="17233B"/>
                </a:solidFill>
              </a:rPr>
              <a:t>111.101 Kas Yayasan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C7693-7A84-4F87-8F78-A7868AB8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85975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</a:defRPr>
            </a:pPr>
            <a:r>
              <a:rPr sz="1275" b="0">
                <a:solidFill>
                  <a:srgbClr val="17233B"/>
                </a:solidFill>
              </a:rPr>
              <a:t>410.900 Pendapatan Toko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2D788-9041-464B-A1F8-9884C22C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00774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EBF82-D5B4-4CA4-968E-B226DF89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527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</a:defRPr>
            </a:pPr>
            <a:r>
              <a:rPr sz="1275" b="1">
                <a:solidFill>
                  <a:srgbClr val="17233B"/>
                </a:solidFill>
              </a:rPr>
              <a:t>Penjualan kredit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6F3D3-92E5-4D6A-8E5B-02A4E105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527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</a:defRPr>
            </a:pPr>
            <a:r>
              <a:rPr sz="1275" b="0">
                <a:solidFill>
                  <a:srgbClr val="17233B"/>
                </a:solidFill>
              </a:rPr>
              <a:t>131.300 Piutang Usaha Toko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C87D8-F88E-4F63-A3E0-79D40D49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52725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</a:defRPr>
            </a:pPr>
            <a:r>
              <a:rPr sz="1275" b="0">
                <a:solidFill>
                  <a:srgbClr val="17233B"/>
                </a:solidFill>
              </a:rPr>
              <a:t>410.900 Pendapatan Toko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3F1E25-4FCE-48FD-AB77-09E0A8C5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0774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5C324-8034-4328-B56D-D4BC9FC8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194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</a:defRPr>
            </a:pPr>
            <a:r>
              <a:rPr sz="1275" b="1">
                <a:solidFill>
                  <a:srgbClr val="17233B"/>
                </a:solidFill>
              </a:rPr>
              <a:t>HPP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D7E37-374A-48A7-8AFC-A8BE41C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194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</a:defRPr>
            </a:pPr>
            <a:r>
              <a:rPr sz="1275" b="0">
                <a:solidFill>
                  <a:srgbClr val="17233B"/>
                </a:solidFill>
              </a:rPr>
              <a:t>510.900 Beban Pokok Penjualan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B8221-463D-4F21-888A-3B237104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19475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</a:defRPr>
            </a:pPr>
            <a:r>
              <a:rPr sz="1275" b="0">
                <a:solidFill>
                  <a:srgbClr val="17233B"/>
                </a:solidFill>
              </a:rPr>
              <a:t>151.200 Persediaan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0AD569-8401-4978-B21C-4191BC40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00774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1BDCB-04B8-4641-B24C-571B9BBF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</a:defRPr>
            </a:pPr>
            <a:r>
              <a:rPr sz="1275" b="1">
                <a:solidFill>
                  <a:srgbClr val="17233B"/>
                </a:solidFill>
              </a:rPr>
              <a:t>Kulakan tunai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D4FAE1-77C6-46AC-BAB9-353D8362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862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</a:defRPr>
            </a:pPr>
            <a:r>
              <a:rPr sz="1275" b="0">
                <a:solidFill>
                  <a:srgbClr val="17233B"/>
                </a:solidFill>
              </a:rPr>
              <a:t>151.200 Persediaan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FD4327-7E21-404D-B1C4-62E7E4BF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86225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</a:defRPr>
            </a:pPr>
            <a:r>
              <a:rPr sz="1275" b="0">
                <a:solidFill>
                  <a:srgbClr val="17233B"/>
                </a:solidFill>
              </a:rPr>
              <a:t>111.101 Kas Yayasan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228737-83A3-4A7B-94FD-1D7B5E64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100774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5B4DF-9E72-4C6A-BC34-324BE383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529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</a:defRPr>
            </a:pPr>
            <a:r>
              <a:rPr sz="1275" b="1">
                <a:solidFill>
                  <a:srgbClr val="17233B"/>
                </a:solidFill>
              </a:rPr>
              <a:t>Kulakan termin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E436C9-738C-4449-8700-85780C35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529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</a:defRPr>
            </a:pPr>
            <a:r>
              <a:rPr sz="1275" b="0">
                <a:solidFill>
                  <a:srgbClr val="17233B"/>
                </a:solidFill>
              </a:rPr>
              <a:t>151.200 Persediaan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1339A9-9570-4FB0-8D14-9D7471D4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52975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B"/>
                </a:solidFill>
              </a:defRPr>
            </a:pPr>
            <a:r>
              <a:rPr sz="1275" b="0">
                <a:solidFill>
                  <a:srgbClr val="17233B"/>
                </a:solidFill>
              </a:rPr>
              <a:t>310.600 Utang Usaha Toko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4A6EFA-60B5-431A-93FF-E1DD98B8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F3A"/>
                </a:solidFill>
              </a:defRPr>
            </a:pPr>
            <a:r>
              <a:rPr sz="1350" b="1">
                <a:solidFill>
                  <a:srgbClr val="0F1F3A"/>
                </a:solidFill>
              </a:rPr>
              <a:t>Perbaikan akun: klik Sesuaikan Akun Debet/Kredit → ubah master sumber → muat ulang → pastikan Debit = Kredit.</a:t>
            </a:r>
          </a:p>
        </p:txBody>
      </p:sp>
    </p:spTree>
    <p:extLst>
      <p:ext uri="{BB962C8B-B14F-4D97-AF65-F5344CB8AC3E}">
        <p14:creationId xmlns:p14="http://schemas.microsoft.com/office/powerpoint/2010/main" val="1926084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EDD1C-A1A4-45F0-983D-549B9F4D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BUKTI TRANSAKSI &amp; POSTING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5E332-1E24-4C0B-AC04-0FA75080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Riwayat Penjualan membuktikan volume transaksi POS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CE84B-5559-4A4D-98F6-7B16B748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4C9A9-D6B6-4C39-AE68-9CCE411D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BAA9F-D1C8-4D1D-9113-01CC0C52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863e096904342"/>
          <a:stretch xmlns:a="http://schemas.openxmlformats.org/drawingml/2006/main"/>
        </p:blipFill>
        <p:spPr>
          <a:xfrm xmlns:a="http://schemas.openxmlformats.org/drawingml/2006/main">
            <a:off x="2329793" y="1371600"/>
            <a:ext cx="753241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DDEE5-69B3-40B8-A7E3-AC037B5F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E6739-C706-4A45-84E6-24D5627E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7DD7D-A48A-4C41-BB69-717B38A1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Yang dibuktikan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46A0C-9D21-44A2-82C7-C7F6B547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721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Data bernilai dan nomor nota menjadi sumber Posting Penjualan serta HPP.</a:t>
            </a:r>
          </a:p>
        </p:txBody>
      </p:sp>
    </p:spTree>
    <p:extLst>
      <p:ext uri="{BB962C8B-B14F-4D97-AF65-F5344CB8AC3E}">
        <p14:creationId xmlns:p14="http://schemas.microsoft.com/office/powerpoint/2010/main" val="1761357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EA135-5310-4E8D-AF11-AABCB172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BUKTI TRANSAKSI &amp; POSTING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A7B4E-3A87-4E10-912F-7E392A44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Riwayat Kulakan memuat 407 faktur pemasok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BACA7-28E4-4BB3-9308-38F02551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376C6-F41F-464D-9C2D-EAD1345F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2B3E2-1E6F-450D-B237-6A7E8E6D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81ce1822e4274"/>
          <a:stretch xmlns:a="http://schemas.openxmlformats.org/drawingml/2006/main"/>
        </p:blipFill>
        <p:spPr>
          <a:xfrm xmlns:a="http://schemas.openxmlformats.org/drawingml/2006/main">
            <a:off x="2329793" y="1371600"/>
            <a:ext cx="753241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452FB-2AEF-4DC4-96AC-920D7BDF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0DD35-6887-4F85-AD7C-E90F1860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FFC94-6F3C-4DFB-976C-4B731261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Yang dibuktikan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75E3E-A1DE-498A-B5BA-0D9852EB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721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Pembelian tunai dan termin diarahkan ke akun kas atau utang yang sesuai.</a:t>
            </a:r>
          </a:p>
        </p:txBody>
      </p:sp>
    </p:spTree>
    <p:extLst>
      <p:ext uri="{BB962C8B-B14F-4D97-AF65-F5344CB8AC3E}">
        <p14:creationId xmlns:p14="http://schemas.microsoft.com/office/powerpoint/2010/main" val="500583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DBA8F-E915-4BCA-9E76-C2007B04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BUKTI TRANSAKSI &amp; POSTING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F3B7D-6E81-409F-A18C-81BA6F89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Posting Penjualan menandai 403 transaksi terposting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F8984-657D-4A8E-8C34-6BFA9DFB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67D67-6D59-4387-A68D-5ED3E3A1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22222-573E-46A9-9E7B-CC792CCA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8df4bf3fe4463"/>
          <a:stretch xmlns:a="http://schemas.openxmlformats.org/drawingml/2006/main"/>
        </p:blipFill>
        <p:spPr>
          <a:xfrm xmlns:a="http://schemas.openxmlformats.org/drawingml/2006/main">
            <a:off x="2329793" y="1371600"/>
            <a:ext cx="753241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2BF7A-AA46-4A8F-967A-A1D720D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4C683-454B-402B-81B3-EFCA1889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4B5A3-1081-4245-AE71-4B7F0DDC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Yang dibuktikan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EF7B6-9CCF-4EB2-B1B3-4C263066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721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Filter Semua, Telah Diposting, dan Belum Diposting menampilkan status serta nomor jurnal.</a:t>
            </a:r>
          </a:p>
        </p:txBody>
      </p:sp>
    </p:spTree>
    <p:extLst>
      <p:ext uri="{BB962C8B-B14F-4D97-AF65-F5344CB8AC3E}">
        <p14:creationId xmlns:p14="http://schemas.microsoft.com/office/powerpoint/2010/main" val="607293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F8425-2425-4218-86A4-979002D2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BUKTI TRANSAKSI &amp; POSTING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3223A-F809-4764-8AE7-59AC68D2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Posting HPP menampilkan 104 histori biaya pokok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12776-6E28-4121-927E-36B9E596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94166-6C5C-424C-B5BA-5EEAFF80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DE632-9D44-4A1A-B0C3-8585DCD6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91a77ddb542b7"/>
          <a:stretch xmlns:a="http://schemas.openxmlformats.org/drawingml/2006/main"/>
        </p:blipFill>
        <p:spPr>
          <a:xfrm xmlns:a="http://schemas.openxmlformats.org/drawingml/2006/main">
            <a:off x="2329793" y="1371600"/>
            <a:ext cx="753241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8C109-0B46-493A-B6DA-CF2527A6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7926C-B63C-4E10-A475-D5469F48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45FDF-48B9-4A8F-9C06-8D17BC75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Yang dibuktikan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6F204-A840-4898-8AE4-16E9AF5D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721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Beban Pokok Penjualan didebet dan Persediaan dikredit secara konsisten.</a:t>
            </a:r>
          </a:p>
        </p:txBody>
      </p:sp>
    </p:spTree>
    <p:extLst>
      <p:ext uri="{BB962C8B-B14F-4D97-AF65-F5344CB8AC3E}">
        <p14:creationId xmlns:p14="http://schemas.microsoft.com/office/powerpoint/2010/main" val="20397767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E0761-CBCF-49AE-8AFA-FF2E5296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BUKTI TRANSAKSI &amp; POSTING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0F051-98AD-44BD-BF34-C99CB366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Posting Kulakan menampilkan 402 histori pembelian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89205-A22A-4BF2-9CFB-F3D3F3EB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56059-4DA2-4F0C-96BB-708B18C6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21BC8-32A1-4292-88E6-E3F534F7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09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a4aa39e8d460b"/>
          <a:stretch xmlns:a="http://schemas.openxmlformats.org/drawingml/2006/main"/>
        </p:blipFill>
        <p:spPr>
          <a:xfrm xmlns:a="http://schemas.openxmlformats.org/drawingml/2006/main">
            <a:off x="2329793" y="1371600"/>
            <a:ext cx="753241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CFEED-EF45-46D4-8FC3-45523183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F39CA-DAB0-482B-9673-A8CE3AFC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56A67-5E08-469D-872E-ED6903EA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Yang dibuktikan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01F0B-0D2A-41B0-A93E-40494E5A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721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Setiap faktur dapat ditelusuri ke akun dan nomor jurnal; antrian tersisa nol.</a:t>
            </a:r>
          </a:p>
        </p:txBody>
      </p:sp>
    </p:spTree>
    <p:extLst>
      <p:ext uri="{BB962C8B-B14F-4D97-AF65-F5344CB8AC3E}">
        <p14:creationId xmlns:p14="http://schemas.microsoft.com/office/powerpoint/2010/main" val="232322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13FAC-1FE9-4B33-8E41-477703C8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JURNAL UMUM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63C10-B1FC-4EF9-A4F6-4366C263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Jurnal Umum memisahkan draf, review, dan posting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8081A-79ED-4BE3-8BB5-60E6B96E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CF9C9-A5F9-4D31-8797-E17A93D7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3D598-2062-4028-8C7B-3E0A5C9F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10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1c6860ba54a48"/>
          <a:stretch xmlns:a="http://schemas.openxmlformats.org/drawingml/2006/main"/>
        </p:blipFill>
        <p:spPr>
          <a:xfrm xmlns:a="http://schemas.openxmlformats.org/drawingml/2006/main">
            <a:off x="2329793" y="1371600"/>
            <a:ext cx="753241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E1231-D0B2-4FA8-9FFA-162670AF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87092-9EAE-42F5-B32F-603F8190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43EB5-605B-403C-BEEA-1C5756D3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Yang dibuktikan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86CF0-6BE4-4D78-993F-79744922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721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Gunakan hanya untuk transaksi tanpa menu otomatis, penyesuaian, koreksi, atau saldo awal.</a:t>
            </a:r>
          </a:p>
        </p:txBody>
      </p:sp>
    </p:spTree>
    <p:extLst>
      <p:ext uri="{BB962C8B-B14F-4D97-AF65-F5344CB8AC3E}">
        <p14:creationId xmlns:p14="http://schemas.microsoft.com/office/powerpoint/2010/main" val="5309549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32FB6-AF07-472B-B227-FBAA93AF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JURNAL UMUM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8E83A-515A-41AD-81CF-DDF20D07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Form Jurnal Umum menolak jurnal yang tidak seimbang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81CBB-B828-4755-A61A-C812E963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270F3-F37B-435F-BC52-4A731171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D0A87-D247-48F1-9B1A-2C495865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0cb9d95d64b3e"/>
          <a:stretch xmlns:a="http://schemas.openxmlformats.org/drawingml/2006/main"/>
        </p:blipFill>
        <p:spPr>
          <a:xfrm xmlns:a="http://schemas.openxmlformats.org/drawingml/2006/main">
            <a:off x="2329793" y="1371600"/>
            <a:ext cx="753241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66C48-7A1A-42D4-9233-69A67AF9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D3218-8AF8-4E12-940A-2C067CAA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01C7F-90FB-4BFE-AAE1-790D02DC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Yang dibuktikan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4199F-38A7-4422-BC2B-25FBF652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721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Setiap baris hanya mengisi satu sisi; total debit wajib sama dengan total kredit.</a:t>
            </a:r>
          </a:p>
        </p:txBody>
      </p:sp>
    </p:spTree>
    <p:extLst>
      <p:ext uri="{BB962C8B-B14F-4D97-AF65-F5344CB8AC3E}">
        <p14:creationId xmlns:p14="http://schemas.microsoft.com/office/powerpoint/2010/main" val="8472881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8B9E8D-5A38-4EBF-932D-A21C02BD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JURNAL UMUM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2D702-5851-44AB-A88C-63D85496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Jenis jurnal dipilih berdasarkan substansi dan periode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E171B-569A-48C4-BEA8-63B59B97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D1A7C-92A6-47CA-88CA-2373E960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08C95-DCB3-4319-A852-CBA2971C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EA860-4274-444B-B11D-2F4F2571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4857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11CB0-98C0-4306-B164-4437F662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Operasional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70154-EB87-4023-B8C5-423DC3F7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19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Kejadian tanpa menu otomatis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A3DFF-B18A-47D4-8B72-A9974738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4857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419A0-005D-437B-B74C-7AAEBC23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Penyesuaian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2F67F-889F-40DB-BEA1-6AD3F72F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0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Cut-off dan nilai akhir periode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1A49D-073D-4C76-AA46-D91A714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4857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FF3DC-1B9E-4B98-A901-129F2AF5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Akrual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5CDA3-CE8F-4773-B612-834F0549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81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Hak/kewajiban sebelum kas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954B7-2BF7-4D63-8394-661E0229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857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709B4-1379-4728-B8AB-C148CD58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Deferral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67D69-BCE0-48C2-ADCD-956553A4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62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Alokasi pembayaran/penerimaan di muka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89AC7-1E48-4539-B872-061EDA3D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4857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6A4C5-C160-4D1B-B830-00A66075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Penyusutan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69B09-6EF3-4B51-92C8-CD610DFB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434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Alokasi biaya aset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4EDB0-67AC-4D5F-A5DC-D8ECE5D3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24000"/>
            <a:ext cx="4857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403BB-54C2-4ACB-8148-AB91F784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1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Pembalik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6E32FF-3D89-43B5-A2F7-853DE6BB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Membalik jurnal salah atau akrual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F574AF-83C5-49F9-9242-4AAD3856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05050"/>
            <a:ext cx="4857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0975E-4027-48F4-8607-D4D46A5E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Koreksi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57603B-DACD-4045-B359-B5887271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Mencatat keadaan yang seharusnya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B5D011-9534-426A-A684-699A6FE6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86100"/>
            <a:ext cx="4857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38606F-B905-4424-B7AD-5A2816D0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81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Saldo Awal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3DDF8-F7C6-4D0E-9713-4CC82EC3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Saldo migrasi awal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9A0BFC-EDC5-413C-9AE3-290A1ABD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67150"/>
            <a:ext cx="4857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85B7E7-6FBA-4260-BC88-1335C795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62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Penutup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FE43BC-4F76-4BB6-B7AA-CB5473A0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Memindahkan hasil periode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A42D50-79D3-482C-9219-87C57D93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4857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17D6B8-0E93-486B-98D1-B1187F45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8B4A6A-2FAE-4A2F-B898-FCF1E75D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911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803D"/>
                </a:solidFill>
              </a:defRPr>
            </a:pPr>
            <a:r>
              <a:rPr sz="1200" b="1">
                <a:solidFill>
                  <a:srgbClr val="15803D"/>
                </a:solidFill>
              </a:rPr>
              <a:t>Aturan posting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BF32DF-171A-4A44-968B-D2D80DAC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673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Simpan sebagai draf → review bukti dan akun → pastikan Debit = Kredit → posting → telusuri nomor jurnal di Buku Besar.</a:t>
            </a:r>
          </a:p>
        </p:txBody>
      </p:sp>
    </p:spTree>
    <p:extLst>
      <p:ext uri="{BB962C8B-B14F-4D97-AF65-F5344CB8AC3E}">
        <p14:creationId xmlns:p14="http://schemas.microsoft.com/office/powerpoint/2010/main" val="4380207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FAD115-D843-4037-A398-87DFBD95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LAPORAN KEUANGAN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E2A94-3015-43FE-A8DA-B1C403BC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Enam laporan membaca jurnal terposting pada periode yang sama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6719B-793A-4311-9891-A6AC4B0E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12556-1354-40F8-B007-E000DBF0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A9CF0-A5FD-4435-9F05-79011DD6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374C9-C335-498C-8DD3-DCF96E0B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CC9B9-0B64-48A9-9E99-25D23DA9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6BE41-FF0F-4B87-9F4E-AE6551AF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F3A"/>
                </a:solidFill>
              </a:defRPr>
            </a:pPr>
            <a:r>
              <a:rPr sz="1650" b="1">
                <a:solidFill>
                  <a:srgbClr val="0F1F3A"/>
                </a:solidFill>
              </a:rPr>
              <a:t>Laba Rugi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67DD5-6456-4846-A040-DF834672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3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Live • full-width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566B4-3535-48BC-A82C-C0B4301E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143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6277A-A35B-4C29-ACD8-5BDF790B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81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BE011-9444-464D-8775-BD17287D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55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F3A"/>
                </a:solidFill>
              </a:defRPr>
            </a:pPr>
            <a:r>
              <a:rPr sz="1650" b="1">
                <a:solidFill>
                  <a:srgbClr val="0F1F3A"/>
                </a:solidFill>
              </a:rPr>
              <a:t>Neraca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7580D-784D-4216-A4BD-BDB84FCF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3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Live • full-width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02646-9126-4B65-9973-F516AA6E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3143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6E23F-7720-40B9-AD7F-20EB8CFE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81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3A666-FB8D-4822-8821-3DA0A922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F3A"/>
                </a:solidFill>
              </a:defRPr>
            </a:pPr>
            <a:r>
              <a:rPr sz="1650" b="1">
                <a:solidFill>
                  <a:srgbClr val="0F1F3A"/>
                </a:solidFill>
              </a:rPr>
              <a:t>Arus Kas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E9B57-BF74-4B60-86B0-987AF595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3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Live • full-width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448BC-6D19-477B-9CEC-6F03ECDB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3143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8036F-3FA5-439B-AD4F-78C13DE2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C76F8-7CB1-4F6D-BDC9-4B953193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909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F3A"/>
                </a:solidFill>
              </a:defRPr>
            </a:pPr>
            <a:r>
              <a:rPr sz="1650" b="1">
                <a:solidFill>
                  <a:srgbClr val="0F1F3A"/>
                </a:solidFill>
              </a:rPr>
              <a:t>Keseluruhan Jurnal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3DCAE-86AD-4D6F-A767-F80E3B45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29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</a:defRPr>
            </a:pPr>
            <a:r>
              <a:rPr sz="1125" b="1">
                <a:solidFill>
                  <a:srgbClr val="15803D"/>
                </a:solidFill>
              </a:rPr>
              <a:t>4.107 baris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E5D9F-C163-4754-B814-36BF2DCF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05200"/>
            <a:ext cx="3143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97DC9-8447-4DFD-8BE8-E5B8E408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76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893F14-4A81-4363-B879-EEC42487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909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F3A"/>
                </a:solidFill>
              </a:defRPr>
            </a:pPr>
            <a:r>
              <a:rPr sz="1650" b="1">
                <a:solidFill>
                  <a:srgbClr val="0F1F3A"/>
                </a:solidFill>
              </a:rPr>
              <a:t>Buku Besar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04205A-BA6D-495F-A747-E83C839C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29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Live • full-width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2069C-DCD8-4663-9067-8909D908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05200"/>
            <a:ext cx="3143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3BF691-5D5F-401B-BAC7-CB77C963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76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036197-AFE9-4643-AFA1-4F910044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909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F3A"/>
                </a:solidFill>
              </a:defRPr>
            </a:pPr>
            <a:r>
              <a:rPr sz="1650" b="1">
                <a:solidFill>
                  <a:srgbClr val="0F1F3A"/>
                </a:solidFill>
              </a:rPr>
              <a:t>Neraca Saldo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763A3B-BBEB-40E2-A816-42328A0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29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Live • full-width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704A83-B376-4EBF-A639-FD4D6473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998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F3A"/>
                </a:solidFill>
              </a:defRPr>
            </a:pPr>
            <a:r>
              <a:rPr sz="1425" b="1">
                <a:solidFill>
                  <a:srgbClr val="0F1F3A"/>
                </a:solidFill>
              </a:rPr>
              <a:t>Periode UAT: 1-30 September 2026 • tidak ada laporan kosong atau kolom terpotong</a:t>
            </a:r>
          </a:p>
        </p:txBody>
      </p:sp>
    </p:spTree>
    <p:extLst>
      <p:ext uri="{BB962C8B-B14F-4D97-AF65-F5344CB8AC3E}">
        <p14:creationId xmlns:p14="http://schemas.microsoft.com/office/powerpoint/2010/main" val="10398961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CD17A-94CE-4F3E-9BC9-1DDA93A5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LAPORAN KEUANGAN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43200-D832-4503-AA60-B14F3826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Laba Rugi menghubungkan pendapatan, HPP, dan beban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15A75-3FBC-434C-A923-2034CF37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0D121-D96A-4E1F-8BFC-A32F3C3E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F2558-5129-406B-81D1-3512386B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15e205d514d7f"/>
          <a:stretch xmlns:a="http://schemas.openxmlformats.org/drawingml/2006/main"/>
        </p:blipFill>
        <p:spPr>
          <a:xfrm xmlns:a="http://schemas.openxmlformats.org/drawingml/2006/main">
            <a:off x="2329793" y="1371600"/>
            <a:ext cx="753241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C9574-2721-49A1-A8B2-B0E83A80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9B6E9-767F-497D-80D9-D938A2E5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BB1E1-CC83-4C88-A22F-5BBB4DD7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Interpretasi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16AC1-9440-4ACC-A28D-0AE5F0D1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721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Pendapatan 410.900 dan kelompok beban tampil dalam struktur laporan.</a:t>
            </a:r>
          </a:p>
        </p:txBody>
      </p:sp>
    </p:spTree>
    <p:extLst>
      <p:ext uri="{BB962C8B-B14F-4D97-AF65-F5344CB8AC3E}">
        <p14:creationId xmlns:p14="http://schemas.microsoft.com/office/powerpoint/2010/main" val="20666774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5D150-B41C-45E5-9458-7F886E5B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LAPORAN KEUANGAN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982B1-3636-44CD-B783-F21E76C8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Neraca menyajikan aset, kewajiban, dan ekuitas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1E287-6145-41EA-AD91-F53B8400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DB678-8C66-4100-8BF9-67895F8D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AAE19-1DCB-4447-A025-7F0EF7AB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72eab14cd4e7e"/>
          <a:stretch xmlns:a="http://schemas.openxmlformats.org/drawingml/2006/main"/>
        </p:blipFill>
        <p:spPr>
          <a:xfrm xmlns:a="http://schemas.openxmlformats.org/drawingml/2006/main">
            <a:off x="2329793" y="1371600"/>
            <a:ext cx="753241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2E2E0-ED22-481A-8103-0927F9B9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806AB-FCBF-4518-9C4D-D615CE7B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E8CA7-5A2B-40D3-B778-C7970604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Interpretasi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32C5F-4863-4B21-AD36-F13A9D0A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721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Kas, piutang, persediaan, utang, dan modal dapat dibaca sampai sisi kanan.</a:t>
            </a:r>
          </a:p>
        </p:txBody>
      </p:sp>
    </p:spTree>
    <p:extLst>
      <p:ext uri="{BB962C8B-B14F-4D97-AF65-F5344CB8AC3E}">
        <p14:creationId xmlns:p14="http://schemas.microsoft.com/office/powerpoint/2010/main" val="3305624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2AC16-6CB9-4340-8580-5348F804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LAPORAN KEUANGAN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BC4BB-3ABA-4A53-A825-A19A93A6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Arus Kas merekonsiliasi saldo awal dan mutasi kas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CC397-6543-474C-96A7-88EC0795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E7E13-E2FF-45AD-8187-028A4747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B1F5E-0CEE-413A-B5F2-05B6CC54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a16df34d548a5"/>
          <a:stretch xmlns:a="http://schemas.openxmlformats.org/drawingml/2006/main"/>
        </p:blipFill>
        <p:spPr>
          <a:xfrm xmlns:a="http://schemas.openxmlformats.org/drawingml/2006/main">
            <a:off x="2329793" y="1371600"/>
            <a:ext cx="753241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4894F-8C65-4456-8884-5386526E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6FC53-3437-4A55-B8EF-3032A5AE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25859-95C5-4994-BFA6-C17C8ED9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Interpretasi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65655-A65F-4A0E-AAF3-EBFD8BB1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721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Penerimaan dan pengeluaran ditelusuri menurut akun lawan.</a:t>
            </a:r>
          </a:p>
        </p:txBody>
      </p:sp>
    </p:spTree>
    <p:extLst>
      <p:ext uri="{BB962C8B-B14F-4D97-AF65-F5344CB8AC3E}">
        <p14:creationId xmlns:p14="http://schemas.microsoft.com/office/powerpoint/2010/main" val="20349336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07C91-98B5-4A65-8BB1-A279DB6F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LAPORAN KEUANGAN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9AE84-1F00-49A3-8224-DCA9D6AB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Keseluruhan Jurnal memuat 4.107 baris terposting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43E6E-EE2F-4047-A97D-68D1363E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FD833-A60B-4828-A485-B0D09803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7C032-14EF-42CF-B6FF-275B2319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62a8b163b4ca1"/>
          <a:stretch xmlns:a="http://schemas.openxmlformats.org/drawingml/2006/main"/>
        </p:blipFill>
        <p:spPr>
          <a:xfrm xmlns:a="http://schemas.openxmlformats.org/drawingml/2006/main">
            <a:off x="2329793" y="1371600"/>
            <a:ext cx="753241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64662-27E2-4796-8BF7-09B491DE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FA6C1-6BE2-4667-BD6D-5DE67073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40CE6-EBBF-423B-9C09-584692CE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Interpretasi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E12BE-DD0E-4091-93D8-66382355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721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Tanggal, nomor jurnal, akun, keterangan, debit, dan kredit tampil utuh.</a:t>
            </a:r>
          </a:p>
        </p:txBody>
      </p:sp>
    </p:spTree>
    <p:extLst>
      <p:ext uri="{BB962C8B-B14F-4D97-AF65-F5344CB8AC3E}">
        <p14:creationId xmlns:p14="http://schemas.microsoft.com/office/powerpoint/2010/main" val="21074224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5148F-9610-4E1D-BDEE-62278599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LAPORAN KEUANGAN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30A2E-B095-4E3E-9640-B701C88E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Buku Besar mempertahankan referensi dan saldo berjalan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C9835-B642-4923-8AB8-E07DB9E3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819E2-8EE6-4426-AF21-4B3ABF1F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9E047-C468-4459-A9A8-CFF16409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5d58575a04176"/>
          <a:stretch xmlns:a="http://schemas.openxmlformats.org/drawingml/2006/main"/>
        </p:blipFill>
        <p:spPr>
          <a:xfrm xmlns:a="http://schemas.openxmlformats.org/drawingml/2006/main">
            <a:off x="2329793" y="1371600"/>
            <a:ext cx="753241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F174D-367C-42D9-A233-4D3E140C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DBD89-FD7C-4F5B-A002-D237D0EA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4F358-6A10-4563-B1AE-E951530B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Interpretasi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E687A-7460-454F-B0CC-6A5BF11C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721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Mutasi per akun dapat ditelusuri kembali ke dokumen sumber.</a:t>
            </a:r>
          </a:p>
        </p:txBody>
      </p:sp>
    </p:spTree>
    <p:extLst>
      <p:ext uri="{BB962C8B-B14F-4D97-AF65-F5344CB8AC3E}">
        <p14:creationId xmlns:p14="http://schemas.microsoft.com/office/powerpoint/2010/main" val="19027504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3559E-899F-4C94-8AE8-D611FF1E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LAPORAN KEUANGAN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C7816-6038-421F-91D6-53343210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Neraca Saldo menjadi kontrol terakhir Debit = Kredit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DB2D8-9752-4702-9100-5D7BA457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0B709-ED52-4E12-8B77-97D228CB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B9769-9CA3-458E-A424-ED95528D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19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b004497fc4ae4"/>
          <a:stretch xmlns:a="http://schemas.openxmlformats.org/drawingml/2006/main"/>
        </p:blipFill>
        <p:spPr>
          <a:xfrm xmlns:a="http://schemas.openxmlformats.org/drawingml/2006/main">
            <a:off x="2329793" y="1371600"/>
            <a:ext cx="7532414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7AC9A-A8EA-4705-B264-CF4FB56A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5E7C9-B88A-46B3-9A23-773775D2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72A53-3574-4C8B-8303-795CF3DA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803D"/>
                </a:solidFill>
              </a:defRPr>
            </a:pPr>
            <a:r>
              <a:rPr sz="1200" b="1">
                <a:solidFill>
                  <a:srgbClr val="15803D"/>
                </a:solidFill>
              </a:rPr>
              <a:t>Interpretasi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52628-1AFF-4101-9583-96F9514D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721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Audit tidak menemukan jurnal tidak seimbang pada 4.107 baris.</a:t>
            </a:r>
          </a:p>
        </p:txBody>
      </p:sp>
    </p:spTree>
    <p:extLst>
      <p:ext uri="{BB962C8B-B14F-4D97-AF65-F5344CB8AC3E}">
        <p14:creationId xmlns:p14="http://schemas.microsoft.com/office/powerpoint/2010/main" val="3809984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206B0-AA0D-4738-AE37-5472C853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KESIMPULAN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B8436-2030-44A4-BFA5-6F859C6A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F3A"/>
                </a:solidFill>
              </a:defRPr>
            </a:pPr>
            <a:r>
              <a:rPr sz="2700" b="1">
                <a:solidFill>
                  <a:srgbClr val="0F1F3A"/>
                </a:solidFill>
              </a:rPr>
              <a:t>UAT selesai: alur siap dipakai dan dapat diaudit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D29DA-C27F-4DDB-BB09-3730C917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C274C-4FFD-45A4-A55D-D2FB7DA7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eBisnis • v1.34.23 • 5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6B9CE-C98A-48B6-B879-B6CDBF9E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21610-1AD6-49AC-AA21-91ED38B9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5803D"/>
                </a:solidFill>
              </a:defRPr>
            </a:pPr>
            <a:r>
              <a:rPr sz="5250" b="1">
                <a:solidFill>
                  <a:srgbClr val="15803D"/>
                </a:solidFill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E7703-625E-4E03-B9ED-2A07B4BA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F3A"/>
                </a:solidFill>
              </a:defRPr>
            </a:pPr>
            <a:r>
              <a:rPr sz="1800" b="1">
                <a:solidFill>
                  <a:srgbClr val="0F1F3A"/>
                </a:solidFill>
              </a:rPr>
              <a:t>kelulusan pada ruang lingkup Kantin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8C88B-5CE9-4C01-974C-7609A321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621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803D"/>
                </a:solidFill>
              </a:defRPr>
            </a:pPr>
            <a:r>
              <a:rPr sz="1800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814DC-8C11-4AD1-96FF-47B9A7BE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B"/>
                </a:solidFill>
              </a:defRPr>
            </a:pPr>
            <a:r>
              <a:rPr sz="1350" b="0">
                <a:solidFill>
                  <a:srgbClr val="17233B"/>
                </a:solidFill>
              </a:rPr>
              <a:t>Akun debit/kredit lengkap dan dapat diubah dari tombol sumber akun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0CEC2-865F-4CFA-B553-6A1C665E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803D"/>
                </a:solidFill>
              </a:defRPr>
            </a:pPr>
            <a:r>
              <a:rPr sz="1800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BE09C-AD33-4545-BEDA-190308C2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B"/>
                </a:solidFill>
              </a:defRPr>
            </a:pPr>
            <a:r>
              <a:rPr sz="1350" b="0">
                <a:solidFill>
                  <a:srgbClr val="17233B"/>
                </a:solidFill>
              </a:rPr>
              <a:t>Penjualan, HPP, dan Kulakan memiliki lebih dari 100 histori terposting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8D642-4B34-4A86-9D84-BB04656F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803D"/>
                </a:solidFill>
              </a:defRPr>
            </a:pPr>
            <a:r>
              <a:rPr sz="1800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C80EC-396E-41BA-9CCE-A7EF747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B"/>
                </a:solidFill>
              </a:defRPr>
            </a:pPr>
            <a:r>
              <a:rPr sz="1350" b="0">
                <a:solidFill>
                  <a:srgbClr val="17233B"/>
                </a:solidFill>
              </a:rPr>
              <a:t>4.107 baris jurnal terposting; jurnal tidak seimbang =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3698C-3A9B-4A8C-95B0-894C902C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052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803D"/>
                </a:solidFill>
              </a:defRPr>
            </a:pPr>
            <a:r>
              <a:rPr sz="1800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2BBC8-8C3C-4201-97A1-B117F23B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2430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B"/>
                </a:solidFill>
              </a:defRPr>
            </a:pPr>
            <a:r>
              <a:rPr sz="1350" b="0">
                <a:solidFill>
                  <a:srgbClr val="17233B"/>
                </a:solidFill>
              </a:rPr>
              <a:t>Enam laporan live tampil penuh dan berisi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BDE49-5E0E-4E86-9BE4-791D51E0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86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803D"/>
                </a:solidFill>
              </a:defRPr>
            </a:pPr>
            <a:r>
              <a:rPr sz="1800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4ED96-383F-4845-84D5-61B3BAF9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0535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B"/>
                </a:solidFill>
              </a:defRPr>
            </a:pPr>
            <a:r>
              <a:rPr sz="1350" b="0">
                <a:solidFill>
                  <a:srgbClr val="17233B"/>
                </a:solidFill>
              </a:rPr>
              <a:t>762/762 pengujian regresi lulus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C4EEC-BDF2-4964-B700-96AE6087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4095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A57AE-1497-402A-BE42-FAD10489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A34C6-DE90-460B-BFE9-10C7F868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803D"/>
                </a:solidFill>
              </a:defRPr>
            </a:pPr>
            <a:r>
              <a:rPr sz="1200" b="1">
                <a:solidFill>
                  <a:srgbClr val="15803D"/>
                </a:solidFill>
              </a:rPr>
              <a:t>Tindak lanjut operasional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F7B70-568C-474D-9A9B-BB696E64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720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33B"/>
                </a:solidFill>
              </a:defRPr>
            </a:pPr>
            <a:r>
              <a:rPr sz="1200" b="0">
                <a:solidFill>
                  <a:srgbClr val="17233B"/>
                </a:solidFill>
              </a:rPr>
              <a:t>Lakukan sign-off Key User, Pembelian/Gudang, Akuntansi, IT/UAT Lead, dan Process Owner. Tidak diperlukan deploy server tambahan untuk ruang lingkup ini.</a:t>
            </a:r>
          </a:p>
        </p:txBody>
      </p:sp>
    </p:spTree>
    <p:extLst>
      <p:ext uri="{BB962C8B-B14F-4D97-AF65-F5344CB8AC3E}">
        <p14:creationId xmlns:p14="http://schemas.microsoft.com/office/powerpoint/2010/main" val="1876196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2026-09-04T17:19:28.5800000Z</dcterms:created>
  <dcterms:modified xsi:type="dcterms:W3CDTF">2026-09-04T17:19:28.5800000Z</dcterms:modified>
</coreProperties>
</file>