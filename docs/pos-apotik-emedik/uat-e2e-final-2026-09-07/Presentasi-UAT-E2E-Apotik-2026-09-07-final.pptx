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4d851620d4c28" /><Relationship Type="http://schemas.openxmlformats.org/officeDocument/2006/relationships/extended-properties" Target="/docProps/app.xml" Id="R9b34b494ff444b21" /><Relationship Type="http://schemas.openxmlformats.org/officeDocument/2006/relationships/officeDocument" Target="/ppt/presentation.xml" Id="R55acf8d07d2143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9a20553d1744c9"/>
  </p:sldMasterIdLst>
  <p:notesMasterIdLst>
    <p:notesMasterId xmlns:r="http://schemas.openxmlformats.org/officeDocument/2006/relationships" r:id="Rc316e2935fd64495"/>
  </p:notesMasterIdLst>
  <p:sldIdLst>
    <p:sldId xmlns:r="http://schemas.openxmlformats.org/officeDocument/2006/relationships" id="256" r:id="R6ee194516411443e"/>
    <p:sldId xmlns:r="http://schemas.openxmlformats.org/officeDocument/2006/relationships" id="257" r:id="Rfe852fa314ac4a21"/>
    <p:sldId xmlns:r="http://schemas.openxmlformats.org/officeDocument/2006/relationships" id="258" r:id="Rdf750f1e6abf4d17"/>
    <p:sldId xmlns:r="http://schemas.openxmlformats.org/officeDocument/2006/relationships" id="259" r:id="R7e3c95d588fe4c5d"/>
    <p:sldId xmlns:r="http://schemas.openxmlformats.org/officeDocument/2006/relationships" id="260" r:id="R058d4f6e2fdb4ec9"/>
    <p:sldId xmlns:r="http://schemas.openxmlformats.org/officeDocument/2006/relationships" id="261" r:id="R1a7edea2ed164407"/>
    <p:sldId xmlns:r="http://schemas.openxmlformats.org/officeDocument/2006/relationships" id="262" r:id="R2026298815b84031"/>
    <p:sldId xmlns:r="http://schemas.openxmlformats.org/officeDocument/2006/relationships" id="263" r:id="R04ac79a3a23e46f8"/>
    <p:sldId xmlns:r="http://schemas.openxmlformats.org/officeDocument/2006/relationships" id="264" r:id="R376695697ca04c6a"/>
    <p:sldId xmlns:r="http://schemas.openxmlformats.org/officeDocument/2006/relationships" id="265" r:id="Re15ae3122f264913"/>
    <p:sldId xmlns:r="http://schemas.openxmlformats.org/officeDocument/2006/relationships" id="266" r:id="R411d631214be498d"/>
    <p:sldId xmlns:r="http://schemas.openxmlformats.org/officeDocument/2006/relationships" id="267" r:id="R8e3626c7f8a0448a"/>
    <p:sldId xmlns:r="http://schemas.openxmlformats.org/officeDocument/2006/relationships" id="268" r:id="Rcb0f0a51a38c459d"/>
    <p:sldId xmlns:r="http://schemas.openxmlformats.org/officeDocument/2006/relationships" id="269" r:id="Rba7cb3463a5b4e38"/>
    <p:sldId xmlns:r="http://schemas.openxmlformats.org/officeDocument/2006/relationships" id="270" r:id="R0fd5242ce3cd43bd"/>
    <p:sldId xmlns:r="http://schemas.openxmlformats.org/officeDocument/2006/relationships" id="271" r:id="R2c23f3469ed74f49"/>
    <p:sldId xmlns:r="http://schemas.openxmlformats.org/officeDocument/2006/relationships" id="272" r:id="R5012603b202a4b74"/>
    <p:sldId xmlns:r="http://schemas.openxmlformats.org/officeDocument/2006/relationships" id="273" r:id="R79d5b40432664e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addfa98d248ed" /><Relationship Type="http://schemas.openxmlformats.org/officeDocument/2006/relationships/slideMaster" Target="/ppt/slideMasters/slideMaster1.xml" Id="R559a20553d1744c9" /><Relationship Type="http://schemas.openxmlformats.org/officeDocument/2006/relationships/notesMaster" Target="/ppt/notesMasters/notesMaster1.xml" Id="Rc316e2935fd64495" /><Relationship Type="http://schemas.openxmlformats.org/officeDocument/2006/relationships/presProps" Target="/ppt/presProps.xml" Id="R730b5eb5be2043c2" /><Relationship Type="http://schemas.openxmlformats.org/officeDocument/2006/relationships/tableStyles" Target="/ppt/tableStyles.xml" Id="R228a6dd3926c4e3e" /><Relationship Type="http://schemas.openxmlformats.org/officeDocument/2006/relationships/slide" Target="/ppt/slides/slide1.xml" Id="R6ee194516411443e" /><Relationship Type="http://schemas.openxmlformats.org/officeDocument/2006/relationships/slide" Target="/ppt/slides/slide2.xml" Id="Rfe852fa314ac4a21" /><Relationship Type="http://schemas.openxmlformats.org/officeDocument/2006/relationships/slide" Target="/ppt/slides/slide3.xml" Id="Rdf750f1e6abf4d17" /><Relationship Type="http://schemas.openxmlformats.org/officeDocument/2006/relationships/slide" Target="/ppt/slides/slide4.xml" Id="R7e3c95d588fe4c5d" /><Relationship Type="http://schemas.openxmlformats.org/officeDocument/2006/relationships/slide" Target="/ppt/slides/slide5.xml" Id="R058d4f6e2fdb4ec9" /><Relationship Type="http://schemas.openxmlformats.org/officeDocument/2006/relationships/slide" Target="/ppt/slides/slide6.xml" Id="R1a7edea2ed164407" /><Relationship Type="http://schemas.openxmlformats.org/officeDocument/2006/relationships/slide" Target="/ppt/slides/slide7.xml" Id="R2026298815b84031" /><Relationship Type="http://schemas.openxmlformats.org/officeDocument/2006/relationships/slide" Target="/ppt/slides/slide8.xml" Id="R04ac79a3a23e46f8" /><Relationship Type="http://schemas.openxmlformats.org/officeDocument/2006/relationships/slide" Target="/ppt/slides/slide9.xml" Id="R376695697ca04c6a" /><Relationship Type="http://schemas.openxmlformats.org/officeDocument/2006/relationships/slide" Target="/ppt/slides/slide10.xml" Id="Re15ae3122f264913" /><Relationship Type="http://schemas.openxmlformats.org/officeDocument/2006/relationships/slide" Target="/ppt/slides/slide11.xml" Id="R411d631214be498d" /><Relationship Type="http://schemas.openxmlformats.org/officeDocument/2006/relationships/slide" Target="/ppt/slides/slide12.xml" Id="R8e3626c7f8a0448a" /><Relationship Type="http://schemas.openxmlformats.org/officeDocument/2006/relationships/slide" Target="/ppt/slides/slide13.xml" Id="Rcb0f0a51a38c459d" /><Relationship Type="http://schemas.openxmlformats.org/officeDocument/2006/relationships/slide" Target="/ppt/slides/slide14.xml" Id="Rba7cb3463a5b4e38" /><Relationship Type="http://schemas.openxmlformats.org/officeDocument/2006/relationships/slide" Target="/ppt/slides/slide15.xml" Id="R0fd5242ce3cd43bd" /><Relationship Type="http://schemas.openxmlformats.org/officeDocument/2006/relationships/slide" Target="/ppt/slides/slide16.xml" Id="R2c23f3469ed74f49" /><Relationship Type="http://schemas.openxmlformats.org/officeDocument/2006/relationships/slide" Target="/ppt/slides/slide17.xml" Id="R5012603b202a4b74" /><Relationship Type="http://schemas.openxmlformats.org/officeDocument/2006/relationships/slide" Target="/ppt/slides/slide18.xml" Id="R79d5b40432664e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3fb469b35b46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e929d76b9c4f0d" /><Relationship Type="http://schemas.openxmlformats.org/officeDocument/2006/relationships/notesMaster" Target="/ppt/notesMasters/notesMaster1.xml" Id="R05ef7485552b48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13aa99949842c7" /><Relationship Type="http://schemas.openxmlformats.org/officeDocument/2006/relationships/notesMaster" Target="/ppt/notesMasters/notesMaster1.xml" Id="R270731802de347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2c2c07f96741c3" /><Relationship Type="http://schemas.openxmlformats.org/officeDocument/2006/relationships/notesMaster" Target="/ppt/notesMasters/notesMaster1.xml" Id="R52b8f33ad65a41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1a3e70302948ea" /><Relationship Type="http://schemas.openxmlformats.org/officeDocument/2006/relationships/notesMaster" Target="/ppt/notesMasters/notesMaster1.xml" Id="R0424dc28080c4f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3869161e814180" /><Relationship Type="http://schemas.openxmlformats.org/officeDocument/2006/relationships/notesMaster" Target="/ppt/notesMasters/notesMaster1.xml" Id="Rac77cd10be034b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852ddc760e40b0" /><Relationship Type="http://schemas.openxmlformats.org/officeDocument/2006/relationships/notesMaster" Target="/ppt/notesMasters/notesMaster1.xml" Id="R0dea803c12f34d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7040ee3ca74f44" /><Relationship Type="http://schemas.openxmlformats.org/officeDocument/2006/relationships/notesMaster" Target="/ppt/notesMasters/notesMaster1.xml" Id="Reddcfe04b42649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dd6f3457484865" /><Relationship Type="http://schemas.openxmlformats.org/officeDocument/2006/relationships/notesMaster" Target="/ppt/notesMasters/notesMaster1.xml" Id="R1a988290b69c48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5adedda61e47d1" /><Relationship Type="http://schemas.openxmlformats.org/officeDocument/2006/relationships/notesMaster" Target="/ppt/notesMasters/notesMaster1.xml" Id="R62fd1202e6864f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6dacadda9740e7" /><Relationship Type="http://schemas.openxmlformats.org/officeDocument/2006/relationships/notesMaster" Target="/ppt/notesMasters/notesMaster1.xml" Id="Re519772ae58243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2274d6a58d4cf7" /><Relationship Type="http://schemas.openxmlformats.org/officeDocument/2006/relationships/notesMaster" Target="/ppt/notesMasters/notesMaster1.xml" Id="R0b77d3b7e8c145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f0092c07dd4141" /><Relationship Type="http://schemas.openxmlformats.org/officeDocument/2006/relationships/notesMaster" Target="/ppt/notesMasters/notesMaster1.xml" Id="R77a8042ae7e446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10adab807143ad" /><Relationship Type="http://schemas.openxmlformats.org/officeDocument/2006/relationships/notesMaster" Target="/ppt/notesMasters/notesMaster1.xml" Id="R9207cb85dca04a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fd7ed51e5e4519" /><Relationship Type="http://schemas.openxmlformats.org/officeDocument/2006/relationships/notesMaster" Target="/ppt/notesMasters/notesMaster1.xml" Id="R76eaf468d0d843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1ae9169ec540a5" /><Relationship Type="http://schemas.openxmlformats.org/officeDocument/2006/relationships/notesMaster" Target="/ppt/notesMasters/notesMaster1.xml" Id="Ra4d34dc79b9642a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39fe3f2be842b4" /><Relationship Type="http://schemas.openxmlformats.org/officeDocument/2006/relationships/notesMaster" Target="/ppt/notesMasters/notesMaster1.xml" Id="Rd67e3554f9684bc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2c720216ac4c57" /><Relationship Type="http://schemas.openxmlformats.org/officeDocument/2006/relationships/notesMaster" Target="/ppt/notesMasters/notesMaster1.xml" Id="R0aa02d536f6c4c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179e6161f14be6" /><Relationship Type="http://schemas.openxmlformats.org/officeDocument/2006/relationships/notesMaster" Target="/ppt/notesMasters/notesMaster1.xml" Id="Rc94ecebb2f5c45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Deck ini merangkum hasil UAT end-to-end Apotik pada server demo. Bukti volume dijalankan melalui API live dan bukti visual diambil dari UI. Semua data menggunakan penanda UAT.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docs/pos-apotik-emedik/uat-e2e-final-2026-09-07/LAPORAN-UAT-E2E-APOTIK-2026-09-07.md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Ringkasan menggabungkan 500 proses kasir, 500 dokumen procurement, 1.100 jurnal run-specific, dan 1.058 pengujian Flutter. Idempotensi dan posting ulang tidak membentuk transaksi atau jurnal ganda.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evidence/results/uat-kasir-summary.json</a:t>
            </a:r>
          </a:p>
          <a:p xmlns:a="http://schemas.openxmlformats.org/drawingml/2006/main">
            <a:r>
              <a:t>- evidence/results/procurement-summary.json</a:t>
            </a:r>
          </a:p>
          <a:p xmlns:a="http://schemas.openxmlformats.org/drawingml/2006/main">
            <a:r>
              <a:t>- evidence/results/financial-report-summary.json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ini dibuat sebagai objek editable. Setiap tahap memiliki pengenal dokumen, detail item, actor, waktu, dan referensi jurnal sehingga hasil laporan dapat ditelusuri kembali ke sumber transaksi.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docs/pos-apotik-emedik/uat-e2e-final-2026-09-07/assets/flow-e2e-apotik.png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ERD ini bersifat logis dan editable. Nama tabel fisik dapat berbeda. Fokusnya adalah relasi yang diuji antara produk, batch, resep, penjualan, procurement, pembayaran, jurnal, dan laporan.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docs/pos-apotik-emedik/uat-e2e-final-2026-09-07/assets/erd-kasir-apotik.png</a:t>
            </a:r>
          </a:p>
          <a:p xmlns:a="http://schemas.openxmlformats.org/drawingml/2006/main">
            <a:r>
              <a:t>- docs/pos-apotik-emedik/uat-e2e-final-2026-09-07/assets/erd-pengadaan-akuntansi.png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FNL0907B menghasilkan masing-masing 100 transaksi OTC, resep dokter, racikan, produksi farmasi, dan tebus resep. Seluruh fungsi utama terbuka dan pembayaran dapat diselesaikan.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evidence/results/uat-kasir-summary.json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layar memperlihatkan katalog OTC dan dialog pembayaran. Pengujian memeriksa batch FEFO, pembayaran tunai, kembalian, mutasi stok, dan pembentukan jurnal.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evidence/screenshots-kasir/01-kasir-obat-jadi.png</a:t>
            </a:r>
          </a:p>
          <a:p xmlns:a="http://schemas.openxmlformats.org/drawingml/2006/main">
            <a:r>
              <a:t>- evidence/screenshots-kasir/01c-pembayaran-obat-bebas.png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Sampel resep memuat informasi klinis lengkap. Penebusan resep campuran diuji atomik untuk obat jadi dan racikan, lalu resep pertama tidak lagi muncul sebagai siap ditebus.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evidence/screenshots-kasir/01b-kasir-resep-dokter.png</a:t>
            </a:r>
          </a:p>
          <a:p xmlns:a="http://schemas.openxmlformats.org/drawingml/2006/main">
            <a:r>
              <a:t>- evidence/screenshots-kasir/02a-tebus-resep-detail.png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racikan dan produksi masing-masing memiliki 500 data operasional. Produksi diuji sampai konsumsi bahan dan pembentukan batch produk jadi.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evidence/screenshots-kasir/02-resep-racikan.png</a:t>
            </a:r>
          </a:p>
          <a:p xmlns:a="http://schemas.openxmlformats.org/drawingml/2006/main">
            <a:r>
              <a:t>- evidence/screenshots-kasir/02b-produksi-farmasi-konfirmasi.png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Laporan penjualan memuat data transaksi live. Riwayat posting run FNL0907B berisi 400 jurnal penjualan dan 400 jurnal HPP dengan draf tersisa nol.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evidence/screenshots-kasir/09-laporan-penjualan.png</a:t>
            </a:r>
          </a:p>
          <a:p xmlns:a="http://schemas.openxmlformats.org/drawingml/2006/main">
            <a:r>
              <a:t>- evidence/results/posting-run-summary.json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procurement dibuat sebagai objek editable. Prefix UAT-APT-E2E-FINAL-20260907-PROC-A digunakan untuk menelusuri 100 dokumen per tahap.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evidence/results/procurement-summary.json</a:t>
            </a:r>
          </a:p>
          <a:p xmlns:a="http://schemas.openxmlformats.org/drawingml/2006/main">
            <a:r>
              <a:t>- evidence/results/vendor-payment-summary.json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Daftar PR dan PO menampilkan 100 data UAT. PO mencakup skema termin dan non-termin untuk menguji jalur pembayaran berbeda.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evidence/screenshots-pengadaan/02-pr-daftar-100.png</a:t>
            </a:r>
          </a:p>
          <a:p xmlns:a="http://schemas.openxmlformats.org/drawingml/2006/main">
            <a:r>
              <a:t>- evidence/screenshots-pengadaan/04-po-daftar-termin-nontermin.png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BAST, tagihan, dan pembayaran vendor masing-masing berisi 100 data. Proses transfer ID 19 berstatus Terealisasi dan menghasilkan 100 jurnal pembayaran.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evidence/screenshots-pengadaan/07-bast-daftar-100.png</a:t>
            </a:r>
          </a:p>
          <a:p xmlns:a="http://schemas.openxmlformats.org/drawingml/2006/main">
            <a:r>
              <a:t>- evidence/screenshots-pengadaan/09-terima-tagihan-100.png</a:t>
            </a:r>
          </a:p>
          <a:p xmlns:a="http://schemas.openxmlformats.org/drawingml/2006/main">
            <a:r>
              <a:t>- evidence/screenshots-pengadaan/10-pembayaran-vendor-100.png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Laporan pembelian digunakan untuk memastikan dokumen procurement dapat dibaca dan direkonsiliasi. Setiap tahap diverifikasi 100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evidence/screenshots-pengadaan/13-laporan-pembelian-100.png</a:t>
            </a:r>
          </a:p>
          <a:p xmlns:a="http://schemas.openxmlformats.org/drawingml/2006/main">
            <a:r>
              <a:t>- evidence/results/procurement-summary.json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Riwayat posting run FNL0907B berisi 400 jurnal penjualan dan 400 jurnal HPP. Pengulangan posting tidak membentuk jurnal baru.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evidence/screenshots-akuntansi/09-posting-hpp.png</a:t>
            </a:r>
          </a:p>
          <a:p xmlns:a="http://schemas.openxmlformats.org/drawingml/2006/main">
            <a:r>
              <a:t>- evidence/screenshots-akuntansi/10-posting-penjualan.png</a:t>
            </a:r>
          </a:p>
          <a:p xmlns:a="http://schemas.openxmlformats.org/drawingml/2006/main">
            <a:r>
              <a:t>- evidence/results/posting-run-summary.json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Penerimaan BAST membentuk 100 jurnal persediaan atau fixed asset. Pembayaran vendor membentuk 100 jurnal pada realisasi transfer. Semua telah diposting.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evidence/screenshots-akuntansi/11-posting-kulakan.png</a:t>
            </a:r>
          </a:p>
          <a:p xmlns:a="http://schemas.openxmlformats.org/drawingml/2006/main">
            <a:r>
              <a:t>- evidence/screenshots-akuntansi/12-posting-bayar-hutang.png</a:t>
            </a:r>
          </a:p>
          <a:p xmlns:a="http://schemas.openxmlformats.org/drawingml/2006/main">
            <a:r>
              <a:t>- evidence/results/procurement-posting-summary.json</a:t>
            </a:r>
          </a:p>
          <a:p xmlns:a="http://schemas.openxmlformats.org/drawingml/2006/main">
            <a:r>
              <a:t>- evidence/results/vendor-payment-summary.json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Laba Rugi, Neraca, Arus Kas, Jurnal Umum, Buku Besar, dan Neraca Saldo terisi. Pengujian juga membuat dan mem-posting 100 Jurnal Umum khusus UAT.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evidence/results/financial-report-summary.json</a:t>
            </a:r>
          </a:p>
          <a:p xmlns:a="http://schemas.openxmlformats.org/drawingml/2006/main">
            <a:r>
              <a:t>- evidence/screenshots-akuntansi/24-laporan-laba-rugi.png</a:t>
            </a:r>
          </a:p>
          <a:p xmlns:a="http://schemas.openxmlformats.org/drawingml/2006/main">
            <a:r>
              <a:t>- evidence/screenshots-akuntansi/25-laporan-neraca.png</a:t>
            </a:r>
          </a:p>
          <a:p xmlns:a="http://schemas.openxmlformats.org/drawingml/2006/main">
            <a:r>
              <a:t>- evidence/screenshots-akuntansi/26-laporan-arus-kas.png</a:t>
            </a:r>
          </a:p>
          <a:p xmlns:a="http://schemas.openxmlformats.org/drawingml/2006/main">
            <a:r>
              <a:t>- evidence/screenshots-akuntansi/29-laporan-neraca-saldo.png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Dokumen Word dan PDF telah dirender per halaman. Manual memuat 116 halaman dan 131 gambar. Audit aksesibilitas berakhir tanpa temuan. Full regression 1.058 pengujian lulus.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LAPORAN-UAT-E2E-APOTIK-2026-09-07.md</a:t>
            </a:r>
          </a:p>
          <a:p xmlns:a="http://schemas.openxmlformats.org/drawingml/2006/main">
            <a:r>
              <a:t>- evidence/results/docx-accessibility-audit.json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Paket akhir mencakup Word, PDF, PowerPoint, screenshot, JSON hasil, flow, ERD, dan laporan Markdown. Publikasi hanya mencakup artefak UAT final dan builder yang relevan.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docs/pos-apotik-emedik/uat-e2e-final-2026-09-07/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13309217734f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b8aea5a9fb470f" /><Relationship Type="http://schemas.openxmlformats.org/officeDocument/2006/relationships/slideLayout" Target="/ppt/slideLayouts/slideLayout1.xml" Id="R34da4b234174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a4b234174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b0b0fa9d4c71" /><Relationship Type="http://schemas.openxmlformats.org/officeDocument/2006/relationships/notesSlide" Target="/ppt/notesSlides/notesSlide1.xml" Id="Ra54a0e83933541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0b9fe605c4482" /><Relationship Type="http://schemas.openxmlformats.org/officeDocument/2006/relationships/notesSlide" Target="/ppt/notesSlides/notesSlide2.xml" Id="R6b1ac149ede242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cd857a11e4d3d" /><Relationship Type="http://schemas.openxmlformats.org/officeDocument/2006/relationships/notesSlide" Target="/ppt/notesSlides/notesSlide3.xml" Id="R409ae7fc716b4b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2b781f54b4c09" /><Relationship Type="http://schemas.openxmlformats.org/officeDocument/2006/relationships/notesSlide" Target="/ppt/notesSlides/notesSlide4.xml" Id="R245c04dc6d5e43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59cfcd1824e2f" /><Relationship Type="http://schemas.openxmlformats.org/officeDocument/2006/relationships/notesSlide" Target="/ppt/notesSlides/notesSlide5.xml" Id="R5a2502b50baf42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ef0de5148418c" /><Relationship Type="http://schemas.openxmlformats.org/officeDocument/2006/relationships/image" Target="/ppt/media/image.png" Id="R6e12184cf07f48d7" /><Relationship Type="http://schemas.openxmlformats.org/officeDocument/2006/relationships/image" Target="/ppt/media/image2.png" Id="R3c1dc4a0e34f42c7" /><Relationship Type="http://schemas.openxmlformats.org/officeDocument/2006/relationships/notesSlide" Target="/ppt/notesSlides/notesSlide6.xml" Id="R89f051ae4a4245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831fefc574910" /><Relationship Type="http://schemas.openxmlformats.org/officeDocument/2006/relationships/image" Target="/ppt/media/image3.png" Id="Rb65dee20f9ba4b18" /><Relationship Type="http://schemas.openxmlformats.org/officeDocument/2006/relationships/image" Target="/ppt/media/image4.png" Id="R621015abac2e4457" /><Relationship Type="http://schemas.openxmlformats.org/officeDocument/2006/relationships/notesSlide" Target="/ppt/notesSlides/notesSlide7.xml" Id="Rb19f4063cf5f42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681125db34595" /><Relationship Type="http://schemas.openxmlformats.org/officeDocument/2006/relationships/image" Target="/ppt/media/image5.png" Id="R55be82d5888d4082" /><Relationship Type="http://schemas.openxmlformats.org/officeDocument/2006/relationships/image" Target="/ppt/media/image6.png" Id="R68bfa66f1584443f" /><Relationship Type="http://schemas.openxmlformats.org/officeDocument/2006/relationships/notesSlide" Target="/ppt/notesSlides/notesSlide8.xml" Id="Rd8f8840569e343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382391fba45c3" /><Relationship Type="http://schemas.openxmlformats.org/officeDocument/2006/relationships/image" Target="/ppt/media/image7.png" Id="Raa0ecec3bdc14e81" /><Relationship Type="http://schemas.openxmlformats.org/officeDocument/2006/relationships/notesSlide" Target="/ppt/notesSlides/notesSlide9.xml" Id="Rf07f16e70d8041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4c7359b7e4d1a" /><Relationship Type="http://schemas.openxmlformats.org/officeDocument/2006/relationships/notesSlide" Target="/ppt/notesSlides/notesSlide10.xml" Id="R044700623e4d40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f4a45222b4018" /><Relationship Type="http://schemas.openxmlformats.org/officeDocument/2006/relationships/image" Target="/ppt/media/image8.png" Id="Raa022332fe264378" /><Relationship Type="http://schemas.openxmlformats.org/officeDocument/2006/relationships/image" Target="/ppt/media/image9.png" Id="R382be624af364e45" /><Relationship Type="http://schemas.openxmlformats.org/officeDocument/2006/relationships/notesSlide" Target="/ppt/notesSlides/notesSlide11.xml" Id="Rb0067fb049f64e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9a1ddf83441fa" /><Relationship Type="http://schemas.openxmlformats.org/officeDocument/2006/relationships/image" Target="/ppt/media/image10.png" Id="R744e4631f61c4432" /><Relationship Type="http://schemas.openxmlformats.org/officeDocument/2006/relationships/image" Target="/ppt/media/image11.png" Id="R5871f040233e4bbf" /><Relationship Type="http://schemas.openxmlformats.org/officeDocument/2006/relationships/image" Target="/ppt/media/image12.png" Id="R98a3b245eeea4661" /><Relationship Type="http://schemas.openxmlformats.org/officeDocument/2006/relationships/notesSlide" Target="/ppt/notesSlides/notesSlide12.xml" Id="R4b231258e2234f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ad35fc2184c1b" /><Relationship Type="http://schemas.openxmlformats.org/officeDocument/2006/relationships/image" Target="/ppt/media/image13.png" Id="R76106248625e4a81" /><Relationship Type="http://schemas.openxmlformats.org/officeDocument/2006/relationships/notesSlide" Target="/ppt/notesSlides/notesSlide13.xml" Id="R18ccbf6bbc314d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76b089c8043c3" /><Relationship Type="http://schemas.openxmlformats.org/officeDocument/2006/relationships/image" Target="/ppt/media/image14.png" Id="R30926238bc0942ff" /><Relationship Type="http://schemas.openxmlformats.org/officeDocument/2006/relationships/image" Target="/ppt/media/image15.png" Id="R377fc96f67304f6a" /><Relationship Type="http://schemas.openxmlformats.org/officeDocument/2006/relationships/notesSlide" Target="/ppt/notesSlides/notesSlide14.xml" Id="R9c81e1b067bb43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5a92a56e84e55" /><Relationship Type="http://schemas.openxmlformats.org/officeDocument/2006/relationships/image" Target="/ppt/media/image16.png" Id="R4cdfad5632bc4841" /><Relationship Type="http://schemas.openxmlformats.org/officeDocument/2006/relationships/image" Target="/ppt/media/image17.png" Id="R04acf8bf074e449f" /><Relationship Type="http://schemas.openxmlformats.org/officeDocument/2006/relationships/notesSlide" Target="/ppt/notesSlides/notesSlide15.xml" Id="Ra0b7a3c803804c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d2db1869443a2" /><Relationship Type="http://schemas.openxmlformats.org/officeDocument/2006/relationships/image" Target="/ppt/media/image18.png" Id="R6fa274a86974480e" /><Relationship Type="http://schemas.openxmlformats.org/officeDocument/2006/relationships/image" Target="/ppt/media/image19.png" Id="Rd8174e6b08334ef9" /><Relationship Type="http://schemas.openxmlformats.org/officeDocument/2006/relationships/image" Target="/ppt/media/image20.png" Id="R3aa71d31a2834d7a" /><Relationship Type="http://schemas.openxmlformats.org/officeDocument/2006/relationships/image" Target="/ppt/media/image21.png" Id="Re16e98e3a2c142e2" /><Relationship Type="http://schemas.openxmlformats.org/officeDocument/2006/relationships/notesSlide" Target="/ppt/notesSlides/notesSlide16.xml" Id="R492df5504bf64a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4ecb37d3b4d7b" /><Relationship Type="http://schemas.openxmlformats.org/officeDocument/2006/relationships/notesSlide" Target="/ppt/notesSlides/notesSlide17.xml" Id="R40480cb93f9c4b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b89420513441d" /><Relationship Type="http://schemas.openxmlformats.org/officeDocument/2006/relationships/notesSlide" Target="/ppt/notesSlides/notesSlide18.xml" Id="R30eab724992a4d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3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594E6-27E6-4BC9-A4E9-A411F7D2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EFA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6EFAC"/>
                </a:solidFill>
                <a:latin typeface="Arial"/>
                <a:ea typeface="Arial"/>
                <a:cs typeface="Arial"/>
              </a:rPr>
              <a:t>UAT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77985-2C56-4710-85D4-6FF37FFE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38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Apotik End-to-End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97CFD-128F-4808-A7DE-0CAE7072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00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1FAE5"/>
                </a:solidFill>
                <a:latin typeface="Arial"/>
                <a:ea typeface="Arial"/>
                <a:cs typeface="Arial"/>
              </a:rPr>
              <a:t>Kasir, kulakan, pembayaran vendor, posting jurnal, dan laporan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C58F3-27BF-4D2E-BD00-A157B1D0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3848100" cy="41910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154E39"/>
          </a:solidFill>
          <a:ln xmlns:a="http://schemas.openxmlformats.org/drawingml/2006/main" w="9525">
            <a:solidFill>
              <a:srgbClr val="4ADE8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C4E75-CF21-4B48-AF03-48B026B2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6EFA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6EFAC"/>
                </a:solidFill>
                <a:latin typeface="Arial"/>
                <a:ea typeface="Arial"/>
                <a:cs typeface="Arial"/>
              </a:rPr>
              <a:t>STATUS AKHIR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AAAD2-BC0E-49C4-A802-C3FEBBAC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431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2E38D-3822-49E4-9DFB-C85099C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2952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500 proses kasir</a:t>
            </a:r>
          </a:p>
          <a:p xmlns:a="http://schemas.openxmlformats.org/drawingml/2006/main">
            <a:pPr algn="l">
              <a:defRPr sz="1725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500 dokumen procurement</a:t>
            </a:r>
          </a:p>
          <a:p xmlns:a="http://schemas.openxmlformats.org/drawingml/2006/main">
            <a:pPr algn="l">
              <a:defRPr sz="1725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1.100 jurnal terposting</a:t>
            </a:r>
          </a:p>
          <a:p xmlns:a="http://schemas.openxmlformats.org/drawingml/2006/main">
            <a:pPr algn="l">
              <a:defRPr sz="1725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1.058 pengujian lulus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4CE9A-1441-47E1-8933-DB23565D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F3D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7F3D0"/>
                </a:solidFill>
                <a:latin typeface="Arial"/>
                <a:ea typeface="Arial"/>
                <a:cs typeface="Arial"/>
              </a:rPr>
              <a:t>Server demo | Apotik 1.35.1+189 | Backend r87376</a:t>
            </a:r>
          </a:p>
        </p:txBody>
      </p:sp>
    </p:spTree>
    <p:extLst>
      <p:ext uri="{BB962C8B-B14F-4D97-AF65-F5344CB8AC3E}">
        <p14:creationId xmlns:p14="http://schemas.microsoft.com/office/powerpoint/2010/main" val="376294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74F500-477A-436D-AB18-F2028F3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RINGKASAN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B1369-75A3-4277-91F4-62EC27D7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Seluruh rantai operasional utama berstatus 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272F3-91E4-4F9B-922A-B501FCB2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BBC79-4969-44D9-B9C9-D569ADCD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44BD0-7D64-4263-86A3-DEEEB0CC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02FB2-6B78-49BB-B036-08062AF4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C3AAB-6E35-4714-B217-F07ABF15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proses kasir tervalidasi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E2E1F-BAC4-4EF3-A63E-71B08E1D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90650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0EDDD-C1A4-4F2D-B6BB-869C97CF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430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B872B-FBF9-4BC5-ABDA-432D584C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19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dokumen procurement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4BE4D-79C2-4012-9D9C-6794330A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390650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69345-64B8-43B8-A411-8B8D237F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430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1.100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E4717-52AA-45E0-A700-2259756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19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jurnal run-specific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8365D-CEDA-4902-92EA-7178B1B2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90650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6AA7C-6E36-4F16-90E0-40A43077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430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1.058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15231-C591-4195-B027-FA9A5B97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pengujian Flutter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59082-0B1A-400E-BCEC-F6A3D18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AE65A-C0D7-4555-AF35-7C447BE5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Kasir Apotik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14F07-0AF6-4760-88D8-C3F9D1D6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5 mode × 100 transaksi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B1DE1-B097-4988-AD90-EA749D28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9085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E2FBA-E8F4-4737-BAC4-F84DF655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3847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050F7-DD6E-4704-9FEA-F8493EFF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65325-CD94-4E1A-ACB3-4D16FF06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Kulakan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7D8C4-3AB3-4587-8FCC-CA4EF14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5 tahap × 100 dokumen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78812-80F6-4500-A90D-62689CC5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0045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E9B8EB-A78D-447A-B335-9B2B7A40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4807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EB9050-A73F-4232-B9FB-DA577619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11B17-976F-438B-BACA-5B4FA0F9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Akuntansi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5C03C1-E3E5-4633-9A34-E4967A67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Penjualan, HPP, persediaan, hutang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CDF7FA-C4C9-4586-8F50-DBA70D1C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1005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87D9E1-CD01-4B69-9738-CC6A08A9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5767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FE1563-425A-418A-B984-B38AABE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E3F195-C872-4B4D-BECD-F7BFB473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Laporan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C9A18A-360C-4059-B282-CD766D3C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38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Operasional + 6 laporan akuntansi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A87EC1-395D-44AE-8D0C-188BD693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1965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AD20B4-52EB-461C-A9F6-AA0DA466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6727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4CF0E4-A721-4975-B51D-0A037D5C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744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DA6119-FA1E-428E-AFDC-ECE52978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Tidak ditemukan transaksi ganda pada retry dan seluruh draf run-specific selesai diposting.</a:t>
            </a:r>
          </a:p>
        </p:txBody>
      </p:sp>
    </p:spTree>
    <p:extLst>
      <p:ext uri="{BB962C8B-B14F-4D97-AF65-F5344CB8AC3E}">
        <p14:creationId xmlns:p14="http://schemas.microsoft.com/office/powerpoint/2010/main" val="2085720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F30F7-3302-42C4-897F-890EB1EF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ALUR PROSES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F7AF8-CF3B-4D51-A468-932F9579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Satu rantai audit dari master sampai laporan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3BEB0-E493-401C-909B-9976F89F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1C0F8-03F5-4596-8077-AB736E0E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e2e-0">
            <a:extLst xmlns:a="http://schemas.openxmlformats.org/drawingml/2006/main">
              <a:ext uri="{FF2B5EF4-FFF2-40B4-BE49-F238E27FC236}">
                <a16:creationId xmlns:a16="http://schemas.microsoft.com/office/drawing/2014/main" id="{68B62390-5143-429A-9039-4DFA99FF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562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Master obat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dan batch</a:t>
            </a:r>
          </a:p>
        </p:txBody>
      </p:sp>
      <p:sp>
        <p:nvSpPr>
          <p:cNvPr id="6" name="e2e-1">
            <a:extLst xmlns:a="http://schemas.openxmlformats.org/drawingml/2006/main">
              <a:ext uri="{FF2B5EF4-FFF2-40B4-BE49-F238E27FC236}">
                <a16:creationId xmlns:a16="http://schemas.microsoft.com/office/drawing/2014/main" id="{17FDAD27-A081-40BD-80E9-024F75D8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38350"/>
            <a:ext cx="1562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Kasir dan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resep</a:t>
            </a:r>
          </a:p>
        </p:txBody>
      </p:sp>
      <p:sp>
        <p:nvSpPr>
          <p:cNvPr id="7" name="e2e-2">
            <a:extLst xmlns:a="http://schemas.openxmlformats.org/drawingml/2006/main">
              <a:ext uri="{FF2B5EF4-FFF2-40B4-BE49-F238E27FC236}">
                <a16:creationId xmlns:a16="http://schemas.microsoft.com/office/drawing/2014/main" id="{62A78165-0E3E-4834-806F-BABEDF2C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1562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PR, PO, BAST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dan tagihan</a:t>
            </a:r>
          </a:p>
        </p:txBody>
      </p:sp>
      <p:sp>
        <p:nvSpPr>
          <p:cNvPr id="8" name="e2e-3">
            <a:extLst xmlns:a="http://schemas.openxmlformats.org/drawingml/2006/main">
              <a:ext uri="{FF2B5EF4-FFF2-40B4-BE49-F238E27FC236}">
                <a16:creationId xmlns:a16="http://schemas.microsoft.com/office/drawing/2014/main" id="{AE83EB14-21D8-4D98-9DA0-9BF9F213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1562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Pembayaran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vendor</a:t>
            </a:r>
          </a:p>
        </p:txBody>
      </p:sp>
      <p:sp>
        <p:nvSpPr>
          <p:cNvPr id="9" name="e2e-4">
            <a:extLst xmlns:a="http://schemas.openxmlformats.org/drawingml/2006/main">
              <a:ext uri="{FF2B5EF4-FFF2-40B4-BE49-F238E27FC236}">
                <a16:creationId xmlns:a16="http://schemas.microsoft.com/office/drawing/2014/main" id="{91CA4AE7-59FC-4D09-9BF2-5005D976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1562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Posting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jurnal</a:t>
            </a:r>
          </a:p>
        </p:txBody>
      </p:sp>
      <p:sp>
        <p:nvSpPr>
          <p:cNvPr id="10" name="e2e-5">
            <a:extLst xmlns:a="http://schemas.openxmlformats.org/drawingml/2006/main">
              <a:ext uri="{FF2B5EF4-FFF2-40B4-BE49-F238E27FC236}">
                <a16:creationId xmlns:a16="http://schemas.microsoft.com/office/drawing/2014/main" id="{A3DBA7AB-076F-41E8-8AEC-D35959D1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38350"/>
            <a:ext cx="1562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Laporan dan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57400" y="25050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81450" y="25050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25050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29550" y="25050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53600" y="250507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B4E7F-6CCA-4A2C-8B6F-96E62A91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400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817A0-B1C4-4B8A-961A-DB1B6251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FEFO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12D58-94B4-4FAD-89C0-8101BBC2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batch layak dan stok cukup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F6DFC-A030-4268-9240-70B4172E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24300"/>
            <a:ext cx="2400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EE09B-B22A-4C09-9928-FADD383E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Idempoten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FC3DA1-3331-4CFF-B66A-781F964E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958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kode mutasi tidak berulang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67131-5447-4500-B204-D0CEEBBD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24300"/>
            <a:ext cx="2400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776A77-3864-4594-8DB8-6D29B9F1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Maker-checker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3D482-F37D-4744-87BD-3AF3EB90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958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otorisasi posting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37AA1-B1DF-4DF0-8E15-9552D255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24300"/>
            <a:ext cx="2400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B31801-79C8-4C66-8381-84FFD670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Rekonsiliasi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836B77-548D-4431-A05D-CCB46659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dokumen dan jurnal seimbang</a:t>
            </a:r>
          </a:p>
        </p:txBody>
      </p:sp>
    </p:spTree>
    <p:extLst>
      <p:ext uri="{BB962C8B-B14F-4D97-AF65-F5344CB8AC3E}">
        <p14:creationId xmlns:p14="http://schemas.microsoft.com/office/powerpoint/2010/main" val="1559180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E04AF-B98A-4DA1-BFA8-3D40752E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MODEL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3E912-33F1-45D1-854D-608CB7A1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ERD logis menghubungkan operasi dan akuntansi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D929E-0F78-4990-9FFA-4CD39432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2BF85-E317-49A8-8F07-469D6742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erd-product">
            <a:extLst xmlns:a="http://schemas.openxmlformats.org/drawingml/2006/main">
              <a:ext uri="{FF2B5EF4-FFF2-40B4-BE49-F238E27FC236}">
                <a16:creationId xmlns:a16="http://schemas.microsoft.com/office/drawing/2014/main" id="{DC2DDBB7-6AFB-4C24-9522-36AE6FD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Produk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obat</a:t>
            </a:r>
          </a:p>
        </p:txBody>
      </p:sp>
      <p:sp>
        <p:nvSpPr>
          <p:cNvPr id="6" name="erd-batch">
            <a:extLst xmlns:a="http://schemas.openxmlformats.org/drawingml/2006/main">
              <a:ext uri="{FF2B5EF4-FFF2-40B4-BE49-F238E27FC236}">
                <a16:creationId xmlns:a16="http://schemas.microsoft.com/office/drawing/2014/main" id="{B6AE0AE2-DFF1-4CA2-9C96-EA7EF505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Batch dan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kedaluwarsa</a:t>
            </a:r>
          </a:p>
        </p:txBody>
      </p:sp>
      <p:sp>
        <p:nvSpPr>
          <p:cNvPr id="7" name="erd-prescription">
            <a:extLst xmlns:a="http://schemas.openxmlformats.org/drawingml/2006/main">
              <a:ext uri="{FF2B5EF4-FFF2-40B4-BE49-F238E27FC236}">
                <a16:creationId xmlns:a16="http://schemas.microsoft.com/office/drawing/2014/main" id="{5D3FD5A6-A447-40A6-B379-CE2BD4E8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192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Resep dan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8" name="erd-sale">
            <a:extLst xmlns:a="http://schemas.openxmlformats.org/drawingml/2006/main">
              <a:ext uri="{FF2B5EF4-FFF2-40B4-BE49-F238E27FC236}">
                <a16:creationId xmlns:a16="http://schemas.microsoft.com/office/drawing/2014/main" id="{6A7B554E-73BE-42C7-A370-8FEFEE45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241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Penjualan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Apotik</a:t>
            </a:r>
          </a:p>
        </p:txBody>
      </p:sp>
      <p:sp>
        <p:nvSpPr>
          <p:cNvPr id="9" name="erd-pr">
            <a:extLst xmlns:a="http://schemas.openxmlformats.org/drawingml/2006/main">
              <a:ext uri="{FF2B5EF4-FFF2-40B4-BE49-F238E27FC236}">
                <a16:creationId xmlns:a16="http://schemas.microsoft.com/office/drawing/2014/main" id="{81C65604-1C57-4D62-A107-7E224FEB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192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Permintaan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pembelian</a:t>
            </a:r>
          </a:p>
        </p:txBody>
      </p:sp>
      <p:sp>
        <p:nvSpPr>
          <p:cNvPr id="10" name="erd-po">
            <a:extLst xmlns:a="http://schemas.openxmlformats.org/drawingml/2006/main">
              <a:ext uri="{FF2B5EF4-FFF2-40B4-BE49-F238E27FC236}">
                <a16:creationId xmlns:a16="http://schemas.microsoft.com/office/drawing/2014/main" id="{E5A254E0-2050-48CA-80AA-E899CCC9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Pemesanan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pembelian</a:t>
            </a:r>
          </a:p>
        </p:txBody>
      </p:sp>
      <p:sp>
        <p:nvSpPr>
          <p:cNvPr id="11" name="erd-bast">
            <a:extLst xmlns:a="http://schemas.openxmlformats.org/drawingml/2006/main">
              <a:ext uri="{FF2B5EF4-FFF2-40B4-BE49-F238E27FC236}">
                <a16:creationId xmlns:a16="http://schemas.microsoft.com/office/drawing/2014/main" id="{4CD8CFDA-8380-4802-A3E6-EB48821D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192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Penerimaan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BAST</a:t>
            </a:r>
          </a:p>
        </p:txBody>
      </p:sp>
      <p:sp>
        <p:nvSpPr>
          <p:cNvPr id="12" name="erd-invoice">
            <a:extLst xmlns:a="http://schemas.openxmlformats.org/drawingml/2006/main">
              <a:ext uri="{FF2B5EF4-FFF2-40B4-BE49-F238E27FC236}">
                <a16:creationId xmlns:a16="http://schemas.microsoft.com/office/drawing/2014/main" id="{36CF4B7D-C201-4BE2-AB9B-3E5883BE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1428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Tagihan dan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pembayaran</a:t>
            </a:r>
          </a:p>
        </p:txBody>
      </p:sp>
      <p:sp>
        <p:nvSpPr>
          <p:cNvPr id="13" name="erd-journal">
            <a:extLst xmlns:a="http://schemas.openxmlformats.org/drawingml/2006/main">
              <a:ext uri="{FF2B5EF4-FFF2-40B4-BE49-F238E27FC236}">
                <a16:creationId xmlns:a16="http://schemas.microsoft.com/office/drawing/2014/main" id="{042ABD26-EB63-4EC7-B4DC-3B1B54A0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1428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Jurnal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akuntansi</a:t>
            </a:r>
          </a:p>
        </p:txBody>
      </p:sp>
      <p:sp>
        <p:nvSpPr>
          <p:cNvPr id="14" name="erd-report">
            <a:extLst xmlns:a="http://schemas.openxmlformats.org/drawingml/2006/main">
              <a:ext uri="{FF2B5EF4-FFF2-40B4-BE49-F238E27FC236}">
                <a16:creationId xmlns:a16="http://schemas.microsoft.com/office/drawing/2014/main" id="{A8483393-4F39-4530-BE96-9285BF05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1950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Laporan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keuangan</a:t>
            </a:r>
          </a:p>
        </p:txBody>
      </p:sp>
      <p:cxnSp>
        <p:nvCxnSpPr>
          <p:cNvPr id="4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381125" y="23050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362325" y="23050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95500" y="30670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400675" y="23050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115050" y="1962150"/>
            <a:ext cx="60960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6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439025" y="23050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7" name=""/>
          <p:cNvCxnSpPr>
            <a:stCxn xmlns:a="http://schemas.openxmlformats.org/drawingml/2006/main" id="8" idx="2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362325" y="3409950"/>
            <a:ext cx="540067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12" idx="2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439025" y="3409950"/>
            <a:ext cx="132397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191750" y="40100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B5DE1-680A-4038-AEA6-E57F22E1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9918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2872E-EC9D-4B2D-B265-AB09BCAF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Kunci telusur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BC948C-8FB9-4930-9342-2161D93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33950"/>
            <a:ext cx="845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036"/>
                </a:solidFill>
                <a:latin typeface="Arial"/>
                <a:ea typeface="Arial"/>
                <a:cs typeface="Arial"/>
              </a:rPr>
              <a:t>Kode transaksi, nomor dokumen, batch, detail item, pengguna, waktu, referensi sumber, status posting, dan jejak retry.</a:t>
            </a:r>
          </a:p>
        </p:txBody>
      </p:sp>
    </p:spTree>
    <p:extLst>
      <p:ext uri="{BB962C8B-B14F-4D97-AF65-F5344CB8AC3E}">
        <p14:creationId xmlns:p14="http://schemas.microsoft.com/office/powerpoint/2010/main" val="576614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B79F68-AFF7-4968-AE55-68CA3F08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KASIR APOTIK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923A8-73CA-4D68-8FD7-1C3739DC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Lima mode penjualan lulus 100 dari 100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7AB11-14DC-42AD-88E0-B5915742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5FBCD-195E-4A95-8590-EDCF4357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1C715-8684-47A1-B6F0-99956433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CFAB8-7B76-4315-9003-7BC90371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OTC dan Obat Bebas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4D7DB-161D-4406-BAE1-6E5F7D2C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transaksi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329B9-8340-4856-A3E8-E1ED3976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859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A220B-0A0A-4F39-9BBE-F7478E87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335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F7E9E-2A16-4283-940F-30B68537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237DA-FA34-4017-ABF6-D2A986C3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Resep Dokter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9DF82-AA47-4FA1-A97E-0AC6D8C8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transaksi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87306-8049-4669-A997-C659D1DF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955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ECD5F-50D2-4C51-BED1-9C92036E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431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013DD-999E-46E4-B822-9CCAE439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A99CC-0543-4D58-927A-1C8C9CCB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Racikan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F0973-A559-4256-A0DF-72B3CC2F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transaksi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B7950-64A0-4AD1-B5BC-AB808DD6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051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DE1F7-782A-47E3-9AB3-0D367CC3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527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FBA33-A630-4164-86AD-9B00F19A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A6C7F0-BC20-4AAD-B143-4A527E23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Produksi Farmasi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D0E9AE-0D27-4EF4-B93F-EC8CDC44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proses produksi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BD99B-7457-4CC6-A650-78521E7B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147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122C4-1ED2-4D61-AEA3-1C235970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623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FE0908-2B4E-4162-8804-C68DEB47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A3489-04C7-4AE0-A8C1-30D4B760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Tebus Resep Campuran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7A143F-56A9-4DE1-B8F0-E7292947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transaksi, 500 baris resep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A3B8FD-B5B1-41B8-A224-68A145AD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243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4BBA51-46BA-434F-B3C4-19D578B1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719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4BC40-8987-4667-9C0A-16C3AF29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0042CA-E1DE-4A1D-816B-54ED6F4D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10.000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F313FC-C41F-44A7-870C-7E41A090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obat jadi sample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91D465-A545-46C5-A4DF-09F228AB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45997-B092-43DC-9AC5-DC4887A3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AD8253-0CEF-46E7-BAEC-98A38E64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91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formula racikan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8BED6-4EAD-403C-B08C-BD012AEE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625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2D10C2-7057-4BA4-9D6A-7343999F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44A30F-754A-4E9C-B7AD-C54C2620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91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formula produksi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06D0F8-3940-44FA-9903-563326F1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6250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2A0473-3AD9-4F6E-A028-28F457B6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14900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725BC8-5E70-40F7-A469-9309BC1E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resep klinis lengkap</a:t>
            </a:r>
          </a:p>
        </p:txBody>
      </p:sp>
    </p:spTree>
    <p:extLst>
      <p:ext uri="{BB962C8B-B14F-4D97-AF65-F5344CB8AC3E}">
        <p14:creationId xmlns:p14="http://schemas.microsoft.com/office/powerpoint/2010/main" val="287859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0C041-6A89-4778-B3FF-08959AB3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KASIR APOTIK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C0BBB-0B9E-4509-B0C8-B926AB8F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OTC berhasil dari pemilihan batch sampai pembayaran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B514C-9D5F-43AF-84E7-CEB44F74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BE35F-7514-4F65-9461-AC13F418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8F9C4-F34A-4A54-A885-EB3871B3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2184cf07f48d7"/>
          <a:stretch xmlns:a="http://schemas.openxmlformats.org/drawingml/2006/main"/>
        </p:blipFill>
        <p:spPr>
          <a:xfrm xmlns:a="http://schemas.openxmlformats.org/drawingml/2006/main">
            <a:off x="68580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F0B56-D5E5-4B26-803B-CFA64FED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Katalog obat jadi dan stok batch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6AD95-5262-4B9E-AA85-136BB444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dc4a0e34f42c7"/>
          <a:stretch xmlns:a="http://schemas.openxmlformats.org/drawingml/2006/main"/>
        </p:blipFill>
        <p:spPr>
          <a:xfrm xmlns:a="http://schemas.openxmlformats.org/drawingml/2006/main">
            <a:off x="611505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44188-6659-493D-8840-F1413FB6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Pembayaran OTC dan kembalian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54E7A-8D08-46CB-BA2A-302C86DA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48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EC575-026A-46C3-89BF-3867DA9A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Kode transaksi terinisialisasi, FEFO aktif, stok berkurang, dan jurnal penjualan serta HPP terbentuk.</a:t>
            </a:r>
          </a:p>
        </p:txBody>
      </p:sp>
    </p:spTree>
    <p:extLst>
      <p:ext uri="{BB962C8B-B14F-4D97-AF65-F5344CB8AC3E}">
        <p14:creationId xmlns:p14="http://schemas.microsoft.com/office/powerpoint/2010/main" val="7296128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22937-B146-4785-BD9A-9F1AA3F6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RESEP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73A4E-D5EF-4BD3-86FA-EF17C12B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Informasi klinis dan tebus resep dapat ditelusuri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71465-C366-44C5-B598-5695536D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48FF0-4593-4DC2-B6B3-F79B6A5A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C91D9-552D-4093-8EB5-3500FACA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dee20f9ba4b18"/>
          <a:stretch xmlns:a="http://schemas.openxmlformats.org/drawingml/2006/main"/>
        </p:blipFill>
        <p:spPr>
          <a:xfrm xmlns:a="http://schemas.openxmlformats.org/drawingml/2006/main">
            <a:off x="68580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F9C31-0195-4289-A4E9-DE6E9348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Resep dokter dengan konteks klinis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7B4BA-3DA8-443F-BA3D-2718174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015abac2e4457"/>
          <a:stretch xmlns:a="http://schemas.openxmlformats.org/drawingml/2006/main"/>
        </p:blipFill>
        <p:spPr>
          <a:xfrm xmlns:a="http://schemas.openxmlformats.org/drawingml/2006/main">
            <a:off x="611505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FB8FB-EFD5-42BE-9C5A-1C90AC2A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Detail resep siap ditebus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96502-AA5A-4866-AEC2-B0CF0FC9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48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E3FDA-F825-4724-9618-7178852E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Sumber resep, dokter, pasien, diagnosis, aturan pakai, komposisi, dan status penebusan tersedia.</a:t>
            </a:r>
          </a:p>
        </p:txBody>
      </p:sp>
    </p:spTree>
    <p:extLst>
      <p:ext uri="{BB962C8B-B14F-4D97-AF65-F5344CB8AC3E}">
        <p14:creationId xmlns:p14="http://schemas.microsoft.com/office/powerpoint/2010/main" val="1330420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B6756-FCCB-482A-97F1-8ACED7CE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RACIKAN DAN PRODUKSI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D8CD7-8795-4737-8336-2DB8C2A0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Formula operasional dapat dipilih dan diproses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57218-7A39-4434-B95E-DFAEBDB8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5FB74-DFED-4A73-A55E-78263461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038E7-5BDA-479B-A51F-628A64D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e82d5888d4082"/>
          <a:stretch xmlns:a="http://schemas.openxmlformats.org/drawingml/2006/main"/>
        </p:blipFill>
        <p:spPr>
          <a:xfrm xmlns:a="http://schemas.openxmlformats.org/drawingml/2006/main">
            <a:off x="68580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1B64E-A2E0-4C03-9F89-E4AB2215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500 formula racikan operasional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42A47-0994-4227-A317-B7E4CB89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fa66f1584443f"/>
          <a:stretch xmlns:a="http://schemas.openxmlformats.org/drawingml/2006/main"/>
        </p:blipFill>
        <p:spPr>
          <a:xfrm xmlns:a="http://schemas.openxmlformats.org/drawingml/2006/main">
            <a:off x="611505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2C20D-374D-452F-A433-6EF11E5D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Produksi mengonsumsi bahan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9A821-26AD-4D98-B163-048E40A9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48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2E808-97C4-44C6-82A8-93BDB1B6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Bahan baku berkurang, batch produk jadi terbentuk, dan retry tidak menggandakan mutasi stok.</a:t>
            </a:r>
          </a:p>
        </p:txBody>
      </p:sp>
    </p:spTree>
    <p:extLst>
      <p:ext uri="{BB962C8B-B14F-4D97-AF65-F5344CB8AC3E}">
        <p14:creationId xmlns:p14="http://schemas.microsoft.com/office/powerpoint/2010/main" val="2379701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6EAE5-E154-4B30-96BF-A9B99F6F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PENJUALAN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D50B9-8282-41EC-92D6-E8ED443A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Transaksi kasir masuk laporan dan jurnal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B8DE8-C35C-47DB-B935-B23E496F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BBDEA-0EF4-4F74-B2A4-A24C6D4A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4A05B-DCAA-4C08-BFBE-FE836C39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724650" cy="4229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ecec3bdc14e81"/>
          <a:stretch xmlns:a="http://schemas.openxmlformats.org/drawingml/2006/main"/>
        </p:blipFill>
        <p:spPr>
          <a:xfrm xmlns:a="http://schemas.openxmlformats.org/drawingml/2006/main">
            <a:off x="685800" y="1532930"/>
            <a:ext cx="6572250" cy="3696891"/>
          </a:xfrm>
          <a:prstGeom xmlns:a="http://schemas.openxmlformats.org/drawingml/2006/main" prst="roundRect">
            <a:avLst>
              <a:gd name="adj" fmla="val 20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0F515-1D74-4AD2-90C5-5E95688F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641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Laporan penjualan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BDC17-9029-42F6-8C75-9186BEA9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62100"/>
            <a:ext cx="3181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82DBE-C927-44D8-8779-5770FD69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2838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2F27E-87FF-483F-911C-689C4230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907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baris laporan dibaca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88C34-EC4E-4B3D-A085-FE281FE4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76550"/>
            <a:ext cx="3181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C445C-1308-4BDC-9AED-3E2CBA76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2838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21AD2-7348-4BE5-B562-6980CB95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052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jurnal penjualan terposting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72FCD-EBF4-4DCF-9F33-FDA1E4BF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91000"/>
            <a:ext cx="3181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9AE32-D904-452D-8411-A8019890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2838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69B5B-6DD1-4FD5-A17C-5EE6A6B5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196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jurnal HPP terposting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4A6B5-282D-4F0A-B694-431C243C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3251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4DF03-AB91-457D-B2C2-2A8D45C0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998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Draf run-specific sesudah posting: 0 | Retry jurnal baru: 0</a:t>
            </a:r>
          </a:p>
        </p:txBody>
      </p:sp>
    </p:spTree>
    <p:extLst>
      <p:ext uri="{BB962C8B-B14F-4D97-AF65-F5344CB8AC3E}">
        <p14:creationId xmlns:p14="http://schemas.microsoft.com/office/powerpoint/2010/main" val="858428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6B4E77-1AE2-450B-A0E4-37DBD3F4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KULAKAN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BF7DA-4035-4313-AEF1-76F4960B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Procure-to-pay tervalidasi sampai pembayaran vendor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0769B-1146-4664-844F-4C339128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BD27D-6940-4AB7-A9EC-67BF3EA0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p2p-0">
            <a:extLst xmlns:a="http://schemas.openxmlformats.org/drawingml/2006/main">
              <a:ext uri="{FF2B5EF4-FFF2-40B4-BE49-F238E27FC236}">
                <a16:creationId xmlns:a16="http://schemas.microsoft.com/office/drawing/2014/main" id="{BA05A3E1-63C7-40EE-9F20-0E2ACCB2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733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Permintaan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pembelian</a:t>
            </a:r>
          </a:p>
        </p:txBody>
      </p:sp>
      <p:sp>
        <p:nvSpPr>
          <p:cNvPr id="6" name="p2p-1">
            <a:extLst xmlns:a="http://schemas.openxmlformats.org/drawingml/2006/main">
              <a:ext uri="{FF2B5EF4-FFF2-40B4-BE49-F238E27FC236}">
                <a16:creationId xmlns:a16="http://schemas.microsoft.com/office/drawing/2014/main" id="{E522AB50-AC62-4CC6-A747-D00C4EC0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76450"/>
            <a:ext cx="1733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Pemesanan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pembelian</a:t>
            </a:r>
          </a:p>
        </p:txBody>
      </p:sp>
      <p:sp>
        <p:nvSpPr>
          <p:cNvPr id="7" name="p2p-2">
            <a:extLst xmlns:a="http://schemas.openxmlformats.org/drawingml/2006/main">
              <a:ext uri="{FF2B5EF4-FFF2-40B4-BE49-F238E27FC236}">
                <a16:creationId xmlns:a16="http://schemas.microsoft.com/office/drawing/2014/main" id="{221614F4-EE06-4E7D-B54C-08769C77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6450"/>
            <a:ext cx="1733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Penerimaan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BAST</a:t>
            </a:r>
          </a:p>
        </p:txBody>
      </p:sp>
      <p:sp>
        <p:nvSpPr>
          <p:cNvPr id="8" name="p2p-3">
            <a:extLst xmlns:a="http://schemas.openxmlformats.org/drawingml/2006/main">
              <a:ext uri="{FF2B5EF4-FFF2-40B4-BE49-F238E27FC236}">
                <a16:creationId xmlns:a16="http://schemas.microsoft.com/office/drawing/2014/main" id="{EF9B7532-1D3D-4624-82CB-1D61941F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733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Terima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tagihan</a:t>
            </a:r>
          </a:p>
        </p:txBody>
      </p:sp>
      <p:sp>
        <p:nvSpPr>
          <p:cNvPr id="9" name="p2p-4">
            <a:extLst xmlns:a="http://schemas.openxmlformats.org/drawingml/2006/main">
              <a:ext uri="{FF2B5EF4-FFF2-40B4-BE49-F238E27FC236}">
                <a16:creationId xmlns:a16="http://schemas.microsoft.com/office/drawing/2014/main" id="{97F857F7-DE6A-4AD5-A130-599A5338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76450"/>
            <a:ext cx="17335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Pembayaran</a:t>
            </a:r>
          </a:p>
          <a:p xmlns:a="http://schemas.openxmlformats.org/drawingml/2006/main">
            <a:pPr algn="ctr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vendor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00300" y="25336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552950" y="25336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705600" y="25336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58250" y="25336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AE5D3-D11F-4C71-9465-80218839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5811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2ACA1-B3CF-4EF9-B0A4-0EE52A4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100 PR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9CF56-87C7-4EDE-BF05-AE1357A9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52800"/>
            <a:ext cx="15811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DEAB7-450C-45AF-B1F1-FDF5AC8A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100 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976A4-BC4E-4852-8B06-E1D4E53D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52800"/>
            <a:ext cx="15811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6FFA1-5A4A-4518-8435-C5824792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480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100 BAST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89E96-DA23-4978-BE31-15AC1D87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52800"/>
            <a:ext cx="15811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6B661-C0EC-48BE-AFD7-1CB5CF68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480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100 tagihan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F0074-83F8-45BB-B333-0EE09120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15811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DFC41-AA79-4A4B-BF90-9E18A8EF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4805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100 item transfer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7CB07-68EE-403B-B2B2-7091AAC1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103441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038C4-066C-4BD6-9C6D-53AC60EA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Kontrol termin dan non-termin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B2D7A-8147-4308-B43A-23B70C4E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52036"/>
                </a:solidFill>
                <a:latin typeface="Arial"/>
                <a:ea typeface="Arial"/>
                <a:cs typeface="Arial"/>
              </a:rPr>
              <a:t>PO bergantian termin dan non-termin. Status akhir transfer Terealisasi. Kandidat sisa nol. Retry jurnal baru nol.</a:t>
            </a:r>
          </a:p>
        </p:txBody>
      </p:sp>
    </p:spTree>
    <p:extLst>
      <p:ext uri="{BB962C8B-B14F-4D97-AF65-F5344CB8AC3E}">
        <p14:creationId xmlns:p14="http://schemas.microsoft.com/office/powerpoint/2010/main" val="15577133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A043C-EC1D-4EBD-B7B7-B79ACDA2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KULAKAN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0789D-890C-445B-9E01-DB2F28B6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PR dan PO terisi 100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A9F9E-6756-4EE9-BFCD-FB0CFD0D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D8510-E863-4461-959C-813CDE04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B7026-EC0B-4122-B2F8-D2863A22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22332fe264378"/>
          <a:stretch xmlns:a="http://schemas.openxmlformats.org/drawingml/2006/main"/>
        </p:blipFill>
        <p:spPr>
          <a:xfrm xmlns:a="http://schemas.openxmlformats.org/drawingml/2006/main">
            <a:off x="68580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66DCE-31FE-4661-AE48-A20AFC44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Daftar 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1A769-7A36-4B62-875F-7F5A05D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be624af364e45"/>
          <a:stretch xmlns:a="http://schemas.openxmlformats.org/drawingml/2006/main"/>
        </p:blipFill>
        <p:spPr>
          <a:xfrm xmlns:a="http://schemas.openxmlformats.org/drawingml/2006/main">
            <a:off x="611505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71E01-AAE5-479D-B00D-9432710B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Daftar PO termin dan non-termin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FE883-3773-49BC-9425-B6F963A3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48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9DFCA-FEA4-42E4-BE6B-E824D528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Relasi PR ke PO, vendor, skema pembayaran, item, kuantitas, dan harga dapat dibaca kembali.</a:t>
            </a:r>
          </a:p>
        </p:txBody>
      </p:sp>
    </p:spTree>
    <p:extLst>
      <p:ext uri="{BB962C8B-B14F-4D97-AF65-F5344CB8AC3E}">
        <p14:creationId xmlns:p14="http://schemas.microsoft.com/office/powerpoint/2010/main" val="961899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02284-2E71-4667-8989-DA89A4E2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KULAKAN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E60F5-7E2D-4822-905E-60445024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Penerimaan, tagihan, dan pembayaran terhubung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96F06-0155-448F-A8AE-6F6A67CD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58F0D-E9C1-43BB-A065-811E3872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5FD84-0F4B-4EC5-8DF0-2EDF0FD0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3562350" cy="37338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e4631f61c4432"/>
          <a:stretch xmlns:a="http://schemas.openxmlformats.org/drawingml/2006/main"/>
        </p:blipFill>
        <p:spPr>
          <a:xfrm xmlns:a="http://schemas.openxmlformats.org/drawingml/2006/main">
            <a:off x="571500" y="2174677"/>
            <a:ext cx="3409950" cy="1918097"/>
          </a:xfrm>
          <a:prstGeom xmlns:a="http://schemas.openxmlformats.org/drawingml/2006/main" prst="roundRect">
            <a:avLst>
              <a:gd name="adj" fmla="val 231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6DA0E-5466-484D-86A5-8ECE11AB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BAST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B3045-8E12-40EA-BF45-227E9648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09700"/>
            <a:ext cx="3562350" cy="37338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1f040233e4bbf"/>
          <a:stretch xmlns:a="http://schemas.openxmlformats.org/drawingml/2006/main"/>
        </p:blipFill>
        <p:spPr>
          <a:xfrm xmlns:a="http://schemas.openxmlformats.org/drawingml/2006/main">
            <a:off x="4381500" y="2174677"/>
            <a:ext cx="3409950" cy="1918097"/>
          </a:xfrm>
          <a:prstGeom xmlns:a="http://schemas.openxmlformats.org/drawingml/2006/main" prst="roundRect">
            <a:avLst>
              <a:gd name="adj" fmla="val 231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064A1-38CF-4207-916C-BA2741AA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387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tagihan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BBEFD-99D5-4F83-8687-EFEAB978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3562350" cy="373380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3b245eeea4661"/>
          <a:stretch xmlns:a="http://schemas.openxmlformats.org/drawingml/2006/main"/>
        </p:blipFill>
        <p:spPr>
          <a:xfrm xmlns:a="http://schemas.openxmlformats.org/drawingml/2006/main">
            <a:off x="8191500" y="2174677"/>
            <a:ext cx="3409950" cy="1918097"/>
          </a:xfrm>
          <a:prstGeom xmlns:a="http://schemas.openxmlformats.org/drawingml/2006/main" prst="roundRect">
            <a:avLst>
              <a:gd name="adj" fmla="val 231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826E9-3420-445C-BF04-DC82F5FD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pembayaran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420C1-A15E-4272-AE23-D3AC78B3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1CF8E-D591-4EE3-ADC1-E699695E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43550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781F3-37A2-470B-86C1-C3F6BBAD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item 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D779D-FAD4-4B6E-8FFD-F97CC916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911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E8E92-C408-438E-8ECA-7FA2E8EE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43550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BA8A1-0D98-4C08-97F3-55AB0EE4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198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jurnal pembayaran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94609-E4CD-420B-8D64-A4EBF7D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91150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B96B1A-62DA-4552-AF17-00BF5ADD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43550"/>
            <a:ext cx="2133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65162-862F-49F1-BA03-9DE661A2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0198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jurnal baru saat retry</a:t>
            </a:r>
          </a:p>
        </p:txBody>
      </p:sp>
    </p:spTree>
    <p:extLst>
      <p:ext uri="{BB962C8B-B14F-4D97-AF65-F5344CB8AC3E}">
        <p14:creationId xmlns:p14="http://schemas.microsoft.com/office/powerpoint/2010/main" val="7384464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14462F-8F18-44E1-B003-10DF12C9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LAPORAN PEMBELIAN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C9BDF-C677-4065-A57E-66EC59EE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Kulakan dapat direkonsiliasi melalui laporan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CBBE1-7D18-498A-ABA0-9D7CEF1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08CFA-3AEA-4D4B-983B-4728ECCA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6E6E0-D732-4603-A09C-4570CDB0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91515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06248625e4a81"/>
          <a:stretch xmlns:a="http://schemas.openxmlformats.org/drawingml/2006/main"/>
        </p:blipFill>
        <p:spPr>
          <a:xfrm xmlns:a="http://schemas.openxmlformats.org/drawingml/2006/main">
            <a:off x="714375" y="1485900"/>
            <a:ext cx="6705600" cy="3771900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DFDE6-057E-4A26-86DE-229DF3ED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661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Laporan pembelian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DAEA5-F19D-4699-970A-759B813F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52C96-60DB-4672-B711-8246F54E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24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Permintaan Pembelian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03BEE-09CC-4081-982E-45536145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335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dokumen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CBCE0-70A6-46AD-9687-CC7D253A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56210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81A4E-C035-4680-BB97-A54824E5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19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D2B89-23E8-493C-859D-ED945265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C5118-AEDF-4CA6-B611-5DBBAD3B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Pemesanan Pembelian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4D874-9722-441C-9779-A6FD6C5D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dokumen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42435-D3B9-44F0-A100-A6D40C20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288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D156C-3218-43CB-9D53-3BC9BE10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86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7C903-04E8-4181-90A8-5A0DB8DD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8674A-AC1F-4542-A22B-4126629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Penerimaan BAST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DF5C2-15B8-45C6-BADF-4F532D6D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670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dokumen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E5CCA-E405-419D-8CBE-C0723DA1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9560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E9CE6-6ECE-40E9-A617-9E4D5286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941141-86AA-4C1A-A149-31A8CAC7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5A015-B936-4D34-9F26-59B56F90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Terima Tagihan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6C1A2-CAC2-4BE7-A330-FEFA0B21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dokumen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C2F6F-7DED-4A8C-97FC-F983E4F7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6235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0CD25C-7E90-4FEF-9246-9CA2079C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195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3BC4C-3BA0-4051-BB1C-225499E6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3390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3C708-18BC-4C62-BF9D-151D9413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Pembayaran Vendor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3C4FD5-CA3C-42E7-9EAB-CCC3BC74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005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100 item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96F294-9F17-4D42-A877-0C28954A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29100"/>
            <a:ext cx="990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A6AA10-CAEC-47CD-B461-A18B3BBA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86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726921-20B3-4040-93C1-C8EE8813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33909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044BD6-3945-4D4A-86C7-7436AEC0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863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Prefix UAT konsisten pada seluruh tahap</a:t>
            </a:r>
          </a:p>
        </p:txBody>
      </p:sp>
    </p:spTree>
    <p:extLst>
      <p:ext uri="{BB962C8B-B14F-4D97-AF65-F5344CB8AC3E}">
        <p14:creationId xmlns:p14="http://schemas.microsoft.com/office/powerpoint/2010/main" val="20655334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248DA-94EE-4165-A506-F72EC07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AKUNTANSI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A1FF3-0482-4604-B9FC-C741C0EB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Posting penjualan dan HPP selesai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7BA98-5A65-4C3F-ABC8-56074A4D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2DDB2-B44A-40B4-9067-C74A3AE4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DDEB4-143F-42BA-97D5-6CDE4F4A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26238bc0942ff"/>
          <a:stretch xmlns:a="http://schemas.openxmlformats.org/drawingml/2006/main"/>
        </p:blipFill>
        <p:spPr>
          <a:xfrm xmlns:a="http://schemas.openxmlformats.org/drawingml/2006/main">
            <a:off x="68580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3ECFE-3BC6-401D-83AA-68FD1D9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Posting HPP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A08F1-98F1-476D-B192-C4227F9A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fc96f67304f6a"/>
          <a:stretch xmlns:a="http://schemas.openxmlformats.org/drawingml/2006/main"/>
        </p:blipFill>
        <p:spPr>
          <a:xfrm xmlns:a="http://schemas.openxmlformats.org/drawingml/2006/main">
            <a:off x="611505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116AD-4ECC-4EA6-A39F-9B98D500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Posting penjualan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7626E-FE56-48AC-8DB2-A19439F8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48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F5D47-017E-4AEF-A44F-4A342F0A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400 jurnal penjualan dan 400 jurnal HPP terposting. Draf run-specific tersisa nol.</a:t>
            </a:r>
          </a:p>
        </p:txBody>
      </p:sp>
    </p:spTree>
    <p:extLst>
      <p:ext uri="{BB962C8B-B14F-4D97-AF65-F5344CB8AC3E}">
        <p14:creationId xmlns:p14="http://schemas.microsoft.com/office/powerpoint/2010/main" val="13635440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433BB-BE06-4D8A-B7ED-1B56EDC1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AKUNTANSI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34752-9739-4E97-A1E6-6C2A5E63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Kulakan dan pembayaran hutang masuk jurnal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07CDD-F345-4DA6-AF92-77684986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B78AE-ECC9-47FB-BA87-88BA9CA6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43E96-4BBF-4CA5-B647-AE1D813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fad5632bc4841"/>
          <a:stretch xmlns:a="http://schemas.openxmlformats.org/drawingml/2006/main"/>
        </p:blipFill>
        <p:spPr>
          <a:xfrm xmlns:a="http://schemas.openxmlformats.org/drawingml/2006/main">
            <a:off x="68580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1D1FD-5F0A-48B8-8BC7-B2AD5F95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Posting kulakan dan persediaan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19FF2-9127-4988-BB80-FD816081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352550"/>
            <a:ext cx="52197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cf8bf074e449f"/>
          <a:stretch xmlns:a="http://schemas.openxmlformats.org/drawingml/2006/main"/>
        </p:blipFill>
        <p:spPr>
          <a:xfrm xmlns:a="http://schemas.openxmlformats.org/drawingml/2006/main">
            <a:off x="6115050" y="1870472"/>
            <a:ext cx="5067300" cy="2850356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49F74-78E8-4AE2-BFAD-2CB1F61A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Posting pembayaran vendor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4234C-4FE2-4064-9BDB-41F40665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48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FACA3-5DB1-4C1C-978E-AE1E26C2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1022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100 jurnal BAST dan 100 jurnal pembayaran vendor terposting. Pemetaan akun tersisa nol.</a:t>
            </a:r>
          </a:p>
        </p:txBody>
      </p:sp>
    </p:spTree>
    <p:extLst>
      <p:ext uri="{BB962C8B-B14F-4D97-AF65-F5344CB8AC3E}">
        <p14:creationId xmlns:p14="http://schemas.microsoft.com/office/powerpoint/2010/main" val="5670285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A3F171-BEF4-4DF3-AF80-63C4E89B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LAPORAN AKUNTANSI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35EB5-C56E-46F6-AF4A-46501E25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Enam laporan terisi dan dapat dibuka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6F33F-27FC-4B33-A9A4-2F812C97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9DF9C-5293-4C9F-9F9F-FB4804CA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7CAD9-814A-45C5-8FDE-0EF99282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3524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274a86974480e"/>
          <a:stretch xmlns:a="http://schemas.openxmlformats.org/drawingml/2006/main"/>
        </p:blipFill>
        <p:spPr>
          <a:xfrm xmlns:a="http://schemas.openxmlformats.org/drawingml/2006/main">
            <a:off x="650875" y="1428750"/>
            <a:ext cx="325120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11FEC-7D5B-4F62-AEC3-2F0BFAB1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Laba Rugi, 13 baris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A0B39-A6B0-4FAB-95E9-037B8B7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52550"/>
            <a:ext cx="3524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74e6b08334ef9"/>
          <a:stretch xmlns:a="http://schemas.openxmlformats.org/drawingml/2006/main"/>
        </p:blipFill>
        <p:spPr>
          <a:xfrm xmlns:a="http://schemas.openxmlformats.org/drawingml/2006/main">
            <a:off x="4470400" y="1428750"/>
            <a:ext cx="325120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C83AF-6AA5-4DB5-9A58-AA1608B2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147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Neraca, 39 baris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887BD-48C8-4B25-80CD-2DCF3E0E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52550"/>
            <a:ext cx="3524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71d31a2834d7a"/>
          <a:stretch xmlns:a="http://schemas.openxmlformats.org/drawingml/2006/main"/>
        </p:blipFill>
        <p:spPr>
          <a:xfrm xmlns:a="http://schemas.openxmlformats.org/drawingml/2006/main">
            <a:off x="8289925" y="1428750"/>
            <a:ext cx="325120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BF06F-9418-411C-AAF8-D0A482CE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Arus Kas, 30 baris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73895-A678-4F99-AEE8-DE2D9025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35242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e98e3a2c142e2"/>
          <a:stretch xmlns:a="http://schemas.openxmlformats.org/drawingml/2006/main"/>
        </p:blipFill>
        <p:spPr>
          <a:xfrm xmlns:a="http://schemas.openxmlformats.org/drawingml/2006/main">
            <a:off x="650875" y="3924300"/>
            <a:ext cx="325120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11953-690C-4FE6-99B6-D03A1572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21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A6679"/>
                </a:solidFill>
                <a:latin typeface="Arial"/>
                <a:ea typeface="Arial"/>
                <a:cs typeface="Arial"/>
              </a:rPr>
              <a:t>Neraca Saldo, 19 baris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22B62-6CAA-497D-B65C-388F0762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990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C1D6D-FC85-49F3-AC39-8C2A85F4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48150"/>
            <a:ext cx="2647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15.330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6F6552-C4DB-4B6C-859A-9B568D0E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244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baris Jurnal Umum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6AE54-5964-4EB1-AEEE-B680B58B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34000"/>
            <a:ext cx="2990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A0339-C235-4D81-910E-8768C6C3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86400"/>
            <a:ext cx="2647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15.330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68368D-842F-4B07-85D0-B1509EE3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626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baris Buku Besar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D97F8-C907-492D-848E-8809EF17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35242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EC9A7-8E59-4060-983C-1FA529F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2838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100 Jurnal Umum UAT dibuat, diposting, dan diverifikasi. Retry posting menghasilkan 0 jurnal baru.</a:t>
            </a:r>
          </a:p>
        </p:txBody>
      </p:sp>
    </p:spTree>
    <p:extLst>
      <p:ext uri="{BB962C8B-B14F-4D97-AF65-F5344CB8AC3E}">
        <p14:creationId xmlns:p14="http://schemas.microsoft.com/office/powerpoint/2010/main" val="19690070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FEC452-7F4A-4995-AECD-8EF91BF0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RELEASE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7F63A-E05E-4534-A521-C132140E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Bukti teknis dan dokumen telah diverifikasi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483CF-DE9F-4D41-9BBA-40C68300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CC503-F2CC-4840-8FC3-45D27AAD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0EF03-538E-4F11-A03C-6D4CDBAD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F1E75-3D61-4F02-AE43-032BCB9D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Live API UAT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4D02D-E6B9-47C2-A66D-3C92215D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kasir, procurement, posting, laporan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34FB6-DEC7-4EDD-9761-A8374897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859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D6C14-B39B-49BF-AECC-A607F115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335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FDFBC-4ED5-4A6B-9C34-62A88217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33D68-6BF7-4DD0-85A8-BFFD5A02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Flutter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6D148-6E69-4835-B444-54813295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1.058 dari 1.058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99B60-FC20-43D3-A0AC-68BC2BCE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955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C3B7A-7DBB-4FAE-9B58-8B90F984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431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D61F2-06A1-4C52-8CD0-12B0D6BC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EAFCA-0482-488D-A0A3-27EF2A9A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Flutter analyze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0A7C5-F1F4-4AAC-A156-D7D241B1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0 error, 0 warning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11864-400B-4632-981D-C86B876A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051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98869-0E52-4EDA-A2A2-17AE968E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527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66401-20BD-42E3-B949-7A657941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15637-D3AB-4857-B2F7-6DF01215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Manual Word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99B918-2004-4DEB-920E-A876DC46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116 halaman, 131 gambar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9695C-A1AB-4EDB-8D78-BD64C6E4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147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DD4FC6-B748-4CEB-A545-D50B3F82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623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8ADA3-506C-4350-98E5-63ED21BE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AEFDC-5800-45B7-A240-044C6E0B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Manual PDF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79F3B-23A0-45F6-B2F7-AAFBA180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116 halaman, teks dan render terbaca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1AE332-1A96-40AC-A798-097859CD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243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7252BE-4BBB-45AB-9F8F-B123A0F4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719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B06EE7-C2B8-4751-86A5-5477295B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07442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CA17FC-0EBD-4601-B0B9-7866C80F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Aksesibilitas DOCX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46919C-24BC-4B35-AE95-9324DB7F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0 high, 0 medium, 0 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4CB555-2B07-4C79-80CF-FCEBE6B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533900"/>
            <a:ext cx="1428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9E13CD-E6B7-4B75-A10E-33F08125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81525"/>
            <a:ext cx="1276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3F9573-1889-467F-B447-5BA6A3E3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44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3654FB-41E7-4A4C-AD9C-4C4386B0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036"/>
                </a:solidFill>
                <a:latin typeface="Arial"/>
                <a:ea typeface="Arial"/>
                <a:cs typeface="Arial"/>
              </a:rPr>
              <a:t>Release gate: tidak ada draf run-specific, retry duplikat, atau kegagalan regresi yang memblokir publikasi hasil UAT.</a:t>
            </a:r>
          </a:p>
        </p:txBody>
      </p:sp>
    </p:spTree>
    <p:extLst>
      <p:ext uri="{BB962C8B-B14F-4D97-AF65-F5344CB8AC3E}">
        <p14:creationId xmlns:p14="http://schemas.microsoft.com/office/powerpoint/2010/main" val="10287619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1C94EB-75D9-4C88-A6FF-92A54193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PENUTUPAN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4FE94-0F16-4E91-AF97-A0B27A8C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Paket UAT siap dipublikasikan ke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4224F-9881-41F4-B7C4-4E747315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6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6679"/>
                </a:solidFill>
                <a:latin typeface="Arial"/>
                <a:ea typeface="Arial"/>
                <a:cs typeface="Arial"/>
              </a:rPr>
              <a:t>UAT E2E APOTIK | 7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26986-B4A0-4721-8A9F-AE0D4BE9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2DBAD-BB9B-4180-92E8-3E41907F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953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4C1A1-A175-48A1-A24A-6668DCB3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D7291-7CB5-41A1-A276-1BEEA957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383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036"/>
                </a:solidFill>
                <a:latin typeface="Arial"/>
                <a:ea typeface="Arial"/>
                <a:cs typeface="Arial"/>
              </a:rPr>
              <a:t>Manual lengkap dengan langkah dan screenshot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E607E-D4DF-485A-8022-88629C3A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28850"/>
            <a:ext cx="990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4697F-79D6-4F96-8050-13AD1969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764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SIAP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1FA2C-0088-4F44-A8D5-9B3FDFAF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4953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DECDD-C83E-4080-AEDC-B0BA655A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57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C0E65-E986-43D6-BDC2-96115CF5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383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036"/>
                </a:solidFill>
                <a:latin typeface="Arial"/>
                <a:ea typeface="Arial"/>
                <a:cs typeface="Arial"/>
              </a:rPr>
              <a:t>Versi distribusi 116 halaman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E2A08-C9BC-46E7-BCBE-C24C9BD4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28850"/>
            <a:ext cx="990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831F6-6E78-4518-9480-05394F7E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764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SIAP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1368E9-AC99-4B69-A424-14F618E8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953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AA553-DB88-427C-A87E-E5E881B6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PowerPoint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38695-11F9-4070-9C4D-5ABACA4A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05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036"/>
                </a:solidFill>
                <a:latin typeface="Arial"/>
                <a:ea typeface="Arial"/>
                <a:cs typeface="Arial"/>
              </a:rPr>
              <a:t>Ringkasan hasil dan bukti visual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37DBB-70C2-49D5-8B85-8DB5BC09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990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5EEBF-507A-4CDA-9CAB-4E89783D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433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SIAP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AC2D2-80CC-4503-B752-5859DEDE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33700"/>
            <a:ext cx="4953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54BB3-5C2A-40EA-94CB-08232338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24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581E7-95E1-4ABF-9EBF-87F85C0F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03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2036"/>
                </a:solidFill>
                <a:latin typeface="Arial"/>
                <a:ea typeface="Arial"/>
                <a:cs typeface="Arial"/>
              </a:rPr>
              <a:t>32 screenshot dan 7 ringkasan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6D8509-2490-4660-AB65-69551510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95700"/>
            <a:ext cx="9906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4313D-7F9D-4652-BA7A-1E217934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4332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SIAP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88D3FE-4C02-4792-8CAE-5755ED42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28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653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49A9F-59A3-4DEB-B5CC-CC1DBAE8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3B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3B2A"/>
                </a:solidFill>
                <a:latin typeface="Arial"/>
                <a:ea typeface="Arial"/>
                <a:cs typeface="Arial"/>
              </a:rPr>
              <a:t>Rollback publikasi dilakukan dengan revert commit dokumentasi. Re-run UAT diperlukan bila skema database, posting, pembayaran, atau kontrak API berubah.</a:t>
            </a:r>
          </a:p>
        </p:txBody>
      </p:sp>
    </p:spTree>
    <p:extLst>
      <p:ext uri="{BB962C8B-B14F-4D97-AF65-F5344CB8AC3E}">
        <p14:creationId xmlns:p14="http://schemas.microsoft.com/office/powerpoint/2010/main" val="68063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2026-09-07T14:54:55.3000000Z</dcterms:created>
  <dcterms:modified xsi:type="dcterms:W3CDTF">2026-09-07T14:54:55.3000000Z</dcterms:modified>
</coreProperties>
</file>