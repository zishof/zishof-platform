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a3cfd65c024615" /><Relationship Type="http://schemas.openxmlformats.org/officeDocument/2006/relationships/extended-properties" Target="/docProps/app.xml" Id="R28dbb8ddb4914342" /><Relationship Type="http://schemas.openxmlformats.org/officeDocument/2006/relationships/officeDocument" Target="/ppt/presentation.xml" Id="R90a9e968d8da4cc9" /></Relationships>
</file>

<file path=ppt/presentation.xml><?xml version="1.0" encoding="utf-8"?>
<p:presentation xmlns:p="http://schemas.openxmlformats.org/presentationml/2006/main">
  <p:sldMasterIdLst>
    <p:sldMasterId xmlns:r="http://schemas.openxmlformats.org/officeDocument/2006/relationships" id="2147483648" r:id="Rbae10adf99b44d36"/>
  </p:sldMasterIdLst>
  <p:notesMasterIdLst>
    <p:notesMasterId xmlns:r="http://schemas.openxmlformats.org/officeDocument/2006/relationships" r:id="R598eb3f885ff45d1"/>
  </p:notesMasterIdLst>
  <p:sldIdLst>
    <p:sldId xmlns:r="http://schemas.openxmlformats.org/officeDocument/2006/relationships" id="256" r:id="Rff1f7da8512c43e6"/>
    <p:sldId xmlns:r="http://schemas.openxmlformats.org/officeDocument/2006/relationships" id="257" r:id="R31b78f09677f4b96"/>
    <p:sldId xmlns:r="http://schemas.openxmlformats.org/officeDocument/2006/relationships" id="258" r:id="R8bc1479c17f542ad"/>
    <p:sldId xmlns:r="http://schemas.openxmlformats.org/officeDocument/2006/relationships" id="259" r:id="R2eb7154c52004689"/>
    <p:sldId xmlns:r="http://schemas.openxmlformats.org/officeDocument/2006/relationships" id="260" r:id="R932933f38a7346c5"/>
    <p:sldId xmlns:r="http://schemas.openxmlformats.org/officeDocument/2006/relationships" id="261" r:id="Rf654304bd5404a65"/>
    <p:sldId xmlns:r="http://schemas.openxmlformats.org/officeDocument/2006/relationships" id="262" r:id="Rab081bba4cf14c91"/>
    <p:sldId xmlns:r="http://schemas.openxmlformats.org/officeDocument/2006/relationships" id="263" r:id="R51d8e6ab1681474d"/>
    <p:sldId xmlns:r="http://schemas.openxmlformats.org/officeDocument/2006/relationships" id="264" r:id="R7a70fa623ca14d2a"/>
    <p:sldId xmlns:r="http://schemas.openxmlformats.org/officeDocument/2006/relationships" id="265" r:id="R159702dc187242fb"/>
    <p:sldId xmlns:r="http://schemas.openxmlformats.org/officeDocument/2006/relationships" id="266" r:id="R4bcd9f26aa454888"/>
    <p:sldId xmlns:r="http://schemas.openxmlformats.org/officeDocument/2006/relationships" id="267" r:id="R4d3782d2467849a2"/>
    <p:sldId xmlns:r="http://schemas.openxmlformats.org/officeDocument/2006/relationships" id="268" r:id="R4db6440593a7434f"/>
    <p:sldId xmlns:r="http://schemas.openxmlformats.org/officeDocument/2006/relationships" id="269" r:id="R78602adcf872401d"/>
    <p:sldId xmlns:r="http://schemas.openxmlformats.org/officeDocument/2006/relationships" id="270" r:id="R04c4fa891a1940d9"/>
    <p:sldId xmlns:r="http://schemas.openxmlformats.org/officeDocument/2006/relationships" id="271" r:id="Rf9ec4fbc112d4a72"/>
    <p:sldId xmlns:r="http://schemas.openxmlformats.org/officeDocument/2006/relationships" id="272" r:id="R26a59c3019f94684"/>
    <p:sldId xmlns:r="http://schemas.openxmlformats.org/officeDocument/2006/relationships" id="273" r:id="Rd37e6f995dff4f0e"/>
    <p:sldId xmlns:r="http://schemas.openxmlformats.org/officeDocument/2006/relationships" id="274" r:id="R2dea9c8063ec4120"/>
    <p:sldId xmlns:r="http://schemas.openxmlformats.org/officeDocument/2006/relationships" id="275" r:id="R43aaf16ee816477f"/>
    <p:sldId xmlns:r="http://schemas.openxmlformats.org/officeDocument/2006/relationships" id="276" r:id="Rdb8bbc82ce414912"/>
    <p:sldId xmlns:r="http://schemas.openxmlformats.org/officeDocument/2006/relationships" id="277" r:id="R8706571e7c8c438f"/>
    <p:sldId xmlns:r="http://schemas.openxmlformats.org/officeDocument/2006/relationships" id="278" r:id="R428ab4c9326a4d53"/>
    <p:sldId xmlns:r="http://schemas.openxmlformats.org/officeDocument/2006/relationships" id="279" r:id="Rcca9b8b12a55468b"/>
    <p:sldId xmlns:r="http://schemas.openxmlformats.org/officeDocument/2006/relationships" id="280" r:id="R47a95e5594e64805"/>
    <p:sldId xmlns:r="http://schemas.openxmlformats.org/officeDocument/2006/relationships" id="281" r:id="R00ea9c7badd84be5"/>
    <p:sldId xmlns:r="http://schemas.openxmlformats.org/officeDocument/2006/relationships" id="282" r:id="R01718fbd17ea4554"/>
    <p:sldId xmlns:r="http://schemas.openxmlformats.org/officeDocument/2006/relationships" id="283" r:id="R97b98d3d7f7f4b81"/>
    <p:sldId xmlns:r="http://schemas.openxmlformats.org/officeDocument/2006/relationships" id="284" r:id="Raa35e248ddf74b60"/>
    <p:sldId xmlns:r="http://schemas.openxmlformats.org/officeDocument/2006/relationships" id="285" r:id="R647a2a63065344cd"/>
    <p:sldId xmlns:r="http://schemas.openxmlformats.org/officeDocument/2006/relationships" id="286" r:id="Rb88217d9d2bc4708"/>
    <p:sldId xmlns:r="http://schemas.openxmlformats.org/officeDocument/2006/relationships" id="287" r:id="R48b5590582d749db"/>
    <p:sldId xmlns:r="http://schemas.openxmlformats.org/officeDocument/2006/relationships" id="288" r:id="Rfadff3fa3c5d44f1"/>
    <p:sldId xmlns:r="http://schemas.openxmlformats.org/officeDocument/2006/relationships" id="289" r:id="Rb6b9f4c6a5f44589"/>
    <p:sldId xmlns:r="http://schemas.openxmlformats.org/officeDocument/2006/relationships" id="290" r:id="R264662d578224b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150a44282a4a4b" /><Relationship Type="http://schemas.openxmlformats.org/officeDocument/2006/relationships/slideMaster" Target="/ppt/slideMasters/slideMaster1.xml" Id="Rbae10adf99b44d36" /><Relationship Type="http://schemas.openxmlformats.org/officeDocument/2006/relationships/notesMaster" Target="/ppt/notesMasters/notesMaster1.xml" Id="R598eb3f885ff45d1" /><Relationship Type="http://schemas.openxmlformats.org/officeDocument/2006/relationships/presProps" Target="/ppt/presProps.xml" Id="R2e8a8e60d0254f52" /><Relationship Type="http://schemas.openxmlformats.org/officeDocument/2006/relationships/tableStyles" Target="/ppt/tableStyles.xml" Id="R40622bd67b42446e" /><Relationship Type="http://schemas.openxmlformats.org/officeDocument/2006/relationships/slide" Target="/ppt/slides/slide1.xml" Id="Rff1f7da8512c43e6" /><Relationship Type="http://schemas.openxmlformats.org/officeDocument/2006/relationships/slide" Target="/ppt/slides/slide2.xml" Id="R31b78f09677f4b96" /><Relationship Type="http://schemas.openxmlformats.org/officeDocument/2006/relationships/slide" Target="/ppt/slides/slide3.xml" Id="R8bc1479c17f542ad" /><Relationship Type="http://schemas.openxmlformats.org/officeDocument/2006/relationships/slide" Target="/ppt/slides/slide4.xml" Id="R2eb7154c52004689" /><Relationship Type="http://schemas.openxmlformats.org/officeDocument/2006/relationships/slide" Target="/ppt/slides/slide5.xml" Id="R932933f38a7346c5" /><Relationship Type="http://schemas.openxmlformats.org/officeDocument/2006/relationships/slide" Target="/ppt/slides/slide6.xml" Id="Rf654304bd5404a65" /><Relationship Type="http://schemas.openxmlformats.org/officeDocument/2006/relationships/slide" Target="/ppt/slides/slide7.xml" Id="Rab081bba4cf14c91" /><Relationship Type="http://schemas.openxmlformats.org/officeDocument/2006/relationships/slide" Target="/ppt/slides/slide8.xml" Id="R51d8e6ab1681474d" /><Relationship Type="http://schemas.openxmlformats.org/officeDocument/2006/relationships/slide" Target="/ppt/slides/slide9.xml" Id="R7a70fa623ca14d2a" /><Relationship Type="http://schemas.openxmlformats.org/officeDocument/2006/relationships/slide" Target="/ppt/slides/slide10.xml" Id="R159702dc187242fb" /><Relationship Type="http://schemas.openxmlformats.org/officeDocument/2006/relationships/slide" Target="/ppt/slides/slide11.xml" Id="R4bcd9f26aa454888" /><Relationship Type="http://schemas.openxmlformats.org/officeDocument/2006/relationships/slide" Target="/ppt/slides/slide12.xml" Id="R4d3782d2467849a2" /><Relationship Type="http://schemas.openxmlformats.org/officeDocument/2006/relationships/slide" Target="/ppt/slides/slide13.xml" Id="R4db6440593a7434f" /><Relationship Type="http://schemas.openxmlformats.org/officeDocument/2006/relationships/slide" Target="/ppt/slides/slide14.xml" Id="R78602adcf872401d" /><Relationship Type="http://schemas.openxmlformats.org/officeDocument/2006/relationships/slide" Target="/ppt/slides/slide15.xml" Id="R04c4fa891a1940d9" /><Relationship Type="http://schemas.openxmlformats.org/officeDocument/2006/relationships/slide" Target="/ppt/slides/slide16.xml" Id="Rf9ec4fbc112d4a72" /><Relationship Type="http://schemas.openxmlformats.org/officeDocument/2006/relationships/slide" Target="/ppt/slides/slide17.xml" Id="R26a59c3019f94684" /><Relationship Type="http://schemas.openxmlformats.org/officeDocument/2006/relationships/slide" Target="/ppt/slides/slide18.xml" Id="Rd37e6f995dff4f0e" /><Relationship Type="http://schemas.openxmlformats.org/officeDocument/2006/relationships/slide" Target="/ppt/slides/slide19.xml" Id="R2dea9c8063ec4120" /><Relationship Type="http://schemas.openxmlformats.org/officeDocument/2006/relationships/slide" Target="/ppt/slides/slide20.xml" Id="R43aaf16ee816477f" /><Relationship Type="http://schemas.openxmlformats.org/officeDocument/2006/relationships/slide" Target="/ppt/slides/slide21.xml" Id="Rdb8bbc82ce414912" /><Relationship Type="http://schemas.openxmlformats.org/officeDocument/2006/relationships/slide" Target="/ppt/slides/slide22.xml" Id="R8706571e7c8c438f" /><Relationship Type="http://schemas.openxmlformats.org/officeDocument/2006/relationships/slide" Target="/ppt/slides/slide23.xml" Id="R428ab4c9326a4d53" /><Relationship Type="http://schemas.openxmlformats.org/officeDocument/2006/relationships/slide" Target="/ppt/slides/slide24.xml" Id="Rcca9b8b12a55468b" /><Relationship Type="http://schemas.openxmlformats.org/officeDocument/2006/relationships/slide" Target="/ppt/slides/slide25.xml" Id="R47a95e5594e64805" /><Relationship Type="http://schemas.openxmlformats.org/officeDocument/2006/relationships/slide" Target="/ppt/slides/slide26.xml" Id="R00ea9c7badd84be5" /><Relationship Type="http://schemas.openxmlformats.org/officeDocument/2006/relationships/slide" Target="/ppt/slides/slide27.xml" Id="R01718fbd17ea4554" /><Relationship Type="http://schemas.openxmlformats.org/officeDocument/2006/relationships/slide" Target="/ppt/slides/slide28.xml" Id="R97b98d3d7f7f4b81" /><Relationship Type="http://schemas.openxmlformats.org/officeDocument/2006/relationships/slide" Target="/ppt/slides/slide29.xml" Id="Raa35e248ddf74b60" /><Relationship Type="http://schemas.openxmlformats.org/officeDocument/2006/relationships/slide" Target="/ppt/slides/slide30.xml" Id="R647a2a63065344cd" /><Relationship Type="http://schemas.openxmlformats.org/officeDocument/2006/relationships/slide" Target="/ppt/slides/slide31.xml" Id="Rb88217d9d2bc4708" /><Relationship Type="http://schemas.openxmlformats.org/officeDocument/2006/relationships/slide" Target="/ppt/slides/slide32.xml" Id="R48b5590582d749db" /><Relationship Type="http://schemas.openxmlformats.org/officeDocument/2006/relationships/slide" Target="/ppt/slides/slide33.xml" Id="Rfadff3fa3c5d44f1" /><Relationship Type="http://schemas.openxmlformats.org/officeDocument/2006/relationships/slide" Target="/ppt/slides/slide34.xml" Id="Rb6b9f4c6a5f44589" /><Relationship Type="http://schemas.openxmlformats.org/officeDocument/2006/relationships/slide" Target="/ppt/slides/slide35.xml" Id="R264662d578224b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f7b197127d48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2229e09df0431e" /><Relationship Type="http://schemas.openxmlformats.org/officeDocument/2006/relationships/notesMaster" Target="/ppt/notesMasters/notesMaster1.xml" Id="R46e52ad741994b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0f034c04b3464f" /><Relationship Type="http://schemas.openxmlformats.org/officeDocument/2006/relationships/notesMaster" Target="/ppt/notesMasters/notesMaster1.xml" Id="Re48be6db823c44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75c33578ed41d6" /><Relationship Type="http://schemas.openxmlformats.org/officeDocument/2006/relationships/notesMaster" Target="/ppt/notesMasters/notesMaster1.xml" Id="R0fb4d4120b9b47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099400624643e5" /><Relationship Type="http://schemas.openxmlformats.org/officeDocument/2006/relationships/notesMaster" Target="/ppt/notesMasters/notesMaster1.xml" Id="R26682e83e84d4f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289b7ee10a4082" /><Relationship Type="http://schemas.openxmlformats.org/officeDocument/2006/relationships/notesMaster" Target="/ppt/notesMasters/notesMaster1.xml" Id="Rcb3d4474541e42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1d912a16ba4f98" /><Relationship Type="http://schemas.openxmlformats.org/officeDocument/2006/relationships/notesMaster" Target="/ppt/notesMasters/notesMaster1.xml" Id="R0fd480ac6e384e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63194063164ccb" /><Relationship Type="http://schemas.openxmlformats.org/officeDocument/2006/relationships/notesMaster" Target="/ppt/notesMasters/notesMaster1.xml" Id="R32f5807fda0c4e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1bc5a2671a4d1b" /><Relationship Type="http://schemas.openxmlformats.org/officeDocument/2006/relationships/notesMaster" Target="/ppt/notesMasters/notesMaster1.xml" Id="R970be3b4517c47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c2185edd9543cb" /><Relationship Type="http://schemas.openxmlformats.org/officeDocument/2006/relationships/notesMaster" Target="/ppt/notesMasters/notesMaster1.xml" Id="R9568feec6ae842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c621a06d84491b" /><Relationship Type="http://schemas.openxmlformats.org/officeDocument/2006/relationships/notesMaster" Target="/ppt/notesMasters/notesMaster1.xml" Id="Rac9dffd9a32843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0f279c537a4dc1" /><Relationship Type="http://schemas.openxmlformats.org/officeDocument/2006/relationships/notesMaster" Target="/ppt/notesMasters/notesMaster1.xml" Id="R613e70eae5274f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3a6d7cd7144436" /><Relationship Type="http://schemas.openxmlformats.org/officeDocument/2006/relationships/notesMaster" Target="/ppt/notesMasters/notesMaster1.xml" Id="Rf835ccd0a59c4b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b305e4c0e0413c" /><Relationship Type="http://schemas.openxmlformats.org/officeDocument/2006/relationships/notesMaster" Target="/ppt/notesMasters/notesMaster1.xml" Id="R3e779513f62547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20159bd3864849" /><Relationship Type="http://schemas.openxmlformats.org/officeDocument/2006/relationships/notesMaster" Target="/ppt/notesMasters/notesMaster1.xml" Id="Rfb94036d9c464c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ce33cc23b24939" /><Relationship Type="http://schemas.openxmlformats.org/officeDocument/2006/relationships/notesMaster" Target="/ppt/notesMasters/notesMaster1.xml" Id="R24736786596e4e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7d6ad9f52d049a1" /><Relationship Type="http://schemas.openxmlformats.org/officeDocument/2006/relationships/notesMaster" Target="/ppt/notesMasters/notesMaster1.xml" Id="R594727f37f5f44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a70b5644c64f73" /><Relationship Type="http://schemas.openxmlformats.org/officeDocument/2006/relationships/notesMaster" Target="/ppt/notesMasters/notesMaster1.xml" Id="Rf3736553d90246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3be33b74c64cd5" /><Relationship Type="http://schemas.openxmlformats.org/officeDocument/2006/relationships/notesMaster" Target="/ppt/notesMasters/notesMaster1.xml" Id="R667419442d174d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75d5ba8de244ba" /><Relationship Type="http://schemas.openxmlformats.org/officeDocument/2006/relationships/notesMaster" Target="/ppt/notesMasters/notesMaster1.xml" Id="Rf5cbbf744da042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4ae7d1fb344738" /><Relationship Type="http://schemas.openxmlformats.org/officeDocument/2006/relationships/notesMaster" Target="/ppt/notesMasters/notesMaster1.xml" Id="R5f6216e478f446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f0e5299cfc4233" /><Relationship Type="http://schemas.openxmlformats.org/officeDocument/2006/relationships/notesMaster" Target="/ppt/notesMasters/notesMaster1.xml" Id="R1777f878617f452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026b2ccabb4f0b" /><Relationship Type="http://schemas.openxmlformats.org/officeDocument/2006/relationships/notesMaster" Target="/ppt/notesMasters/notesMaster1.xml" Id="R94b144412fd24a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7a66cb3a6b341ef" /><Relationship Type="http://schemas.openxmlformats.org/officeDocument/2006/relationships/notesMaster" Target="/ppt/notesMasters/notesMaster1.xml" Id="R363f007e97a04b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cdf62f78594a49" /><Relationship Type="http://schemas.openxmlformats.org/officeDocument/2006/relationships/notesMaster" Target="/ppt/notesMasters/notesMaster1.xml" Id="Rcec177aab54546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0595fe561c74a55" /><Relationship Type="http://schemas.openxmlformats.org/officeDocument/2006/relationships/notesMaster" Target="/ppt/notesMasters/notesMaster1.xml" Id="Ra07afd44e45f40c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142a9dbc6824203" /><Relationship Type="http://schemas.openxmlformats.org/officeDocument/2006/relationships/notesMaster" Target="/ppt/notesMasters/notesMaster1.xml" Id="R1449b355845a40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792aa09a5f4400" /><Relationship Type="http://schemas.openxmlformats.org/officeDocument/2006/relationships/notesMaster" Target="/ppt/notesMasters/notesMaster1.xml" Id="R04f28a66ac8b4a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2af8d5c79b94255" /><Relationship Type="http://schemas.openxmlformats.org/officeDocument/2006/relationships/notesMaster" Target="/ppt/notesMasters/notesMaster1.xml" Id="Re571c0f0f82d477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a34bb59c7f54cb7" /><Relationship Type="http://schemas.openxmlformats.org/officeDocument/2006/relationships/notesMaster" Target="/ppt/notesMasters/notesMaster1.xml" Id="R7db307fa1c99451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48d199f15024157" /><Relationship Type="http://schemas.openxmlformats.org/officeDocument/2006/relationships/notesMaster" Target="/ppt/notesMasters/notesMaster1.xml" Id="R113e75941fcc487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9d9dfd49e4044eb" /><Relationship Type="http://schemas.openxmlformats.org/officeDocument/2006/relationships/notesMaster" Target="/ppt/notesMasters/notesMaster1.xml" Id="R3e079084bdd9461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ed2fc0a75a34e8d" /><Relationship Type="http://schemas.openxmlformats.org/officeDocument/2006/relationships/notesMaster" Target="/ppt/notesMasters/notesMaster1.xml" Id="R8e4f0e593f4841a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9e0594a5a6e458a" /><Relationship Type="http://schemas.openxmlformats.org/officeDocument/2006/relationships/notesMaster" Target="/ppt/notesMasters/notesMaster1.xml" Id="R88db7374a0a34cd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5937fe204b94122" /><Relationship Type="http://schemas.openxmlformats.org/officeDocument/2006/relationships/notesMaster" Target="/ppt/notesMasters/notesMaster1.xml" Id="R3ba93ae9218e44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498215667624b45" /><Relationship Type="http://schemas.openxmlformats.org/officeDocument/2006/relationships/notesMaster" Target="/ppt/notesMasters/notesMaster1.xml" Id="R7421632b94a94a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ini menyampaikan hasil UAT Apotik v1.34.24 untuk pemilik proses, apoteker, procurement, keuangan, auditor, dan tim teknologi. Bukti berasal dari server demo, ringkasan mesin, dan tangkapan layar 1920 x 1080. Data obat, resep, pasien, dan transaksi adalah sample/UAT. Satu-satunya pengecualian distribusi adalah APK belum memakai keystore produksi.</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docs/pos-apotik-emedik/uat-v1.34.24/screenshots/uat-summary.json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Ringkasan mesin mencatat 11000 item katalog, 1000 bahan racikan, 4800 resep siap jual, dan 400 transaksi lulus. Procure-to-pay diperiksa 100 record per tahap, sedangkan 100 jurnal sample menjadi sumber laporan keuangan non-kosong.</a:t>
            </a:r>
          </a:p>
          <a:p xmlns:a="http://schemas.openxmlformats.org/drawingml/2006/main">
            <a:r>
              <a:t/>
            </a:r>
          </a:p>
          <a:p xmlns:a="http://schemas.openxmlformats.org/drawingml/2006/main">
            <a:r>
              <a:t>[Sources]</a:t>
            </a:r>
          </a:p>
          <a:p xmlns:a="http://schemas.openxmlformats.org/drawingml/2006/main">
            <a:r>
              <a:t>- docs/pos-apotik-emedik/uat-v1.34.24/screenshots/uat-summary.json</a:t>
            </a:r>
          </a:p>
          <a:p xmlns:a="http://schemas.openxmlformats.org/drawingml/2006/main">
            <a:r>
              <a:t>- docs/pos-apotik-emedik/uat-v1.34.24/screenshots/procurement-summary.json</a:t>
            </a:r>
          </a:p>
          <a:p xmlns:a="http://schemas.openxmlformats.org/drawingml/2006/main">
            <a:r>
              <a:t>- docs/pos-apotik-emedik/uat-v1.34.24/screenshots/vendor-journal-summary.json</a:t>
            </a:r>
          </a:p>
          <a:p xmlns:a="http://schemas.openxmlformats.org/drawingml/2006/main">
            <a:r>
              <a:t>- docs/pos-apotik-emedik/uat-v1.34.24/screenshots-akuntansi/financial-report-summary.json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menunjukkan rantai audit utama. Data master dan batch menjadi dasar resep atau permintaan. Penjualan dan procure-to-pay menghasilkan dokumen sumber. Transaksi yang lolos validasi dipetakan ke jurnal posted, lalu dilaporkan. Hubungan tersebut diuji melalui kode idempoten, referensi dokumen, dan pembacaan ulang hasil.</a:t>
            </a:r>
          </a:p>
          <a:p xmlns:a="http://schemas.openxmlformats.org/drawingml/2006/main">
            <a:r>
              <a:t/>
            </a:r>
          </a:p>
          <a:p xmlns:a="http://schemas.openxmlformats.org/drawingml/2006/main">
            <a:r>
              <a:t>[Sources]</a:t>
            </a:r>
          </a:p>
          <a:p xmlns:a="http://schemas.openxmlformats.org/drawingml/2006/main">
            <a:r>
              <a:t>- docs/pos-apotik-emedik/uat-v1.34.24/Laporan-UAT-dan-Panduan-Apotik-v1.34.24.docx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adalah titik orientasi setelah login. Pada tangkapan layar, identitas aplikasi tampil sebagai Apotik dengan aksen hijau; panel ringkasan mengarahkan perhatian ke transaksi, resep, stok, dan aktivitas yang membutuhkan tindakan. Layar ini tidak dipakai untuk mengubah data klinis atau keuangan secara langsung. Fungsinya adalah membantu pemilik, apoteker, kasir, dan petugas gudang memahami kondisi saat ini sebelum membuka menu kerja yang tepat.</a:t>
            </a:r>
          </a:p>
          <a:p xmlns:a="http://schemas.openxmlformats.org/drawingml/2006/main">
            <a:r>
              <a:t/>
            </a:r>
          </a:p>
          <a:p xmlns:a="http://schemas.openxmlformats.org/drawingml/2006/main">
            <a:r>
              <a:t>UAT memeriksa bahwa dashboard dapat dibuka pada kanvas 1920 x 1080, tidak menampilkan overflow, dan tetap membaca konfigurasi server demo. Data dasarnya telah dipersiapkan hingga 11000 item katalog, 1000 bahan racikan, 4800 resep siap jual, dan 200 antrean farmasi. Angka pada kartu harus dipahami sebagai ringkasan tenant bersama; untuk audit, operator tetap membuka daftar sumber dan mencari kode transaksi atau resep yang relevan.</a:t>
            </a:r>
          </a:p>
          <a:p xmlns:a="http://schemas.openxmlformats.org/drawingml/2006/main">
            <a:r>
              <a:t/>
            </a:r>
          </a:p>
          <a:p xmlns:a="http://schemas.openxmlformats.org/drawingml/2006/main">
            <a:r>
              <a:t>Cara pakai yang aman dimulai dengan memeriksa nama toko dan tanggal, lalu memilih indikator yang memang memerlukan tindakan. Jika angka tampak tidak wajar, jangan langsung membuat transaksi koreksi. Muat ulang, buka daftar sumber, cocokkan periode, dan pastikan tidak ada filter aktif. Perbedaan antara kartu dan daftar harus dicatat sebagai masalah agregasi, bukan diselesaikan dengan menggandakan data.</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docs/pos-apotik-emedik/uat-v1.34.24/screenshots/00-dashboard-operasional.png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Dashboard Operasional Apotik. Flowchart menampilkan urutan kerja yang harus dijalankan. ERD/aliran data memperlihatkan keterhubungan konseptual antardata; nama tabel fisik dapat berbeda. GATE: identitas varian, tenant, toko, tanggal, dan status sinkronisasi harus benar.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Layar kasir obat jadi dibagi menjadi mode transaksi, katalog, dan keranjang. Kolom pencarian menerima nama, kode, atau barcode; kartu item memperlihatkan harga serta penanda seperti LASA atau terkendali. Keranjang di sisi kanan menjadi tempat pemeriksaan akhir sebelum pembayaran. Susunan ini memungkinkan kasir mempertahankan konteks tanpa berpindah halaman ketika antrean pelanggan ramai.</a:t>
            </a:r>
          </a:p>
          <a:p xmlns:a="http://schemas.openxmlformats.org/drawingml/2006/main">
            <a:r>
              <a:t/>
            </a:r>
          </a:p>
          <a:p xmlns:a="http://schemas.openxmlformats.org/drawingml/2006/main">
            <a:r>
              <a:t>Pengujian membuat 100 transaksi dengan kode UAT yang unik dan mengulang satu kode untuk membuktikan idempotensi. Setiap penjualan memakai batch aktif dan jumlah yang tersedia. Status PASS membuktikan bahwa pengulangan permintaan tidak membuat nota kedua. Katalog yang digunakan adalah data sample/UAT dan tidak boleh diperlakukan sebagai daftar obat terdaftar atau acuan terapi.</a:t>
            </a:r>
          </a:p>
          <a:p xmlns:a="http://schemas.openxmlformats.org/drawingml/2006/main">
            <a:r>
              <a:t/>
            </a:r>
          </a:p>
          <a:p xmlns:a="http://schemas.openxmlformats.org/drawingml/2006/main">
            <a:r>
              <a:t>Operator mencari obat, menilai nama dan dosis secara lengkap, memeriksa peringatan LASA, lalu mengatur jumlah. Sebelum menekan Bayar, cocokkan item, kuantitas, harga, identitas pembeli bila diperlukan, metode pembayaran, dan ketentuan resep. Bila stok atau batch ditolak, jangan memilih batch kedaluwarsa sebagai jalan pintas; eskalasikan ke gudang atau apoteker dan gunakan alur penerimaan/opname yang sah.</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docs/pos-apotik-emedik/uat-v1.34.24/screenshots/01-kasir-obat-jadi.png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Penjualan Obat Jadi. Flowchart menampilkan urutan kerja yang harus dijalankan. ERD/aliran data memperlihatkan keterhubungan konseptual antardata; nama tabel fisik dapat berbeda. GATE: stok cukup, batch belum kedaluwarsa, harga aktif, dan persyaratan obat terkendali terpenuhi.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Halaman resep racikan menempatkan daftar resep menunggu di sisi kiri dan detail pilihan di area utama. Setelah resep dipilih, petugas harus dapat melihat identitas operasional, komposisi, jumlah, serta status proses. Pemisahan daftar dan detail mencegah racikan dikerjakan hanya berdasarkan nomor antrean tanpa membaca bahan yang menyusunnya.</a:t>
            </a:r>
          </a:p>
          <a:p xmlns:a="http://schemas.openxmlformats.org/drawingml/2006/main">
            <a:r>
              <a:t/>
            </a:r>
          </a:p>
          <a:p xmlns:a="http://schemas.openxmlformats.org/drawingml/2006/main">
            <a:r>
              <a:t>Server menyediakan 4800 resep siap jual dan sekurangnya 1000 bahan racikan sample. UAT menebus 100 resep melalui endpoint pembayaran. Keberhasilan dihitung dari respons tersimpan dan pembacaan ulang, bukan dari banyaknya kartu yang kebetulan terlihat pada satu halaman. Bahan dan formula sample diberi penanda UAT; isinya tidak boleh digunakan sebagai petunjuk klinis.</a:t>
            </a:r>
          </a:p>
          <a:p xmlns:a="http://schemas.openxmlformats.org/drawingml/2006/main">
            <a:r>
              <a:t/>
            </a:r>
          </a:p>
          <a:p xmlns:a="http://schemas.openxmlformats.org/drawingml/2006/main">
            <a:r>
              <a:t>Apoteker memilih resep, membandingkan komposisi dengan resep sumber, memeriksa ketersediaan batch bahan, lalu memberi status sesuai pekerjaan sebenarnya. Kasir hanya menyelesaikan tagihan setelah verifikasi farmasi selesai. Jika detail kosong, satuan tidak jelas, atau bahan tidak tersedia, resep ditahan. Jangan mengganti bahan atau dosis hanya agar transaksi bisa disimpan; koreksi harus berasal dari pihak yang berwenang dan meninggalkan jejak audit.</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docs/pos-apotik-emedik/uat-v1.34.24/screenshots/02-resep-racikan.png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Penjualan Obat Racikan. Flowchart menampilkan urutan kerja yang harus dijalankan. ERD/aliran data memperlihatkan keterhubungan konseptual antardata; nama tabel fisik dapat berbeda. GATE: resep sah, komposisi terbaca, bahan cukup, dan verifikasi apoteker selesai.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Formularium adalah sumber identitas item yang dipakai oleh kasir, penerimaan, stok, resep, dan laporan. Tangkapan layar menunjukkan daftar item dengan pencarian dan informasi operasional. Perbedaan antara obat jadi, bahan baku racikan, alat kesehatan, serta item terkendali harus terlihat dari data master, bukan disimpulkan hanya dari nama produk.</a:t>
            </a:r>
          </a:p>
          <a:p xmlns:a="http://schemas.openxmlformats.org/drawingml/2006/main">
            <a:r>
              <a:t/>
            </a:r>
          </a:p>
          <a:p xmlns:a="http://schemas.openxmlformats.org/drawingml/2006/main">
            <a:r>
              <a:t>Setelah provisioning final, UAT mensyaratkan sedikitnya 11.000 item gabungan: 10.000 obat jadi dan 1.000 bahan racikan. Hasil mesin membaca 11000 item katalog dan 1000 bahan berprefix DEMO-BHN. Nama, produsen, negara, dosis, harga, barcode, dan batch dibuat secara deterministik untuk pengujian volume. Semua data bersifat sintetik/sample dan tidak menyatakan izin edar, keamanan, atau kesetaraan klinis.</a:t>
            </a:r>
          </a:p>
          <a:p xmlns:a="http://schemas.openxmlformats.org/drawingml/2006/main">
            <a:r>
              <a:t/>
            </a:r>
          </a:p>
          <a:p xmlns:a="http://schemas.openxmlformats.org/drawingml/2006/main">
            <a:r>
              <a:t>Untuk memeriksa satu item, cari kode yang spesifik, buka profil, lalu cocokkan jenis, satuan, harga, golongan, LASA, batas stok, barcode, dan batch. Perubahan profil tidak boleh dilakukan massal tanpa daftar persetujuan. Jika jumlah hasil tidak cocok dengan total, periksa pagination dan filter. Katalog besar harus tetap responsif serta tidak menutupi label atau tombol pada layar 1920 x 1080.</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docs/pos-apotik-emedik/uat-v1.34.24/screenshots/03-formularium-obat.png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Formularium dan Katalog Obat. Flowchart menampilkan urutan kerja yang harus dijalankan. ERD/aliran data memperlihatkan keterhubungan konseptual antardata; nama tabel fisik dapat berbeda. GATE: kode unik, jenis item benar, satuan jelas, dan seluruh data ditandai sample bila untuk UAT.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Monitor batch memusatkan perhatian pada nomor lot, tanggal kedaluwarsa, sisa, dan status penanganan. Pilihan horizon membantu gudang memisahkan barang yang harus segera diprioritaskan, dipindahkan, diretur, atau dikarantina. Warna peringatan mendukung keputusan, tetapi tanggal dan sisa tetap harus dibaca; warna bukan satu-satunya dasar tindakan.</a:t>
            </a:r>
          </a:p>
          <a:p xmlns:a="http://schemas.openxmlformats.org/drawingml/2006/main">
            <a:r>
              <a:t/>
            </a:r>
          </a:p>
          <a:p xmlns:a="http://schemas.openxmlformats.org/drawingml/2006/main">
            <a:r>
              <a:t>UAT menjalankan monitor dan laporan kedaluwarsa setelah transaksi. Seleksi batch menemukan 0 baris kedaluwarsa dan hanya memilih batch aktif untuk penjualan. Endpoint monitor berstatus success dengan 100 baris yang dapat dibaca pada halaman uji. Penolakan batch kedaluwarsa adalah kontrol keselamatan yang tidak boleh dinonaktifkan untuk mengejar kelulusan tes.</a:t>
            </a:r>
          </a:p>
          <a:p xmlns:a="http://schemas.openxmlformats.org/drawingml/2006/main">
            <a:r>
              <a:t/>
            </a:r>
          </a:p>
          <a:p xmlns:a="http://schemas.openxmlformats.org/drawingml/2006/main">
            <a:r>
              <a:t>Petugas memilih horizon, membuka item, menelusuri sumber penerimaan, dan memastikan jumlah fisik sesuai. Batch bermasalah dipindahkan ke status karantina melalui prosedur yang disetujui. Bila tanggal tidak valid atau sisa negatif, hentikan transaksi terkait, simpan bukti, dan lakukan rekonsiliasi ledger. Disposisi akhir harus mencatat jumlah, alasan, petugas, persetujuan, dan dokumen retur atau pemusnahan.</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docs/pos-apotik-emedik/uat-v1.34.24/screenshots/04-batch-kedaluwarsa.png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Batch, FEFO, dan Kedaluwarsa. Flowchart menampilkan urutan kerja yang harus dijalankan. ERD/aliran data memperlihatkan keterhubungan konseptual antardata; nama tabel fisik dapat berbeda. GATE: batch lewat tanggal tidak boleh dipakai dalam penjualan atau racikan.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Penerimaan PBF adalah pintu masuk stok sehingga kesalahan di layar ini akan terbawa ke penjualan, FEFO, HPP, tagihan, dan laporan. Form menampilkan identitas pemasok atau dokumen, daftar item, jumlah, harga beli, batch, tanggal kedaluwarsa, serta keterangan. Operator harus bekerja dari surat jalan, PO, dan pemeriksaan fisik, bukan menyalin nilai dari transaksi lama.</a:t>
            </a:r>
          </a:p>
          <a:p xmlns:a="http://schemas.openxmlformats.org/drawingml/2006/main">
            <a:r>
              <a:t/>
            </a:r>
          </a:p>
          <a:p xmlns:a="http://schemas.openxmlformats.org/drawingml/2006/main">
            <a:r>
              <a:t>Dalam UAT, daftar penerimaan membuktikan 100 BAST sample yang dapat ditelusuri ke PO. Item jangkar UJI-PCT juga diberi top-up batch idempoten dengan kode faktur UAT-TERIMA-APT-13424-001 bila batch yang cukup belum ada. Setelah penyimpanan, batch dibaca kembali dan digunakan oleh transaksi penjualan. Cara ini membuktikan bahwa penerimaan memengaruhi stok nyata dan bukan sekadar menghasilkan notifikasi sukses.</a:t>
            </a:r>
          </a:p>
          <a:p xmlns:a="http://schemas.openxmlformats.org/drawingml/2006/main">
            <a:r>
              <a:t/>
            </a:r>
          </a:p>
          <a:p xmlns:a="http://schemas.openxmlformats.org/drawingml/2006/main">
            <a:r>
              <a:t>Gudang mencocokkan satu per satu nama item, kuantitas, satuan, nomor lot, dan ED. Apoteker menilai kelayakan mutu; keuangan tidak memproses tagihan bila penerimaan belum sah. Jika jumlah berbeda dari PO atau barang rusak, catat selisih dan gunakan status pengecualian. Jangan menaikkan stok lewat koreksi langsung agar angka cocok, karena tindakan itu memutus hubungan antara persediaan dan dokumen pengadaan.</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docs/pos-apotik-emedik/uat-v1.34.24/screenshots-pengadaan/07-bast-daftar-100.png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Penerimaan Barang dari PBF. Flowchart menampilkan urutan kerja yang harus dijalankan. ERD/aliran data memperlihatkan keterhubungan konseptual antardata; nama tabel fisik dapat berbeda. GATE: barang, jumlah, mutu, batch, ED, dan referensi PO/BAST harus konsisten.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Layar kedua menggabungkan obat jadi dan racikan agar pasien atau keluarga dapat mengetahui posisi proses tanpa bertanya berulang ke loket. Informasi dipisahkan menurut jenis layanan, status seperti menunggu, disiapkan, atau siap, serta tujuan loket. Ukuran huruf dan kontras dirancang untuk televisi atau monitor publik yang dilihat dari jarak tertentu.</a:t>
            </a:r>
          </a:p>
          <a:p xmlns:a="http://schemas.openxmlformats.org/drawingml/2006/main">
            <a:r>
              <a:t/>
            </a:r>
          </a:p>
          <a:p xmlns:a="http://schemas.openxmlformats.org/drawingml/2006/main">
            <a:r>
              <a:t>Endpoint live mengembalikan 200 antrean untuk toko uji dan menyatakan kebijakan privasi IDENTITAS_DISAMARKAN. UAT memastikan data berasal dari server, bukan pratinjau lokal. Nama dan nomor rekam medis harus disamarkan, sedangkan catatan publik tidak boleh memuat diagnosis, rincian klinis sensitif, nomor telepon, alamat, atau informasi pembayaran.</a:t>
            </a:r>
          </a:p>
          <a:p xmlns:a="http://schemas.openxmlformats.org/drawingml/2006/main">
            <a:r>
              <a:t/>
            </a:r>
          </a:p>
          <a:p xmlns:a="http://schemas.openxmlformats.org/drawingml/2006/main">
            <a:r>
              <a:t>Petugas membuka layar pada monitor kedua, memilih toko dan mode gabungan, lalu memeriksa pembaruan otomatis. Ketika obat siap, status dan loket harus berubah tanpa memerlukan login pasien. Jika identitas lengkap terlihat, layar wajib segera ditutup dan insiden privasi dicatat. Bila koneksi terputus, tampilan harus menunjukkan kondisi yang jujur dan tidak terus memanggil antrean berdasarkan data lama seolah-olah masih terbaru.</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docs/pos-apotik-emedik/uat-v1.34.24/screenshots/06-layar-kedua-obat-jadi-racikan.png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Layar Publik Obat Jadi dan Racikan. Flowchart menampilkan urutan kerja yang harus dijalankan. ERD/aliran data memperlihatkan keterhubungan konseptual antardata; nama tabel fisik dapat berbeda. GATE: identitas pasien tersamar dan hanya informasi yang diperlukan publik yang ditampilkan.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obat jadi menyediakan layar khusus ketika instalasi memiliki monitor terpisah atau volume resep non-racikan tinggi. Filter jenis mengurangi kepadatan informasi dan membuat nomor antrean, status, serta loket lebih mudah dibaca. Mode ini bukan daftar penjualan; pasien hanya melihat informasi pengambilan yang diperlukan.</a:t>
            </a:r>
          </a:p>
          <a:p xmlns:a="http://schemas.openxmlformats.org/drawingml/2006/main">
            <a:r>
              <a:t/>
            </a:r>
          </a:p>
          <a:p xmlns:a="http://schemas.openxmlformats.org/drawingml/2006/main">
            <a:r>
              <a:t>UAT membandingkan isi mode khusus dengan data antrean gabungan dan memverifikasi 100 antrean obat jadi sample. Baris bertipe racikan atau campuran tidak boleh masuk ke tampilan ini. Status siap harus tetap menampilkan loket yang tepat, sedangkan identitas mengikuti masker server. Penambahan layar tidak membuat salinan data baru: semua monitor membaca sumber antrean yang sama sehingga perubahan status konsisten.</a:t>
            </a:r>
          </a:p>
          <a:p xmlns:a="http://schemas.openxmlformats.org/drawingml/2006/main">
            <a:r>
              <a:t/>
            </a:r>
          </a:p>
          <a:p xmlns:a="http://schemas.openxmlformats.org/drawingml/2006/main">
            <a:r>
              <a:t>Petugas memilih mode Obat Jadi pada konfigurasi layar tambahan dan menempatkan jendela pada monitor yang sesuai. Setelah pergantian shift atau toko, periksa kembali judul instalasi dan loket. Jika sebuah nomor muncul di mode yang salah, verifikasi nilai jenis pada sumber antrean; jangan menutupi kesalahan dengan menghapus pasien dari daftar publik.</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docs/pos-apotik-emedik/uat-v1.34.24/screenshots/07-layar-tambahan-obat-jadi.png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Layar Tambahan Obat Jadi. Flowchart menampilkan urutan kerja yang harus dijalankan. ERD/aliran data memperlihatkan keterhubungan konseptual antardata; nama tabel fisik dapat berbeda. GATE: hanya antrean obat jadi yang tampil dan identitas tetap tersamar.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racikan menyoroti antrean yang membutuhkan penyiapan farmasi lebih panjang. Pasien dapat membedakan apakah resep masih menunggu, sedang diracik, atau siap diambil. Informasi tersebut mengurangi tekanan pada loket sekaligus menjaga agar apoteker tidak mengubah status hanya untuk memenuhi ekspektasi waktu.</a:t>
            </a:r>
          </a:p>
          <a:p xmlns:a="http://schemas.openxmlformats.org/drawingml/2006/main">
            <a:r>
              <a:t/>
            </a:r>
          </a:p>
          <a:p xmlns:a="http://schemas.openxmlformats.org/drawingml/2006/main">
            <a:r>
              <a:t>UAT memastikan filter menampilkan 100 antrean racikan sample dan tidak memasukkan obat jadi murni. Komposisi detail resep tidak ditampilkan; layar cukup memberi label layanan dan catatan publik yang aman. Pengujian juga menilai keterbacaan pada 1920 x 1080 serta ketiadaan teks yang terpotong pada daftar panjang.</a:t>
            </a:r>
          </a:p>
          <a:p xmlns:a="http://schemas.openxmlformats.org/drawingml/2006/main">
            <a:r>
              <a:t/>
            </a:r>
          </a:p>
          <a:p xmlns:a="http://schemas.openxmlformats.org/drawingml/2006/main">
            <a:r>
              <a:t>Apoteker memperbarui status berdasarkan pekerjaan nyata. Petugas loket memanggil hanya entri siap. Jika racikan harus dikoreksi, status dikembalikan melalui alur operasional dan pasien diberi informasi non-klinis yang sesuai. Jangan menampilkan nama bahan sensitif, diagnosis, atau instruksi terapi di layar publik; rincian tersebut tetap berada pada layar petugas berotorisasi.</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docs/pos-apotik-emedik/uat-v1.34.24/screenshots/08-layar-tambahan-racikan.png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Layar Tambahan Obat Racikan. Flowchart menampilkan urutan kerja yang harus dijalankan. ERD/aliran data memperlihatkan keterhubungan konseptual antardata; nama tabel fisik dapat berbeda. GATE: antrean racikan/campuran benar, status tidak prematur, dan data klinis tidak dipublikasikan.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Laporan penjualan merangkum kuantitas dan nilai per item untuk periode yang dipilih. Layar harus dipakai setelah transaksi tersimpan, bukan sebagai pengganti nota. Filter periode dan toko menentukan ruang lingkup; total kemudian ditelusuri ke item serta transaksi sumber ketika ada perbedaan.</a:t>
            </a:r>
          </a:p>
          <a:p xmlns:a="http://schemas.openxmlformats.org/drawingml/2006/main">
            <a:r>
              <a:t/>
            </a:r>
          </a:p>
          <a:p xmlns:a="http://schemas.openxmlformats.org/drawingml/2006/main">
            <a:r>
              <a:t>Setelah perbaikan endpoint, laporan berstatus success, membaca 102 baris produk pada klien, dan sumber server mencatat 400 transaksi UAT lulus. Skenario memakai sedikitnya 100 item berbeda agar halaman laporan tidak hanya menunjukkan satu atau dua agregat. Acceptance test kemudian membandingkan kuantitas, nilai, dan jejak nota pada periode yang sama.</a:t>
            </a:r>
          </a:p>
          <a:p xmlns:a="http://schemas.openxmlformats.org/drawingml/2006/main">
            <a:r>
              <a:t/>
            </a:r>
          </a:p>
          <a:p xmlns:a="http://schemas.openxmlformats.org/drawingml/2006/main">
            <a:r>
              <a:t>Supervisor memilih periode yang mencakup waktu UAT, memastikan toko benar, lalu membandingkan item UJI-PCT dan kode transaksi berprefix rilis. Jika laporan kosong sementara nota ada, periksa cut-off tanggal, status transaksi, zona waktu, dan struktur respons. Jangan mengubah tanggal transaksi agar laporan terlihat benar; temuan harus diperbaiki pada filter atau agregasi dan kemudian diretest.</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docs/pos-apotik-emedik/uat-v1.34.24/screenshots/09-laporan-penjualan.png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Laporan Penjualan Apotik. Flowchart menampilkan urutan kerja yang harus dijalankan. ERD/aliran data memperlihatkan keterhubungan konseptual antardata; nama tabel fisik dapat berbeda. GATE: periode, status final, toko, pembatalan, diskon, dan retur dihitung konsisten.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 obat terkendali memisahkan transaksi yang memerlukan jejak kepatuhan lebih kuat dari penjualan obat bebas. Kolom dan filter membantu apoteker menelusuri tanggal, item, jumlah, referensi resep atau pasien, dan batch. Layar ini tidak boleh menyederhanakan kewajiban institusi; SOP dan ketentuan regulator tetap menjadi sumber keputusan.</a:t>
            </a:r>
          </a:p>
          <a:p xmlns:a="http://schemas.openxmlformats.org/drawingml/2006/main">
            <a:r>
              <a:t/>
            </a:r>
          </a:p>
          <a:p xmlns:a="http://schemas.openxmlformats.org/drawingml/2006/main">
            <a:r>
              <a:t>UAT membuka endpoint dan halaman dengan status success serta membaca 101 baris register pada periode uji. Item UJI-CDN dipakai pada transaksi sample beridentitas fiktif, alamat sample, nama dokter sample, dan batch aktif. Pengujian membuktikan validasi data wajib, pencatatan register, serta kemampuan halaman menangani volume audit tanpa memakai data pasien nyata.</a:t>
            </a:r>
          </a:p>
          <a:p xmlns:a="http://schemas.openxmlformats.org/drawingml/2006/main">
            <a:r>
              <a:t/>
            </a:r>
          </a:p>
          <a:p xmlns:a="http://schemas.openxmlformats.org/drawingml/2006/main">
            <a:r>
              <a:t>Apoteker memilih periode, membuka transaksi, dan mencocokkan item, jumlah, batch, pihak yang menyerahkan, serta data resep yang diwajibkan. Bila identitas atau referensi kosong, penyerahan ditahan dan transaksi dikoreksi lewat alur resmi. Akses register harus dibatasi; ekspor dan screenshot tidak boleh menyebarkan data pasien di luar tujuan audit yang sah.</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docs/pos-apotik-emedik/uat-v1.34.24/screenshots/10-register-obat-terkendali.png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Register Obat Terkendali. Flowchart menampilkan urutan kerja yang harus dijalankan. ERD/aliran data memperlihatkan keterhubungan konseptual antardata; nama tabel fisik dapat berbeda. GATE: obat terkendali tidak boleh diserahkan tanpa data dan otorisasi yang dipersyaratkan.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Laporan kedaluwarsa mengubah data batch menjadi daftar kerja bagi gudang dan apoteker. Berbeda dari monitor operasional, laporan ini dipakai untuk melihat dampak lintas item pada horizon tertentu dan mendukung perencanaan retur, pemindahan, atau pemusnahan. Tanggal, sisa, dan nilai harus dapat ditelusuri kembali ke batch sumber.</a:t>
            </a:r>
          </a:p>
          <a:p xmlns:a="http://schemas.openxmlformats.org/drawingml/2006/main">
            <a:r>
              <a:t/>
            </a:r>
          </a:p>
          <a:p xmlns:a="http://schemas.openxmlformats.org/drawingml/2006/main">
            <a:r>
              <a:t>Endpoint berstatus success dan klien membaca 999 baris pada pengujian. Katalog besar menghasilkan banyak batch sample dengan tanggal bervariasi sehingga pagination dan performa ikut diuji. Volume tinggi tidak otomatis berarti risiko nyata karena seluruh data UAT bersifat sintetik.</a:t>
            </a:r>
          </a:p>
          <a:p xmlns:a="http://schemas.openxmlformats.org/drawingml/2006/main">
            <a:r>
              <a:t/>
            </a:r>
          </a:p>
          <a:p xmlns:a="http://schemas.openxmlformats.org/drawingml/2006/main">
            <a:r>
              <a:t>Pengguna memilih horizon sesuai kebijakan, memeriksa item berisiko tertinggi, lalu mencockan dengan stok fisik. Setiap tindakan harus mengubah status batch atau mutasi melalui transaksi yang tepat agar laporan berikutnya konsisten. Jika baris tetap muncul setelah disposisi, periksa tanggal efektif, status batch, dan posting mutasi sebelum membuat koreksi baru.</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docs/pos-apotik-emedik/uat-v1.34.24/screenshots/11-laporan-kedaluwarsa.png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Laporan Kedaluwarsa. Flowchart menampilkan urutan kerja yang harus dijalankan. ERD/aliran data memperlihatkan keterhubungan konseptual antardata; nama tabel fisik dapat berbeda. GATE: hasil laporan harus cocok dengan batch fisik dan transaksi mutasi.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Layar pembayaran vendor adalah ujung rangkaian procure-to-pay, bukan titik awal. Sebuah baris layak dibayar hanya bila dapat ditelusuri ke permintaan, pemesanan, penerimaan/BAST, dan tagihan yang disetujui. Filter dan status pada halaman membantu keuangan memisahkan dokumen yang masih menunggu, ditolak, atau sudah dibayar.</a:t>
            </a:r>
          </a:p>
          <a:p xmlns:a="http://schemas.openxmlformats.org/drawingml/2006/main">
            <a:r>
              <a:t/>
            </a:r>
          </a:p>
          <a:p xmlns:a="http://schemas.openxmlformats.org/drawingml/2006/main">
            <a:r>
              <a:t>Dataset volume memuat 100 PR, 100 PO, 100 BAST, dan 100 tagihan. Retest endpoint menemukan 100 pembayaran melalui marker yang sama, menutup temuan filter nol pada rilis sebelumnya. Data ini tetap berada pada tenant demo dan ditandai prefix UAT agar dapat diaudit.</a:t>
            </a:r>
          </a:p>
          <a:p xmlns:a="http://schemas.openxmlformats.org/drawingml/2006/main">
            <a:r>
              <a:t/>
            </a:r>
          </a:p>
          <a:p xmlns:a="http://schemas.openxmlformats.org/drawingml/2006/main">
            <a:r>
              <a:t>Keuangan membuka detail sebelum menyetujui pembayaran, mencocokkan vendor, nomor tagihan, nilai, cara bayar, dan dokumen sumber. Bila BAST atau persetujuan tidak ada, pembayaran dihentikan. Jangan menyelesaikan selisih dengan mengedit nominal secara terpisah pada tahap terakhir; koreksi harus kembali ke dokumen yang menyebabkan selisih sehingga hubungan audit tetap utuh.</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docs/pos-apotik-emedik/uat-v1.34.24/screenshots-pengadaan/10-pembayaran-vendor-100.png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Procure-to-Pay: PR sampai Pembayaran Vendor. Flowchart menampilkan urutan kerja yang harus dijalankan. ERD/aliran data memperlihatkan keterhubungan konseptual antardata; nama tabel fisik dapat berbeda. GATE: segregasi tugas, vendor sah, kuantitas diterima, tagihan, dan persetujuan lengkap.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Jurnal menampilkan transaksi sumber yang belum atau sudah diproses menjadi jurnal. Akuntan memakai kategori untuk memisahkan penjualan, HPP, kulakan, pembayaran vendor, jurnal umum, dan proses lain. Jumlah pada kartu adalah indikator pekerjaan; keputusan posting tetap dilakukan setelah membuka referensi dan memeriksa akun debit-kredit.</a:t>
            </a:r>
          </a:p>
          <a:p xmlns:a="http://schemas.openxmlformats.org/drawingml/2006/main">
            <a:r>
              <a:t/>
            </a:r>
          </a:p>
          <a:p xmlns:a="http://schemas.openxmlformats.org/drawingml/2006/main">
            <a:r>
              <a:t>UAT vendor memeriksa 100 pembayaran dan menemukan 100 jurnal terposting. Mapping yang diuji adalah debit 310.500 HUTANG VENDOR dan kredit 111.101 KAS YAYASAN. Retest memastikan jurnal dapat dibaca ulang sebagai posted; dashboard tenant bersama dapat menampilkan total yang lebih besar karena juga berisi transaksi modul lain.</a:t>
            </a:r>
          </a:p>
          <a:p xmlns:a="http://schemas.openxmlformats.org/drawingml/2006/main">
            <a:r>
              <a:t/>
            </a:r>
          </a:p>
          <a:p xmlns:a="http://schemas.openxmlformats.org/drawingml/2006/main">
            <a:r>
              <a:t>Akuntan memilih kategori, membaca dokumen sumber, memeriksa tanggal serta nominal, lalu menilai akun yang disarankan. Posting tidak boleh dilakukan hanya karena tombol aktif. Bila akun salah, gunakan fasilitas penyesuaian mapping yang sah dan ulangi preview. Jika debit dan kredit tidak seimbang atau periode sudah ditutup, simpan bukti dan perbaiki sumber; jangan menambahkan baris penyeimbang tanpa substansi bisnis.</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docs/pos-apotik-emedik/uat-v1.34.24/screenshots-akuntansi/08-draft-jurnal.png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Draft Jurnal dan Posting. Flowchart menampilkan urutan kerja yang harus dijalankan. ERD/aliran data memperlihatkan keterhubungan konseptual antardata; nama tabel fisik dapat berbeda. GATE: debit sama dengan kredit, akun leaf aktif, periode terbuka, dan sumber dapat ditelusuri.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Tangkapan layar Laba Rugi memakai seluruh lebar area kerja: kolom keterangan memperoleh ruang utama sampai sisi kanan dan setiap sel angka dapat diklik untuk membuka data penyusunnya. Bukti ini menggantikan tangkapan layar kosong pada dokumen lama. Dari laporan ini akuntan melanjutkan rekonsiliasi ke Jurnal Umum, Buku Besar, Neraca Saldo, Neraca, dan Arus Kas dengan periode yang sama.</a:t>
            </a:r>
          </a:p>
          <a:p xmlns:a="http://schemas.openxmlformats.org/drawingml/2006/main">
            <a:r>
              <a:t/>
            </a:r>
          </a:p>
          <a:p xmlns:a="http://schemas.openxmlformats.org/drawingml/2006/main">
            <a:r>
              <a:t>UAT memposting dan membaca ulang 100 jurnal sample sebagai sumber laporan, di samping 100 jurnal pembayaran vendor. Enam endpoint laporan keuangan diperiksa dan semuanya harus mengembalikan baris: Laba Rugi, Neraca, Arus Kas, Jurnal Umum, Buku Besar, serta Trial Balance. Akun dari workbook pengguna dipakai sebagai rujukan, termasuk 111.101 KAS YAYASAN, 151.200 PERSEDIAAN BARANG LAINNYA, 410.900 PENDAPATAN PENJUALAN TOKO, dan 510.900 BEBAN POKOK PENJUALAN TOKO.</a:t>
            </a:r>
          </a:p>
          <a:p xmlns:a="http://schemas.openxmlformats.org/drawingml/2006/main">
            <a:r>
              <a:t/>
            </a:r>
          </a:p>
          <a:p xmlns:a="http://schemas.openxmlformats.org/drawingml/2006/main">
            <a:r>
              <a:t>Akuntan memilih periode yang sama, menelusuri nomor jurnal ke Buku Besar, lalu membandingkan saldo akun kas dan utang dengan pembayaran vendor. Untuk laporan Laba Rugi dan laporan lain, data hanya boleh dinyatakan lengkap setelah akun sumber dipetakan dan baris jurnalnya benar-benar masuk klasifikasi laporan. Jika sebuah laporan kosong, perbaiki pemetaan atau dataset terlebih dahulu dan ambil bukti ulang; jangan menampilkan halaman kosong sebagai hasil lulus.</a:t>
            </a:r>
          </a:p>
          <a:p xmlns:a="http://schemas.openxmlformats.org/drawingml/2006/main">
            <a:r>
              <a:t/>
            </a:r>
          </a:p>
          <a:p xmlns:a="http://schemas.openxmlformats.org/drawingml/2006/main">
            <a:r>
              <a:t>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docs/pos-apotik-emedik/uat-v1.34.24/screenshots-akuntansi/24-laporan-laba-rugi.png</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memperlihatkan aktor dan tanggung jawab pada Laporan Keuangan dan Rekonsiliasi. Flowchart menampilkan urutan kerja yang harus dijalankan. ERD/aliran data memperlihatkan keterhubungan konseptual antardata; nama tabel fisik dapat berbeda. GATE: hanya jurnal posted, saldo awal sah, klasifikasi akun benar, dan periode konsisten. Kriteria penerimaan: Operasi tersimpan sekali, dapat ditemukan kembali, dan konsisten dengan detail serta laporan sumber.</a:t>
            </a:r>
          </a:p>
          <a:p xmlns:a="http://schemas.openxmlformats.org/drawingml/2006/main">
            <a:r>
              <a:t/>
            </a:r>
          </a:p>
          <a:p xmlns:a="http://schemas.openxmlformats.org/drawingml/2006/main">
            <a:r>
              <a:t>[Sources]</a:t>
            </a:r>
          </a:p>
          <a:p xmlns:a="http://schemas.openxmlformats.org/drawingml/2006/main">
            <a:r>
              <a:t>- docs/pos-apotik-emedik/uat-v1.34.24/presentation-data.json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Gerbang backend, volume data, transaksi, procure-to-pay, akuntansi, laporan, dan visual telah diperiksa. APK tetap menggunakan sertifikat debug karena keystore produksi belum diberikan. Pengecualian ini harus terlihat pada release notes dan tidak boleh ditafsirkan sebagai izin distribusi store atau penggantian instalasi produksi.</a:t>
            </a:r>
          </a:p>
          <a:p xmlns:a="http://schemas.openxmlformats.org/drawingml/2006/main">
            <a:r>
              <a:t/>
            </a:r>
          </a:p>
          <a:p xmlns:a="http://schemas.openxmlformats.org/drawingml/2006/main">
            <a:r>
              <a:t>[Sources]</a:t>
            </a:r>
          </a:p>
          <a:p xmlns:a="http://schemas.openxmlformats.org/drawingml/2006/main">
            <a:r>
              <a:t>- docs/pos-apotik-emedik/uat-v1.34.24/RELEASE_NOTES.md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Sign-off dipisahkan menurut tanggung jawab. Pemilik Apotik dan apoteker menilai keselamatan serta operasi farmasi; procurement dan keuangan menilai dokumen serta rekonsiliasi; IT/DevOps menilai deployment dan rollback; keamanan menilai privasi layar publik. Ketersediaan installer tidak menggantikan persetujuan para pemilik proses.</a:t>
            </a:r>
          </a:p>
          <a:p xmlns:a="http://schemas.openxmlformats.org/drawingml/2006/main">
            <a:r>
              <a:t/>
            </a:r>
          </a:p>
          <a:p xmlns:a="http://schemas.openxmlformats.org/drawingml/2006/main">
            <a:r>
              <a:t>[Sources]</a:t>
            </a:r>
          </a:p>
          <a:p xmlns:a="http://schemas.openxmlformats.org/drawingml/2006/main">
            <a:r>
              <a:t>- docs/pos-apotik-emedik/uat-v1.34.24/Laporan-UAT-dan-Panduan-Apotik-v1.34.24.docx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9fe044e8944d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e6b1e29b3f4eca" /><Relationship Type="http://schemas.openxmlformats.org/officeDocument/2006/relationships/slideLayout" Target="/ppt/slideLayouts/slideLayout1.xml" Id="R9a7a3d230da444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7a3d230da444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ef2c55d64a48c3" /><Relationship Type="http://schemas.openxmlformats.org/officeDocument/2006/relationships/notesSlide" Target="/ppt/notesSlides/notesSlide1.xml" Id="R8e3c954b1c4f49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0271d0e49f45eb" /><Relationship Type="http://schemas.openxmlformats.org/officeDocument/2006/relationships/notesSlide" Target="/ppt/notesSlides/notesSlide2.xml" Id="Ra0bad6089e3046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da30661ea44a7b" /><Relationship Type="http://schemas.openxmlformats.org/officeDocument/2006/relationships/notesSlide" Target="/ppt/notesSlides/notesSlide3.xml" Id="R7b254362f0604a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2675c7decc41fa" /><Relationship Type="http://schemas.openxmlformats.org/officeDocument/2006/relationships/image" Target="/ppt/media/image.png" Id="Rf234bb5188f3420a" /><Relationship Type="http://schemas.openxmlformats.org/officeDocument/2006/relationships/notesSlide" Target="/ppt/notesSlides/notesSlide4.xml" Id="Re22f4e0dff454c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577f0b3ec9419f" /><Relationship Type="http://schemas.openxmlformats.org/officeDocument/2006/relationships/notesSlide" Target="/ppt/notesSlides/notesSlide5.xml" Id="R622a3e8826b94e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a48edf19cf44ff" /><Relationship Type="http://schemas.openxmlformats.org/officeDocument/2006/relationships/image" Target="/ppt/media/image2.png" Id="Rc369fe7fc6e84251" /><Relationship Type="http://schemas.openxmlformats.org/officeDocument/2006/relationships/notesSlide" Target="/ppt/notesSlides/notesSlide6.xml" Id="R65fd8eef3f9e41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f87ae3e71f4c11" /><Relationship Type="http://schemas.openxmlformats.org/officeDocument/2006/relationships/notesSlide" Target="/ppt/notesSlides/notesSlide7.xml" Id="R3da640ba42424c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420bbf417d4632" /><Relationship Type="http://schemas.openxmlformats.org/officeDocument/2006/relationships/image" Target="/ppt/media/image3.png" Id="Rfe86b5c5edd54e8c" /><Relationship Type="http://schemas.openxmlformats.org/officeDocument/2006/relationships/notesSlide" Target="/ppt/notesSlides/notesSlide8.xml" Id="R01ef15706c4049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32e160c2ce4a7b" /><Relationship Type="http://schemas.openxmlformats.org/officeDocument/2006/relationships/notesSlide" Target="/ppt/notesSlides/notesSlide9.xml" Id="R0e2eaf51649d4b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8a0334af064c76" /><Relationship Type="http://schemas.openxmlformats.org/officeDocument/2006/relationships/image" Target="/ppt/media/image4.png" Id="Rbfd52730ae474cf1" /><Relationship Type="http://schemas.openxmlformats.org/officeDocument/2006/relationships/notesSlide" Target="/ppt/notesSlides/notesSlide10.xml" Id="Rc4db699d525445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619a01b05b4c78" /><Relationship Type="http://schemas.openxmlformats.org/officeDocument/2006/relationships/notesSlide" Target="/ppt/notesSlides/notesSlide11.xml" Id="Ra2dd64604e294a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c81686976548ab" /><Relationship Type="http://schemas.openxmlformats.org/officeDocument/2006/relationships/image" Target="/ppt/media/image5.png" Id="Rc68b5e0b31de4cbb" /><Relationship Type="http://schemas.openxmlformats.org/officeDocument/2006/relationships/notesSlide" Target="/ppt/notesSlides/notesSlide12.xml" Id="R64e3542d962e46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fb94c4a7a10427c" /><Relationship Type="http://schemas.openxmlformats.org/officeDocument/2006/relationships/notesSlide" Target="/ppt/notesSlides/notesSlide13.xml" Id="R66a972df0c0849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6c82072be94e81" /><Relationship Type="http://schemas.openxmlformats.org/officeDocument/2006/relationships/image" Target="/ppt/media/image6.png" Id="R555de72a599445df" /><Relationship Type="http://schemas.openxmlformats.org/officeDocument/2006/relationships/notesSlide" Target="/ppt/notesSlides/notesSlide14.xml" Id="R1a5b7e551fc146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ab210b2b09844a7" /><Relationship Type="http://schemas.openxmlformats.org/officeDocument/2006/relationships/notesSlide" Target="/ppt/notesSlides/notesSlide15.xml" Id="R145718f045fa42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760a895a184b6a" /><Relationship Type="http://schemas.openxmlformats.org/officeDocument/2006/relationships/image" Target="/ppt/media/image7.png" Id="R7d24f4373e104215" /><Relationship Type="http://schemas.openxmlformats.org/officeDocument/2006/relationships/notesSlide" Target="/ppt/notesSlides/notesSlide16.xml" Id="R9840d40b871540c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f774ff593314c35" /><Relationship Type="http://schemas.openxmlformats.org/officeDocument/2006/relationships/notesSlide" Target="/ppt/notesSlides/notesSlide17.xml" Id="R1876e6facad644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8ee743663ac4d54" /><Relationship Type="http://schemas.openxmlformats.org/officeDocument/2006/relationships/image" Target="/ppt/media/image8.png" Id="Rd4181e545cb24e2f" /><Relationship Type="http://schemas.openxmlformats.org/officeDocument/2006/relationships/notesSlide" Target="/ppt/notesSlides/notesSlide18.xml" Id="Rff60f9817f554b9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191447556114a88" /><Relationship Type="http://schemas.openxmlformats.org/officeDocument/2006/relationships/notesSlide" Target="/ppt/notesSlides/notesSlide19.xml" Id="Rc176c46f099240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517893e955b4c8f" /><Relationship Type="http://schemas.openxmlformats.org/officeDocument/2006/relationships/image" Target="/ppt/media/image9.png" Id="Rdf538025b24a47dc" /><Relationship Type="http://schemas.openxmlformats.org/officeDocument/2006/relationships/notesSlide" Target="/ppt/notesSlides/notesSlide20.xml" Id="R965afbb92006461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c267f8bf1754655" /><Relationship Type="http://schemas.openxmlformats.org/officeDocument/2006/relationships/notesSlide" Target="/ppt/notesSlides/notesSlide21.xml" Id="Rbc69981d7f744b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1f91c1a557d4bb8" /><Relationship Type="http://schemas.openxmlformats.org/officeDocument/2006/relationships/image" Target="/ppt/media/image10.png" Id="R1ef1b70ca5f4453a" /><Relationship Type="http://schemas.openxmlformats.org/officeDocument/2006/relationships/notesSlide" Target="/ppt/notesSlides/notesSlide22.xml" Id="Rde16bf6ee40641c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4f1674a23a4fa9" /><Relationship Type="http://schemas.openxmlformats.org/officeDocument/2006/relationships/notesSlide" Target="/ppt/notesSlides/notesSlide23.xml" Id="Rf39d42d7513942d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ef8cacce79044e8" /><Relationship Type="http://schemas.openxmlformats.org/officeDocument/2006/relationships/image" Target="/ppt/media/image11.png" Id="R3e1a38a5a1244916" /><Relationship Type="http://schemas.openxmlformats.org/officeDocument/2006/relationships/notesSlide" Target="/ppt/notesSlides/notesSlide24.xml" Id="R7551d601cbae4fa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1775d07e7c64b07" /><Relationship Type="http://schemas.openxmlformats.org/officeDocument/2006/relationships/notesSlide" Target="/ppt/notesSlides/notesSlide25.xml" Id="R01d4b242433d42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7eba33af5434b3a" /><Relationship Type="http://schemas.openxmlformats.org/officeDocument/2006/relationships/image" Target="/ppt/media/image12.png" Id="Re1ee3471752e45f3" /><Relationship Type="http://schemas.openxmlformats.org/officeDocument/2006/relationships/notesSlide" Target="/ppt/notesSlides/notesSlide26.xml" Id="R1f7205f33e094a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a7fe54bdc3a40b8" /><Relationship Type="http://schemas.openxmlformats.org/officeDocument/2006/relationships/notesSlide" Target="/ppt/notesSlides/notesSlide27.xml" Id="R96fc5641be01412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4d80dd4109a4ccb" /><Relationship Type="http://schemas.openxmlformats.org/officeDocument/2006/relationships/image" Target="/ppt/media/image13.png" Id="Rd30ad5a438bb495f" /><Relationship Type="http://schemas.openxmlformats.org/officeDocument/2006/relationships/notesSlide" Target="/ppt/notesSlides/notesSlide28.xml" Id="R0ef2534bead044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3426beb9154439a" /><Relationship Type="http://schemas.openxmlformats.org/officeDocument/2006/relationships/notesSlide" Target="/ppt/notesSlides/notesSlide29.xml" Id="Rc990591902c946c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59182deb7224c73" /><Relationship Type="http://schemas.openxmlformats.org/officeDocument/2006/relationships/image" Target="/ppt/media/image14.png" Id="R6fb7df0c57e446f7" /><Relationship Type="http://schemas.openxmlformats.org/officeDocument/2006/relationships/notesSlide" Target="/ppt/notesSlides/notesSlide30.xml" Id="R6bc2024d5668483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0b67b73ce88447d" /><Relationship Type="http://schemas.openxmlformats.org/officeDocument/2006/relationships/notesSlide" Target="/ppt/notesSlides/notesSlide31.xml" Id="Rfdcfdb3985ec417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13f159629b34c78" /><Relationship Type="http://schemas.openxmlformats.org/officeDocument/2006/relationships/image" Target="/ppt/media/image15.png" Id="R7388a8c07b23455e" /><Relationship Type="http://schemas.openxmlformats.org/officeDocument/2006/relationships/notesSlide" Target="/ppt/notesSlides/notesSlide32.xml" Id="Re32e83ccdba54c7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2b3a413e1664290" /><Relationship Type="http://schemas.openxmlformats.org/officeDocument/2006/relationships/notesSlide" Target="/ppt/notesSlides/notesSlide33.xml" Id="R03b5455dc72c47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584da12159741fb" /><Relationship Type="http://schemas.openxmlformats.org/officeDocument/2006/relationships/notesSlide" Target="/ppt/notesSlides/notesSlide34.xml" Id="R656e597ff3aa4fe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6cf1a486e914473" /><Relationship Type="http://schemas.openxmlformats.org/officeDocument/2006/relationships/notesSlide" Target="/ppt/notesSlides/notesSlide35.xml" Id="R6ecc53787e854017" /></Relationships>
</file>

<file path=ppt/slides/slide1.xml><?xml version="1.0" encoding="utf-8"?>
<p:sld xmlns:p="http://schemas.openxmlformats.org/presentationml/2006/main">
  <p:cSld>
    <p:bg>
      <p:bgPr>
        <a:solidFill xmlns:a="http://schemas.openxmlformats.org/drawingml/2006/main">
          <a:srgbClr val="12352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7AF3DC-606A-4C7A-AF04-2F7E215EB945}"/>
              </a:ext>
            </a:extLst>
          </p:cNvPr>
          <p:cNvSpPr>
            <a:spLocks xmlns:a="http://schemas.openxmlformats.org/drawingml/2006/main" noGrp="1"/>
          </p:cNvSpPr>
          <p:nvPr/>
        </p:nvSpPr>
        <p:spPr>
          <a:xfrm xmlns:a="http://schemas.openxmlformats.org/drawingml/2006/main">
            <a:off x="685800" y="6667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6EFAC"/>
                </a:solidFill>
              </a:defRPr>
            </a:pPr>
            <a:r>
              <a:rPr sz="1125" b="1">
                <a:solidFill>
                  <a:srgbClr val="86EFAC"/>
                </a:solidFill>
              </a:rPr>
              <a:t>UAT LIVE SERVER DEMO</a:t>
            </a:r>
          </a:p>
        </p:txBody>
      </p:sp>
      <p:sp>
        <p:nvSpPr>
          <p:cNvPr id="2" name="">
            <a:extLst xmlns:a="http://schemas.openxmlformats.org/drawingml/2006/main">
              <a:ext uri="{FF2B5EF4-FFF2-40B4-BE49-F238E27FC236}">
                <a16:creationId xmlns:a16="http://schemas.microsoft.com/office/drawing/2014/main" id="{4F21E682-EA8D-4C77-9BFA-BCF75B3FF0A6}"/>
              </a:ext>
            </a:extLst>
          </p:cNvPr>
          <p:cNvSpPr>
            <a:spLocks xmlns:a="http://schemas.openxmlformats.org/drawingml/2006/main" noGrp="1"/>
          </p:cNvSpPr>
          <p:nvPr/>
        </p:nvSpPr>
        <p:spPr>
          <a:xfrm xmlns:a="http://schemas.openxmlformats.org/drawingml/2006/main">
            <a:off x="685800" y="135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Apotik</a:t>
            </a:r>
          </a:p>
        </p:txBody>
      </p:sp>
      <p:sp>
        <p:nvSpPr>
          <p:cNvPr id="3" name="">
            <a:extLst xmlns:a="http://schemas.openxmlformats.org/drawingml/2006/main">
              <a:ext uri="{FF2B5EF4-FFF2-40B4-BE49-F238E27FC236}">
                <a16:creationId xmlns:a16="http://schemas.microsoft.com/office/drawing/2014/main" id="{0E94233B-FBB3-4C62-AEC0-B8E387D450AF}"/>
              </a:ext>
            </a:extLst>
          </p:cNvPr>
          <p:cNvSpPr>
            <a:spLocks xmlns:a="http://schemas.openxmlformats.org/drawingml/2006/main" noGrp="1"/>
          </p:cNvSpPr>
          <p:nvPr/>
        </p:nvSpPr>
        <p:spPr>
          <a:xfrm xmlns:a="http://schemas.openxmlformats.org/drawingml/2006/main">
            <a:off x="685800" y="2190750"/>
            <a:ext cx="5524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UAT End-to-End &amp;</a:t>
            </a:r>
          </a:p>
          <a:p xmlns:a="http://schemas.openxmlformats.org/drawingml/2006/main">
            <a:pPr algn="l">
              <a:defRPr sz="2850" b="1">
                <a:solidFill>
                  <a:srgbClr val="FFFFFF"/>
                </a:solidFill>
              </a:defRPr>
            </a:pPr>
            <a:r>
              <a:rPr sz="2850" b="1">
                <a:solidFill>
                  <a:srgbClr val="FFFFFF"/>
                </a:solidFill>
              </a:rPr>
              <a:t>Panduan Pengguna</a:t>
            </a:r>
          </a:p>
        </p:txBody>
      </p:sp>
      <p:sp>
        <p:nvSpPr>
          <p:cNvPr id="4" name="">
            <a:extLst xmlns:a="http://schemas.openxmlformats.org/drawingml/2006/main">
              <a:ext uri="{FF2B5EF4-FFF2-40B4-BE49-F238E27FC236}">
                <a16:creationId xmlns:a16="http://schemas.microsoft.com/office/drawing/2014/main" id="{79DD96F5-7426-46B1-8F1A-E5BCAD237039}"/>
              </a:ext>
            </a:extLst>
          </p:cNvPr>
          <p:cNvSpPr>
            <a:spLocks xmlns:a="http://schemas.openxmlformats.org/drawingml/2006/main" noGrp="1"/>
          </p:cNvSpPr>
          <p:nvPr/>
        </p:nvSpPr>
        <p:spPr>
          <a:xfrm xmlns:a="http://schemas.openxmlformats.org/drawingml/2006/main">
            <a:off x="685800" y="36195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D1FAE5"/>
                </a:solidFill>
              </a:defRPr>
            </a:pPr>
            <a:r>
              <a:rPr sz="1650" b="0">
                <a:solidFill>
                  <a:srgbClr val="D1FAE5"/>
                </a:solidFill>
              </a:rPr>
              <a:t>Penjualan, racikan, persediaan, layar pasien, pengadaan, akuntansi, dan laporan</a:t>
            </a:r>
          </a:p>
        </p:txBody>
      </p:sp>
      <p:sp>
        <p:nvSpPr>
          <p:cNvPr id="5" name="">
            <a:extLst xmlns:a="http://schemas.openxmlformats.org/drawingml/2006/main">
              <a:ext uri="{FF2B5EF4-FFF2-40B4-BE49-F238E27FC236}">
                <a16:creationId xmlns:a16="http://schemas.microsoft.com/office/drawing/2014/main" id="{959729BC-76AE-4FD1-86FC-8DDB584F3597}"/>
              </a:ext>
            </a:extLst>
          </p:cNvPr>
          <p:cNvSpPr>
            <a:spLocks xmlns:a="http://schemas.openxmlformats.org/drawingml/2006/main" noGrp="1"/>
          </p:cNvSpPr>
          <p:nvPr/>
        </p:nvSpPr>
        <p:spPr>
          <a:xfrm xmlns:a="http://schemas.openxmlformats.org/drawingml/2006/main">
            <a:off x="7048500" y="1066800"/>
            <a:ext cx="4057650" cy="3924300"/>
          </a:xfrm>
          <a:prstGeom xmlns:a="http://schemas.openxmlformats.org/drawingml/2006/main" prst="roundRect">
            <a:avLst>
              <a:gd name="adj" fmla="val 5825"/>
            </a:avLst>
          </a:prstGeom>
          <a:solidFill xmlns:a="http://schemas.openxmlformats.org/drawingml/2006/main">
            <a:srgbClr val="1B4D35"/>
          </a:solidFill>
          <a:ln xmlns:a="http://schemas.openxmlformats.org/drawingml/2006/main" w="9525">
            <a:solidFill>
              <a:srgbClr val="4ADE80"/>
            </a:solidFill>
            <a:prstDash val="solid"/>
          </a:ln>
        </p:spPr>
      </p:sp>
      <p:sp>
        <p:nvSpPr>
          <p:cNvPr id="6" name="">
            <a:extLst xmlns:a="http://schemas.openxmlformats.org/drawingml/2006/main">
              <a:ext uri="{FF2B5EF4-FFF2-40B4-BE49-F238E27FC236}">
                <a16:creationId xmlns:a16="http://schemas.microsoft.com/office/drawing/2014/main" id="{B9C109CB-4BBF-4D25-BF36-9C533F0C1A65}"/>
              </a:ext>
            </a:extLst>
          </p:cNvPr>
          <p:cNvSpPr>
            <a:spLocks xmlns:a="http://schemas.openxmlformats.org/drawingml/2006/main" noGrp="1"/>
          </p:cNvSpPr>
          <p:nvPr/>
        </p:nvSpPr>
        <p:spPr>
          <a:xfrm xmlns:a="http://schemas.openxmlformats.org/drawingml/2006/main">
            <a:off x="7448550" y="14859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86EFAC"/>
                </a:solidFill>
              </a:defRPr>
            </a:pPr>
            <a:r>
              <a:rPr sz="1050" b="1">
                <a:solidFill>
                  <a:srgbClr val="86EFAC"/>
                </a:solidFill>
              </a:rPr>
              <a:t>HASIL</a:t>
            </a:r>
          </a:p>
        </p:txBody>
      </p:sp>
      <p:sp>
        <p:nvSpPr>
          <p:cNvPr id="7" name="">
            <a:extLst xmlns:a="http://schemas.openxmlformats.org/drawingml/2006/main">
              <a:ext uri="{FF2B5EF4-FFF2-40B4-BE49-F238E27FC236}">
                <a16:creationId xmlns:a16="http://schemas.microsoft.com/office/drawing/2014/main" id="{978CD0AE-9D40-40D4-B445-43604BD23195}"/>
              </a:ext>
            </a:extLst>
          </p:cNvPr>
          <p:cNvSpPr>
            <a:spLocks xmlns:a="http://schemas.openxmlformats.org/drawingml/2006/main" noGrp="1"/>
          </p:cNvSpPr>
          <p:nvPr/>
        </p:nvSpPr>
        <p:spPr>
          <a:xfrm xmlns:a="http://schemas.openxmlformats.org/drawingml/2006/main">
            <a:off x="7448550" y="19431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LULUS UAT</a:t>
            </a:r>
          </a:p>
        </p:txBody>
      </p:sp>
      <p:sp>
        <p:nvSpPr>
          <p:cNvPr id="8" name="">
            <a:extLst xmlns:a="http://schemas.openxmlformats.org/drawingml/2006/main">
              <a:ext uri="{FF2B5EF4-FFF2-40B4-BE49-F238E27FC236}">
                <a16:creationId xmlns:a16="http://schemas.microsoft.com/office/drawing/2014/main" id="{00919219-5454-46A7-B8AF-111E18EA5BC3}"/>
              </a:ext>
            </a:extLst>
          </p:cNvPr>
          <p:cNvSpPr>
            <a:spLocks xmlns:a="http://schemas.openxmlformats.org/drawingml/2006/main" noGrp="1"/>
          </p:cNvSpPr>
          <p:nvPr/>
        </p:nvSpPr>
        <p:spPr>
          <a:xfrm xmlns:a="http://schemas.openxmlformats.org/drawingml/2006/main">
            <a:off x="7448550" y="2895600"/>
            <a:ext cx="304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D1FAE5"/>
                </a:solidFill>
              </a:defRPr>
            </a:pPr>
            <a:r>
              <a:rPr sz="1575" b="0">
                <a:solidFill>
                  <a:srgbClr val="D1FAE5"/>
                </a:solidFill>
              </a:rPr>
              <a:t>Backend dan volume data diverifikasi. APK produksi tetap menunggu keystore pemilik.</a:t>
            </a:r>
          </a:p>
        </p:txBody>
      </p:sp>
      <p:sp>
        <p:nvSpPr>
          <p:cNvPr id="9" name="">
            <a:extLst xmlns:a="http://schemas.openxmlformats.org/drawingml/2006/main">
              <a:ext uri="{FF2B5EF4-FFF2-40B4-BE49-F238E27FC236}">
                <a16:creationId xmlns:a16="http://schemas.microsoft.com/office/drawing/2014/main" id="{789DBA31-599D-4C20-B66E-3F297327F55C}"/>
              </a:ext>
            </a:extLst>
          </p:cNvPr>
          <p:cNvSpPr>
            <a:spLocks xmlns:a="http://schemas.openxmlformats.org/drawingml/2006/main" noGrp="1"/>
          </p:cNvSpPr>
          <p:nvPr/>
        </p:nvSpPr>
        <p:spPr>
          <a:xfrm xmlns:a="http://schemas.openxmlformats.org/drawingml/2006/main">
            <a:off x="685800" y="617220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7F3D0"/>
                </a:solidFill>
              </a:defRPr>
            </a:pPr>
            <a:r>
              <a:rPr sz="1200" b="0">
                <a:solidFill>
                  <a:srgbClr val="A7F3D0"/>
                </a:solidFill>
              </a:rPr>
              <a:t>4 September 2026 | demo.ecampus.id/ecampus</a:t>
            </a:r>
          </a:p>
        </p:txBody>
      </p:sp>
    </p:spTree>
    <p:extLst>
      <p:ext uri="{BB962C8B-B14F-4D97-AF65-F5344CB8AC3E}">
        <p14:creationId xmlns:p14="http://schemas.microsoft.com/office/powerpoint/2010/main" val="1217213796"/>
      </p:ext>
    </p:extLst>
  </p:cSld>
</p:sld>
</file>

<file path=ppt/slides/slide2.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22" name="eyebrow-2">
            <a:extLst xmlns:a="http://schemas.openxmlformats.org/drawingml/2006/main">
              <a:ext uri="{FF2B5EF4-FFF2-40B4-BE49-F238E27FC236}">
                <a16:creationId xmlns:a16="http://schemas.microsoft.com/office/drawing/2014/main" id="{F3337D79-E654-4C59-BD38-7A851534BF56}"/>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RINGKASAN</a:t>
            </a:r>
          </a:p>
        </p:txBody>
      </p:sp>
      <p:sp>
        <p:nvSpPr>
          <p:cNvPr id="2" name="title-2">
            <a:extLst xmlns:a="http://schemas.openxmlformats.org/drawingml/2006/main">
              <a:ext uri="{FF2B5EF4-FFF2-40B4-BE49-F238E27FC236}">
                <a16:creationId xmlns:a16="http://schemas.microsoft.com/office/drawing/2014/main" id="{D9EA4990-ABBF-4FE9-8496-CF4BE86D0014}"/>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Volume UAT telah memenuhi target utama</a:t>
            </a:r>
          </a:p>
        </p:txBody>
      </p:sp>
      <p:sp>
        <p:nvSpPr>
          <p:cNvPr id="3" name="">
            <a:extLst xmlns:a="http://schemas.openxmlformats.org/drawingml/2006/main">
              <a:ext uri="{FF2B5EF4-FFF2-40B4-BE49-F238E27FC236}">
                <a16:creationId xmlns:a16="http://schemas.microsoft.com/office/drawing/2014/main" id="{D23F5F57-0109-4D6A-95F6-A0C5137E7842}"/>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02</a:t>
            </a:r>
          </a:p>
        </p:txBody>
      </p:sp>
      <p:sp>
        <p:nvSpPr>
          <p:cNvPr id="4" name="">
            <a:extLst xmlns:a="http://schemas.openxmlformats.org/drawingml/2006/main">
              <a:ext uri="{FF2B5EF4-FFF2-40B4-BE49-F238E27FC236}">
                <a16:creationId xmlns:a16="http://schemas.microsoft.com/office/drawing/2014/main" id="{2392E330-395F-4EA6-B6E1-72DF86218898}"/>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a:t>
            </a:r>
          </a:p>
        </p:txBody>
      </p:sp>
      <p:sp>
        <p:nvSpPr>
          <p:cNvPr id="5" name="">
            <a:extLst xmlns:a="http://schemas.openxmlformats.org/drawingml/2006/main">
              <a:ext uri="{FF2B5EF4-FFF2-40B4-BE49-F238E27FC236}">
                <a16:creationId xmlns:a16="http://schemas.microsoft.com/office/drawing/2014/main" id="{D25DB7CA-2DED-44C6-B43E-A109ED081C8C}"/>
              </a:ext>
            </a:extLst>
          </p:cNvPr>
          <p:cNvSpPr>
            <a:spLocks xmlns:a="http://schemas.openxmlformats.org/drawingml/2006/main" noGrp="1"/>
          </p:cNvSpPr>
          <p:nvPr/>
        </p:nvSpPr>
        <p:spPr>
          <a:xfrm xmlns:a="http://schemas.openxmlformats.org/drawingml/2006/main">
            <a:off x="609600" y="1476375"/>
            <a:ext cx="240030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46C90DDF-5BEB-41D1-911B-D11CF5AD05DD}"/>
              </a:ext>
            </a:extLst>
          </p:cNvPr>
          <p:cNvSpPr>
            <a:spLocks xmlns:a="http://schemas.openxmlformats.org/drawingml/2006/main" noGrp="1"/>
          </p:cNvSpPr>
          <p:nvPr/>
        </p:nvSpPr>
        <p:spPr>
          <a:xfrm xmlns:a="http://schemas.openxmlformats.org/drawingml/2006/main">
            <a:off x="781050" y="1628775"/>
            <a:ext cx="2057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66534"/>
                </a:solidFill>
              </a:defRPr>
            </a:pPr>
            <a:r>
              <a:rPr sz="2550" b="1">
                <a:solidFill>
                  <a:srgbClr val="166534"/>
                </a:solidFill>
              </a:rPr>
              <a:t>11000</a:t>
            </a:r>
          </a:p>
        </p:txBody>
      </p:sp>
      <p:sp>
        <p:nvSpPr>
          <p:cNvPr id="7" name="">
            <a:extLst xmlns:a="http://schemas.openxmlformats.org/drawingml/2006/main">
              <a:ext uri="{FF2B5EF4-FFF2-40B4-BE49-F238E27FC236}">
                <a16:creationId xmlns:a16="http://schemas.microsoft.com/office/drawing/2014/main" id="{4FFD4382-B728-4DA0-AFF3-F58AFEC1D70D}"/>
              </a:ext>
            </a:extLst>
          </p:cNvPr>
          <p:cNvSpPr>
            <a:spLocks xmlns:a="http://schemas.openxmlformats.org/drawingml/2006/main" noGrp="1"/>
          </p:cNvSpPr>
          <p:nvPr/>
        </p:nvSpPr>
        <p:spPr>
          <a:xfrm xmlns:a="http://schemas.openxmlformats.org/drawingml/2006/main">
            <a:off x="781050" y="214312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item katalog</a:t>
            </a:r>
          </a:p>
        </p:txBody>
      </p:sp>
      <p:sp>
        <p:nvSpPr>
          <p:cNvPr id="8" name="">
            <a:extLst xmlns:a="http://schemas.openxmlformats.org/drawingml/2006/main">
              <a:ext uri="{FF2B5EF4-FFF2-40B4-BE49-F238E27FC236}">
                <a16:creationId xmlns:a16="http://schemas.microsoft.com/office/drawing/2014/main" id="{701FC430-5061-4CAA-9FB8-80EF876AF978}"/>
              </a:ext>
            </a:extLst>
          </p:cNvPr>
          <p:cNvSpPr>
            <a:spLocks xmlns:a="http://schemas.openxmlformats.org/drawingml/2006/main" noGrp="1"/>
          </p:cNvSpPr>
          <p:nvPr/>
        </p:nvSpPr>
        <p:spPr>
          <a:xfrm xmlns:a="http://schemas.openxmlformats.org/drawingml/2006/main">
            <a:off x="3257550" y="1476375"/>
            <a:ext cx="240030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BBF7D0"/>
            </a:solidFill>
            <a:prstDash val="solid"/>
          </a:ln>
        </p:spPr>
      </p:sp>
      <p:sp>
        <p:nvSpPr>
          <p:cNvPr id="9" name="">
            <a:extLst xmlns:a="http://schemas.openxmlformats.org/drawingml/2006/main">
              <a:ext uri="{FF2B5EF4-FFF2-40B4-BE49-F238E27FC236}">
                <a16:creationId xmlns:a16="http://schemas.microsoft.com/office/drawing/2014/main" id="{A9581906-77F3-49CC-89F5-7ADE296DCA9D}"/>
              </a:ext>
            </a:extLst>
          </p:cNvPr>
          <p:cNvSpPr>
            <a:spLocks xmlns:a="http://schemas.openxmlformats.org/drawingml/2006/main" noGrp="1"/>
          </p:cNvSpPr>
          <p:nvPr/>
        </p:nvSpPr>
        <p:spPr>
          <a:xfrm xmlns:a="http://schemas.openxmlformats.org/drawingml/2006/main">
            <a:off x="3429000" y="1628775"/>
            <a:ext cx="2057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F766E"/>
                </a:solidFill>
              </a:defRPr>
            </a:pPr>
            <a:r>
              <a:rPr sz="2550" b="1">
                <a:solidFill>
                  <a:srgbClr val="0F766E"/>
                </a:solidFill>
              </a:rPr>
              <a:t>1000</a:t>
            </a:r>
          </a:p>
        </p:txBody>
      </p:sp>
      <p:sp>
        <p:nvSpPr>
          <p:cNvPr id="10" name="">
            <a:extLst xmlns:a="http://schemas.openxmlformats.org/drawingml/2006/main">
              <a:ext uri="{FF2B5EF4-FFF2-40B4-BE49-F238E27FC236}">
                <a16:creationId xmlns:a16="http://schemas.microsoft.com/office/drawing/2014/main" id="{3CCA3F51-2712-43D4-9B03-E56850547DA4}"/>
              </a:ext>
            </a:extLst>
          </p:cNvPr>
          <p:cNvSpPr>
            <a:spLocks xmlns:a="http://schemas.openxmlformats.org/drawingml/2006/main" noGrp="1"/>
          </p:cNvSpPr>
          <p:nvPr/>
        </p:nvSpPr>
        <p:spPr>
          <a:xfrm xmlns:a="http://schemas.openxmlformats.org/drawingml/2006/main">
            <a:off x="3429000" y="214312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bahan racikan</a:t>
            </a:r>
          </a:p>
        </p:txBody>
      </p:sp>
      <p:sp>
        <p:nvSpPr>
          <p:cNvPr id="11" name="">
            <a:extLst xmlns:a="http://schemas.openxmlformats.org/drawingml/2006/main">
              <a:ext uri="{FF2B5EF4-FFF2-40B4-BE49-F238E27FC236}">
                <a16:creationId xmlns:a16="http://schemas.microsoft.com/office/drawing/2014/main" id="{2E8B4987-BE31-4F3B-9CE7-9DAF681E157B}"/>
              </a:ext>
            </a:extLst>
          </p:cNvPr>
          <p:cNvSpPr>
            <a:spLocks xmlns:a="http://schemas.openxmlformats.org/drawingml/2006/main" noGrp="1"/>
          </p:cNvSpPr>
          <p:nvPr/>
        </p:nvSpPr>
        <p:spPr>
          <a:xfrm xmlns:a="http://schemas.openxmlformats.org/drawingml/2006/main">
            <a:off x="5905500" y="1476375"/>
            <a:ext cx="240030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BBF7D0"/>
            </a:solidFill>
            <a:prstDash val="solid"/>
          </a:ln>
        </p:spPr>
      </p:sp>
      <p:sp>
        <p:nvSpPr>
          <p:cNvPr id="12" name="">
            <a:extLst xmlns:a="http://schemas.openxmlformats.org/drawingml/2006/main">
              <a:ext uri="{FF2B5EF4-FFF2-40B4-BE49-F238E27FC236}">
                <a16:creationId xmlns:a16="http://schemas.microsoft.com/office/drawing/2014/main" id="{82A81488-FEB8-4F77-9C42-C0D7DDF214CB}"/>
              </a:ext>
            </a:extLst>
          </p:cNvPr>
          <p:cNvSpPr>
            <a:spLocks xmlns:a="http://schemas.openxmlformats.org/drawingml/2006/main" noGrp="1"/>
          </p:cNvSpPr>
          <p:nvPr/>
        </p:nvSpPr>
        <p:spPr>
          <a:xfrm xmlns:a="http://schemas.openxmlformats.org/drawingml/2006/main">
            <a:off x="6076950" y="1628775"/>
            <a:ext cx="2057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6A34A"/>
                </a:solidFill>
              </a:defRPr>
            </a:pPr>
            <a:r>
              <a:rPr sz="2550" b="1">
                <a:solidFill>
                  <a:srgbClr val="16A34A"/>
                </a:solidFill>
              </a:rPr>
              <a:t>4800</a:t>
            </a:r>
          </a:p>
        </p:txBody>
      </p:sp>
      <p:sp>
        <p:nvSpPr>
          <p:cNvPr id="13" name="">
            <a:extLst xmlns:a="http://schemas.openxmlformats.org/drawingml/2006/main">
              <a:ext uri="{FF2B5EF4-FFF2-40B4-BE49-F238E27FC236}">
                <a16:creationId xmlns:a16="http://schemas.microsoft.com/office/drawing/2014/main" id="{93A73F57-376A-435D-B46F-D2715E4D24D6}"/>
              </a:ext>
            </a:extLst>
          </p:cNvPr>
          <p:cNvSpPr>
            <a:spLocks xmlns:a="http://schemas.openxmlformats.org/drawingml/2006/main" noGrp="1"/>
          </p:cNvSpPr>
          <p:nvPr/>
        </p:nvSpPr>
        <p:spPr>
          <a:xfrm xmlns:a="http://schemas.openxmlformats.org/drawingml/2006/main">
            <a:off x="6076950" y="214312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resep siap jual</a:t>
            </a:r>
          </a:p>
        </p:txBody>
      </p:sp>
      <p:sp>
        <p:nvSpPr>
          <p:cNvPr id="14" name="">
            <a:extLst xmlns:a="http://schemas.openxmlformats.org/drawingml/2006/main">
              <a:ext uri="{FF2B5EF4-FFF2-40B4-BE49-F238E27FC236}">
                <a16:creationId xmlns:a16="http://schemas.microsoft.com/office/drawing/2014/main" id="{04F8E5D9-E6E2-437D-8640-BF559C08F9D6}"/>
              </a:ext>
            </a:extLst>
          </p:cNvPr>
          <p:cNvSpPr>
            <a:spLocks xmlns:a="http://schemas.openxmlformats.org/drawingml/2006/main" noGrp="1"/>
          </p:cNvSpPr>
          <p:nvPr/>
        </p:nvSpPr>
        <p:spPr>
          <a:xfrm xmlns:a="http://schemas.openxmlformats.org/drawingml/2006/main">
            <a:off x="8553450" y="1476375"/>
            <a:ext cx="240030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BBF7D0"/>
            </a:solidFill>
            <a:prstDash val="solid"/>
          </a:ln>
        </p:spPr>
      </p:sp>
      <p:sp>
        <p:nvSpPr>
          <p:cNvPr id="15" name="">
            <a:extLst xmlns:a="http://schemas.openxmlformats.org/drawingml/2006/main">
              <a:ext uri="{FF2B5EF4-FFF2-40B4-BE49-F238E27FC236}">
                <a16:creationId xmlns:a16="http://schemas.microsoft.com/office/drawing/2014/main" id="{32F9D3F7-BFA7-4501-B10D-168F94588BF3}"/>
              </a:ext>
            </a:extLst>
          </p:cNvPr>
          <p:cNvSpPr>
            <a:spLocks xmlns:a="http://schemas.openxmlformats.org/drawingml/2006/main" noGrp="1"/>
          </p:cNvSpPr>
          <p:nvPr/>
        </p:nvSpPr>
        <p:spPr>
          <a:xfrm xmlns:a="http://schemas.openxmlformats.org/drawingml/2006/main">
            <a:off x="8724900" y="1628775"/>
            <a:ext cx="2057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23524"/>
                </a:solidFill>
              </a:defRPr>
            </a:pPr>
            <a:r>
              <a:rPr sz="2550" b="1">
                <a:solidFill>
                  <a:srgbClr val="123524"/>
                </a:solidFill>
              </a:rPr>
              <a:t>400</a:t>
            </a:r>
          </a:p>
        </p:txBody>
      </p:sp>
      <p:sp>
        <p:nvSpPr>
          <p:cNvPr id="16" name="">
            <a:extLst xmlns:a="http://schemas.openxmlformats.org/drawingml/2006/main">
              <a:ext uri="{FF2B5EF4-FFF2-40B4-BE49-F238E27FC236}">
                <a16:creationId xmlns:a16="http://schemas.microsoft.com/office/drawing/2014/main" id="{EA192E4C-6B39-425D-A3FB-0CA359FB59EF}"/>
              </a:ext>
            </a:extLst>
          </p:cNvPr>
          <p:cNvSpPr>
            <a:spLocks xmlns:a="http://schemas.openxmlformats.org/drawingml/2006/main" noGrp="1"/>
          </p:cNvSpPr>
          <p:nvPr/>
        </p:nvSpPr>
        <p:spPr>
          <a:xfrm xmlns:a="http://schemas.openxmlformats.org/drawingml/2006/main">
            <a:off x="8724900" y="2143125"/>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transaksi lulus</a:t>
            </a:r>
          </a:p>
        </p:txBody>
      </p:sp>
      <p:sp>
        <p:nvSpPr>
          <p:cNvPr id="17" name="">
            <a:extLst xmlns:a="http://schemas.openxmlformats.org/drawingml/2006/main">
              <a:ext uri="{FF2B5EF4-FFF2-40B4-BE49-F238E27FC236}">
                <a16:creationId xmlns:a16="http://schemas.microsoft.com/office/drawing/2014/main" id="{72F54EA6-0D91-4789-8023-B6AE91EF1C98}"/>
              </a:ext>
            </a:extLst>
          </p:cNvPr>
          <p:cNvSpPr>
            <a:spLocks xmlns:a="http://schemas.openxmlformats.org/drawingml/2006/main" noGrp="1"/>
          </p:cNvSpPr>
          <p:nvPr/>
        </p:nvSpPr>
        <p:spPr>
          <a:xfrm xmlns:a="http://schemas.openxmlformats.org/drawingml/2006/main">
            <a:off x="609600" y="3181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6534"/>
                </a:solidFill>
              </a:defRPr>
            </a:pPr>
            <a:r>
              <a:rPr sz="1800" b="1">
                <a:solidFill>
                  <a:srgbClr val="166534"/>
                </a:solidFill>
              </a:rPr>
              <a:t>Cakupan yang diverifikasi</a:t>
            </a:r>
          </a:p>
        </p:txBody>
      </p:sp>
      <p:sp>
        <p:nvSpPr>
          <p:cNvPr id="18" name="">
            <a:extLst xmlns:a="http://schemas.openxmlformats.org/drawingml/2006/main">
              <a:ext uri="{FF2B5EF4-FFF2-40B4-BE49-F238E27FC236}">
                <a16:creationId xmlns:a16="http://schemas.microsoft.com/office/drawing/2014/main" id="{8B31B661-905B-4FA8-95F0-900EB68E8585}"/>
              </a:ext>
            </a:extLst>
          </p:cNvPr>
          <p:cNvSpPr>
            <a:spLocks xmlns:a="http://schemas.openxmlformats.org/drawingml/2006/main" noGrp="1"/>
          </p:cNvSpPr>
          <p:nvPr/>
        </p:nvSpPr>
        <p:spPr>
          <a:xfrm xmlns:a="http://schemas.openxmlformats.org/drawingml/2006/main">
            <a:off x="609600" y="3667125"/>
            <a:ext cx="4953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Obat jadi, racikan, dan gabungan</a:t>
            </a:r>
          </a:p>
          <a:p xmlns:a="http://schemas.openxmlformats.org/drawingml/2006/main">
            <a:pPr algn="l">
              <a:defRPr sz="1500" b="0">
                <a:solidFill>
                  <a:srgbClr val="172033"/>
                </a:solidFill>
              </a:defRPr>
            </a:pPr>
            <a:r>
              <a:rPr sz="1500" b="0">
                <a:solidFill>
                  <a:srgbClr val="172033"/>
                </a:solidFill>
              </a:rPr>
              <a:t>• Batch, FEFO, stok, dan kedaluwarsa</a:t>
            </a:r>
          </a:p>
          <a:p xmlns:a="http://schemas.openxmlformats.org/drawingml/2006/main">
            <a:pPr algn="l">
              <a:defRPr sz="1500" b="0">
                <a:solidFill>
                  <a:srgbClr val="172033"/>
                </a:solidFill>
              </a:defRPr>
            </a:pPr>
            <a:r>
              <a:rPr sz="1500" b="0">
                <a:solidFill>
                  <a:srgbClr val="172033"/>
                </a:solidFill>
              </a:rPr>
              <a:t>• Layar kedua dengan identitas tersamar</a:t>
            </a:r>
          </a:p>
          <a:p xmlns:a="http://schemas.openxmlformats.org/drawingml/2006/main">
            <a:pPr algn="l">
              <a:defRPr sz="1500" b="0">
                <a:solidFill>
                  <a:srgbClr val="172033"/>
                </a:solidFill>
              </a:defRPr>
            </a:pPr>
            <a:r>
              <a:rPr sz="1500" b="0">
                <a:solidFill>
                  <a:srgbClr val="172033"/>
                </a:solidFill>
              </a:rPr>
              <a:t>• PR, PO, BAST, tagihan, dan pembayaran</a:t>
            </a:r>
          </a:p>
          <a:p xmlns:a="http://schemas.openxmlformats.org/drawingml/2006/main">
            <a:pPr algn="l">
              <a:defRPr sz="1500" b="0">
                <a:solidFill>
                  <a:srgbClr val="172033"/>
                </a:solidFill>
              </a:defRPr>
            </a:pPr>
            <a:r>
              <a:rPr sz="1500" b="0">
                <a:solidFill>
                  <a:srgbClr val="172033"/>
                </a:solidFill>
              </a:rPr>
              <a:t>• Jurnal, posting, dan laporan keuangan</a:t>
            </a:r>
          </a:p>
        </p:txBody>
      </p:sp>
      <p:sp>
        <p:nvSpPr>
          <p:cNvPr id="19" name="">
            <a:extLst xmlns:a="http://schemas.openxmlformats.org/drawingml/2006/main">
              <a:ext uri="{FF2B5EF4-FFF2-40B4-BE49-F238E27FC236}">
                <a16:creationId xmlns:a16="http://schemas.microsoft.com/office/drawing/2014/main" id="{BDDB2B90-9F5F-43BA-AA8F-8C0A273CDB58}"/>
              </a:ext>
            </a:extLst>
          </p:cNvPr>
          <p:cNvSpPr>
            <a:spLocks xmlns:a="http://schemas.openxmlformats.org/drawingml/2006/main" noGrp="1"/>
          </p:cNvSpPr>
          <p:nvPr/>
        </p:nvSpPr>
        <p:spPr>
          <a:xfrm xmlns:a="http://schemas.openxmlformats.org/drawingml/2006/main">
            <a:off x="6496050" y="3181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45309"/>
                </a:solidFill>
              </a:defRPr>
            </a:pPr>
            <a:r>
              <a:rPr sz="1800" b="1">
                <a:solidFill>
                  <a:srgbClr val="B45309"/>
                </a:solidFill>
              </a:rPr>
              <a:t>Batas distribusi</a:t>
            </a:r>
          </a:p>
        </p:txBody>
      </p:sp>
      <p:sp>
        <p:nvSpPr>
          <p:cNvPr id="20" name="">
            <a:extLst xmlns:a="http://schemas.openxmlformats.org/drawingml/2006/main">
              <a:ext uri="{FF2B5EF4-FFF2-40B4-BE49-F238E27FC236}">
                <a16:creationId xmlns:a16="http://schemas.microsoft.com/office/drawing/2014/main" id="{0461ACB2-7549-4262-85F5-1CD74D48AB4D}"/>
              </a:ext>
            </a:extLst>
          </p:cNvPr>
          <p:cNvSpPr>
            <a:spLocks xmlns:a="http://schemas.openxmlformats.org/drawingml/2006/main" noGrp="1"/>
          </p:cNvSpPr>
          <p:nvPr/>
        </p:nvSpPr>
        <p:spPr>
          <a:xfrm xmlns:a="http://schemas.openxmlformats.org/drawingml/2006/main">
            <a:off x="6496050" y="3638550"/>
            <a:ext cx="4705350" cy="1638300"/>
          </a:xfrm>
          <a:prstGeom xmlns:a="http://schemas.openxmlformats.org/drawingml/2006/main" prst="roundRect">
            <a:avLst>
              <a:gd name="adj" fmla="val 9302"/>
            </a:avLst>
          </a:prstGeom>
          <a:solidFill xmlns:a="http://schemas.openxmlformats.org/drawingml/2006/main">
            <a:srgbClr val="FFF7ED"/>
          </a:solidFill>
          <a:ln xmlns:a="http://schemas.openxmlformats.org/drawingml/2006/main" w="9525">
            <a:solidFill>
              <a:srgbClr val="B45309"/>
            </a:solidFill>
            <a:prstDash val="solid"/>
          </a:ln>
        </p:spPr>
      </p:sp>
      <p:sp>
        <p:nvSpPr>
          <p:cNvPr id="21" name="">
            <a:extLst xmlns:a="http://schemas.openxmlformats.org/drawingml/2006/main">
              <a:ext uri="{FF2B5EF4-FFF2-40B4-BE49-F238E27FC236}">
                <a16:creationId xmlns:a16="http://schemas.microsoft.com/office/drawing/2014/main" id="{780CD2F9-C8D9-4A29-B6EA-F7C91B6E42FE}"/>
              </a:ext>
            </a:extLst>
          </p:cNvPr>
          <p:cNvSpPr>
            <a:spLocks xmlns:a="http://schemas.openxmlformats.org/drawingml/2006/main" noGrp="1"/>
          </p:cNvSpPr>
          <p:nvPr/>
        </p:nvSpPr>
        <p:spPr>
          <a:xfrm xmlns:a="http://schemas.openxmlformats.org/drawingml/2006/main">
            <a:off x="6800850" y="4010025"/>
            <a:ext cx="4095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2033"/>
                </a:solidFill>
              </a:defRPr>
            </a:pPr>
            <a:r>
              <a:rPr sz="1500" b="1">
                <a:solidFill>
                  <a:srgbClr val="172033"/>
                </a:solidFill>
              </a:rPr>
              <a:t>APK masih debug-signed. Gunakan untuk UAT/pilot perangkat terkontrol sampai keystore resmi tersedia.</a:t>
            </a:r>
          </a:p>
        </p:txBody>
      </p:sp>
    </p:spTree>
    <p:extLst>
      <p:ext uri="{BB962C8B-B14F-4D97-AF65-F5344CB8AC3E}">
        <p14:creationId xmlns:p14="http://schemas.microsoft.com/office/powerpoint/2010/main" val="1719949533"/>
      </p:ext>
    </p:extLst>
  </p:cSld>
</p:sld>
</file>

<file path=ppt/slides/slide3.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6" name="eyebrow-3">
            <a:extLst xmlns:a="http://schemas.openxmlformats.org/drawingml/2006/main">
              <a:ext uri="{FF2B5EF4-FFF2-40B4-BE49-F238E27FC236}">
                <a16:creationId xmlns:a16="http://schemas.microsoft.com/office/drawing/2014/main" id="{C2C76D98-85E6-4026-8742-1B2E61D63D8D}"/>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ALUR END-TO-END</a:t>
            </a:r>
          </a:p>
        </p:txBody>
      </p:sp>
      <p:sp>
        <p:nvSpPr>
          <p:cNvPr id="2" name="title-3">
            <a:extLst xmlns:a="http://schemas.openxmlformats.org/drawingml/2006/main">
              <a:ext uri="{FF2B5EF4-FFF2-40B4-BE49-F238E27FC236}">
                <a16:creationId xmlns:a16="http://schemas.microsoft.com/office/drawing/2014/main" id="{ECFD793C-A6B4-47FC-9844-7D8955077ECE}"/>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Transaksi tetap dapat ditelusuri sampai laporan</a:t>
            </a:r>
          </a:p>
        </p:txBody>
      </p:sp>
      <p:sp>
        <p:nvSpPr>
          <p:cNvPr id="3" name="">
            <a:extLst xmlns:a="http://schemas.openxmlformats.org/drawingml/2006/main">
              <a:ext uri="{FF2B5EF4-FFF2-40B4-BE49-F238E27FC236}">
                <a16:creationId xmlns:a16="http://schemas.microsoft.com/office/drawing/2014/main" id="{64FD86D0-3309-473A-B945-EC8CEC7BE45F}"/>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03</a:t>
            </a:r>
          </a:p>
        </p:txBody>
      </p:sp>
      <p:sp>
        <p:nvSpPr>
          <p:cNvPr id="4" name="">
            <a:extLst xmlns:a="http://schemas.openxmlformats.org/drawingml/2006/main">
              <a:ext uri="{FF2B5EF4-FFF2-40B4-BE49-F238E27FC236}">
                <a16:creationId xmlns:a16="http://schemas.microsoft.com/office/drawing/2014/main" id="{9DDC4B17-6339-43A0-83F6-FC65AF2F30E1}"/>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3</a:t>
            </a:r>
          </a:p>
        </p:txBody>
      </p:sp>
      <p:sp>
        <p:nvSpPr>
          <p:cNvPr id="5" name="e2e-0">
            <a:extLst xmlns:a="http://schemas.openxmlformats.org/drawingml/2006/main">
              <a:ext uri="{FF2B5EF4-FFF2-40B4-BE49-F238E27FC236}">
                <a16:creationId xmlns:a16="http://schemas.microsoft.com/office/drawing/2014/main" id="{3045AEC8-6CA3-43D4-82D7-C1AB29175445}"/>
              </a:ext>
            </a:extLst>
          </p:cNvPr>
          <p:cNvSpPr>
            <a:spLocks xmlns:a="http://schemas.openxmlformats.org/drawingml/2006/main" noGrp="1"/>
          </p:cNvSpPr>
          <p:nvPr/>
        </p:nvSpPr>
        <p:spPr>
          <a:xfrm xmlns:a="http://schemas.openxmlformats.org/drawingml/2006/main">
            <a:off x="609600" y="2333625"/>
            <a:ext cx="17335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Master &amp; batch</a:t>
            </a:r>
          </a:p>
        </p:txBody>
      </p:sp>
      <p:sp>
        <p:nvSpPr>
          <p:cNvPr id="6" name="e2e-1">
            <a:extLst xmlns:a="http://schemas.openxmlformats.org/drawingml/2006/main">
              <a:ext uri="{FF2B5EF4-FFF2-40B4-BE49-F238E27FC236}">
                <a16:creationId xmlns:a16="http://schemas.microsoft.com/office/drawing/2014/main" id="{9EA0B4C9-90A1-4FA5-A49C-4953D661A1EB}"/>
              </a:ext>
            </a:extLst>
          </p:cNvPr>
          <p:cNvSpPr>
            <a:spLocks xmlns:a="http://schemas.openxmlformats.org/drawingml/2006/main" noGrp="1"/>
          </p:cNvSpPr>
          <p:nvPr/>
        </p:nvSpPr>
        <p:spPr>
          <a:xfrm xmlns:a="http://schemas.openxmlformats.org/drawingml/2006/main">
            <a:off x="2762250" y="2333625"/>
            <a:ext cx="17335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Resep / permintaan</a:t>
            </a:r>
          </a:p>
        </p:txBody>
      </p:sp>
      <p:sp>
        <p:nvSpPr>
          <p:cNvPr id="7" name="e2e-2">
            <a:extLst xmlns:a="http://schemas.openxmlformats.org/drawingml/2006/main">
              <a:ext uri="{FF2B5EF4-FFF2-40B4-BE49-F238E27FC236}">
                <a16:creationId xmlns:a16="http://schemas.microsoft.com/office/drawing/2014/main" id="{B4723596-B727-460A-8D33-E6FA5656C164}"/>
              </a:ext>
            </a:extLst>
          </p:cNvPr>
          <p:cNvSpPr>
            <a:spLocks xmlns:a="http://schemas.openxmlformats.org/drawingml/2006/main" noGrp="1"/>
          </p:cNvSpPr>
          <p:nvPr/>
        </p:nvSpPr>
        <p:spPr>
          <a:xfrm xmlns:a="http://schemas.openxmlformats.org/drawingml/2006/main">
            <a:off x="4914900" y="2333625"/>
            <a:ext cx="17335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Penjualan / P2P</a:t>
            </a:r>
          </a:p>
        </p:txBody>
      </p:sp>
      <p:sp>
        <p:nvSpPr>
          <p:cNvPr id="8" name="e2e-3">
            <a:extLst xmlns:a="http://schemas.openxmlformats.org/drawingml/2006/main">
              <a:ext uri="{FF2B5EF4-FFF2-40B4-BE49-F238E27FC236}">
                <a16:creationId xmlns:a16="http://schemas.microsoft.com/office/drawing/2014/main" id="{94122883-9E97-4622-99B6-8463E6937363}"/>
              </a:ext>
            </a:extLst>
          </p:cNvPr>
          <p:cNvSpPr>
            <a:spLocks xmlns:a="http://schemas.openxmlformats.org/drawingml/2006/main" noGrp="1"/>
          </p:cNvSpPr>
          <p:nvPr/>
        </p:nvSpPr>
        <p:spPr>
          <a:xfrm xmlns:a="http://schemas.openxmlformats.org/drawingml/2006/main">
            <a:off x="7067550" y="2333625"/>
            <a:ext cx="17335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Jurnal posted</a:t>
            </a:r>
          </a:p>
        </p:txBody>
      </p:sp>
      <p:sp>
        <p:nvSpPr>
          <p:cNvPr id="9" name="e2e-4">
            <a:extLst xmlns:a="http://schemas.openxmlformats.org/drawingml/2006/main">
              <a:ext uri="{FF2B5EF4-FFF2-40B4-BE49-F238E27FC236}">
                <a16:creationId xmlns:a16="http://schemas.microsoft.com/office/drawing/2014/main" id="{2158EEDA-0E8C-49E0-AE68-61E1D19F9066}"/>
              </a:ext>
            </a:extLst>
          </p:cNvPr>
          <p:cNvSpPr>
            <a:spLocks xmlns:a="http://schemas.openxmlformats.org/drawingml/2006/main" noGrp="1"/>
          </p:cNvSpPr>
          <p:nvPr/>
        </p:nvSpPr>
        <p:spPr>
          <a:xfrm xmlns:a="http://schemas.openxmlformats.org/drawingml/2006/main">
            <a:off x="9220200" y="2333625"/>
            <a:ext cx="1733550" cy="990600"/>
          </a:xfrm>
          <a:prstGeom xmlns:a="http://schemas.openxmlformats.org/drawingml/2006/main" prst="roundRect">
            <a:avLst>
              <a:gd name="adj" fmla="val 7692"/>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72033"/>
                </a:solidFill>
              </a:defRPr>
            </a:pPr>
            <a:r>
              <a:rPr sz="1350" b="1">
                <a:solidFill>
                  <a:srgbClr val="172033"/>
                </a:solidFill>
              </a:rPr>
              <a:t>Laporan &amp; audit</a:t>
            </a:r>
          </a:p>
        </p:txBody>
      </p: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2343150" y="2828925"/>
            <a:ext cx="4191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4495800" y="2828925"/>
            <a:ext cx="4191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6648450" y="2828925"/>
            <a:ext cx="4191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8801100" y="2828925"/>
            <a:ext cx="4191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14" name="">
            <a:extLst xmlns:a="http://schemas.openxmlformats.org/drawingml/2006/main">
              <a:ext uri="{FF2B5EF4-FFF2-40B4-BE49-F238E27FC236}">
                <a16:creationId xmlns:a16="http://schemas.microsoft.com/office/drawing/2014/main" id="{7C9FAE83-DBE6-46FA-A957-C6F00D3839A6}"/>
              </a:ext>
            </a:extLst>
          </p:cNvPr>
          <p:cNvSpPr>
            <a:spLocks xmlns:a="http://schemas.openxmlformats.org/drawingml/2006/main" noGrp="1"/>
          </p:cNvSpPr>
          <p:nvPr/>
        </p:nvSpPr>
        <p:spPr>
          <a:xfrm xmlns:a="http://schemas.openxmlformats.org/drawingml/2006/main">
            <a:off x="609600" y="4191000"/>
            <a:ext cx="10344150" cy="1123950"/>
          </a:xfrm>
          <a:prstGeom xmlns:a="http://schemas.openxmlformats.org/drawingml/2006/main" prst="roundRect">
            <a:avLst>
              <a:gd name="adj" fmla="val 13559"/>
            </a:avLst>
          </a:prstGeom>
          <a:solidFill xmlns:a="http://schemas.openxmlformats.org/drawingml/2006/main">
            <a:srgbClr val="DCFCE7"/>
          </a:solidFill>
          <a:ln xmlns:a="http://schemas.openxmlformats.org/drawingml/2006/main" w="9525">
            <a:solidFill>
              <a:srgbClr val="166534"/>
            </a:solidFill>
            <a:prstDash val="solid"/>
          </a:ln>
        </p:spPr>
      </p:sp>
      <p:sp>
        <p:nvSpPr>
          <p:cNvPr id="15" name="">
            <a:extLst xmlns:a="http://schemas.openxmlformats.org/drawingml/2006/main">
              <a:ext uri="{FF2B5EF4-FFF2-40B4-BE49-F238E27FC236}">
                <a16:creationId xmlns:a16="http://schemas.microsoft.com/office/drawing/2014/main" id="{B297C027-76FB-4F03-BFEB-A0B44A07BE8C}"/>
              </a:ext>
            </a:extLst>
          </p:cNvPr>
          <p:cNvSpPr>
            <a:spLocks xmlns:a="http://schemas.openxmlformats.org/drawingml/2006/main" noGrp="1"/>
          </p:cNvSpPr>
          <p:nvPr/>
        </p:nvSpPr>
        <p:spPr>
          <a:xfrm xmlns:a="http://schemas.openxmlformats.org/drawingml/2006/main">
            <a:off x="933450" y="45243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23524"/>
                </a:solidFill>
              </a:defRPr>
            </a:pPr>
            <a:r>
              <a:rPr sz="1575" b="1">
                <a:solidFill>
                  <a:srgbClr val="123524"/>
                </a:solidFill>
              </a:rPr>
              <a:t>Prinsip audit: setiap angka laporan harus dapat kembali ke jurnal, dokumen sumber, detail item, batch, dan pengguna yang melakukan tindakan.</a:t>
            </a:r>
          </a:p>
        </p:txBody>
      </p:sp>
    </p:spTree>
    <p:extLst>
      <p:ext uri="{BB962C8B-B14F-4D97-AF65-F5344CB8AC3E}">
        <p14:creationId xmlns:p14="http://schemas.microsoft.com/office/powerpoint/2010/main" val="140258124"/>
      </p:ext>
    </p:extLst>
  </p:cSld>
</p:sld>
</file>

<file path=ppt/slides/slide4.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4">
            <a:extLst xmlns:a="http://schemas.openxmlformats.org/drawingml/2006/main">
              <a:ext uri="{FF2B5EF4-FFF2-40B4-BE49-F238E27FC236}">
                <a16:creationId xmlns:a16="http://schemas.microsoft.com/office/drawing/2014/main" id="{AEBD55D2-0BD0-49CD-83E5-4BCF824FA733}"/>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1</a:t>
            </a:r>
          </a:p>
        </p:txBody>
      </p:sp>
      <p:sp>
        <p:nvSpPr>
          <p:cNvPr id="2" name="title-4">
            <a:extLst xmlns:a="http://schemas.openxmlformats.org/drawingml/2006/main">
              <a:ext uri="{FF2B5EF4-FFF2-40B4-BE49-F238E27FC236}">
                <a16:creationId xmlns:a16="http://schemas.microsoft.com/office/drawing/2014/main" id="{F2EA5A20-6D1C-47AE-AE20-E0D586EB0348}"/>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Dashboard Operasional Apotik</a:t>
            </a:r>
          </a:p>
        </p:txBody>
      </p:sp>
      <p:sp>
        <p:nvSpPr>
          <p:cNvPr id="3" name="">
            <a:extLst xmlns:a="http://schemas.openxmlformats.org/drawingml/2006/main">
              <a:ext uri="{FF2B5EF4-FFF2-40B4-BE49-F238E27FC236}">
                <a16:creationId xmlns:a16="http://schemas.microsoft.com/office/drawing/2014/main" id="{81A28975-5E5D-4C37-92C3-F49A68474AF1}"/>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04</a:t>
            </a:r>
          </a:p>
        </p:txBody>
      </p:sp>
      <p:sp>
        <p:nvSpPr>
          <p:cNvPr id="4" name="">
            <a:extLst xmlns:a="http://schemas.openxmlformats.org/drawingml/2006/main">
              <a:ext uri="{FF2B5EF4-FFF2-40B4-BE49-F238E27FC236}">
                <a16:creationId xmlns:a16="http://schemas.microsoft.com/office/drawing/2014/main" id="{8F88DA86-FC23-4568-9F16-377ED9072E70}"/>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4</a:t>
            </a:r>
          </a:p>
        </p:txBody>
      </p:sp>
      <p:sp>
        <p:nvSpPr>
          <p:cNvPr id="5" name="">
            <a:extLst xmlns:a="http://schemas.openxmlformats.org/drawingml/2006/main">
              <a:ext uri="{FF2B5EF4-FFF2-40B4-BE49-F238E27FC236}">
                <a16:creationId xmlns:a16="http://schemas.microsoft.com/office/drawing/2014/main" id="{4685D22F-5E4E-46D0-A856-81A4E2FC2B39}"/>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234bb5188f3420a"/>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AE4A60DA-228F-499B-8775-08392F0BA395}"/>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CEA62DB7-F33D-4D4A-A6CF-E494B3BC1BC2}"/>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Dashboard adalah titik orientasi setelah login. Pada tangkapan layar, identitas aplikasi tampil sebagai Apotik dengan aksen hijau; panel ringkasan mengarahkan perhatian ke transaksi, resep, stok, dan aktivitas yang membutuhkan tindakan. Layar ini tidak dipakai untuk mengubah data klinis atau keuangan secara…</a:t>
            </a:r>
          </a:p>
        </p:txBody>
      </p:sp>
      <p:sp>
        <p:nvSpPr>
          <p:cNvPr id="9" name="">
            <a:extLst xmlns:a="http://schemas.openxmlformats.org/drawingml/2006/main">
              <a:ext uri="{FF2B5EF4-FFF2-40B4-BE49-F238E27FC236}">
                <a16:creationId xmlns:a16="http://schemas.microsoft.com/office/drawing/2014/main" id="{6CE88F62-18E7-421B-ADE0-DBFDACFE5BC2}"/>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AD3935B6-C4D5-4506-8953-9717A84D3193}"/>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BDA52111-5D8A-454A-B7F8-CC1C0F54E209}"/>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726565514"/>
      </p:ext>
    </p:extLst>
  </p:cSld>
</p:sld>
</file>

<file path=ppt/slides/slide5.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5">
            <a:extLst xmlns:a="http://schemas.openxmlformats.org/drawingml/2006/main">
              <a:ext uri="{FF2B5EF4-FFF2-40B4-BE49-F238E27FC236}">
                <a16:creationId xmlns:a16="http://schemas.microsoft.com/office/drawing/2014/main" id="{6974748A-447F-405B-8EFB-85A20FA2314C}"/>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1</a:t>
            </a:r>
          </a:p>
        </p:txBody>
      </p:sp>
      <p:sp>
        <p:nvSpPr>
          <p:cNvPr id="2" name="title-5">
            <a:extLst xmlns:a="http://schemas.openxmlformats.org/drawingml/2006/main">
              <a:ext uri="{FF2B5EF4-FFF2-40B4-BE49-F238E27FC236}">
                <a16:creationId xmlns:a16="http://schemas.microsoft.com/office/drawing/2014/main" id="{247F4DC3-03BF-4F10-8D54-D919FB73B00C}"/>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Dashboard Operasional Apotik: peran, proses, dan data</a:t>
            </a:r>
          </a:p>
        </p:txBody>
      </p:sp>
      <p:sp>
        <p:nvSpPr>
          <p:cNvPr id="3" name="">
            <a:extLst xmlns:a="http://schemas.openxmlformats.org/drawingml/2006/main">
              <a:ext uri="{FF2B5EF4-FFF2-40B4-BE49-F238E27FC236}">
                <a16:creationId xmlns:a16="http://schemas.microsoft.com/office/drawing/2014/main" id="{826BB2B7-C1CD-48F0-A970-7BA04C85AC84}"/>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05</a:t>
            </a:r>
          </a:p>
        </p:txBody>
      </p:sp>
      <p:sp>
        <p:nvSpPr>
          <p:cNvPr id="4" name="">
            <a:extLst xmlns:a="http://schemas.openxmlformats.org/drawingml/2006/main">
              <a:ext uri="{FF2B5EF4-FFF2-40B4-BE49-F238E27FC236}">
                <a16:creationId xmlns:a16="http://schemas.microsoft.com/office/drawing/2014/main" id="{153A0426-DBF4-4D5E-B14E-53DEFA47E471}"/>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5</a:t>
            </a:r>
          </a:p>
        </p:txBody>
      </p:sp>
      <p:sp>
        <p:nvSpPr>
          <p:cNvPr id="5" name="">
            <a:extLst xmlns:a="http://schemas.openxmlformats.org/drawingml/2006/main">
              <a:ext uri="{FF2B5EF4-FFF2-40B4-BE49-F238E27FC236}">
                <a16:creationId xmlns:a16="http://schemas.microsoft.com/office/drawing/2014/main" id="{939C0EA4-5307-4922-98C0-02AE12DBA42B}"/>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DF7A12F0-AD33-4B9B-81D5-FA52AA3B5044}"/>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890B2B29-405A-4905-A3A2-D583882792D0}"/>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03C07F15-E76E-459C-B444-D13A7998F0C3}"/>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1-0">
            <a:extLst xmlns:a="http://schemas.openxmlformats.org/drawingml/2006/main">
              <a:ext uri="{FF2B5EF4-FFF2-40B4-BE49-F238E27FC236}">
                <a16:creationId xmlns:a16="http://schemas.microsoft.com/office/drawing/2014/main" id="{B268370D-5D91-4C77-A79C-920B9D9B63B3}"/>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Pemilik Apotik</a:t>
            </a:r>
          </a:p>
        </p:txBody>
      </p:sp>
      <p:sp>
        <p:nvSpPr>
          <p:cNvPr id="10" name="case-1-0">
            <a:extLst xmlns:a="http://schemas.openxmlformats.org/drawingml/2006/main">
              <a:ext uri="{FF2B5EF4-FFF2-40B4-BE49-F238E27FC236}">
                <a16:creationId xmlns:a16="http://schemas.microsoft.com/office/drawing/2014/main" id="{951D2C15-53DC-47B6-98D1-D2BB74172C10}"/>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Memantau indikator harian</a:t>
            </a:r>
          </a:p>
        </p:txBody>
      </p:sp>
      <p:sp>
        <p:nvSpPr>
          <p:cNvPr id="11" name="actor-1-1">
            <a:extLst xmlns:a="http://schemas.openxmlformats.org/drawingml/2006/main">
              <a:ext uri="{FF2B5EF4-FFF2-40B4-BE49-F238E27FC236}">
                <a16:creationId xmlns:a16="http://schemas.microsoft.com/office/drawing/2014/main" id="{D1B5D230-8DED-4758-897F-13BF568914E9}"/>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2" name="case-1-1">
            <a:extLst xmlns:a="http://schemas.openxmlformats.org/drawingml/2006/main">
              <a:ext uri="{FF2B5EF4-FFF2-40B4-BE49-F238E27FC236}">
                <a16:creationId xmlns:a16="http://schemas.microsoft.com/office/drawing/2014/main" id="{97A29BC2-B9FF-4170-B7FF-A7DC37AA92AA}"/>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Menilai antrean dan resep</a:t>
            </a:r>
          </a:p>
        </p:txBody>
      </p:sp>
      <p:sp>
        <p:nvSpPr>
          <p:cNvPr id="13" name="actor-1-2">
            <a:extLst xmlns:a="http://schemas.openxmlformats.org/drawingml/2006/main">
              <a:ext uri="{FF2B5EF4-FFF2-40B4-BE49-F238E27FC236}">
                <a16:creationId xmlns:a16="http://schemas.microsoft.com/office/drawing/2014/main" id="{F403E25F-5869-49FA-A331-C9E499D757A9}"/>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Kasir</a:t>
            </a:r>
          </a:p>
        </p:txBody>
      </p:sp>
      <p:sp>
        <p:nvSpPr>
          <p:cNvPr id="14" name="case-1-2">
            <a:extLst xmlns:a="http://schemas.openxmlformats.org/drawingml/2006/main">
              <a:ext uri="{FF2B5EF4-FFF2-40B4-BE49-F238E27FC236}">
                <a16:creationId xmlns:a16="http://schemas.microsoft.com/office/drawing/2014/main" id="{A13912B0-0B07-4ADC-963F-57F670856276}"/>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Membuka tindakan kasir</a:t>
            </a:r>
          </a:p>
        </p:txBody>
      </p:sp>
      <p:sp>
        <p:nvSpPr>
          <p:cNvPr id="15" name="actor-1-3">
            <a:extLst xmlns:a="http://schemas.openxmlformats.org/drawingml/2006/main">
              <a:ext uri="{FF2B5EF4-FFF2-40B4-BE49-F238E27FC236}">
                <a16:creationId xmlns:a16="http://schemas.microsoft.com/office/drawing/2014/main" id="{80B93B8A-96C6-46F6-BC30-99B0FE489FDB}"/>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Gudang</a:t>
            </a:r>
          </a:p>
        </p:txBody>
      </p:sp>
      <p:sp>
        <p:nvSpPr>
          <p:cNvPr id="16" name="case-1-3">
            <a:extLst xmlns:a="http://schemas.openxmlformats.org/drawingml/2006/main">
              <a:ext uri="{FF2B5EF4-FFF2-40B4-BE49-F238E27FC236}">
                <a16:creationId xmlns:a16="http://schemas.microsoft.com/office/drawing/2014/main" id="{F5C77AF0-6003-440B-B983-E1BAE5A61B12}"/>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Menindak stok dan batch</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5E6C4587-C6F2-4DE1-867C-9C6B11BEEE88}"/>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1-0">
            <a:extLst xmlns:a="http://schemas.openxmlformats.org/drawingml/2006/main">
              <a:ext uri="{FF2B5EF4-FFF2-40B4-BE49-F238E27FC236}">
                <a16:creationId xmlns:a16="http://schemas.microsoft.com/office/drawing/2014/main" id="{43F1AE77-F50E-481C-BB3B-2845892947B9}"/>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Masuk sebagai role Apotik</a:t>
            </a:r>
          </a:p>
        </p:txBody>
      </p:sp>
      <p:sp>
        <p:nvSpPr>
          <p:cNvPr id="23" name="flow-1-1">
            <a:extLst xmlns:a="http://schemas.openxmlformats.org/drawingml/2006/main">
              <a:ext uri="{FF2B5EF4-FFF2-40B4-BE49-F238E27FC236}">
                <a16:creationId xmlns:a16="http://schemas.microsoft.com/office/drawing/2014/main" id="{D7FEFDBD-F27B-4500-BA32-018B9B944466}"/>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Baca kartu ringkasan</a:t>
            </a:r>
          </a:p>
        </p:txBody>
      </p:sp>
      <p:sp>
        <p:nvSpPr>
          <p:cNvPr id="24" name="flow-1-2">
            <a:extLst xmlns:a="http://schemas.openxmlformats.org/drawingml/2006/main">
              <a:ext uri="{FF2B5EF4-FFF2-40B4-BE49-F238E27FC236}">
                <a16:creationId xmlns:a16="http://schemas.microsoft.com/office/drawing/2014/main" id="{27E96DB3-D84C-4BF5-975F-7CAB44828686}"/>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Periksa peringatan</a:t>
            </a:r>
          </a:p>
        </p:txBody>
      </p:sp>
      <p:sp>
        <p:nvSpPr>
          <p:cNvPr id="25" name="flow-1-3">
            <a:extLst xmlns:a="http://schemas.openxmlformats.org/drawingml/2006/main">
              <a:ext uri="{FF2B5EF4-FFF2-40B4-BE49-F238E27FC236}">
                <a16:creationId xmlns:a16="http://schemas.microsoft.com/office/drawing/2014/main" id="{D7D0291B-30D3-4D88-909D-06453376BC6C}"/>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Buka modul terkait</a:t>
            </a:r>
          </a:p>
        </p:txBody>
      </p:sp>
      <p:sp>
        <p:nvSpPr>
          <p:cNvPr id="26" name="flow-1-4">
            <a:extLst xmlns:a="http://schemas.openxmlformats.org/drawingml/2006/main">
              <a:ext uri="{FF2B5EF4-FFF2-40B4-BE49-F238E27FC236}">
                <a16:creationId xmlns:a16="http://schemas.microsoft.com/office/drawing/2014/main" id="{872D4C35-0A0B-4313-A845-7D04B1E474B8}"/>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Tindak lanjuti</a:t>
            </a:r>
          </a:p>
        </p:txBody>
      </p:sp>
      <p:sp>
        <p:nvSpPr>
          <p:cNvPr id="27" name="flow-1-5">
            <a:extLst xmlns:a="http://schemas.openxmlformats.org/drawingml/2006/main">
              <a:ext uri="{FF2B5EF4-FFF2-40B4-BE49-F238E27FC236}">
                <a16:creationId xmlns:a16="http://schemas.microsoft.com/office/drawing/2014/main" id="{3863F55F-C283-4886-820F-00B5571B3CA4}"/>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Konfirmasi hasil</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959DE2D7-61F4-4DA5-815C-B597BD6580D6}"/>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1-0">
            <a:extLst xmlns:a="http://schemas.openxmlformats.org/drawingml/2006/main">
              <a:ext uri="{FF2B5EF4-FFF2-40B4-BE49-F238E27FC236}">
                <a16:creationId xmlns:a16="http://schemas.microsoft.com/office/drawing/2014/main" id="{872F342F-31A1-40F2-B17A-E7DBAC16E285}"/>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PENGGUNA</a:t>
            </a:r>
          </a:p>
        </p:txBody>
      </p:sp>
      <p:sp>
        <p:nvSpPr>
          <p:cNvPr id="35" name="entity-1-1">
            <a:extLst xmlns:a="http://schemas.openxmlformats.org/drawingml/2006/main">
              <a:ext uri="{FF2B5EF4-FFF2-40B4-BE49-F238E27FC236}">
                <a16:creationId xmlns:a16="http://schemas.microsoft.com/office/drawing/2014/main" id="{D75E5383-DB59-40B4-8A85-BF6C39CBC098}"/>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TOKO/APOTEK</a:t>
            </a:r>
          </a:p>
        </p:txBody>
      </p:sp>
      <p:sp>
        <p:nvSpPr>
          <p:cNvPr id="36" name="entity-1-2">
            <a:extLst xmlns:a="http://schemas.openxmlformats.org/drawingml/2006/main">
              <a:ext uri="{FF2B5EF4-FFF2-40B4-BE49-F238E27FC236}">
                <a16:creationId xmlns:a16="http://schemas.microsoft.com/office/drawing/2014/main" id="{CAE1E8A9-0727-46BA-AB6D-F07F57BB6868}"/>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TRANSAKSI HARIAN</a:t>
            </a:r>
          </a:p>
        </p:txBody>
      </p:sp>
      <p:sp>
        <p:nvSpPr>
          <p:cNvPr id="37" name="entity-1-3">
            <a:extLst xmlns:a="http://schemas.openxmlformats.org/drawingml/2006/main">
              <a:ext uri="{FF2B5EF4-FFF2-40B4-BE49-F238E27FC236}">
                <a16:creationId xmlns:a16="http://schemas.microsoft.com/office/drawing/2014/main" id="{39D63BEB-EB69-4374-A679-A54E7A4B5AA4}"/>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PERINGATAN</a:t>
            </a:r>
          </a:p>
        </p:txBody>
      </p:sp>
      <p:sp>
        <p:nvSpPr>
          <p:cNvPr id="38" name="entity-1-4">
            <a:extLst xmlns:a="http://schemas.openxmlformats.org/drawingml/2006/main">
              <a:ext uri="{FF2B5EF4-FFF2-40B4-BE49-F238E27FC236}">
                <a16:creationId xmlns:a16="http://schemas.microsoft.com/office/drawing/2014/main" id="{0C8D56B7-96FE-4A0D-B688-585F45FC3024}"/>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DASHBOARD</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CE61BC4F-DAB6-4506-84D0-A5F214722C8C}"/>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identitas varian, tenant, toko, tanggal, dan status sinkronisasi harus benar.</a:t>
            </a:r>
          </a:p>
        </p:txBody>
      </p:sp>
    </p:spTree>
    <p:extLst>
      <p:ext uri="{BB962C8B-B14F-4D97-AF65-F5344CB8AC3E}">
        <p14:creationId xmlns:p14="http://schemas.microsoft.com/office/powerpoint/2010/main" val="1724395146"/>
      </p:ext>
    </p:extLst>
  </p:cSld>
</p:sld>
</file>

<file path=ppt/slides/slide6.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6">
            <a:extLst xmlns:a="http://schemas.openxmlformats.org/drawingml/2006/main">
              <a:ext uri="{FF2B5EF4-FFF2-40B4-BE49-F238E27FC236}">
                <a16:creationId xmlns:a16="http://schemas.microsoft.com/office/drawing/2014/main" id="{268E9B31-463B-4847-B1D0-BE7267BDE2D9}"/>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2</a:t>
            </a:r>
          </a:p>
        </p:txBody>
      </p:sp>
      <p:sp>
        <p:nvSpPr>
          <p:cNvPr id="2" name="title-6">
            <a:extLst xmlns:a="http://schemas.openxmlformats.org/drawingml/2006/main">
              <a:ext uri="{FF2B5EF4-FFF2-40B4-BE49-F238E27FC236}">
                <a16:creationId xmlns:a16="http://schemas.microsoft.com/office/drawing/2014/main" id="{7D6D8059-9D07-48F4-9182-6E784D040891}"/>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Penjualan Obat Jadi</a:t>
            </a:r>
          </a:p>
        </p:txBody>
      </p:sp>
      <p:sp>
        <p:nvSpPr>
          <p:cNvPr id="3" name="">
            <a:extLst xmlns:a="http://schemas.openxmlformats.org/drawingml/2006/main">
              <a:ext uri="{FF2B5EF4-FFF2-40B4-BE49-F238E27FC236}">
                <a16:creationId xmlns:a16="http://schemas.microsoft.com/office/drawing/2014/main" id="{90C74E49-C44A-4099-9856-366CBA6867F1}"/>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06</a:t>
            </a:r>
          </a:p>
        </p:txBody>
      </p:sp>
      <p:sp>
        <p:nvSpPr>
          <p:cNvPr id="4" name="">
            <a:extLst xmlns:a="http://schemas.openxmlformats.org/drawingml/2006/main">
              <a:ext uri="{FF2B5EF4-FFF2-40B4-BE49-F238E27FC236}">
                <a16:creationId xmlns:a16="http://schemas.microsoft.com/office/drawing/2014/main" id="{D789DD8B-C52D-4B33-8B60-A661D24DB48C}"/>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6</a:t>
            </a:r>
          </a:p>
        </p:txBody>
      </p:sp>
      <p:sp>
        <p:nvSpPr>
          <p:cNvPr id="5" name="">
            <a:extLst xmlns:a="http://schemas.openxmlformats.org/drawingml/2006/main">
              <a:ext uri="{FF2B5EF4-FFF2-40B4-BE49-F238E27FC236}">
                <a16:creationId xmlns:a16="http://schemas.microsoft.com/office/drawing/2014/main" id="{C7352F0F-3049-4704-9ACC-0D37C3A5A746}"/>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369fe7fc6e84251"/>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6BF64835-6BDB-4CB1-B4EE-8E306F075579}"/>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3F9EC317-8B6B-4CB1-A48B-484FCE36465F}"/>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Layar kasir obat jadi dibagi menjadi mode transaksi, katalog, dan keranjang. Kolom pencarian menerima nama, kode, atau barcode; kartu item memperlihatkan harga serta penanda seperti LASA atau terkendali. Keranjang di sisi kanan menjadi tempat pemeriksaan akhir sebelum pembayaran. Susunan ini memungkinkan…</a:t>
            </a:r>
          </a:p>
        </p:txBody>
      </p:sp>
      <p:sp>
        <p:nvSpPr>
          <p:cNvPr id="9" name="">
            <a:extLst xmlns:a="http://schemas.openxmlformats.org/drawingml/2006/main">
              <a:ext uri="{FF2B5EF4-FFF2-40B4-BE49-F238E27FC236}">
                <a16:creationId xmlns:a16="http://schemas.microsoft.com/office/drawing/2014/main" id="{4842EC75-BDC1-4811-8FC4-EB3775F54419}"/>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FE7332C7-6A21-4438-8073-065509C19B0D}"/>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4330C3DC-3DA4-44AB-8830-54178A1644DB}"/>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502693671"/>
      </p:ext>
    </p:extLst>
  </p:cSld>
</p:sld>
</file>

<file path=ppt/slides/slide7.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7">
            <a:extLst xmlns:a="http://schemas.openxmlformats.org/drawingml/2006/main">
              <a:ext uri="{FF2B5EF4-FFF2-40B4-BE49-F238E27FC236}">
                <a16:creationId xmlns:a16="http://schemas.microsoft.com/office/drawing/2014/main" id="{10BC9780-187E-4766-BDBB-455EF527AC66}"/>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2</a:t>
            </a:r>
          </a:p>
        </p:txBody>
      </p:sp>
      <p:sp>
        <p:nvSpPr>
          <p:cNvPr id="2" name="title-7">
            <a:extLst xmlns:a="http://schemas.openxmlformats.org/drawingml/2006/main">
              <a:ext uri="{FF2B5EF4-FFF2-40B4-BE49-F238E27FC236}">
                <a16:creationId xmlns:a16="http://schemas.microsoft.com/office/drawing/2014/main" id="{8346D503-F8A7-4C43-991C-0D5AE8A14FE7}"/>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Penjualan Obat Jadi: peran, proses, dan data</a:t>
            </a:r>
          </a:p>
        </p:txBody>
      </p:sp>
      <p:sp>
        <p:nvSpPr>
          <p:cNvPr id="3" name="">
            <a:extLst xmlns:a="http://schemas.openxmlformats.org/drawingml/2006/main">
              <a:ext uri="{FF2B5EF4-FFF2-40B4-BE49-F238E27FC236}">
                <a16:creationId xmlns:a16="http://schemas.microsoft.com/office/drawing/2014/main" id="{C0269351-F444-4FA5-B8A3-0FC62DAEE3F0}"/>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07</a:t>
            </a:r>
          </a:p>
        </p:txBody>
      </p:sp>
      <p:sp>
        <p:nvSpPr>
          <p:cNvPr id="4" name="">
            <a:extLst xmlns:a="http://schemas.openxmlformats.org/drawingml/2006/main">
              <a:ext uri="{FF2B5EF4-FFF2-40B4-BE49-F238E27FC236}">
                <a16:creationId xmlns:a16="http://schemas.microsoft.com/office/drawing/2014/main" id="{588742BF-AEFF-412D-B00F-86BF0E8AB778}"/>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7</a:t>
            </a:r>
          </a:p>
        </p:txBody>
      </p:sp>
      <p:sp>
        <p:nvSpPr>
          <p:cNvPr id="5" name="">
            <a:extLst xmlns:a="http://schemas.openxmlformats.org/drawingml/2006/main">
              <a:ext uri="{FF2B5EF4-FFF2-40B4-BE49-F238E27FC236}">
                <a16:creationId xmlns:a16="http://schemas.microsoft.com/office/drawing/2014/main" id="{1A2C3C08-6069-43CF-AA1C-BBEF6A671550}"/>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198DD67A-9101-4CAC-80F3-97D207E09494}"/>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B9EFC5B3-6978-4251-9757-BF35D3B0BD29}"/>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61D737FB-34F8-48B2-BB62-8507C390A989}"/>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2-0">
            <a:extLst xmlns:a="http://schemas.openxmlformats.org/drawingml/2006/main">
              <a:ext uri="{FF2B5EF4-FFF2-40B4-BE49-F238E27FC236}">
                <a16:creationId xmlns:a16="http://schemas.microsoft.com/office/drawing/2014/main" id="{D498E7BE-D171-464D-AB36-11397C7A5974}"/>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Kasir</a:t>
            </a:r>
          </a:p>
        </p:txBody>
      </p:sp>
      <p:sp>
        <p:nvSpPr>
          <p:cNvPr id="10" name="case-2-0">
            <a:extLst xmlns:a="http://schemas.openxmlformats.org/drawingml/2006/main">
              <a:ext uri="{FF2B5EF4-FFF2-40B4-BE49-F238E27FC236}">
                <a16:creationId xmlns:a16="http://schemas.microsoft.com/office/drawing/2014/main" id="{4CF6E465-FD21-4369-A91A-880C6BDA84E5}"/>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Mencari obat jadi</a:t>
            </a:r>
          </a:p>
        </p:txBody>
      </p:sp>
      <p:sp>
        <p:nvSpPr>
          <p:cNvPr id="11" name="actor-2-1">
            <a:extLst xmlns:a="http://schemas.openxmlformats.org/drawingml/2006/main">
              <a:ext uri="{FF2B5EF4-FFF2-40B4-BE49-F238E27FC236}">
                <a16:creationId xmlns:a16="http://schemas.microsoft.com/office/drawing/2014/main" id="{3CC75576-D10B-4C08-B214-4990FA35EF90}"/>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Pasien</a:t>
            </a:r>
          </a:p>
        </p:txBody>
      </p:sp>
      <p:sp>
        <p:nvSpPr>
          <p:cNvPr id="12" name="case-2-1">
            <a:extLst xmlns:a="http://schemas.openxmlformats.org/drawingml/2006/main">
              <a:ext uri="{FF2B5EF4-FFF2-40B4-BE49-F238E27FC236}">
                <a16:creationId xmlns:a16="http://schemas.microsoft.com/office/drawing/2014/main" id="{1FD66094-535D-4F5F-BCFD-8C2916446D72}"/>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Memilih batch layak</a:t>
            </a:r>
          </a:p>
        </p:txBody>
      </p:sp>
      <p:sp>
        <p:nvSpPr>
          <p:cNvPr id="13" name="actor-2-2">
            <a:extLst xmlns:a="http://schemas.openxmlformats.org/drawingml/2006/main">
              <a:ext uri="{FF2B5EF4-FFF2-40B4-BE49-F238E27FC236}">
                <a16:creationId xmlns:a16="http://schemas.microsoft.com/office/drawing/2014/main" id="{D3C8A02F-7D78-4CC4-A0C9-2F60CF29D5B2}"/>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4" name="case-2-2">
            <a:extLst xmlns:a="http://schemas.openxmlformats.org/drawingml/2006/main">
              <a:ext uri="{FF2B5EF4-FFF2-40B4-BE49-F238E27FC236}">
                <a16:creationId xmlns:a16="http://schemas.microsoft.com/office/drawing/2014/main" id="{EE9A2A05-C317-4894-8B72-A9D0B4BC4888}"/>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Memvalidasi obat terkendali</a:t>
            </a:r>
          </a:p>
        </p:txBody>
      </p:sp>
      <p:sp>
        <p:nvSpPr>
          <p:cNvPr id="15" name="actor-2-3">
            <a:extLst xmlns:a="http://schemas.openxmlformats.org/drawingml/2006/main">
              <a:ext uri="{FF2B5EF4-FFF2-40B4-BE49-F238E27FC236}">
                <a16:creationId xmlns:a16="http://schemas.microsoft.com/office/drawing/2014/main" id="{28C13392-8FD5-4E47-B525-E3A3862F7918}"/>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Sistem stok</a:t>
            </a:r>
          </a:p>
        </p:txBody>
      </p:sp>
      <p:sp>
        <p:nvSpPr>
          <p:cNvPr id="16" name="case-2-3">
            <a:extLst xmlns:a="http://schemas.openxmlformats.org/drawingml/2006/main">
              <a:ext uri="{FF2B5EF4-FFF2-40B4-BE49-F238E27FC236}">
                <a16:creationId xmlns:a16="http://schemas.microsoft.com/office/drawing/2014/main" id="{3648D453-18FE-4074-8BC3-0316CBD4CE97}"/>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Menyelesaikan pembayaran</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AC83A42B-0FAB-4336-BED7-790436FEB791}"/>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2-0">
            <a:extLst xmlns:a="http://schemas.openxmlformats.org/drawingml/2006/main">
              <a:ext uri="{FF2B5EF4-FFF2-40B4-BE49-F238E27FC236}">
                <a16:creationId xmlns:a16="http://schemas.microsoft.com/office/drawing/2014/main" id="{393099C5-739B-413C-A342-F1C1A186AC6F}"/>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Pilih OTC/obat bebas</a:t>
            </a:r>
          </a:p>
        </p:txBody>
      </p:sp>
      <p:sp>
        <p:nvSpPr>
          <p:cNvPr id="23" name="flow-2-1">
            <a:extLst xmlns:a="http://schemas.openxmlformats.org/drawingml/2006/main">
              <a:ext uri="{FF2B5EF4-FFF2-40B4-BE49-F238E27FC236}">
                <a16:creationId xmlns:a16="http://schemas.microsoft.com/office/drawing/2014/main" id="{3DAE462B-44A8-4622-8DDC-33489B3860CC}"/>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Cari nama atau barcode</a:t>
            </a:r>
          </a:p>
        </p:txBody>
      </p:sp>
      <p:sp>
        <p:nvSpPr>
          <p:cNvPr id="24" name="flow-2-2">
            <a:extLst xmlns:a="http://schemas.openxmlformats.org/drawingml/2006/main">
              <a:ext uri="{FF2B5EF4-FFF2-40B4-BE49-F238E27FC236}">
                <a16:creationId xmlns:a16="http://schemas.microsoft.com/office/drawing/2014/main" id="{F764DA69-FE68-4228-9CDE-8FEABE8C4B8F}"/>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Tambahkan ke keranjang</a:t>
            </a:r>
          </a:p>
        </p:txBody>
      </p:sp>
      <p:sp>
        <p:nvSpPr>
          <p:cNvPr id="25" name="flow-2-3">
            <a:extLst xmlns:a="http://schemas.openxmlformats.org/drawingml/2006/main">
              <a:ext uri="{FF2B5EF4-FFF2-40B4-BE49-F238E27FC236}">
                <a16:creationId xmlns:a16="http://schemas.microsoft.com/office/drawing/2014/main" id="{698C8D92-49F9-4AE5-ACA0-3B39FCDCF575}"/>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Periksa qty dan batch</a:t>
            </a:r>
          </a:p>
        </p:txBody>
      </p:sp>
      <p:sp>
        <p:nvSpPr>
          <p:cNvPr id="26" name="flow-2-4">
            <a:extLst xmlns:a="http://schemas.openxmlformats.org/drawingml/2006/main">
              <a:ext uri="{FF2B5EF4-FFF2-40B4-BE49-F238E27FC236}">
                <a16:creationId xmlns:a16="http://schemas.microsoft.com/office/drawing/2014/main" id="{A00304D6-BF0D-4F65-B8D4-D925D2DE360D}"/>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Pilih pembayaran</a:t>
            </a:r>
          </a:p>
        </p:txBody>
      </p:sp>
      <p:sp>
        <p:nvSpPr>
          <p:cNvPr id="27" name="flow-2-5">
            <a:extLst xmlns:a="http://schemas.openxmlformats.org/drawingml/2006/main">
              <a:ext uri="{FF2B5EF4-FFF2-40B4-BE49-F238E27FC236}">
                <a16:creationId xmlns:a16="http://schemas.microsoft.com/office/drawing/2014/main" id="{EBC709D7-1E70-49E6-A05D-7E06D37F7D5E}"/>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Bayar dan cetak</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F3E13362-A102-4E38-8EEB-AE957ADE6086}"/>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2-0">
            <a:extLst xmlns:a="http://schemas.openxmlformats.org/drawingml/2006/main">
              <a:ext uri="{FF2B5EF4-FFF2-40B4-BE49-F238E27FC236}">
                <a16:creationId xmlns:a16="http://schemas.microsoft.com/office/drawing/2014/main" id="{9EA2129D-7A1F-4029-A3D0-CC779E8772A9}"/>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ITEM OBAT</a:t>
            </a:r>
          </a:p>
        </p:txBody>
      </p:sp>
      <p:sp>
        <p:nvSpPr>
          <p:cNvPr id="35" name="entity-2-1">
            <a:extLst xmlns:a="http://schemas.openxmlformats.org/drawingml/2006/main">
              <a:ext uri="{FF2B5EF4-FFF2-40B4-BE49-F238E27FC236}">
                <a16:creationId xmlns:a16="http://schemas.microsoft.com/office/drawing/2014/main" id="{1E15852C-815E-4722-95E4-4F04B15D3AEC}"/>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BATCH</a:t>
            </a:r>
          </a:p>
        </p:txBody>
      </p:sp>
      <p:sp>
        <p:nvSpPr>
          <p:cNvPr id="36" name="entity-2-2">
            <a:extLst xmlns:a="http://schemas.openxmlformats.org/drawingml/2006/main">
              <a:ext uri="{FF2B5EF4-FFF2-40B4-BE49-F238E27FC236}">
                <a16:creationId xmlns:a16="http://schemas.microsoft.com/office/drawing/2014/main" id="{5109A6B3-1F45-4507-8F6C-A1371B9F2657}"/>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KERANJANG</a:t>
            </a:r>
          </a:p>
        </p:txBody>
      </p:sp>
      <p:sp>
        <p:nvSpPr>
          <p:cNvPr id="37" name="entity-2-3">
            <a:extLst xmlns:a="http://schemas.openxmlformats.org/drawingml/2006/main">
              <a:ext uri="{FF2B5EF4-FFF2-40B4-BE49-F238E27FC236}">
                <a16:creationId xmlns:a16="http://schemas.microsoft.com/office/drawing/2014/main" id="{FF9CF03E-FFF2-4CC7-A984-8F12F3BFE9D2}"/>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PEMBAYARAN</a:t>
            </a:r>
          </a:p>
        </p:txBody>
      </p:sp>
      <p:sp>
        <p:nvSpPr>
          <p:cNvPr id="38" name="entity-2-4">
            <a:extLst xmlns:a="http://schemas.openxmlformats.org/drawingml/2006/main">
              <a:ext uri="{FF2B5EF4-FFF2-40B4-BE49-F238E27FC236}">
                <a16:creationId xmlns:a16="http://schemas.microsoft.com/office/drawing/2014/main" id="{32C3B688-03A6-4E0D-B6A0-D05396868EBA}"/>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PENJUALAN</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69C56D9F-3307-4CA5-8FE5-42CAC579D0B2}"/>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stok cukup, batch belum kedaluwarsa, harga aktif, dan persyaratan obat terkendali terpenuhi.</a:t>
            </a:r>
          </a:p>
        </p:txBody>
      </p:sp>
    </p:spTree>
    <p:extLst>
      <p:ext uri="{BB962C8B-B14F-4D97-AF65-F5344CB8AC3E}">
        <p14:creationId xmlns:p14="http://schemas.microsoft.com/office/powerpoint/2010/main" val="400196176"/>
      </p:ext>
    </p:extLst>
  </p:cSld>
</p:sld>
</file>

<file path=ppt/slides/slide8.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8">
            <a:extLst xmlns:a="http://schemas.openxmlformats.org/drawingml/2006/main">
              <a:ext uri="{FF2B5EF4-FFF2-40B4-BE49-F238E27FC236}">
                <a16:creationId xmlns:a16="http://schemas.microsoft.com/office/drawing/2014/main" id="{BBCF687F-CFCD-4CE5-9860-20102597B33F}"/>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3</a:t>
            </a:r>
          </a:p>
        </p:txBody>
      </p:sp>
      <p:sp>
        <p:nvSpPr>
          <p:cNvPr id="2" name="title-8">
            <a:extLst xmlns:a="http://schemas.openxmlformats.org/drawingml/2006/main">
              <a:ext uri="{FF2B5EF4-FFF2-40B4-BE49-F238E27FC236}">
                <a16:creationId xmlns:a16="http://schemas.microsoft.com/office/drawing/2014/main" id="{93BFD6F3-93CF-401D-BC60-402257985FE4}"/>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Penjualan Obat Racikan</a:t>
            </a:r>
          </a:p>
        </p:txBody>
      </p:sp>
      <p:sp>
        <p:nvSpPr>
          <p:cNvPr id="3" name="">
            <a:extLst xmlns:a="http://schemas.openxmlformats.org/drawingml/2006/main">
              <a:ext uri="{FF2B5EF4-FFF2-40B4-BE49-F238E27FC236}">
                <a16:creationId xmlns:a16="http://schemas.microsoft.com/office/drawing/2014/main" id="{B8A7C70D-6C61-4162-9BAE-9DD7E973AC42}"/>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08</a:t>
            </a:r>
          </a:p>
        </p:txBody>
      </p:sp>
      <p:sp>
        <p:nvSpPr>
          <p:cNvPr id="4" name="">
            <a:extLst xmlns:a="http://schemas.openxmlformats.org/drawingml/2006/main">
              <a:ext uri="{FF2B5EF4-FFF2-40B4-BE49-F238E27FC236}">
                <a16:creationId xmlns:a16="http://schemas.microsoft.com/office/drawing/2014/main" id="{2D1A673C-97CB-409D-B3E0-0DB45EA0E86D}"/>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8</a:t>
            </a:r>
          </a:p>
        </p:txBody>
      </p:sp>
      <p:sp>
        <p:nvSpPr>
          <p:cNvPr id="5" name="">
            <a:extLst xmlns:a="http://schemas.openxmlformats.org/drawingml/2006/main">
              <a:ext uri="{FF2B5EF4-FFF2-40B4-BE49-F238E27FC236}">
                <a16:creationId xmlns:a16="http://schemas.microsoft.com/office/drawing/2014/main" id="{C48CFD5E-2A06-48E1-9623-06BC12BD1D65}"/>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e86b5c5edd54e8c"/>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28707DBE-36CA-4C7D-91DD-620CD5AE3755}"/>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D3E56246-17B8-4E59-ABD1-50A9E4960F25}"/>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Halaman resep racikan menempatkan daftar resep menunggu di sisi kiri dan detail pilihan di area utama. Setelah resep dipilih, petugas harus dapat melihat identitas operasional, komposisi, jumlah, serta status proses. Pemisahan daftar dan detail mencegah racikan dikerjakan hanya berdasarkan nomor antrean…</a:t>
            </a:r>
          </a:p>
        </p:txBody>
      </p:sp>
      <p:sp>
        <p:nvSpPr>
          <p:cNvPr id="9" name="">
            <a:extLst xmlns:a="http://schemas.openxmlformats.org/drawingml/2006/main">
              <a:ext uri="{FF2B5EF4-FFF2-40B4-BE49-F238E27FC236}">
                <a16:creationId xmlns:a16="http://schemas.microsoft.com/office/drawing/2014/main" id="{59FCCE76-EAA6-40E7-847E-BF7758F25A66}"/>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63CC1AB1-204C-46DD-A643-923F44D33A8B}"/>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B72315D5-DDE0-4886-B13D-3D6C7A0A196C}"/>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070773218"/>
      </p:ext>
    </p:extLst>
  </p:cSld>
</p:sld>
</file>

<file path=ppt/slides/slide9.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9">
            <a:extLst xmlns:a="http://schemas.openxmlformats.org/drawingml/2006/main">
              <a:ext uri="{FF2B5EF4-FFF2-40B4-BE49-F238E27FC236}">
                <a16:creationId xmlns:a16="http://schemas.microsoft.com/office/drawing/2014/main" id="{A62374CC-0808-40DC-B62B-DF5A5A44C7FC}"/>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3</a:t>
            </a:r>
          </a:p>
        </p:txBody>
      </p:sp>
      <p:sp>
        <p:nvSpPr>
          <p:cNvPr id="2" name="title-9">
            <a:extLst xmlns:a="http://schemas.openxmlformats.org/drawingml/2006/main">
              <a:ext uri="{FF2B5EF4-FFF2-40B4-BE49-F238E27FC236}">
                <a16:creationId xmlns:a16="http://schemas.microsoft.com/office/drawing/2014/main" id="{8235CCAF-AC30-46EC-8774-B93BCEE49B92}"/>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Penjualan Obat Racikan: peran, proses, dan data</a:t>
            </a:r>
          </a:p>
        </p:txBody>
      </p:sp>
      <p:sp>
        <p:nvSpPr>
          <p:cNvPr id="3" name="">
            <a:extLst xmlns:a="http://schemas.openxmlformats.org/drawingml/2006/main">
              <a:ext uri="{FF2B5EF4-FFF2-40B4-BE49-F238E27FC236}">
                <a16:creationId xmlns:a16="http://schemas.microsoft.com/office/drawing/2014/main" id="{AB747729-CA10-4CD8-A331-83D646430C53}"/>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09</a:t>
            </a:r>
          </a:p>
        </p:txBody>
      </p:sp>
      <p:sp>
        <p:nvSpPr>
          <p:cNvPr id="4" name="">
            <a:extLst xmlns:a="http://schemas.openxmlformats.org/drawingml/2006/main">
              <a:ext uri="{FF2B5EF4-FFF2-40B4-BE49-F238E27FC236}">
                <a16:creationId xmlns:a16="http://schemas.microsoft.com/office/drawing/2014/main" id="{A5FC6EFD-E5AA-4453-A673-1F51350A9EDB}"/>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9</a:t>
            </a:r>
          </a:p>
        </p:txBody>
      </p:sp>
      <p:sp>
        <p:nvSpPr>
          <p:cNvPr id="5" name="">
            <a:extLst xmlns:a="http://schemas.openxmlformats.org/drawingml/2006/main">
              <a:ext uri="{FF2B5EF4-FFF2-40B4-BE49-F238E27FC236}">
                <a16:creationId xmlns:a16="http://schemas.microsoft.com/office/drawing/2014/main" id="{83F9D9AC-0E35-477A-98F9-89135E4235BA}"/>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D0567AF0-5C20-4591-A9DC-5D701A09F5E4}"/>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45F9C9A4-DF85-4EFC-B3AB-56FE2F793E1F}"/>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8E9FE607-0429-4FB7-9CA7-7711ACA8D91A}"/>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3-0">
            <a:extLst xmlns:a="http://schemas.openxmlformats.org/drawingml/2006/main">
              <a:ext uri="{FF2B5EF4-FFF2-40B4-BE49-F238E27FC236}">
                <a16:creationId xmlns:a16="http://schemas.microsoft.com/office/drawing/2014/main" id="{9CF098C5-2950-43B9-955A-0969F57FF55D}"/>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0" name="case-3-0">
            <a:extLst xmlns:a="http://schemas.openxmlformats.org/drawingml/2006/main">
              <a:ext uri="{FF2B5EF4-FFF2-40B4-BE49-F238E27FC236}">
                <a16:creationId xmlns:a16="http://schemas.microsoft.com/office/drawing/2014/main" id="{A18AD22C-FFD7-4F5F-827F-D8C6381258A6}"/>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Memilih resep menunggu</a:t>
            </a:r>
          </a:p>
        </p:txBody>
      </p:sp>
      <p:sp>
        <p:nvSpPr>
          <p:cNvPr id="11" name="actor-3-1">
            <a:extLst xmlns:a="http://schemas.openxmlformats.org/drawingml/2006/main">
              <a:ext uri="{FF2B5EF4-FFF2-40B4-BE49-F238E27FC236}">
                <a16:creationId xmlns:a16="http://schemas.microsoft.com/office/drawing/2014/main" id="{614FD4F5-89F1-44CD-8843-6A0B74E396D3}"/>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Kasir</a:t>
            </a:r>
          </a:p>
        </p:txBody>
      </p:sp>
      <p:sp>
        <p:nvSpPr>
          <p:cNvPr id="12" name="case-3-1">
            <a:extLst xmlns:a="http://schemas.openxmlformats.org/drawingml/2006/main">
              <a:ext uri="{FF2B5EF4-FFF2-40B4-BE49-F238E27FC236}">
                <a16:creationId xmlns:a16="http://schemas.microsoft.com/office/drawing/2014/main" id="{8FF653A1-7086-4519-85F9-7145724E5F91}"/>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Memeriksa komposisi</a:t>
            </a:r>
          </a:p>
        </p:txBody>
      </p:sp>
      <p:sp>
        <p:nvSpPr>
          <p:cNvPr id="13" name="actor-3-2">
            <a:extLst xmlns:a="http://schemas.openxmlformats.org/drawingml/2006/main">
              <a:ext uri="{FF2B5EF4-FFF2-40B4-BE49-F238E27FC236}">
                <a16:creationId xmlns:a16="http://schemas.microsoft.com/office/drawing/2014/main" id="{180A6E5D-6BAE-448F-8325-C6C462EC076D}"/>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Dokter</a:t>
            </a:r>
          </a:p>
        </p:txBody>
      </p:sp>
      <p:sp>
        <p:nvSpPr>
          <p:cNvPr id="14" name="case-3-2">
            <a:extLst xmlns:a="http://schemas.openxmlformats.org/drawingml/2006/main">
              <a:ext uri="{FF2B5EF4-FFF2-40B4-BE49-F238E27FC236}">
                <a16:creationId xmlns:a16="http://schemas.microsoft.com/office/drawing/2014/main" id="{4A5EF53B-0897-4F95-91D0-08FAEF51F63B}"/>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Menyiapkan racikan</a:t>
            </a:r>
          </a:p>
        </p:txBody>
      </p:sp>
      <p:sp>
        <p:nvSpPr>
          <p:cNvPr id="15" name="actor-3-3">
            <a:extLst xmlns:a="http://schemas.openxmlformats.org/drawingml/2006/main">
              <a:ext uri="{FF2B5EF4-FFF2-40B4-BE49-F238E27FC236}">
                <a16:creationId xmlns:a16="http://schemas.microsoft.com/office/drawing/2014/main" id="{F5A9E65F-17C4-4C48-A2E5-FE1062FAA89E}"/>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Pasien</a:t>
            </a:r>
          </a:p>
        </p:txBody>
      </p:sp>
      <p:sp>
        <p:nvSpPr>
          <p:cNvPr id="16" name="case-3-3">
            <a:extLst xmlns:a="http://schemas.openxmlformats.org/drawingml/2006/main">
              <a:ext uri="{FF2B5EF4-FFF2-40B4-BE49-F238E27FC236}">
                <a16:creationId xmlns:a16="http://schemas.microsoft.com/office/drawing/2014/main" id="{7E49AE37-9DE2-4CEC-A3A2-B7054C6C3C0E}"/>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Menebus dan menyerahkan</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560E1F98-CEC4-4635-BC2D-CCE2E5FF1AB1}"/>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3-0">
            <a:extLst xmlns:a="http://schemas.openxmlformats.org/drawingml/2006/main">
              <a:ext uri="{FF2B5EF4-FFF2-40B4-BE49-F238E27FC236}">
                <a16:creationId xmlns:a16="http://schemas.microsoft.com/office/drawing/2014/main" id="{B368AF78-81D4-4705-86BB-62808821AE66}"/>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Buka antrean resep</a:t>
            </a:r>
          </a:p>
        </p:txBody>
      </p:sp>
      <p:sp>
        <p:nvSpPr>
          <p:cNvPr id="23" name="flow-3-1">
            <a:extLst xmlns:a="http://schemas.openxmlformats.org/drawingml/2006/main">
              <a:ext uri="{FF2B5EF4-FFF2-40B4-BE49-F238E27FC236}">
                <a16:creationId xmlns:a16="http://schemas.microsoft.com/office/drawing/2014/main" id="{007683CF-0F6A-4949-854A-DC6D6DDF586C}"/>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Pilih resep</a:t>
            </a:r>
          </a:p>
        </p:txBody>
      </p:sp>
      <p:sp>
        <p:nvSpPr>
          <p:cNvPr id="24" name="flow-3-2">
            <a:extLst xmlns:a="http://schemas.openxmlformats.org/drawingml/2006/main">
              <a:ext uri="{FF2B5EF4-FFF2-40B4-BE49-F238E27FC236}">
                <a16:creationId xmlns:a16="http://schemas.microsoft.com/office/drawing/2014/main" id="{5845804A-CF6F-4892-B52E-FD8C4D1BE91C}"/>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Baca komposisi</a:t>
            </a:r>
          </a:p>
        </p:txBody>
      </p:sp>
      <p:sp>
        <p:nvSpPr>
          <p:cNvPr id="25" name="flow-3-3">
            <a:extLst xmlns:a="http://schemas.openxmlformats.org/drawingml/2006/main">
              <a:ext uri="{FF2B5EF4-FFF2-40B4-BE49-F238E27FC236}">
                <a16:creationId xmlns:a16="http://schemas.microsoft.com/office/drawing/2014/main" id="{4D8D8614-A04A-45A6-AC06-C3E3AB555358}"/>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Validasi bahan</a:t>
            </a:r>
          </a:p>
        </p:txBody>
      </p:sp>
      <p:sp>
        <p:nvSpPr>
          <p:cNvPr id="26" name="flow-3-4">
            <a:extLst xmlns:a="http://schemas.openxmlformats.org/drawingml/2006/main">
              <a:ext uri="{FF2B5EF4-FFF2-40B4-BE49-F238E27FC236}">
                <a16:creationId xmlns:a16="http://schemas.microsoft.com/office/drawing/2014/main" id="{25169820-0D49-4EC1-928C-2F0E21C04390}"/>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Konfirmasi racikan</a:t>
            </a:r>
          </a:p>
        </p:txBody>
      </p:sp>
      <p:sp>
        <p:nvSpPr>
          <p:cNvPr id="27" name="flow-3-5">
            <a:extLst xmlns:a="http://schemas.openxmlformats.org/drawingml/2006/main">
              <a:ext uri="{FF2B5EF4-FFF2-40B4-BE49-F238E27FC236}">
                <a16:creationId xmlns:a16="http://schemas.microsoft.com/office/drawing/2014/main" id="{F7B8142A-3E62-4734-BA22-25714F60923C}"/>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Tebus resep</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F381CC3D-1739-4698-8F6B-4BD07BD9CB7C}"/>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3-0">
            <a:extLst xmlns:a="http://schemas.openxmlformats.org/drawingml/2006/main">
              <a:ext uri="{FF2B5EF4-FFF2-40B4-BE49-F238E27FC236}">
                <a16:creationId xmlns:a16="http://schemas.microsoft.com/office/drawing/2014/main" id="{97329F86-D186-416A-8526-9737FCF27FDE}"/>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RESEP</a:t>
            </a:r>
          </a:p>
        </p:txBody>
      </p:sp>
      <p:sp>
        <p:nvSpPr>
          <p:cNvPr id="35" name="entity-3-1">
            <a:extLst xmlns:a="http://schemas.openxmlformats.org/drawingml/2006/main">
              <a:ext uri="{FF2B5EF4-FFF2-40B4-BE49-F238E27FC236}">
                <a16:creationId xmlns:a16="http://schemas.microsoft.com/office/drawing/2014/main" id="{DAD81314-22C0-4B05-BAEF-A981685F705D}"/>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DETAIL RESEP</a:t>
            </a:r>
          </a:p>
        </p:txBody>
      </p:sp>
      <p:sp>
        <p:nvSpPr>
          <p:cNvPr id="36" name="entity-3-2">
            <a:extLst xmlns:a="http://schemas.openxmlformats.org/drawingml/2006/main">
              <a:ext uri="{FF2B5EF4-FFF2-40B4-BE49-F238E27FC236}">
                <a16:creationId xmlns:a16="http://schemas.microsoft.com/office/drawing/2014/main" id="{EF5CCB63-8E69-44E9-9CA6-63CA78362802}"/>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BAHAN RACIKAN</a:t>
            </a:r>
          </a:p>
        </p:txBody>
      </p:sp>
      <p:sp>
        <p:nvSpPr>
          <p:cNvPr id="37" name="entity-3-3">
            <a:extLst xmlns:a="http://schemas.openxmlformats.org/drawingml/2006/main">
              <a:ext uri="{FF2B5EF4-FFF2-40B4-BE49-F238E27FC236}">
                <a16:creationId xmlns:a16="http://schemas.microsoft.com/office/drawing/2014/main" id="{DF023A23-DF80-463E-80EA-E906EB7BD845}"/>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PENEBUSAN</a:t>
            </a:r>
          </a:p>
        </p:txBody>
      </p:sp>
      <p:sp>
        <p:nvSpPr>
          <p:cNvPr id="38" name="entity-3-4">
            <a:extLst xmlns:a="http://schemas.openxmlformats.org/drawingml/2006/main">
              <a:ext uri="{FF2B5EF4-FFF2-40B4-BE49-F238E27FC236}">
                <a16:creationId xmlns:a16="http://schemas.microsoft.com/office/drawing/2014/main" id="{42CF496C-110D-4E9C-99E1-8380BCDFB405}"/>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AUDIT FARMASI</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E29542F4-420A-4E1C-B1A7-749B3020B02F}"/>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resep sah, komposisi terbaca, bahan cukup, dan verifikasi apoteker selesai.</a:t>
            </a:r>
          </a:p>
        </p:txBody>
      </p:sp>
    </p:spTree>
    <p:extLst>
      <p:ext uri="{BB962C8B-B14F-4D97-AF65-F5344CB8AC3E}">
        <p14:creationId xmlns:p14="http://schemas.microsoft.com/office/powerpoint/2010/main" val="161110083"/>
      </p:ext>
    </p:extLst>
  </p:cSld>
</p:sld>
</file>

<file path=ppt/slides/slide10.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10">
            <a:extLst xmlns:a="http://schemas.openxmlformats.org/drawingml/2006/main">
              <a:ext uri="{FF2B5EF4-FFF2-40B4-BE49-F238E27FC236}">
                <a16:creationId xmlns:a16="http://schemas.microsoft.com/office/drawing/2014/main" id="{F32F14D3-F196-46E5-AD08-A11675EB809B}"/>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4</a:t>
            </a:r>
          </a:p>
        </p:txBody>
      </p:sp>
      <p:sp>
        <p:nvSpPr>
          <p:cNvPr id="2" name="title-10">
            <a:extLst xmlns:a="http://schemas.openxmlformats.org/drawingml/2006/main">
              <a:ext uri="{FF2B5EF4-FFF2-40B4-BE49-F238E27FC236}">
                <a16:creationId xmlns:a16="http://schemas.microsoft.com/office/drawing/2014/main" id="{BA093E19-D53D-47F9-93C4-7ADD2EF2DD24}"/>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Formularium dan Katalog Obat</a:t>
            </a:r>
          </a:p>
        </p:txBody>
      </p:sp>
      <p:sp>
        <p:nvSpPr>
          <p:cNvPr id="3" name="">
            <a:extLst xmlns:a="http://schemas.openxmlformats.org/drawingml/2006/main">
              <a:ext uri="{FF2B5EF4-FFF2-40B4-BE49-F238E27FC236}">
                <a16:creationId xmlns:a16="http://schemas.microsoft.com/office/drawing/2014/main" id="{A2339C37-2D47-48E0-BFDA-A781A2B098B9}"/>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10</a:t>
            </a:r>
          </a:p>
        </p:txBody>
      </p:sp>
      <p:sp>
        <p:nvSpPr>
          <p:cNvPr id="4" name="">
            <a:extLst xmlns:a="http://schemas.openxmlformats.org/drawingml/2006/main">
              <a:ext uri="{FF2B5EF4-FFF2-40B4-BE49-F238E27FC236}">
                <a16:creationId xmlns:a16="http://schemas.microsoft.com/office/drawing/2014/main" id="{A058EF94-6D70-4F6F-90CB-69222B7C22A5}"/>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10</a:t>
            </a:r>
          </a:p>
        </p:txBody>
      </p:sp>
      <p:sp>
        <p:nvSpPr>
          <p:cNvPr id="5" name="">
            <a:extLst xmlns:a="http://schemas.openxmlformats.org/drawingml/2006/main">
              <a:ext uri="{FF2B5EF4-FFF2-40B4-BE49-F238E27FC236}">
                <a16:creationId xmlns:a16="http://schemas.microsoft.com/office/drawing/2014/main" id="{9865BF04-EEA2-4D57-A653-1DE2C585DCA7}"/>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fd52730ae474cf1"/>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66397A78-BBB6-4336-A20A-C861E3E4BEDB}"/>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D26D0376-4313-404D-BA3A-26CF05BC8659}"/>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Formularium adalah sumber identitas item yang dipakai oleh kasir, penerimaan, stok, resep, dan laporan. Tangkapan layar menunjukkan daftar item dengan pencarian dan informasi operasional. Perbedaan antara obat jadi, bahan baku racikan, alat kesehatan, serta item terkendali harus terlihat dari data master,…</a:t>
            </a:r>
          </a:p>
        </p:txBody>
      </p:sp>
      <p:sp>
        <p:nvSpPr>
          <p:cNvPr id="9" name="">
            <a:extLst xmlns:a="http://schemas.openxmlformats.org/drawingml/2006/main">
              <a:ext uri="{FF2B5EF4-FFF2-40B4-BE49-F238E27FC236}">
                <a16:creationId xmlns:a16="http://schemas.microsoft.com/office/drawing/2014/main" id="{6EA32FF2-3FFC-4496-9A66-B512C6600936}"/>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2BB06360-8900-49EB-93CF-A40315D014D8}"/>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D6F7AEEC-6A04-48D1-A447-E7405C3B0FCE}"/>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270145612"/>
      </p:ext>
    </p:extLst>
  </p:cSld>
</p:sld>
</file>

<file path=ppt/slides/slide11.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11">
            <a:extLst xmlns:a="http://schemas.openxmlformats.org/drawingml/2006/main">
              <a:ext uri="{FF2B5EF4-FFF2-40B4-BE49-F238E27FC236}">
                <a16:creationId xmlns:a16="http://schemas.microsoft.com/office/drawing/2014/main" id="{0B9B0591-1695-4BD3-95B1-4651374312C5}"/>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4</a:t>
            </a:r>
          </a:p>
        </p:txBody>
      </p:sp>
      <p:sp>
        <p:nvSpPr>
          <p:cNvPr id="2" name="title-11">
            <a:extLst xmlns:a="http://schemas.openxmlformats.org/drawingml/2006/main">
              <a:ext uri="{FF2B5EF4-FFF2-40B4-BE49-F238E27FC236}">
                <a16:creationId xmlns:a16="http://schemas.microsoft.com/office/drawing/2014/main" id="{9BDB37BA-6AA0-4D92-8CC6-C7B06E40736C}"/>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Formularium dan Katalog Obat: peran, proses, dan data</a:t>
            </a:r>
          </a:p>
        </p:txBody>
      </p:sp>
      <p:sp>
        <p:nvSpPr>
          <p:cNvPr id="3" name="">
            <a:extLst xmlns:a="http://schemas.openxmlformats.org/drawingml/2006/main">
              <a:ext uri="{FF2B5EF4-FFF2-40B4-BE49-F238E27FC236}">
                <a16:creationId xmlns:a16="http://schemas.microsoft.com/office/drawing/2014/main" id="{82A07238-80F9-4BB2-B8FA-BA008E9DBFAB}"/>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11</a:t>
            </a:r>
          </a:p>
        </p:txBody>
      </p:sp>
      <p:sp>
        <p:nvSpPr>
          <p:cNvPr id="4" name="">
            <a:extLst xmlns:a="http://schemas.openxmlformats.org/drawingml/2006/main">
              <a:ext uri="{FF2B5EF4-FFF2-40B4-BE49-F238E27FC236}">
                <a16:creationId xmlns:a16="http://schemas.microsoft.com/office/drawing/2014/main" id="{F44215DF-8F7F-4C48-839A-BBE77FBA336E}"/>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11</a:t>
            </a:r>
          </a:p>
        </p:txBody>
      </p:sp>
      <p:sp>
        <p:nvSpPr>
          <p:cNvPr id="5" name="">
            <a:extLst xmlns:a="http://schemas.openxmlformats.org/drawingml/2006/main">
              <a:ext uri="{FF2B5EF4-FFF2-40B4-BE49-F238E27FC236}">
                <a16:creationId xmlns:a16="http://schemas.microsoft.com/office/drawing/2014/main" id="{E7A06249-7A04-4124-8640-5490AAF82B7E}"/>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30EC4FD6-5F6B-41B2-B568-13EA7A6A355E}"/>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60731107-D1F9-45C0-A45E-6B71EC1E536D}"/>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6830FEBC-14A4-4C68-A1D4-3EE5E0F288BE}"/>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4-0">
            <a:extLst xmlns:a="http://schemas.openxmlformats.org/drawingml/2006/main">
              <a:ext uri="{FF2B5EF4-FFF2-40B4-BE49-F238E27FC236}">
                <a16:creationId xmlns:a16="http://schemas.microsoft.com/office/drawing/2014/main" id="{0F4F6F6C-2511-40C6-9A7A-E620D1CBDBF9}"/>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0" name="case-4-0">
            <a:extLst xmlns:a="http://schemas.openxmlformats.org/drawingml/2006/main">
              <a:ext uri="{FF2B5EF4-FFF2-40B4-BE49-F238E27FC236}">
                <a16:creationId xmlns:a16="http://schemas.microsoft.com/office/drawing/2014/main" id="{C0B35987-C7B7-4457-88B0-91B84A3614B9}"/>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Menelusuri katalog</a:t>
            </a:r>
          </a:p>
        </p:txBody>
      </p:sp>
      <p:sp>
        <p:nvSpPr>
          <p:cNvPr id="11" name="actor-4-1">
            <a:extLst xmlns:a="http://schemas.openxmlformats.org/drawingml/2006/main">
              <a:ext uri="{FF2B5EF4-FFF2-40B4-BE49-F238E27FC236}">
                <a16:creationId xmlns:a16="http://schemas.microsoft.com/office/drawing/2014/main" id="{0DF23D3F-5D25-47E6-939F-7EF6C366B6F3}"/>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Gudang</a:t>
            </a:r>
          </a:p>
        </p:txBody>
      </p:sp>
      <p:sp>
        <p:nvSpPr>
          <p:cNvPr id="12" name="case-4-1">
            <a:extLst xmlns:a="http://schemas.openxmlformats.org/drawingml/2006/main">
              <a:ext uri="{FF2B5EF4-FFF2-40B4-BE49-F238E27FC236}">
                <a16:creationId xmlns:a16="http://schemas.microsoft.com/office/drawing/2014/main" id="{04EDE180-D2C8-4F23-8862-3DC9FC8E9E4B}"/>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Membedakan jenis item</a:t>
            </a:r>
          </a:p>
        </p:txBody>
      </p:sp>
      <p:sp>
        <p:nvSpPr>
          <p:cNvPr id="13" name="actor-4-2">
            <a:extLst xmlns:a="http://schemas.openxmlformats.org/drawingml/2006/main">
              <a:ext uri="{FF2B5EF4-FFF2-40B4-BE49-F238E27FC236}">
                <a16:creationId xmlns:a16="http://schemas.microsoft.com/office/drawing/2014/main" id="{58F4736E-5735-40E2-8774-86A57713ECB3}"/>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Manajemen</a:t>
            </a:r>
          </a:p>
        </p:txBody>
      </p:sp>
      <p:sp>
        <p:nvSpPr>
          <p:cNvPr id="14" name="case-4-2">
            <a:extLst xmlns:a="http://schemas.openxmlformats.org/drawingml/2006/main">
              <a:ext uri="{FF2B5EF4-FFF2-40B4-BE49-F238E27FC236}">
                <a16:creationId xmlns:a16="http://schemas.microsoft.com/office/drawing/2014/main" id="{11A15D83-0CE1-4315-BE7D-6658F5EE1246}"/>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Memeriksa profil obat</a:t>
            </a:r>
          </a:p>
        </p:txBody>
      </p:sp>
      <p:sp>
        <p:nvSpPr>
          <p:cNvPr id="15" name="actor-4-3">
            <a:extLst xmlns:a="http://schemas.openxmlformats.org/drawingml/2006/main">
              <a:ext uri="{FF2B5EF4-FFF2-40B4-BE49-F238E27FC236}">
                <a16:creationId xmlns:a16="http://schemas.microsoft.com/office/drawing/2014/main" id="{4A94600A-9B2B-480A-8DA3-65C8B2C963E8}"/>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Auditor</a:t>
            </a:r>
          </a:p>
        </p:txBody>
      </p:sp>
      <p:sp>
        <p:nvSpPr>
          <p:cNvPr id="16" name="case-4-3">
            <a:extLst xmlns:a="http://schemas.openxmlformats.org/drawingml/2006/main">
              <a:ext uri="{FF2B5EF4-FFF2-40B4-BE49-F238E27FC236}">
                <a16:creationId xmlns:a16="http://schemas.microsoft.com/office/drawing/2014/main" id="{A41DBA21-2D51-4BFE-ACFF-60895B42FE83}"/>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Mengendalikan aktivasi</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E4910B83-C236-4403-BCB6-D36413023D95}"/>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4-0">
            <a:extLst xmlns:a="http://schemas.openxmlformats.org/drawingml/2006/main">
              <a:ext uri="{FF2B5EF4-FFF2-40B4-BE49-F238E27FC236}">
                <a16:creationId xmlns:a16="http://schemas.microsoft.com/office/drawing/2014/main" id="{94B33874-2F31-4E79-934B-FA790CD12932}"/>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Buka formularium</a:t>
            </a:r>
          </a:p>
        </p:txBody>
      </p:sp>
      <p:sp>
        <p:nvSpPr>
          <p:cNvPr id="23" name="flow-4-1">
            <a:extLst xmlns:a="http://schemas.openxmlformats.org/drawingml/2006/main">
              <a:ext uri="{FF2B5EF4-FFF2-40B4-BE49-F238E27FC236}">
                <a16:creationId xmlns:a16="http://schemas.microsoft.com/office/drawing/2014/main" id="{6B1CAA71-152D-41AF-A9EC-503CCCA3FF37}"/>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Gunakan pencarian</a:t>
            </a:r>
          </a:p>
        </p:txBody>
      </p:sp>
      <p:sp>
        <p:nvSpPr>
          <p:cNvPr id="24" name="flow-4-2">
            <a:extLst xmlns:a="http://schemas.openxmlformats.org/drawingml/2006/main">
              <a:ext uri="{FF2B5EF4-FFF2-40B4-BE49-F238E27FC236}">
                <a16:creationId xmlns:a16="http://schemas.microsoft.com/office/drawing/2014/main" id="{F640B259-0FCB-4EC0-8C45-D6D080A4A4BB}"/>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Pilih kategori</a:t>
            </a:r>
          </a:p>
        </p:txBody>
      </p:sp>
      <p:sp>
        <p:nvSpPr>
          <p:cNvPr id="25" name="flow-4-3">
            <a:extLst xmlns:a="http://schemas.openxmlformats.org/drawingml/2006/main">
              <a:ext uri="{FF2B5EF4-FFF2-40B4-BE49-F238E27FC236}">
                <a16:creationId xmlns:a16="http://schemas.microsoft.com/office/drawing/2014/main" id="{71EB3DDF-3AD8-4475-A61D-146BA0FD9849}"/>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Buka profil</a:t>
            </a:r>
          </a:p>
        </p:txBody>
      </p:sp>
      <p:sp>
        <p:nvSpPr>
          <p:cNvPr id="26" name="flow-4-4">
            <a:extLst xmlns:a="http://schemas.openxmlformats.org/drawingml/2006/main">
              <a:ext uri="{FF2B5EF4-FFF2-40B4-BE49-F238E27FC236}">
                <a16:creationId xmlns:a16="http://schemas.microsoft.com/office/drawing/2014/main" id="{44A005C4-68B1-4021-97BE-562DF66B2633}"/>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Periksa stok/batch</a:t>
            </a:r>
          </a:p>
        </p:txBody>
      </p:sp>
      <p:sp>
        <p:nvSpPr>
          <p:cNvPr id="27" name="flow-4-5">
            <a:extLst xmlns:a="http://schemas.openxmlformats.org/drawingml/2006/main">
              <a:ext uri="{FF2B5EF4-FFF2-40B4-BE49-F238E27FC236}">
                <a16:creationId xmlns:a16="http://schemas.microsoft.com/office/drawing/2014/main" id="{E6606B67-DB8D-453D-B144-B19562171CD8}"/>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Simpan perubahan sah</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E8EC53C8-F762-40DF-99BD-3CE81863AF7F}"/>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4-0">
            <a:extLst xmlns:a="http://schemas.openxmlformats.org/drawingml/2006/main">
              <a:ext uri="{FF2B5EF4-FFF2-40B4-BE49-F238E27FC236}">
                <a16:creationId xmlns:a16="http://schemas.microsoft.com/office/drawing/2014/main" id="{14832692-3929-4C7B-8C50-54DB6483B995}"/>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ITEM MEDIS</a:t>
            </a:r>
          </a:p>
        </p:txBody>
      </p:sp>
      <p:sp>
        <p:nvSpPr>
          <p:cNvPr id="35" name="entity-4-1">
            <a:extLst xmlns:a="http://schemas.openxmlformats.org/drawingml/2006/main">
              <a:ext uri="{FF2B5EF4-FFF2-40B4-BE49-F238E27FC236}">
                <a16:creationId xmlns:a16="http://schemas.microsoft.com/office/drawing/2014/main" id="{39A74DFF-515B-4C70-8878-CD8012656C4A}"/>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JENIS ITEM</a:t>
            </a:r>
          </a:p>
        </p:txBody>
      </p:sp>
      <p:sp>
        <p:nvSpPr>
          <p:cNvPr id="36" name="entity-4-2">
            <a:extLst xmlns:a="http://schemas.openxmlformats.org/drawingml/2006/main">
              <a:ext uri="{FF2B5EF4-FFF2-40B4-BE49-F238E27FC236}">
                <a16:creationId xmlns:a16="http://schemas.microsoft.com/office/drawing/2014/main" id="{FD439669-9376-4355-8F40-81485139D729}"/>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PROFIL APOTIK</a:t>
            </a:r>
          </a:p>
        </p:txBody>
      </p:sp>
      <p:sp>
        <p:nvSpPr>
          <p:cNvPr id="37" name="entity-4-3">
            <a:extLst xmlns:a="http://schemas.openxmlformats.org/drawingml/2006/main">
              <a:ext uri="{FF2B5EF4-FFF2-40B4-BE49-F238E27FC236}">
                <a16:creationId xmlns:a16="http://schemas.microsoft.com/office/drawing/2014/main" id="{051A57F3-F06D-437D-8433-64DC7732FCDE}"/>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SATUAN</a:t>
            </a:r>
          </a:p>
        </p:txBody>
      </p:sp>
      <p:sp>
        <p:nvSpPr>
          <p:cNvPr id="38" name="entity-4-4">
            <a:extLst xmlns:a="http://schemas.openxmlformats.org/drawingml/2006/main">
              <a:ext uri="{FF2B5EF4-FFF2-40B4-BE49-F238E27FC236}">
                <a16:creationId xmlns:a16="http://schemas.microsoft.com/office/drawing/2014/main" id="{B25DE315-10F9-4B8F-B0B5-3AEF3B79DF20}"/>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KATALOG</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BEB6B90C-8289-48D6-9C41-29943A9A15B9}"/>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kode unik, jenis item benar, satuan jelas, dan seluruh data ditandai sample bila untuk UAT.</a:t>
            </a:r>
          </a:p>
        </p:txBody>
      </p:sp>
    </p:spTree>
    <p:extLst>
      <p:ext uri="{BB962C8B-B14F-4D97-AF65-F5344CB8AC3E}">
        <p14:creationId xmlns:p14="http://schemas.microsoft.com/office/powerpoint/2010/main" val="344885273"/>
      </p:ext>
    </p:extLst>
  </p:cSld>
</p:sld>
</file>

<file path=ppt/slides/slide12.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12">
            <a:extLst xmlns:a="http://schemas.openxmlformats.org/drawingml/2006/main">
              <a:ext uri="{FF2B5EF4-FFF2-40B4-BE49-F238E27FC236}">
                <a16:creationId xmlns:a16="http://schemas.microsoft.com/office/drawing/2014/main" id="{F2868BDC-4035-4D26-A9C2-EDE2C362A8D3}"/>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5</a:t>
            </a:r>
          </a:p>
        </p:txBody>
      </p:sp>
      <p:sp>
        <p:nvSpPr>
          <p:cNvPr id="2" name="title-12">
            <a:extLst xmlns:a="http://schemas.openxmlformats.org/drawingml/2006/main">
              <a:ext uri="{FF2B5EF4-FFF2-40B4-BE49-F238E27FC236}">
                <a16:creationId xmlns:a16="http://schemas.microsoft.com/office/drawing/2014/main" id="{1C06C9F1-4962-4EF2-92D5-DB8ADFFE1F31}"/>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Batch, FEFO, dan Kedaluwarsa</a:t>
            </a:r>
          </a:p>
        </p:txBody>
      </p:sp>
      <p:sp>
        <p:nvSpPr>
          <p:cNvPr id="3" name="">
            <a:extLst xmlns:a="http://schemas.openxmlformats.org/drawingml/2006/main">
              <a:ext uri="{FF2B5EF4-FFF2-40B4-BE49-F238E27FC236}">
                <a16:creationId xmlns:a16="http://schemas.microsoft.com/office/drawing/2014/main" id="{AB6C29AF-1012-4ECF-8AB1-57F92978F7E4}"/>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12</a:t>
            </a:r>
          </a:p>
        </p:txBody>
      </p:sp>
      <p:sp>
        <p:nvSpPr>
          <p:cNvPr id="4" name="">
            <a:extLst xmlns:a="http://schemas.openxmlformats.org/drawingml/2006/main">
              <a:ext uri="{FF2B5EF4-FFF2-40B4-BE49-F238E27FC236}">
                <a16:creationId xmlns:a16="http://schemas.microsoft.com/office/drawing/2014/main" id="{49987524-59FF-4160-BC40-9082A51ED2C9}"/>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12</a:t>
            </a:r>
          </a:p>
        </p:txBody>
      </p:sp>
      <p:sp>
        <p:nvSpPr>
          <p:cNvPr id="5" name="">
            <a:extLst xmlns:a="http://schemas.openxmlformats.org/drawingml/2006/main">
              <a:ext uri="{FF2B5EF4-FFF2-40B4-BE49-F238E27FC236}">
                <a16:creationId xmlns:a16="http://schemas.microsoft.com/office/drawing/2014/main" id="{B2A6C461-02CA-4E17-8C54-FBDB2E0E4A90}"/>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68b5e0b31de4cbb"/>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49808BE7-A1A6-44D8-8CF2-A496BB1C68C7}"/>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3DFFB430-9371-44AA-BABB-4D852F3A54E7}"/>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Monitor batch memusatkan perhatian pada nomor lot, tanggal kedaluwarsa, sisa, dan status penanganan. Pilihan horizon membantu gudang memisahkan barang yang harus segera diprioritaskan, dipindahkan, diretur, atau dikarantina. Warna peringatan mendukung keputusan, tetapi tanggal dan sisa tetap harus dibaca;…</a:t>
            </a:r>
          </a:p>
        </p:txBody>
      </p:sp>
      <p:sp>
        <p:nvSpPr>
          <p:cNvPr id="9" name="">
            <a:extLst xmlns:a="http://schemas.openxmlformats.org/drawingml/2006/main">
              <a:ext uri="{FF2B5EF4-FFF2-40B4-BE49-F238E27FC236}">
                <a16:creationId xmlns:a16="http://schemas.microsoft.com/office/drawing/2014/main" id="{8ACEFC3B-83B0-4C4A-AF2B-844F469FD3FE}"/>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748B31C9-E28F-4525-A2F2-BBAD8A781A26}"/>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E43712B9-ACFC-4207-8F72-1E4186911C65}"/>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040869748"/>
      </p:ext>
    </p:extLst>
  </p:cSld>
</p:sld>
</file>

<file path=ppt/slides/slide13.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13">
            <a:extLst xmlns:a="http://schemas.openxmlformats.org/drawingml/2006/main">
              <a:ext uri="{FF2B5EF4-FFF2-40B4-BE49-F238E27FC236}">
                <a16:creationId xmlns:a16="http://schemas.microsoft.com/office/drawing/2014/main" id="{BC58F704-E897-4A53-BCD8-75B4C745F1A9}"/>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5</a:t>
            </a:r>
          </a:p>
        </p:txBody>
      </p:sp>
      <p:sp>
        <p:nvSpPr>
          <p:cNvPr id="2" name="title-13">
            <a:extLst xmlns:a="http://schemas.openxmlformats.org/drawingml/2006/main">
              <a:ext uri="{FF2B5EF4-FFF2-40B4-BE49-F238E27FC236}">
                <a16:creationId xmlns:a16="http://schemas.microsoft.com/office/drawing/2014/main" id="{099A0921-5847-4C4A-81ED-2F86E1E43DD1}"/>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Batch, FEFO, dan Kedaluwarsa: peran, proses, dan data</a:t>
            </a:r>
          </a:p>
        </p:txBody>
      </p:sp>
      <p:sp>
        <p:nvSpPr>
          <p:cNvPr id="3" name="">
            <a:extLst xmlns:a="http://schemas.openxmlformats.org/drawingml/2006/main">
              <a:ext uri="{FF2B5EF4-FFF2-40B4-BE49-F238E27FC236}">
                <a16:creationId xmlns:a16="http://schemas.microsoft.com/office/drawing/2014/main" id="{1D7939C6-AF18-4B92-85DE-61D4BC93026F}"/>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13</a:t>
            </a:r>
          </a:p>
        </p:txBody>
      </p:sp>
      <p:sp>
        <p:nvSpPr>
          <p:cNvPr id="4" name="">
            <a:extLst xmlns:a="http://schemas.openxmlformats.org/drawingml/2006/main">
              <a:ext uri="{FF2B5EF4-FFF2-40B4-BE49-F238E27FC236}">
                <a16:creationId xmlns:a16="http://schemas.microsoft.com/office/drawing/2014/main" id="{7604AC49-2006-417B-8505-41D5BA0A71DD}"/>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13</a:t>
            </a:r>
          </a:p>
        </p:txBody>
      </p:sp>
      <p:sp>
        <p:nvSpPr>
          <p:cNvPr id="5" name="">
            <a:extLst xmlns:a="http://schemas.openxmlformats.org/drawingml/2006/main">
              <a:ext uri="{FF2B5EF4-FFF2-40B4-BE49-F238E27FC236}">
                <a16:creationId xmlns:a16="http://schemas.microsoft.com/office/drawing/2014/main" id="{FBF1C4E4-C173-40D5-BE2B-7F0FB52FA572}"/>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86F7A33F-65DB-4459-AFD0-55F6B4761B04}"/>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D1678B78-089C-4C5C-AD01-746ADC7722E1}"/>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7C3DE9FA-A55F-4B2A-81C2-02AF409ACF22}"/>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5-0">
            <a:extLst xmlns:a="http://schemas.openxmlformats.org/drawingml/2006/main">
              <a:ext uri="{FF2B5EF4-FFF2-40B4-BE49-F238E27FC236}">
                <a16:creationId xmlns:a16="http://schemas.microsoft.com/office/drawing/2014/main" id="{A2380362-29B6-4D14-9FB2-0FFA98991D4A}"/>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Gudang</a:t>
            </a:r>
          </a:p>
        </p:txBody>
      </p:sp>
      <p:sp>
        <p:nvSpPr>
          <p:cNvPr id="10" name="case-5-0">
            <a:extLst xmlns:a="http://schemas.openxmlformats.org/drawingml/2006/main">
              <a:ext uri="{FF2B5EF4-FFF2-40B4-BE49-F238E27FC236}">
                <a16:creationId xmlns:a16="http://schemas.microsoft.com/office/drawing/2014/main" id="{68AB32EE-EAAC-41FF-A5E3-170185D24FD8}"/>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Memantau tanggal ED</a:t>
            </a:r>
          </a:p>
        </p:txBody>
      </p:sp>
      <p:sp>
        <p:nvSpPr>
          <p:cNvPr id="11" name="actor-5-1">
            <a:extLst xmlns:a="http://schemas.openxmlformats.org/drawingml/2006/main">
              <a:ext uri="{FF2B5EF4-FFF2-40B4-BE49-F238E27FC236}">
                <a16:creationId xmlns:a16="http://schemas.microsoft.com/office/drawing/2014/main" id="{581DEECF-9195-464A-9E01-C60E7EA4AF8F}"/>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2" name="case-5-1">
            <a:extLst xmlns:a="http://schemas.openxmlformats.org/drawingml/2006/main">
              <a:ext uri="{FF2B5EF4-FFF2-40B4-BE49-F238E27FC236}">
                <a16:creationId xmlns:a16="http://schemas.microsoft.com/office/drawing/2014/main" id="{602F1EBC-2BE1-4A1B-9835-38DA343727BB}"/>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Memilih batch FEFO</a:t>
            </a:r>
          </a:p>
        </p:txBody>
      </p:sp>
      <p:sp>
        <p:nvSpPr>
          <p:cNvPr id="13" name="actor-5-2">
            <a:extLst xmlns:a="http://schemas.openxmlformats.org/drawingml/2006/main">
              <a:ext uri="{FF2B5EF4-FFF2-40B4-BE49-F238E27FC236}">
                <a16:creationId xmlns:a16="http://schemas.microsoft.com/office/drawing/2014/main" id="{641083F1-3CAC-4FF4-8622-3A2AE0F1595D}"/>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Supervisor</a:t>
            </a:r>
          </a:p>
        </p:txBody>
      </p:sp>
      <p:sp>
        <p:nvSpPr>
          <p:cNvPr id="14" name="case-5-2">
            <a:extLst xmlns:a="http://schemas.openxmlformats.org/drawingml/2006/main">
              <a:ext uri="{FF2B5EF4-FFF2-40B4-BE49-F238E27FC236}">
                <a16:creationId xmlns:a16="http://schemas.microsoft.com/office/drawing/2014/main" id="{BF9B1571-A6C6-4ACB-911E-44E2B6F8196E}"/>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Mengarantina batch</a:t>
            </a:r>
          </a:p>
        </p:txBody>
      </p:sp>
      <p:sp>
        <p:nvSpPr>
          <p:cNvPr id="15" name="actor-5-3">
            <a:extLst xmlns:a="http://schemas.openxmlformats.org/drawingml/2006/main">
              <a:ext uri="{FF2B5EF4-FFF2-40B4-BE49-F238E27FC236}">
                <a16:creationId xmlns:a16="http://schemas.microsoft.com/office/drawing/2014/main" id="{17476CBA-3E9F-4B3F-824A-372A428696EF}"/>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Sistem FEFO</a:t>
            </a:r>
          </a:p>
        </p:txBody>
      </p:sp>
      <p:sp>
        <p:nvSpPr>
          <p:cNvPr id="16" name="case-5-3">
            <a:extLst xmlns:a="http://schemas.openxmlformats.org/drawingml/2006/main">
              <a:ext uri="{FF2B5EF4-FFF2-40B4-BE49-F238E27FC236}">
                <a16:creationId xmlns:a16="http://schemas.microsoft.com/office/drawing/2014/main" id="{118E443C-C195-4EBF-8E10-1E37E89E5F43}"/>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Mencatat disposisi</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18E4C4B2-2459-4DBA-8F80-C2455E15DF1E}"/>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5-0">
            <a:extLst xmlns:a="http://schemas.openxmlformats.org/drawingml/2006/main">
              <a:ext uri="{FF2B5EF4-FFF2-40B4-BE49-F238E27FC236}">
                <a16:creationId xmlns:a16="http://schemas.microsoft.com/office/drawing/2014/main" id="{578B1735-A659-4BB0-A7A6-362A79165DE1}"/>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Pilih horizon</a:t>
            </a:r>
          </a:p>
        </p:txBody>
      </p:sp>
      <p:sp>
        <p:nvSpPr>
          <p:cNvPr id="23" name="flow-5-1">
            <a:extLst xmlns:a="http://schemas.openxmlformats.org/drawingml/2006/main">
              <a:ext uri="{FF2B5EF4-FFF2-40B4-BE49-F238E27FC236}">
                <a16:creationId xmlns:a16="http://schemas.microsoft.com/office/drawing/2014/main" id="{8B4C044F-C24D-438C-8DE9-B95D400E03AD}"/>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Baca status batch</a:t>
            </a:r>
          </a:p>
        </p:txBody>
      </p:sp>
      <p:sp>
        <p:nvSpPr>
          <p:cNvPr id="24" name="flow-5-2">
            <a:extLst xmlns:a="http://schemas.openxmlformats.org/drawingml/2006/main">
              <a:ext uri="{FF2B5EF4-FFF2-40B4-BE49-F238E27FC236}">
                <a16:creationId xmlns:a16="http://schemas.microsoft.com/office/drawing/2014/main" id="{4EEB7976-B622-46D3-A386-68E6E30AE342}"/>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Urutkan tanggal</a:t>
            </a:r>
          </a:p>
        </p:txBody>
      </p:sp>
      <p:sp>
        <p:nvSpPr>
          <p:cNvPr id="25" name="flow-5-3">
            <a:extLst xmlns:a="http://schemas.openxmlformats.org/drawingml/2006/main">
              <a:ext uri="{FF2B5EF4-FFF2-40B4-BE49-F238E27FC236}">
                <a16:creationId xmlns:a16="http://schemas.microsoft.com/office/drawing/2014/main" id="{498F6F13-AD3B-424E-8421-A8D2874E3DC7}"/>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Periksa sisa</a:t>
            </a:r>
          </a:p>
        </p:txBody>
      </p:sp>
      <p:sp>
        <p:nvSpPr>
          <p:cNvPr id="26" name="flow-5-4">
            <a:extLst xmlns:a="http://schemas.openxmlformats.org/drawingml/2006/main">
              <a:ext uri="{FF2B5EF4-FFF2-40B4-BE49-F238E27FC236}">
                <a16:creationId xmlns:a16="http://schemas.microsoft.com/office/drawing/2014/main" id="{15FD31A9-DA42-45E4-8D22-D92CAAF6D267}"/>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Karantina/retur</a:t>
            </a:r>
          </a:p>
        </p:txBody>
      </p:sp>
      <p:sp>
        <p:nvSpPr>
          <p:cNvPr id="27" name="flow-5-5">
            <a:extLst xmlns:a="http://schemas.openxmlformats.org/drawingml/2006/main">
              <a:ext uri="{FF2B5EF4-FFF2-40B4-BE49-F238E27FC236}">
                <a16:creationId xmlns:a16="http://schemas.microsoft.com/office/drawing/2014/main" id="{37F91380-4E75-443B-A05D-DB077B99DC79}"/>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Dokumentasikan disposisi</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00457033-5E76-449A-A5E2-C96EE1F511F4}"/>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5-0">
            <a:extLst xmlns:a="http://schemas.openxmlformats.org/drawingml/2006/main">
              <a:ext uri="{FF2B5EF4-FFF2-40B4-BE49-F238E27FC236}">
                <a16:creationId xmlns:a16="http://schemas.microsoft.com/office/drawing/2014/main" id="{6B07B7BF-2B0C-4B94-B11E-CF0F77278E13}"/>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ITEM</a:t>
            </a:r>
          </a:p>
        </p:txBody>
      </p:sp>
      <p:sp>
        <p:nvSpPr>
          <p:cNvPr id="35" name="entity-5-1">
            <a:extLst xmlns:a="http://schemas.openxmlformats.org/drawingml/2006/main">
              <a:ext uri="{FF2B5EF4-FFF2-40B4-BE49-F238E27FC236}">
                <a16:creationId xmlns:a16="http://schemas.microsoft.com/office/drawing/2014/main" id="{D587D8C1-4944-4546-AE1A-C0A4F681EEA4}"/>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BATCH/LOT</a:t>
            </a:r>
          </a:p>
        </p:txBody>
      </p:sp>
      <p:sp>
        <p:nvSpPr>
          <p:cNvPr id="36" name="entity-5-2">
            <a:extLst xmlns:a="http://schemas.openxmlformats.org/drawingml/2006/main">
              <a:ext uri="{FF2B5EF4-FFF2-40B4-BE49-F238E27FC236}">
                <a16:creationId xmlns:a16="http://schemas.microsoft.com/office/drawing/2014/main" id="{9DAE3F38-08FB-43B4-A9D8-5B3015F02A99}"/>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MUTASI STOK</a:t>
            </a:r>
          </a:p>
        </p:txBody>
      </p:sp>
      <p:sp>
        <p:nvSpPr>
          <p:cNvPr id="37" name="entity-5-3">
            <a:extLst xmlns:a="http://schemas.openxmlformats.org/drawingml/2006/main">
              <a:ext uri="{FF2B5EF4-FFF2-40B4-BE49-F238E27FC236}">
                <a16:creationId xmlns:a16="http://schemas.microsoft.com/office/drawing/2014/main" id="{0FF76202-69C4-4A99-B5BB-6840D83792C9}"/>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KARANTINA</a:t>
            </a:r>
          </a:p>
        </p:txBody>
      </p:sp>
      <p:sp>
        <p:nvSpPr>
          <p:cNvPr id="38" name="entity-5-4">
            <a:extLst xmlns:a="http://schemas.openxmlformats.org/drawingml/2006/main">
              <a:ext uri="{FF2B5EF4-FFF2-40B4-BE49-F238E27FC236}">
                <a16:creationId xmlns:a16="http://schemas.microsoft.com/office/drawing/2014/main" id="{9398EC0E-DE6A-48DA-B4A4-0C15022EAB0C}"/>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MONITOR ED</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70A8FEC0-3E03-4719-9BCA-91E441AAB361}"/>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batch lewat tanggal tidak boleh dipakai dalam penjualan atau racikan.</a:t>
            </a:r>
          </a:p>
        </p:txBody>
      </p:sp>
    </p:spTree>
    <p:extLst>
      <p:ext uri="{BB962C8B-B14F-4D97-AF65-F5344CB8AC3E}">
        <p14:creationId xmlns:p14="http://schemas.microsoft.com/office/powerpoint/2010/main" val="688680454"/>
      </p:ext>
    </p:extLst>
  </p:cSld>
</p:sld>
</file>

<file path=ppt/slides/slide14.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14">
            <a:extLst xmlns:a="http://schemas.openxmlformats.org/drawingml/2006/main">
              <a:ext uri="{FF2B5EF4-FFF2-40B4-BE49-F238E27FC236}">
                <a16:creationId xmlns:a16="http://schemas.microsoft.com/office/drawing/2014/main" id="{A3C2258F-AFF9-4917-874F-DE2255E8C146}"/>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6</a:t>
            </a:r>
          </a:p>
        </p:txBody>
      </p:sp>
      <p:sp>
        <p:nvSpPr>
          <p:cNvPr id="2" name="title-14">
            <a:extLst xmlns:a="http://schemas.openxmlformats.org/drawingml/2006/main">
              <a:ext uri="{FF2B5EF4-FFF2-40B4-BE49-F238E27FC236}">
                <a16:creationId xmlns:a16="http://schemas.microsoft.com/office/drawing/2014/main" id="{C26D2E36-A573-4676-A967-E2BE308F2135}"/>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Penerimaan Barang dari PBF</a:t>
            </a:r>
          </a:p>
        </p:txBody>
      </p:sp>
      <p:sp>
        <p:nvSpPr>
          <p:cNvPr id="3" name="">
            <a:extLst xmlns:a="http://schemas.openxmlformats.org/drawingml/2006/main">
              <a:ext uri="{FF2B5EF4-FFF2-40B4-BE49-F238E27FC236}">
                <a16:creationId xmlns:a16="http://schemas.microsoft.com/office/drawing/2014/main" id="{EECFA16D-EE9B-4B65-A3F3-62FDEF0376F5}"/>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14</a:t>
            </a:r>
          </a:p>
        </p:txBody>
      </p:sp>
      <p:sp>
        <p:nvSpPr>
          <p:cNvPr id="4" name="">
            <a:extLst xmlns:a="http://schemas.openxmlformats.org/drawingml/2006/main">
              <a:ext uri="{FF2B5EF4-FFF2-40B4-BE49-F238E27FC236}">
                <a16:creationId xmlns:a16="http://schemas.microsoft.com/office/drawing/2014/main" id="{F1629B2D-CC5A-4604-900E-5A5D9D5B1E38}"/>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14</a:t>
            </a:r>
          </a:p>
        </p:txBody>
      </p:sp>
      <p:sp>
        <p:nvSpPr>
          <p:cNvPr id="5" name="">
            <a:extLst xmlns:a="http://schemas.openxmlformats.org/drawingml/2006/main">
              <a:ext uri="{FF2B5EF4-FFF2-40B4-BE49-F238E27FC236}">
                <a16:creationId xmlns:a16="http://schemas.microsoft.com/office/drawing/2014/main" id="{966A02D6-F4FF-4902-B51C-1983CDEF7DA8}"/>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55de72a599445df"/>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19D5DCD8-2A75-4F26-91ED-F796E4E6AB40}"/>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5DE5F0FE-28FB-4DD5-AF48-9B9AACC7AC09}"/>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Penerimaan PBF adalah pintu masuk stok sehingga kesalahan di layar ini akan terbawa ke penjualan, FEFO, HPP, tagihan, dan laporan. Form menampilkan identitas pemasok atau dokumen, daftar item, jumlah, harga beli, batch, tanggal kedaluwarsa, serta keterangan. Operator harus bekerja dari surat jalan, PO, dan…</a:t>
            </a:r>
          </a:p>
        </p:txBody>
      </p:sp>
      <p:sp>
        <p:nvSpPr>
          <p:cNvPr id="9" name="">
            <a:extLst xmlns:a="http://schemas.openxmlformats.org/drawingml/2006/main">
              <a:ext uri="{FF2B5EF4-FFF2-40B4-BE49-F238E27FC236}">
                <a16:creationId xmlns:a16="http://schemas.microsoft.com/office/drawing/2014/main" id="{064D2320-E474-4A9C-B728-48B2EED3B164}"/>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B8EFE82C-CD7A-43CE-8D25-2ED597205685}"/>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A764EF93-927F-44F3-82BD-8D8E0616F239}"/>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130643112"/>
      </p:ext>
    </p:extLst>
  </p:cSld>
</p:sld>
</file>

<file path=ppt/slides/slide15.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15">
            <a:extLst xmlns:a="http://schemas.openxmlformats.org/drawingml/2006/main">
              <a:ext uri="{FF2B5EF4-FFF2-40B4-BE49-F238E27FC236}">
                <a16:creationId xmlns:a16="http://schemas.microsoft.com/office/drawing/2014/main" id="{2142DA16-2C49-4C33-AD1C-A3367EF9AC38}"/>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6</a:t>
            </a:r>
          </a:p>
        </p:txBody>
      </p:sp>
      <p:sp>
        <p:nvSpPr>
          <p:cNvPr id="2" name="title-15">
            <a:extLst xmlns:a="http://schemas.openxmlformats.org/drawingml/2006/main">
              <a:ext uri="{FF2B5EF4-FFF2-40B4-BE49-F238E27FC236}">
                <a16:creationId xmlns:a16="http://schemas.microsoft.com/office/drawing/2014/main" id="{8F0CDA3E-B1DB-44D4-B947-D597545FFB11}"/>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Penerimaan Barang dari PBF: peran, proses, dan data</a:t>
            </a:r>
          </a:p>
        </p:txBody>
      </p:sp>
      <p:sp>
        <p:nvSpPr>
          <p:cNvPr id="3" name="">
            <a:extLst xmlns:a="http://schemas.openxmlformats.org/drawingml/2006/main">
              <a:ext uri="{FF2B5EF4-FFF2-40B4-BE49-F238E27FC236}">
                <a16:creationId xmlns:a16="http://schemas.microsoft.com/office/drawing/2014/main" id="{CCADEF06-C487-43B4-9C9C-CC187DB5A077}"/>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15</a:t>
            </a:r>
          </a:p>
        </p:txBody>
      </p:sp>
      <p:sp>
        <p:nvSpPr>
          <p:cNvPr id="4" name="">
            <a:extLst xmlns:a="http://schemas.openxmlformats.org/drawingml/2006/main">
              <a:ext uri="{FF2B5EF4-FFF2-40B4-BE49-F238E27FC236}">
                <a16:creationId xmlns:a16="http://schemas.microsoft.com/office/drawing/2014/main" id="{49516950-37A0-41E1-9E5B-751ABE4B3C44}"/>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15</a:t>
            </a:r>
          </a:p>
        </p:txBody>
      </p:sp>
      <p:sp>
        <p:nvSpPr>
          <p:cNvPr id="5" name="">
            <a:extLst xmlns:a="http://schemas.openxmlformats.org/drawingml/2006/main">
              <a:ext uri="{FF2B5EF4-FFF2-40B4-BE49-F238E27FC236}">
                <a16:creationId xmlns:a16="http://schemas.microsoft.com/office/drawing/2014/main" id="{7A1B5E4C-CF43-4589-B633-072C39996FFC}"/>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513AEE2C-7705-4871-A9CF-7DA8CBA61773}"/>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73A36BCB-FE3C-4C32-82BF-B726EE76F80C}"/>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5D536448-C651-44A5-9245-2618D122A5DC}"/>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6-0">
            <a:extLst xmlns:a="http://schemas.openxmlformats.org/drawingml/2006/main">
              <a:ext uri="{FF2B5EF4-FFF2-40B4-BE49-F238E27FC236}">
                <a16:creationId xmlns:a16="http://schemas.microsoft.com/office/drawing/2014/main" id="{F6CADB20-0DEE-4295-BF89-28D1DA0FD39C}"/>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Gudang</a:t>
            </a:r>
          </a:p>
        </p:txBody>
      </p:sp>
      <p:sp>
        <p:nvSpPr>
          <p:cNvPr id="10" name="case-6-0">
            <a:extLst xmlns:a="http://schemas.openxmlformats.org/drawingml/2006/main">
              <a:ext uri="{FF2B5EF4-FFF2-40B4-BE49-F238E27FC236}">
                <a16:creationId xmlns:a16="http://schemas.microsoft.com/office/drawing/2014/main" id="{0DA88F48-1155-49A5-8323-550EA49DDBE6}"/>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Menerima barang</a:t>
            </a:r>
          </a:p>
        </p:txBody>
      </p:sp>
      <p:sp>
        <p:nvSpPr>
          <p:cNvPr id="11" name="actor-6-1">
            <a:extLst xmlns:a="http://schemas.openxmlformats.org/drawingml/2006/main">
              <a:ext uri="{FF2B5EF4-FFF2-40B4-BE49-F238E27FC236}">
                <a16:creationId xmlns:a16="http://schemas.microsoft.com/office/drawing/2014/main" id="{43BA225D-4F66-4661-B196-37932CC4F991}"/>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PBF/Vendor</a:t>
            </a:r>
          </a:p>
        </p:txBody>
      </p:sp>
      <p:sp>
        <p:nvSpPr>
          <p:cNvPr id="12" name="case-6-1">
            <a:extLst xmlns:a="http://schemas.openxmlformats.org/drawingml/2006/main">
              <a:ext uri="{FF2B5EF4-FFF2-40B4-BE49-F238E27FC236}">
                <a16:creationId xmlns:a16="http://schemas.microsoft.com/office/drawing/2014/main" id="{A1F9997D-E839-450F-93D4-1F7C7F5D396F}"/>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Mencatat batch dan ED</a:t>
            </a:r>
          </a:p>
        </p:txBody>
      </p:sp>
      <p:sp>
        <p:nvSpPr>
          <p:cNvPr id="13" name="actor-6-2">
            <a:extLst xmlns:a="http://schemas.openxmlformats.org/drawingml/2006/main">
              <a:ext uri="{FF2B5EF4-FFF2-40B4-BE49-F238E27FC236}">
                <a16:creationId xmlns:a16="http://schemas.microsoft.com/office/drawing/2014/main" id="{52E9B559-E6AF-42C4-A684-A716DBFECD46}"/>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4" name="case-6-2">
            <a:extLst xmlns:a="http://schemas.openxmlformats.org/drawingml/2006/main">
              <a:ext uri="{FF2B5EF4-FFF2-40B4-BE49-F238E27FC236}">
                <a16:creationId xmlns:a16="http://schemas.microsoft.com/office/drawing/2014/main" id="{C2B779F6-FB8B-429B-9DBF-5AEBAD60420C}"/>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Memeriksa kuantitas</a:t>
            </a:r>
          </a:p>
        </p:txBody>
      </p:sp>
      <p:sp>
        <p:nvSpPr>
          <p:cNvPr id="15" name="actor-6-3">
            <a:extLst xmlns:a="http://schemas.openxmlformats.org/drawingml/2006/main">
              <a:ext uri="{FF2B5EF4-FFF2-40B4-BE49-F238E27FC236}">
                <a16:creationId xmlns:a16="http://schemas.microsoft.com/office/drawing/2014/main" id="{F003CD04-7E4A-410A-BCAE-A653F52AE5ED}"/>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Keuangan</a:t>
            </a:r>
          </a:p>
        </p:txBody>
      </p:sp>
      <p:sp>
        <p:nvSpPr>
          <p:cNvPr id="16" name="case-6-3">
            <a:extLst xmlns:a="http://schemas.openxmlformats.org/drawingml/2006/main">
              <a:ext uri="{FF2B5EF4-FFF2-40B4-BE49-F238E27FC236}">
                <a16:creationId xmlns:a16="http://schemas.microsoft.com/office/drawing/2014/main" id="{A8EC25BF-4A5D-4550-9990-A41A787B148D}"/>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Menghubungkan dokumen sumber</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B3A28583-4D14-45D3-A5CA-2423916E9C97}"/>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6-0">
            <a:extLst xmlns:a="http://schemas.openxmlformats.org/drawingml/2006/main">
              <a:ext uri="{FF2B5EF4-FFF2-40B4-BE49-F238E27FC236}">
                <a16:creationId xmlns:a16="http://schemas.microsoft.com/office/drawing/2014/main" id="{A6B8B379-7FC5-45BE-A9A2-46D9EC771E8F}"/>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Pilih vendor/dokumen</a:t>
            </a:r>
          </a:p>
        </p:txBody>
      </p:sp>
      <p:sp>
        <p:nvSpPr>
          <p:cNvPr id="23" name="flow-6-1">
            <a:extLst xmlns:a="http://schemas.openxmlformats.org/drawingml/2006/main">
              <a:ext uri="{FF2B5EF4-FFF2-40B4-BE49-F238E27FC236}">
                <a16:creationId xmlns:a16="http://schemas.microsoft.com/office/drawing/2014/main" id="{CD1D5AA5-2EAD-472C-8AE2-40727FDDAF45}"/>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Cocokkan barang</a:t>
            </a:r>
          </a:p>
        </p:txBody>
      </p:sp>
      <p:sp>
        <p:nvSpPr>
          <p:cNvPr id="24" name="flow-6-2">
            <a:extLst xmlns:a="http://schemas.openxmlformats.org/drawingml/2006/main">
              <a:ext uri="{FF2B5EF4-FFF2-40B4-BE49-F238E27FC236}">
                <a16:creationId xmlns:a16="http://schemas.microsoft.com/office/drawing/2014/main" id="{5111DBE4-DE56-4916-A206-F392416A4766}"/>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Isi lot dan ED</a:t>
            </a:r>
          </a:p>
        </p:txBody>
      </p:sp>
      <p:sp>
        <p:nvSpPr>
          <p:cNvPr id="25" name="flow-6-3">
            <a:extLst xmlns:a="http://schemas.openxmlformats.org/drawingml/2006/main">
              <a:ext uri="{FF2B5EF4-FFF2-40B4-BE49-F238E27FC236}">
                <a16:creationId xmlns:a16="http://schemas.microsoft.com/office/drawing/2014/main" id="{6B4265B4-FFE5-46E3-9A14-DF29CF35BBEF}"/>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Periksa harga/qty</a:t>
            </a:r>
          </a:p>
        </p:txBody>
      </p:sp>
      <p:sp>
        <p:nvSpPr>
          <p:cNvPr id="26" name="flow-6-4">
            <a:extLst xmlns:a="http://schemas.openxmlformats.org/drawingml/2006/main">
              <a:ext uri="{FF2B5EF4-FFF2-40B4-BE49-F238E27FC236}">
                <a16:creationId xmlns:a16="http://schemas.microsoft.com/office/drawing/2014/main" id="{E649D33B-50CB-45CF-8145-C7C01D9584F8}"/>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Simpan penerimaan</a:t>
            </a:r>
          </a:p>
        </p:txBody>
      </p:sp>
      <p:sp>
        <p:nvSpPr>
          <p:cNvPr id="27" name="flow-6-5">
            <a:extLst xmlns:a="http://schemas.openxmlformats.org/drawingml/2006/main">
              <a:ext uri="{FF2B5EF4-FFF2-40B4-BE49-F238E27FC236}">
                <a16:creationId xmlns:a16="http://schemas.microsoft.com/office/drawing/2014/main" id="{FF4F164E-CBD4-41EA-A3F5-F99485C88473}"/>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Baca ulang stok</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2DA8309D-3115-428D-B17C-FE1171821B5F}"/>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6-0">
            <a:extLst xmlns:a="http://schemas.openxmlformats.org/drawingml/2006/main">
              <a:ext uri="{FF2B5EF4-FFF2-40B4-BE49-F238E27FC236}">
                <a16:creationId xmlns:a16="http://schemas.microsoft.com/office/drawing/2014/main" id="{43AEDD41-A0BD-490C-8E03-2A7AD2E9E8FC}"/>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VENDOR/PBF</a:t>
            </a:r>
          </a:p>
        </p:txBody>
      </p:sp>
      <p:sp>
        <p:nvSpPr>
          <p:cNvPr id="35" name="entity-6-1">
            <a:extLst xmlns:a="http://schemas.openxmlformats.org/drawingml/2006/main">
              <a:ext uri="{FF2B5EF4-FFF2-40B4-BE49-F238E27FC236}">
                <a16:creationId xmlns:a16="http://schemas.microsoft.com/office/drawing/2014/main" id="{424D2446-2606-483A-BA7B-AD0FF092BFBD}"/>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PO</a:t>
            </a:r>
          </a:p>
        </p:txBody>
      </p:sp>
      <p:sp>
        <p:nvSpPr>
          <p:cNvPr id="36" name="entity-6-2">
            <a:extLst xmlns:a="http://schemas.openxmlformats.org/drawingml/2006/main">
              <a:ext uri="{FF2B5EF4-FFF2-40B4-BE49-F238E27FC236}">
                <a16:creationId xmlns:a16="http://schemas.microsoft.com/office/drawing/2014/main" id="{81261E6A-C2A2-4F0D-87CA-22D0712254F8}"/>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BAST/PENERIMAAN</a:t>
            </a:r>
          </a:p>
        </p:txBody>
      </p:sp>
      <p:sp>
        <p:nvSpPr>
          <p:cNvPr id="37" name="entity-6-3">
            <a:extLst xmlns:a="http://schemas.openxmlformats.org/drawingml/2006/main">
              <a:ext uri="{FF2B5EF4-FFF2-40B4-BE49-F238E27FC236}">
                <a16:creationId xmlns:a16="http://schemas.microsoft.com/office/drawing/2014/main" id="{F1E5F269-6436-4CB3-A9D2-7F25BCC71C63}"/>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BATCH</a:t>
            </a:r>
          </a:p>
        </p:txBody>
      </p:sp>
      <p:sp>
        <p:nvSpPr>
          <p:cNvPr id="38" name="entity-6-4">
            <a:extLst xmlns:a="http://schemas.openxmlformats.org/drawingml/2006/main">
              <a:ext uri="{FF2B5EF4-FFF2-40B4-BE49-F238E27FC236}">
                <a16:creationId xmlns:a16="http://schemas.microsoft.com/office/drawing/2014/main" id="{83DF4A25-14AA-420B-B674-70A3FAE0214F}"/>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PERSEDIAAN</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C820CBA8-9840-4A88-AAFD-DCD04C92FC14}"/>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barang, jumlah, mutu, batch, ED, dan referensi PO/BAST harus konsisten.</a:t>
            </a:r>
          </a:p>
        </p:txBody>
      </p:sp>
    </p:spTree>
    <p:extLst>
      <p:ext uri="{BB962C8B-B14F-4D97-AF65-F5344CB8AC3E}">
        <p14:creationId xmlns:p14="http://schemas.microsoft.com/office/powerpoint/2010/main" val="429533415"/>
      </p:ext>
    </p:extLst>
  </p:cSld>
</p:sld>
</file>

<file path=ppt/slides/slide16.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16">
            <a:extLst xmlns:a="http://schemas.openxmlformats.org/drawingml/2006/main">
              <a:ext uri="{FF2B5EF4-FFF2-40B4-BE49-F238E27FC236}">
                <a16:creationId xmlns:a16="http://schemas.microsoft.com/office/drawing/2014/main" id="{FF2491F7-E60D-4CE1-91FA-F9CAA15093A4}"/>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7</a:t>
            </a:r>
          </a:p>
        </p:txBody>
      </p:sp>
      <p:sp>
        <p:nvSpPr>
          <p:cNvPr id="2" name="title-16">
            <a:extLst xmlns:a="http://schemas.openxmlformats.org/drawingml/2006/main">
              <a:ext uri="{FF2B5EF4-FFF2-40B4-BE49-F238E27FC236}">
                <a16:creationId xmlns:a16="http://schemas.microsoft.com/office/drawing/2014/main" id="{96CCAD72-8310-463C-BC8C-35AC29990740}"/>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Layar Publik Obat Jadi dan Racikan</a:t>
            </a:r>
          </a:p>
        </p:txBody>
      </p:sp>
      <p:sp>
        <p:nvSpPr>
          <p:cNvPr id="3" name="">
            <a:extLst xmlns:a="http://schemas.openxmlformats.org/drawingml/2006/main">
              <a:ext uri="{FF2B5EF4-FFF2-40B4-BE49-F238E27FC236}">
                <a16:creationId xmlns:a16="http://schemas.microsoft.com/office/drawing/2014/main" id="{C2EF8510-A607-4B2A-9D70-C8B8D92BEF29}"/>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16</a:t>
            </a:r>
          </a:p>
        </p:txBody>
      </p:sp>
      <p:sp>
        <p:nvSpPr>
          <p:cNvPr id="4" name="">
            <a:extLst xmlns:a="http://schemas.openxmlformats.org/drawingml/2006/main">
              <a:ext uri="{FF2B5EF4-FFF2-40B4-BE49-F238E27FC236}">
                <a16:creationId xmlns:a16="http://schemas.microsoft.com/office/drawing/2014/main" id="{15BB9C25-1A42-43B1-A5D1-2E12B328101B}"/>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16</a:t>
            </a:r>
          </a:p>
        </p:txBody>
      </p:sp>
      <p:sp>
        <p:nvSpPr>
          <p:cNvPr id="5" name="">
            <a:extLst xmlns:a="http://schemas.openxmlformats.org/drawingml/2006/main">
              <a:ext uri="{FF2B5EF4-FFF2-40B4-BE49-F238E27FC236}">
                <a16:creationId xmlns:a16="http://schemas.microsoft.com/office/drawing/2014/main" id="{65F3F56F-F1ED-4D7B-92E3-D467BAEF2932}"/>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d24f4373e104215"/>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238C4EEB-A5DC-4F8D-A62D-6B6494C2DC2F}"/>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1484E1B0-DE6A-4E97-BD12-861720638416}"/>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Layar kedua menggabungkan obat jadi dan racikan agar pasien atau keluarga dapat mengetahui posisi proses tanpa bertanya berulang ke loket. Informasi dipisahkan menurut jenis layanan, status seperti menunggu, disiapkan, atau siap, serta tujuan loket. Ukuran huruf dan kontras dirancang untuk televisi atau…</a:t>
            </a:r>
          </a:p>
        </p:txBody>
      </p:sp>
      <p:sp>
        <p:nvSpPr>
          <p:cNvPr id="9" name="">
            <a:extLst xmlns:a="http://schemas.openxmlformats.org/drawingml/2006/main">
              <a:ext uri="{FF2B5EF4-FFF2-40B4-BE49-F238E27FC236}">
                <a16:creationId xmlns:a16="http://schemas.microsoft.com/office/drawing/2014/main" id="{0C77DC7E-DE1A-47F6-A7F8-5BD720F1858E}"/>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B4917E92-B4B2-47A4-A408-00DEBDB54A95}"/>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FC64F544-7666-4073-B184-B875ADFAB04E}"/>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623494139"/>
      </p:ext>
    </p:extLst>
  </p:cSld>
</p:sld>
</file>

<file path=ppt/slides/slide17.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17">
            <a:extLst xmlns:a="http://schemas.openxmlformats.org/drawingml/2006/main">
              <a:ext uri="{FF2B5EF4-FFF2-40B4-BE49-F238E27FC236}">
                <a16:creationId xmlns:a16="http://schemas.microsoft.com/office/drawing/2014/main" id="{670F574A-586B-4511-9D88-13529CCCDA3C}"/>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7</a:t>
            </a:r>
          </a:p>
        </p:txBody>
      </p:sp>
      <p:sp>
        <p:nvSpPr>
          <p:cNvPr id="2" name="title-17">
            <a:extLst xmlns:a="http://schemas.openxmlformats.org/drawingml/2006/main">
              <a:ext uri="{FF2B5EF4-FFF2-40B4-BE49-F238E27FC236}">
                <a16:creationId xmlns:a16="http://schemas.microsoft.com/office/drawing/2014/main" id="{F97A9B0A-4EDE-47C5-AF27-C3D8FBA0133B}"/>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Layar Publik Obat Jadi dan Racikan: peran, proses, dan data</a:t>
            </a:r>
          </a:p>
        </p:txBody>
      </p:sp>
      <p:sp>
        <p:nvSpPr>
          <p:cNvPr id="3" name="">
            <a:extLst xmlns:a="http://schemas.openxmlformats.org/drawingml/2006/main">
              <a:ext uri="{FF2B5EF4-FFF2-40B4-BE49-F238E27FC236}">
                <a16:creationId xmlns:a16="http://schemas.microsoft.com/office/drawing/2014/main" id="{9DE481C0-70FE-4109-8D64-2EC881279915}"/>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17</a:t>
            </a:r>
          </a:p>
        </p:txBody>
      </p:sp>
      <p:sp>
        <p:nvSpPr>
          <p:cNvPr id="4" name="">
            <a:extLst xmlns:a="http://schemas.openxmlformats.org/drawingml/2006/main">
              <a:ext uri="{FF2B5EF4-FFF2-40B4-BE49-F238E27FC236}">
                <a16:creationId xmlns:a16="http://schemas.microsoft.com/office/drawing/2014/main" id="{AC8D6BDC-2AEB-49C6-8A2A-8A439570E895}"/>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17</a:t>
            </a:r>
          </a:p>
        </p:txBody>
      </p:sp>
      <p:sp>
        <p:nvSpPr>
          <p:cNvPr id="5" name="">
            <a:extLst xmlns:a="http://schemas.openxmlformats.org/drawingml/2006/main">
              <a:ext uri="{FF2B5EF4-FFF2-40B4-BE49-F238E27FC236}">
                <a16:creationId xmlns:a16="http://schemas.microsoft.com/office/drawing/2014/main" id="{0D876106-8B22-4902-8967-21B0276157AA}"/>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95B55423-1858-46D7-9E7A-41E2DE880979}"/>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BC77AC03-459E-4C17-BAE8-F27AB31E6D17}"/>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46099EDD-FA14-44E4-B0EA-5DF8ACD41721}"/>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7-0">
            <a:extLst xmlns:a="http://schemas.openxmlformats.org/drawingml/2006/main">
              <a:ext uri="{FF2B5EF4-FFF2-40B4-BE49-F238E27FC236}">
                <a16:creationId xmlns:a16="http://schemas.microsoft.com/office/drawing/2014/main" id="{0CFE0060-FF97-4F8E-8E30-3112E5D10F93}"/>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Pasien/Keluarga</a:t>
            </a:r>
          </a:p>
        </p:txBody>
      </p:sp>
      <p:sp>
        <p:nvSpPr>
          <p:cNvPr id="10" name="case-7-0">
            <a:extLst xmlns:a="http://schemas.openxmlformats.org/drawingml/2006/main">
              <a:ext uri="{FF2B5EF4-FFF2-40B4-BE49-F238E27FC236}">
                <a16:creationId xmlns:a16="http://schemas.microsoft.com/office/drawing/2014/main" id="{AF7A7B4D-AD9F-4942-A63F-85B535498357}"/>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Melihat status anonim</a:t>
            </a:r>
          </a:p>
        </p:txBody>
      </p:sp>
      <p:sp>
        <p:nvSpPr>
          <p:cNvPr id="11" name="actor-7-1">
            <a:extLst xmlns:a="http://schemas.openxmlformats.org/drawingml/2006/main">
              <a:ext uri="{FF2B5EF4-FFF2-40B4-BE49-F238E27FC236}">
                <a16:creationId xmlns:a16="http://schemas.microsoft.com/office/drawing/2014/main" id="{CBC07A3A-3C12-4A13-A1B0-7B7F08B3B4DA}"/>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Petugas Farmasi</a:t>
            </a:r>
          </a:p>
        </p:txBody>
      </p:sp>
      <p:sp>
        <p:nvSpPr>
          <p:cNvPr id="12" name="case-7-1">
            <a:extLst xmlns:a="http://schemas.openxmlformats.org/drawingml/2006/main">
              <a:ext uri="{FF2B5EF4-FFF2-40B4-BE49-F238E27FC236}">
                <a16:creationId xmlns:a16="http://schemas.microsoft.com/office/drawing/2014/main" id="{C7E318FB-7D40-49A6-A44D-D45C174FE16D}"/>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Membedakan jenis layanan</a:t>
            </a:r>
          </a:p>
        </p:txBody>
      </p:sp>
      <p:sp>
        <p:nvSpPr>
          <p:cNvPr id="13" name="actor-7-2">
            <a:extLst xmlns:a="http://schemas.openxmlformats.org/drawingml/2006/main">
              <a:ext uri="{FF2B5EF4-FFF2-40B4-BE49-F238E27FC236}">
                <a16:creationId xmlns:a16="http://schemas.microsoft.com/office/drawing/2014/main" id="{6D306C83-2D34-4AA9-85F9-58C2EB6BA5A7}"/>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Sistem Antrean</a:t>
            </a:r>
          </a:p>
        </p:txBody>
      </p:sp>
      <p:sp>
        <p:nvSpPr>
          <p:cNvPr id="14" name="case-7-2">
            <a:extLst xmlns:a="http://schemas.openxmlformats.org/drawingml/2006/main">
              <a:ext uri="{FF2B5EF4-FFF2-40B4-BE49-F238E27FC236}">
                <a16:creationId xmlns:a16="http://schemas.microsoft.com/office/drawing/2014/main" id="{5C4E2E6A-A958-464D-8E72-082D67537199}"/>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Mengetahui loket</a:t>
            </a:r>
          </a:p>
        </p:txBody>
      </p:sp>
      <p:sp>
        <p:nvSpPr>
          <p:cNvPr id="15" name="actor-7-3">
            <a:extLst xmlns:a="http://schemas.openxmlformats.org/drawingml/2006/main">
              <a:ext uri="{FF2B5EF4-FFF2-40B4-BE49-F238E27FC236}">
                <a16:creationId xmlns:a16="http://schemas.microsoft.com/office/drawing/2014/main" id="{5E1A1FB9-D187-4BBD-81FB-B26CA00795BE}"/>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Petugas Loket</a:t>
            </a:r>
          </a:p>
        </p:txBody>
      </p:sp>
      <p:sp>
        <p:nvSpPr>
          <p:cNvPr id="16" name="case-7-3">
            <a:extLst xmlns:a="http://schemas.openxmlformats.org/drawingml/2006/main">
              <a:ext uri="{FF2B5EF4-FFF2-40B4-BE49-F238E27FC236}">
                <a16:creationId xmlns:a16="http://schemas.microsoft.com/office/drawing/2014/main" id="{1C28A6D6-EC32-42AD-983D-446C0A2B4CE5}"/>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Memanggil antrean siap</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32032845-A7C5-4AEC-BBAF-EBBC40E98326}"/>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7-0">
            <a:extLst xmlns:a="http://schemas.openxmlformats.org/drawingml/2006/main">
              <a:ext uri="{FF2B5EF4-FFF2-40B4-BE49-F238E27FC236}">
                <a16:creationId xmlns:a16="http://schemas.microsoft.com/office/drawing/2014/main" id="{B430B0B4-03A2-45AA-9785-EFE77395CC10}"/>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Ambil antrean server</a:t>
            </a:r>
          </a:p>
        </p:txBody>
      </p:sp>
      <p:sp>
        <p:nvSpPr>
          <p:cNvPr id="23" name="flow-7-1">
            <a:extLst xmlns:a="http://schemas.openxmlformats.org/drawingml/2006/main">
              <a:ext uri="{FF2B5EF4-FFF2-40B4-BE49-F238E27FC236}">
                <a16:creationId xmlns:a16="http://schemas.microsoft.com/office/drawing/2014/main" id="{BA72C372-7A37-4DC1-B895-42DA0A193E59}"/>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Samarkan identitas</a:t>
            </a:r>
          </a:p>
        </p:txBody>
      </p:sp>
      <p:sp>
        <p:nvSpPr>
          <p:cNvPr id="24" name="flow-7-2">
            <a:extLst xmlns:a="http://schemas.openxmlformats.org/drawingml/2006/main">
              <a:ext uri="{FF2B5EF4-FFF2-40B4-BE49-F238E27FC236}">
                <a16:creationId xmlns:a16="http://schemas.microsoft.com/office/drawing/2014/main" id="{3973C6CD-712E-449D-8E5D-A578901FBCFB}"/>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Kelompokkan jenis</a:t>
            </a:r>
          </a:p>
        </p:txBody>
      </p:sp>
      <p:sp>
        <p:nvSpPr>
          <p:cNvPr id="25" name="flow-7-3">
            <a:extLst xmlns:a="http://schemas.openxmlformats.org/drawingml/2006/main">
              <a:ext uri="{FF2B5EF4-FFF2-40B4-BE49-F238E27FC236}">
                <a16:creationId xmlns:a16="http://schemas.microsoft.com/office/drawing/2014/main" id="{5BA949BD-A08E-4E07-9AEC-FCB11BE47D60}"/>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Tampilkan status</a:t>
            </a:r>
          </a:p>
        </p:txBody>
      </p:sp>
      <p:sp>
        <p:nvSpPr>
          <p:cNvPr id="26" name="flow-7-4">
            <a:extLst xmlns:a="http://schemas.openxmlformats.org/drawingml/2006/main">
              <a:ext uri="{FF2B5EF4-FFF2-40B4-BE49-F238E27FC236}">
                <a16:creationId xmlns:a16="http://schemas.microsoft.com/office/drawing/2014/main" id="{B096C6A9-3FB9-401D-8A13-200CA0FC8F95}"/>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Arahkan ke loket</a:t>
            </a:r>
          </a:p>
        </p:txBody>
      </p:sp>
      <p:sp>
        <p:nvSpPr>
          <p:cNvPr id="27" name="flow-7-5">
            <a:extLst xmlns:a="http://schemas.openxmlformats.org/drawingml/2006/main">
              <a:ext uri="{FF2B5EF4-FFF2-40B4-BE49-F238E27FC236}">
                <a16:creationId xmlns:a16="http://schemas.microsoft.com/office/drawing/2014/main" id="{C5F8DF34-C520-481E-82FA-E1FE66B19B23}"/>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Perbarui otomatis</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58869DFF-0EB3-4A29-98B7-E362D4D6D4C8}"/>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7-0">
            <a:extLst xmlns:a="http://schemas.openxmlformats.org/drawingml/2006/main">
              <a:ext uri="{FF2B5EF4-FFF2-40B4-BE49-F238E27FC236}">
                <a16:creationId xmlns:a16="http://schemas.microsoft.com/office/drawing/2014/main" id="{B1560469-2E84-493B-AF2A-ADCDD016F97F}"/>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ANTREAN FARMASI</a:t>
            </a:r>
          </a:p>
        </p:txBody>
      </p:sp>
      <p:sp>
        <p:nvSpPr>
          <p:cNvPr id="35" name="entity-7-1">
            <a:extLst xmlns:a="http://schemas.openxmlformats.org/drawingml/2006/main">
              <a:ext uri="{FF2B5EF4-FFF2-40B4-BE49-F238E27FC236}">
                <a16:creationId xmlns:a16="http://schemas.microsoft.com/office/drawing/2014/main" id="{B1439342-E88F-4483-953F-EF7847C16BF6}"/>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PASIEN TERSAMAR</a:t>
            </a:r>
          </a:p>
        </p:txBody>
      </p:sp>
      <p:sp>
        <p:nvSpPr>
          <p:cNvPr id="36" name="entity-7-2">
            <a:extLst xmlns:a="http://schemas.openxmlformats.org/drawingml/2006/main">
              <a:ext uri="{FF2B5EF4-FFF2-40B4-BE49-F238E27FC236}">
                <a16:creationId xmlns:a16="http://schemas.microsoft.com/office/drawing/2014/main" id="{84495607-925E-43A2-A0FD-619BC4F2E7B5}"/>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DAFTAR OBAT PUBLIK</a:t>
            </a:r>
          </a:p>
        </p:txBody>
      </p:sp>
      <p:sp>
        <p:nvSpPr>
          <p:cNvPr id="37" name="entity-7-3">
            <a:extLst xmlns:a="http://schemas.openxmlformats.org/drawingml/2006/main">
              <a:ext uri="{FF2B5EF4-FFF2-40B4-BE49-F238E27FC236}">
                <a16:creationId xmlns:a16="http://schemas.microsoft.com/office/drawing/2014/main" id="{D0BB0AD7-B770-4627-A3AB-4EBECD18EFE2}"/>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LOKET</a:t>
            </a:r>
          </a:p>
        </p:txBody>
      </p:sp>
      <p:sp>
        <p:nvSpPr>
          <p:cNvPr id="38" name="entity-7-4">
            <a:extLst xmlns:a="http://schemas.openxmlformats.org/drawingml/2006/main">
              <a:ext uri="{FF2B5EF4-FFF2-40B4-BE49-F238E27FC236}">
                <a16:creationId xmlns:a16="http://schemas.microsoft.com/office/drawing/2014/main" id="{F06C227D-BBBF-40F7-B0F6-7309A06FF161}"/>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LAYAR KEDUA</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30D98B16-EEB6-4759-B001-60C4F72A4CD6}"/>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identitas pasien tersamar dan hanya informasi yang diperlukan publik yang ditampilkan.</a:t>
            </a:r>
          </a:p>
        </p:txBody>
      </p:sp>
    </p:spTree>
    <p:extLst>
      <p:ext uri="{BB962C8B-B14F-4D97-AF65-F5344CB8AC3E}">
        <p14:creationId xmlns:p14="http://schemas.microsoft.com/office/powerpoint/2010/main" val="1676591144"/>
      </p:ext>
    </p:extLst>
  </p:cSld>
</p:sld>
</file>

<file path=ppt/slides/slide18.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18">
            <a:extLst xmlns:a="http://schemas.openxmlformats.org/drawingml/2006/main">
              <a:ext uri="{FF2B5EF4-FFF2-40B4-BE49-F238E27FC236}">
                <a16:creationId xmlns:a16="http://schemas.microsoft.com/office/drawing/2014/main" id="{358947B0-55A0-48F0-B5C8-AECF75593D26}"/>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8</a:t>
            </a:r>
          </a:p>
        </p:txBody>
      </p:sp>
      <p:sp>
        <p:nvSpPr>
          <p:cNvPr id="2" name="title-18">
            <a:extLst xmlns:a="http://schemas.openxmlformats.org/drawingml/2006/main">
              <a:ext uri="{FF2B5EF4-FFF2-40B4-BE49-F238E27FC236}">
                <a16:creationId xmlns:a16="http://schemas.microsoft.com/office/drawing/2014/main" id="{70BCA83D-8532-4AED-AD15-77FDC6138438}"/>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Layar Tambahan Obat Jadi</a:t>
            </a:r>
          </a:p>
        </p:txBody>
      </p:sp>
      <p:sp>
        <p:nvSpPr>
          <p:cNvPr id="3" name="">
            <a:extLst xmlns:a="http://schemas.openxmlformats.org/drawingml/2006/main">
              <a:ext uri="{FF2B5EF4-FFF2-40B4-BE49-F238E27FC236}">
                <a16:creationId xmlns:a16="http://schemas.microsoft.com/office/drawing/2014/main" id="{E4516E7A-C1FA-4BBB-B72A-71AE536CFB4C}"/>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18</a:t>
            </a:r>
          </a:p>
        </p:txBody>
      </p:sp>
      <p:sp>
        <p:nvSpPr>
          <p:cNvPr id="4" name="">
            <a:extLst xmlns:a="http://schemas.openxmlformats.org/drawingml/2006/main">
              <a:ext uri="{FF2B5EF4-FFF2-40B4-BE49-F238E27FC236}">
                <a16:creationId xmlns:a16="http://schemas.microsoft.com/office/drawing/2014/main" id="{AB75CD22-64CD-4234-8D1C-244E1EAF3453}"/>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18</a:t>
            </a:r>
          </a:p>
        </p:txBody>
      </p:sp>
      <p:sp>
        <p:nvSpPr>
          <p:cNvPr id="5" name="">
            <a:extLst xmlns:a="http://schemas.openxmlformats.org/drawingml/2006/main">
              <a:ext uri="{FF2B5EF4-FFF2-40B4-BE49-F238E27FC236}">
                <a16:creationId xmlns:a16="http://schemas.microsoft.com/office/drawing/2014/main" id="{B054C3E2-C901-4364-BC76-4475128B93FB}"/>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4181e545cb24e2f"/>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D8B0ED45-6ACA-4326-A847-CB80A9D9AEFC}"/>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42729E90-95FF-4F0B-B388-4EB7137D4908}"/>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Mode obat jadi menyediakan layar khusus ketika instalasi memiliki monitor terpisah atau volume resep non-racikan tinggi. Filter jenis mengurangi kepadatan informasi dan membuat nomor antrean, status, serta loket lebih mudah dibaca. Mode ini bukan daftar penjualan; pasien hanya melihat informasi pengambilan…</a:t>
            </a:r>
          </a:p>
        </p:txBody>
      </p:sp>
      <p:sp>
        <p:nvSpPr>
          <p:cNvPr id="9" name="">
            <a:extLst xmlns:a="http://schemas.openxmlformats.org/drawingml/2006/main">
              <a:ext uri="{FF2B5EF4-FFF2-40B4-BE49-F238E27FC236}">
                <a16:creationId xmlns:a16="http://schemas.microsoft.com/office/drawing/2014/main" id="{D30DC2F3-41C3-49AF-8F7F-32EB0B87454D}"/>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468BEF8C-2CBA-4C7C-9EAF-C56978AAFE91}"/>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05CA307D-3EE3-43F7-A901-CEE82BE6C5FC}"/>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950111077"/>
      </p:ext>
    </p:extLst>
  </p:cSld>
</p:sld>
</file>

<file path=ppt/slides/slide19.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19">
            <a:extLst xmlns:a="http://schemas.openxmlformats.org/drawingml/2006/main">
              <a:ext uri="{FF2B5EF4-FFF2-40B4-BE49-F238E27FC236}">
                <a16:creationId xmlns:a16="http://schemas.microsoft.com/office/drawing/2014/main" id="{AC83D9FB-FB67-456C-8AFB-076DEA6C4388}"/>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8</a:t>
            </a:r>
          </a:p>
        </p:txBody>
      </p:sp>
      <p:sp>
        <p:nvSpPr>
          <p:cNvPr id="2" name="title-19">
            <a:extLst xmlns:a="http://schemas.openxmlformats.org/drawingml/2006/main">
              <a:ext uri="{FF2B5EF4-FFF2-40B4-BE49-F238E27FC236}">
                <a16:creationId xmlns:a16="http://schemas.microsoft.com/office/drawing/2014/main" id="{941233C8-EB8E-4C47-BE7A-A2C471161022}"/>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Layar Tambahan Obat Jadi: peran, proses, dan data</a:t>
            </a:r>
          </a:p>
        </p:txBody>
      </p:sp>
      <p:sp>
        <p:nvSpPr>
          <p:cNvPr id="3" name="">
            <a:extLst xmlns:a="http://schemas.openxmlformats.org/drawingml/2006/main">
              <a:ext uri="{FF2B5EF4-FFF2-40B4-BE49-F238E27FC236}">
                <a16:creationId xmlns:a16="http://schemas.microsoft.com/office/drawing/2014/main" id="{823DB664-8590-4F1D-BECE-E7521DA38601}"/>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19</a:t>
            </a:r>
          </a:p>
        </p:txBody>
      </p:sp>
      <p:sp>
        <p:nvSpPr>
          <p:cNvPr id="4" name="">
            <a:extLst xmlns:a="http://schemas.openxmlformats.org/drawingml/2006/main">
              <a:ext uri="{FF2B5EF4-FFF2-40B4-BE49-F238E27FC236}">
                <a16:creationId xmlns:a16="http://schemas.microsoft.com/office/drawing/2014/main" id="{36302A00-9D6D-435E-82E6-898A53F19F81}"/>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19</a:t>
            </a:r>
          </a:p>
        </p:txBody>
      </p:sp>
      <p:sp>
        <p:nvSpPr>
          <p:cNvPr id="5" name="">
            <a:extLst xmlns:a="http://schemas.openxmlformats.org/drawingml/2006/main">
              <a:ext uri="{FF2B5EF4-FFF2-40B4-BE49-F238E27FC236}">
                <a16:creationId xmlns:a16="http://schemas.microsoft.com/office/drawing/2014/main" id="{9F0DD660-F1FB-4C63-A9E9-CABDD4D3B7F0}"/>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6D0A7C8A-E6C8-45FC-A831-E9D72D037F3A}"/>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B69F0281-8333-498F-ADD0-C002FF49E111}"/>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CE2ACF84-B0EC-4854-886E-3460CB26B96E}"/>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8-0">
            <a:extLst xmlns:a="http://schemas.openxmlformats.org/drawingml/2006/main">
              <a:ext uri="{FF2B5EF4-FFF2-40B4-BE49-F238E27FC236}">
                <a16:creationId xmlns:a16="http://schemas.microsoft.com/office/drawing/2014/main" id="{5E547470-2B07-4140-8A29-2449D57512DA}"/>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Pasien OTC</a:t>
            </a:r>
          </a:p>
        </p:txBody>
      </p:sp>
      <p:sp>
        <p:nvSpPr>
          <p:cNvPr id="10" name="case-8-0">
            <a:extLst xmlns:a="http://schemas.openxmlformats.org/drawingml/2006/main">
              <a:ext uri="{FF2B5EF4-FFF2-40B4-BE49-F238E27FC236}">
                <a16:creationId xmlns:a16="http://schemas.microsoft.com/office/drawing/2014/main" id="{89E5C35E-3E2D-4B3B-811D-F77FFA1D1DD6}"/>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Memfilter obat jadi</a:t>
            </a:r>
          </a:p>
        </p:txBody>
      </p:sp>
      <p:sp>
        <p:nvSpPr>
          <p:cNvPr id="11" name="actor-8-1">
            <a:extLst xmlns:a="http://schemas.openxmlformats.org/drawingml/2006/main">
              <a:ext uri="{FF2B5EF4-FFF2-40B4-BE49-F238E27FC236}">
                <a16:creationId xmlns:a16="http://schemas.microsoft.com/office/drawing/2014/main" id="{5C09EB51-65C0-4F69-A416-8174EC31D492}"/>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Petugas Farmasi</a:t>
            </a:r>
          </a:p>
        </p:txBody>
      </p:sp>
      <p:sp>
        <p:nvSpPr>
          <p:cNvPr id="12" name="case-8-1">
            <a:extLst xmlns:a="http://schemas.openxmlformats.org/drawingml/2006/main">
              <a:ext uri="{FF2B5EF4-FFF2-40B4-BE49-F238E27FC236}">
                <a16:creationId xmlns:a16="http://schemas.microsoft.com/office/drawing/2014/main" id="{6FA7F896-5823-4000-8542-64611D65AE0A}"/>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Menampilkan status</a:t>
            </a:r>
          </a:p>
        </p:txBody>
      </p:sp>
      <p:sp>
        <p:nvSpPr>
          <p:cNvPr id="13" name="actor-8-2">
            <a:extLst xmlns:a="http://schemas.openxmlformats.org/drawingml/2006/main">
              <a:ext uri="{FF2B5EF4-FFF2-40B4-BE49-F238E27FC236}">
                <a16:creationId xmlns:a16="http://schemas.microsoft.com/office/drawing/2014/main" id="{A53095B4-EB83-4ADB-A6EB-3C3D5894E5D3}"/>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Sistem Antrean</a:t>
            </a:r>
          </a:p>
        </p:txBody>
      </p:sp>
      <p:sp>
        <p:nvSpPr>
          <p:cNvPr id="14" name="case-8-2">
            <a:extLst xmlns:a="http://schemas.openxmlformats.org/drawingml/2006/main">
              <a:ext uri="{FF2B5EF4-FFF2-40B4-BE49-F238E27FC236}">
                <a16:creationId xmlns:a16="http://schemas.microsoft.com/office/drawing/2014/main" id="{4FFABA74-F15E-4474-9E5B-6BC045D02372}"/>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Mengatur loket</a:t>
            </a:r>
          </a:p>
        </p:txBody>
      </p:sp>
      <p:sp>
        <p:nvSpPr>
          <p:cNvPr id="15" name="actor-8-3">
            <a:extLst xmlns:a="http://schemas.openxmlformats.org/drawingml/2006/main">
              <a:ext uri="{FF2B5EF4-FFF2-40B4-BE49-F238E27FC236}">
                <a16:creationId xmlns:a16="http://schemas.microsoft.com/office/drawing/2014/main" id="{594DE8C9-389A-45A5-9D67-1EE54C8F8623}"/>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Petugas Loket</a:t>
            </a:r>
          </a:p>
        </p:txBody>
      </p:sp>
      <p:sp>
        <p:nvSpPr>
          <p:cNvPr id="16" name="case-8-3">
            <a:extLst xmlns:a="http://schemas.openxmlformats.org/drawingml/2006/main">
              <a:ext uri="{FF2B5EF4-FFF2-40B4-BE49-F238E27FC236}">
                <a16:creationId xmlns:a16="http://schemas.microsoft.com/office/drawing/2014/main" id="{D892912A-6DF6-4D29-AA59-551E4FFD4784}"/>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Memperbarui panggilan</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9BEC126A-0CF6-4341-A464-15E7B3463FC1}"/>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8-0">
            <a:extLst xmlns:a="http://schemas.openxmlformats.org/drawingml/2006/main">
              <a:ext uri="{FF2B5EF4-FFF2-40B4-BE49-F238E27FC236}">
                <a16:creationId xmlns:a16="http://schemas.microsoft.com/office/drawing/2014/main" id="{BEB21CA4-8985-4D95-BE2B-B1CE77791545}"/>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Pilih mode obat jadi</a:t>
            </a:r>
          </a:p>
        </p:txBody>
      </p:sp>
      <p:sp>
        <p:nvSpPr>
          <p:cNvPr id="23" name="flow-8-1">
            <a:extLst xmlns:a="http://schemas.openxmlformats.org/drawingml/2006/main">
              <a:ext uri="{FF2B5EF4-FFF2-40B4-BE49-F238E27FC236}">
                <a16:creationId xmlns:a16="http://schemas.microsoft.com/office/drawing/2014/main" id="{5E98C3EB-CA95-4E1F-80F4-99415EDE3E49}"/>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Ambil antrean</a:t>
            </a:r>
          </a:p>
        </p:txBody>
      </p:sp>
      <p:sp>
        <p:nvSpPr>
          <p:cNvPr id="24" name="flow-8-2">
            <a:extLst xmlns:a="http://schemas.openxmlformats.org/drawingml/2006/main">
              <a:ext uri="{FF2B5EF4-FFF2-40B4-BE49-F238E27FC236}">
                <a16:creationId xmlns:a16="http://schemas.microsoft.com/office/drawing/2014/main" id="{CE07662A-CE82-45EB-BA3B-89AD5B662EB6}"/>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Terapkan filter</a:t>
            </a:r>
          </a:p>
        </p:txBody>
      </p:sp>
      <p:sp>
        <p:nvSpPr>
          <p:cNvPr id="25" name="flow-8-3">
            <a:extLst xmlns:a="http://schemas.openxmlformats.org/drawingml/2006/main">
              <a:ext uri="{FF2B5EF4-FFF2-40B4-BE49-F238E27FC236}">
                <a16:creationId xmlns:a16="http://schemas.microsoft.com/office/drawing/2014/main" id="{8D8C90BD-8619-4F34-94F3-4E9961B8FC7F}"/>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Tampilkan urutan</a:t>
            </a:r>
          </a:p>
        </p:txBody>
      </p:sp>
      <p:sp>
        <p:nvSpPr>
          <p:cNvPr id="26" name="flow-8-4">
            <a:extLst xmlns:a="http://schemas.openxmlformats.org/drawingml/2006/main">
              <a:ext uri="{FF2B5EF4-FFF2-40B4-BE49-F238E27FC236}">
                <a16:creationId xmlns:a16="http://schemas.microsoft.com/office/drawing/2014/main" id="{2887B17A-62CF-4BEB-B605-F32BE34978A5}"/>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Panggil yang siap</a:t>
            </a:r>
          </a:p>
        </p:txBody>
      </p:sp>
      <p:sp>
        <p:nvSpPr>
          <p:cNvPr id="27" name="flow-8-5">
            <a:extLst xmlns:a="http://schemas.openxmlformats.org/drawingml/2006/main">
              <a:ext uri="{FF2B5EF4-FFF2-40B4-BE49-F238E27FC236}">
                <a16:creationId xmlns:a16="http://schemas.microsoft.com/office/drawing/2014/main" id="{35DF38F1-E67F-4494-B47B-EB25B776E15D}"/>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Segarkan layar</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EAF4F7FC-1F7B-4C88-8E7C-18EDFD84FDA3}"/>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8-0">
            <a:extLst xmlns:a="http://schemas.openxmlformats.org/drawingml/2006/main">
              <a:ext uri="{FF2B5EF4-FFF2-40B4-BE49-F238E27FC236}">
                <a16:creationId xmlns:a16="http://schemas.microsoft.com/office/drawing/2014/main" id="{A8C51E09-4498-4C29-B721-2465F42D7B62}"/>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ANTREAN</a:t>
            </a:r>
          </a:p>
        </p:txBody>
      </p:sp>
      <p:sp>
        <p:nvSpPr>
          <p:cNvPr id="35" name="entity-8-1">
            <a:extLst xmlns:a="http://schemas.openxmlformats.org/drawingml/2006/main">
              <a:ext uri="{FF2B5EF4-FFF2-40B4-BE49-F238E27FC236}">
                <a16:creationId xmlns:a16="http://schemas.microsoft.com/office/drawing/2014/main" id="{B4438543-FE05-4FA5-AE85-3B6A1B6D0224}"/>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JENIS JADI</a:t>
            </a:r>
          </a:p>
        </p:txBody>
      </p:sp>
      <p:sp>
        <p:nvSpPr>
          <p:cNvPr id="36" name="entity-8-2">
            <a:extLst xmlns:a="http://schemas.openxmlformats.org/drawingml/2006/main">
              <a:ext uri="{FF2B5EF4-FFF2-40B4-BE49-F238E27FC236}">
                <a16:creationId xmlns:a16="http://schemas.microsoft.com/office/drawing/2014/main" id="{5BFE5300-BEF5-497D-B0C7-BE9159351CE4}"/>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STATUS</a:t>
            </a:r>
          </a:p>
        </p:txBody>
      </p:sp>
      <p:sp>
        <p:nvSpPr>
          <p:cNvPr id="37" name="entity-8-3">
            <a:extLst xmlns:a="http://schemas.openxmlformats.org/drawingml/2006/main">
              <a:ext uri="{FF2B5EF4-FFF2-40B4-BE49-F238E27FC236}">
                <a16:creationId xmlns:a16="http://schemas.microsoft.com/office/drawing/2014/main" id="{FD9BE585-7874-4F51-90BC-58D4C31A95E7}"/>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LOKET</a:t>
            </a:r>
          </a:p>
        </p:txBody>
      </p:sp>
      <p:sp>
        <p:nvSpPr>
          <p:cNvPr id="38" name="entity-8-4">
            <a:extLst xmlns:a="http://schemas.openxmlformats.org/drawingml/2006/main">
              <a:ext uri="{FF2B5EF4-FFF2-40B4-BE49-F238E27FC236}">
                <a16:creationId xmlns:a16="http://schemas.microsoft.com/office/drawing/2014/main" id="{089BB43B-BA8C-485E-B4B3-4FE002E88AFD}"/>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MONITOR PUBLIK</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54AB388D-5470-4D8F-B396-F72CC936209F}"/>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hanya antrean obat jadi yang tampil dan identitas tetap tersamar.</a:t>
            </a:r>
          </a:p>
        </p:txBody>
      </p:sp>
    </p:spTree>
    <p:extLst>
      <p:ext uri="{BB962C8B-B14F-4D97-AF65-F5344CB8AC3E}">
        <p14:creationId xmlns:p14="http://schemas.microsoft.com/office/powerpoint/2010/main" val="1489239709"/>
      </p:ext>
    </p:extLst>
  </p:cSld>
</p:sld>
</file>

<file path=ppt/slides/slide20.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20">
            <a:extLst xmlns:a="http://schemas.openxmlformats.org/drawingml/2006/main">
              <a:ext uri="{FF2B5EF4-FFF2-40B4-BE49-F238E27FC236}">
                <a16:creationId xmlns:a16="http://schemas.microsoft.com/office/drawing/2014/main" id="{EA216144-F36E-4CA0-8A7E-BB5C25448362}"/>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9</a:t>
            </a:r>
          </a:p>
        </p:txBody>
      </p:sp>
      <p:sp>
        <p:nvSpPr>
          <p:cNvPr id="2" name="title-20">
            <a:extLst xmlns:a="http://schemas.openxmlformats.org/drawingml/2006/main">
              <a:ext uri="{FF2B5EF4-FFF2-40B4-BE49-F238E27FC236}">
                <a16:creationId xmlns:a16="http://schemas.microsoft.com/office/drawing/2014/main" id="{879591D1-5BCD-4C11-A9AD-2D0126B0E48D}"/>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Layar Tambahan Obat Racikan</a:t>
            </a:r>
          </a:p>
        </p:txBody>
      </p:sp>
      <p:sp>
        <p:nvSpPr>
          <p:cNvPr id="3" name="">
            <a:extLst xmlns:a="http://schemas.openxmlformats.org/drawingml/2006/main">
              <a:ext uri="{FF2B5EF4-FFF2-40B4-BE49-F238E27FC236}">
                <a16:creationId xmlns:a16="http://schemas.microsoft.com/office/drawing/2014/main" id="{1E6FFBA5-A608-42D1-A8F5-4D9CEB47D8C6}"/>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20</a:t>
            </a:r>
          </a:p>
        </p:txBody>
      </p:sp>
      <p:sp>
        <p:nvSpPr>
          <p:cNvPr id="4" name="">
            <a:extLst xmlns:a="http://schemas.openxmlformats.org/drawingml/2006/main">
              <a:ext uri="{FF2B5EF4-FFF2-40B4-BE49-F238E27FC236}">
                <a16:creationId xmlns:a16="http://schemas.microsoft.com/office/drawing/2014/main" id="{87604125-C3F9-458A-B782-23391F3995F5}"/>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20</a:t>
            </a:r>
          </a:p>
        </p:txBody>
      </p:sp>
      <p:sp>
        <p:nvSpPr>
          <p:cNvPr id="5" name="">
            <a:extLst xmlns:a="http://schemas.openxmlformats.org/drawingml/2006/main">
              <a:ext uri="{FF2B5EF4-FFF2-40B4-BE49-F238E27FC236}">
                <a16:creationId xmlns:a16="http://schemas.microsoft.com/office/drawing/2014/main" id="{21994F84-F2C3-462D-AE78-FE8FA4017286}"/>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f538025b24a47dc"/>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BB3D2C3D-ACA9-44E1-B010-9C8E06FB6C96}"/>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AA8A24DD-161F-4FF0-A17E-9844BF041359}"/>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Mode racikan menyoroti antrean yang membutuhkan penyiapan farmasi lebih panjang. Pasien dapat membedakan apakah resep masih menunggu, sedang diracik, atau siap diambil. Informasi tersebut mengurangi tekanan pada loket sekaligus menjaga agar apoteker tidak mengubah status hanya untuk memenuhi ekspektasi waktu.</a:t>
            </a:r>
          </a:p>
        </p:txBody>
      </p:sp>
      <p:sp>
        <p:nvSpPr>
          <p:cNvPr id="9" name="">
            <a:extLst xmlns:a="http://schemas.openxmlformats.org/drawingml/2006/main">
              <a:ext uri="{FF2B5EF4-FFF2-40B4-BE49-F238E27FC236}">
                <a16:creationId xmlns:a16="http://schemas.microsoft.com/office/drawing/2014/main" id="{3A2879BE-B240-419C-8DC5-E2EC235D985B}"/>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4DC667FC-BA17-4ACE-A92B-6A7DCA51901F}"/>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DA5D817B-6EDC-4493-A0FC-3EDE39A0790A}"/>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040421669"/>
      </p:ext>
    </p:extLst>
  </p:cSld>
</p:sld>
</file>

<file path=ppt/slides/slide21.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21">
            <a:extLst xmlns:a="http://schemas.openxmlformats.org/drawingml/2006/main">
              <a:ext uri="{FF2B5EF4-FFF2-40B4-BE49-F238E27FC236}">
                <a16:creationId xmlns:a16="http://schemas.microsoft.com/office/drawing/2014/main" id="{395BB888-8E3B-46FC-BBEA-B20C5C1460B7}"/>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9</a:t>
            </a:r>
          </a:p>
        </p:txBody>
      </p:sp>
      <p:sp>
        <p:nvSpPr>
          <p:cNvPr id="2" name="title-21">
            <a:extLst xmlns:a="http://schemas.openxmlformats.org/drawingml/2006/main">
              <a:ext uri="{FF2B5EF4-FFF2-40B4-BE49-F238E27FC236}">
                <a16:creationId xmlns:a16="http://schemas.microsoft.com/office/drawing/2014/main" id="{9973F42E-5959-4CDA-88FE-3DA9BF990C55}"/>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Layar Tambahan Obat Racikan: peran, proses, dan data</a:t>
            </a:r>
          </a:p>
        </p:txBody>
      </p:sp>
      <p:sp>
        <p:nvSpPr>
          <p:cNvPr id="3" name="">
            <a:extLst xmlns:a="http://schemas.openxmlformats.org/drawingml/2006/main">
              <a:ext uri="{FF2B5EF4-FFF2-40B4-BE49-F238E27FC236}">
                <a16:creationId xmlns:a16="http://schemas.microsoft.com/office/drawing/2014/main" id="{375A47E6-5ABD-405D-857C-732049CCE830}"/>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21</a:t>
            </a:r>
          </a:p>
        </p:txBody>
      </p:sp>
      <p:sp>
        <p:nvSpPr>
          <p:cNvPr id="4" name="">
            <a:extLst xmlns:a="http://schemas.openxmlformats.org/drawingml/2006/main">
              <a:ext uri="{FF2B5EF4-FFF2-40B4-BE49-F238E27FC236}">
                <a16:creationId xmlns:a16="http://schemas.microsoft.com/office/drawing/2014/main" id="{B17A0CCD-3786-4F57-AB8C-8950E8972942}"/>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21</a:t>
            </a:r>
          </a:p>
        </p:txBody>
      </p:sp>
      <p:sp>
        <p:nvSpPr>
          <p:cNvPr id="5" name="">
            <a:extLst xmlns:a="http://schemas.openxmlformats.org/drawingml/2006/main">
              <a:ext uri="{FF2B5EF4-FFF2-40B4-BE49-F238E27FC236}">
                <a16:creationId xmlns:a16="http://schemas.microsoft.com/office/drawing/2014/main" id="{DEF764EC-EAC8-4A51-8CEB-352DD0820626}"/>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A856B346-72C4-49CC-BC1A-1A392A42E05B}"/>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992AC110-489A-49AD-9CDE-14EA9290053E}"/>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3FF1FD4B-AB43-4741-90A5-4EFAD7E40C72}"/>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9-0">
            <a:extLst xmlns:a="http://schemas.openxmlformats.org/drawingml/2006/main">
              <a:ext uri="{FF2B5EF4-FFF2-40B4-BE49-F238E27FC236}">
                <a16:creationId xmlns:a16="http://schemas.microsoft.com/office/drawing/2014/main" id="{37C95F19-DE02-4B03-9B82-14DC5FB292DE}"/>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Pasien Resep</a:t>
            </a:r>
          </a:p>
        </p:txBody>
      </p:sp>
      <p:sp>
        <p:nvSpPr>
          <p:cNvPr id="10" name="case-9-0">
            <a:extLst xmlns:a="http://schemas.openxmlformats.org/drawingml/2006/main">
              <a:ext uri="{FF2B5EF4-FFF2-40B4-BE49-F238E27FC236}">
                <a16:creationId xmlns:a16="http://schemas.microsoft.com/office/drawing/2014/main" id="{B1676D7C-283C-433B-A375-1169D8169A15}"/>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Memfilter racikan</a:t>
            </a:r>
          </a:p>
        </p:txBody>
      </p:sp>
      <p:sp>
        <p:nvSpPr>
          <p:cNvPr id="11" name="actor-9-1">
            <a:extLst xmlns:a="http://schemas.openxmlformats.org/drawingml/2006/main">
              <a:ext uri="{FF2B5EF4-FFF2-40B4-BE49-F238E27FC236}">
                <a16:creationId xmlns:a16="http://schemas.microsoft.com/office/drawing/2014/main" id="{208B4BCF-521A-4F5B-8BAD-FEFC0B227CC9}"/>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2" name="case-9-1">
            <a:extLst xmlns:a="http://schemas.openxmlformats.org/drawingml/2006/main">
              <a:ext uri="{FF2B5EF4-FFF2-40B4-BE49-F238E27FC236}">
                <a16:creationId xmlns:a16="http://schemas.microsoft.com/office/drawing/2014/main" id="{6B3E8D24-130D-430D-ACA7-BAD93D6D23B8}"/>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Memantau tahap persiapan</a:t>
            </a:r>
          </a:p>
        </p:txBody>
      </p:sp>
      <p:sp>
        <p:nvSpPr>
          <p:cNvPr id="13" name="actor-9-2">
            <a:extLst xmlns:a="http://schemas.openxmlformats.org/drawingml/2006/main">
              <a:ext uri="{FF2B5EF4-FFF2-40B4-BE49-F238E27FC236}">
                <a16:creationId xmlns:a16="http://schemas.microsoft.com/office/drawing/2014/main" id="{378317EF-73BF-4ACD-9C95-E9A01B140B72}"/>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Sistem Antrean</a:t>
            </a:r>
          </a:p>
        </p:txBody>
      </p:sp>
      <p:sp>
        <p:nvSpPr>
          <p:cNvPr id="14" name="case-9-2">
            <a:extLst xmlns:a="http://schemas.openxmlformats.org/drawingml/2006/main">
              <a:ext uri="{FF2B5EF4-FFF2-40B4-BE49-F238E27FC236}">
                <a16:creationId xmlns:a16="http://schemas.microsoft.com/office/drawing/2014/main" id="{8B3CF0FF-DD08-4541-8590-5BF7B773D174}"/>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Memanggil pasien</a:t>
            </a:r>
          </a:p>
        </p:txBody>
      </p:sp>
      <p:sp>
        <p:nvSpPr>
          <p:cNvPr id="15" name="actor-9-3">
            <a:extLst xmlns:a="http://schemas.openxmlformats.org/drawingml/2006/main">
              <a:ext uri="{FF2B5EF4-FFF2-40B4-BE49-F238E27FC236}">
                <a16:creationId xmlns:a16="http://schemas.microsoft.com/office/drawing/2014/main" id="{AEA53E35-AE20-4C0F-A1E0-32C9C2B3DC71}"/>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Petugas Loket</a:t>
            </a:r>
          </a:p>
        </p:txBody>
      </p:sp>
      <p:sp>
        <p:nvSpPr>
          <p:cNvPr id="16" name="case-9-3">
            <a:extLst xmlns:a="http://schemas.openxmlformats.org/drawingml/2006/main">
              <a:ext uri="{FF2B5EF4-FFF2-40B4-BE49-F238E27FC236}">
                <a16:creationId xmlns:a16="http://schemas.microsoft.com/office/drawing/2014/main" id="{8940F506-9906-46A8-AEBC-8376ED48383B}"/>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Menjaga privasi</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AEF4A63B-DC50-40AE-A8BE-A7F8CA97EAFA}"/>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9-0">
            <a:extLst xmlns:a="http://schemas.openxmlformats.org/drawingml/2006/main">
              <a:ext uri="{FF2B5EF4-FFF2-40B4-BE49-F238E27FC236}">
                <a16:creationId xmlns:a16="http://schemas.microsoft.com/office/drawing/2014/main" id="{1FDAC325-E8AA-4B24-A962-22204A9AE7E8}"/>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Pilih mode racikan</a:t>
            </a:r>
          </a:p>
        </p:txBody>
      </p:sp>
      <p:sp>
        <p:nvSpPr>
          <p:cNvPr id="23" name="flow-9-1">
            <a:extLst xmlns:a="http://schemas.openxmlformats.org/drawingml/2006/main">
              <a:ext uri="{FF2B5EF4-FFF2-40B4-BE49-F238E27FC236}">
                <a16:creationId xmlns:a16="http://schemas.microsoft.com/office/drawing/2014/main" id="{C80BB90F-BB66-41A6-98B5-5513BDB224DB}"/>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Ambil antrean</a:t>
            </a:r>
          </a:p>
        </p:txBody>
      </p:sp>
      <p:sp>
        <p:nvSpPr>
          <p:cNvPr id="24" name="flow-9-2">
            <a:extLst xmlns:a="http://schemas.openxmlformats.org/drawingml/2006/main">
              <a:ext uri="{FF2B5EF4-FFF2-40B4-BE49-F238E27FC236}">
                <a16:creationId xmlns:a16="http://schemas.microsoft.com/office/drawing/2014/main" id="{0B0948DE-7BEC-4677-9439-CBC1AE95A106}"/>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Terapkan filter</a:t>
            </a:r>
          </a:p>
        </p:txBody>
      </p:sp>
      <p:sp>
        <p:nvSpPr>
          <p:cNvPr id="25" name="flow-9-3">
            <a:extLst xmlns:a="http://schemas.openxmlformats.org/drawingml/2006/main">
              <a:ext uri="{FF2B5EF4-FFF2-40B4-BE49-F238E27FC236}">
                <a16:creationId xmlns:a16="http://schemas.microsoft.com/office/drawing/2014/main" id="{3E06C330-8A7C-4618-9526-D266AC30142A}"/>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Tampilkan proses</a:t>
            </a:r>
          </a:p>
        </p:txBody>
      </p:sp>
      <p:sp>
        <p:nvSpPr>
          <p:cNvPr id="26" name="flow-9-4">
            <a:extLst xmlns:a="http://schemas.openxmlformats.org/drawingml/2006/main">
              <a:ext uri="{FF2B5EF4-FFF2-40B4-BE49-F238E27FC236}">
                <a16:creationId xmlns:a16="http://schemas.microsoft.com/office/drawing/2014/main" id="{E7FC9520-C4BE-4D7E-A52F-51645E820744}"/>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Arahkan ke loket</a:t>
            </a:r>
          </a:p>
        </p:txBody>
      </p:sp>
      <p:sp>
        <p:nvSpPr>
          <p:cNvPr id="27" name="flow-9-5">
            <a:extLst xmlns:a="http://schemas.openxmlformats.org/drawingml/2006/main">
              <a:ext uri="{FF2B5EF4-FFF2-40B4-BE49-F238E27FC236}">
                <a16:creationId xmlns:a16="http://schemas.microsoft.com/office/drawing/2014/main" id="{4497A474-7EE8-40FA-BCBF-258ECCDC9F08}"/>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Perbarui status</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1E805145-0128-4148-9C58-0470F22D2CD6}"/>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9-0">
            <a:extLst xmlns:a="http://schemas.openxmlformats.org/drawingml/2006/main">
              <a:ext uri="{FF2B5EF4-FFF2-40B4-BE49-F238E27FC236}">
                <a16:creationId xmlns:a16="http://schemas.microsoft.com/office/drawing/2014/main" id="{43DB6643-BAB6-4A33-A286-19C6164A3790}"/>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RESEP</a:t>
            </a:r>
          </a:p>
        </p:txBody>
      </p:sp>
      <p:sp>
        <p:nvSpPr>
          <p:cNvPr id="35" name="entity-9-1">
            <a:extLst xmlns:a="http://schemas.openxmlformats.org/drawingml/2006/main">
              <a:ext uri="{FF2B5EF4-FFF2-40B4-BE49-F238E27FC236}">
                <a16:creationId xmlns:a16="http://schemas.microsoft.com/office/drawing/2014/main" id="{18CB5ADB-5A51-424F-996F-C6C878CD1AC4}"/>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ANTREAN RACIKAN</a:t>
            </a:r>
          </a:p>
        </p:txBody>
      </p:sp>
      <p:sp>
        <p:nvSpPr>
          <p:cNvPr id="36" name="entity-9-2">
            <a:extLst xmlns:a="http://schemas.openxmlformats.org/drawingml/2006/main">
              <a:ext uri="{FF2B5EF4-FFF2-40B4-BE49-F238E27FC236}">
                <a16:creationId xmlns:a16="http://schemas.microsoft.com/office/drawing/2014/main" id="{94CDF114-663B-49F0-9503-46E709ED2CB1}"/>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STATUS PROSES</a:t>
            </a:r>
          </a:p>
        </p:txBody>
      </p:sp>
      <p:sp>
        <p:nvSpPr>
          <p:cNvPr id="37" name="entity-9-3">
            <a:extLst xmlns:a="http://schemas.openxmlformats.org/drawingml/2006/main">
              <a:ext uri="{FF2B5EF4-FFF2-40B4-BE49-F238E27FC236}">
                <a16:creationId xmlns:a16="http://schemas.microsoft.com/office/drawing/2014/main" id="{DC5F1262-6D16-4D19-98AF-A825473939E2}"/>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LOKET</a:t>
            </a:r>
          </a:p>
        </p:txBody>
      </p:sp>
      <p:sp>
        <p:nvSpPr>
          <p:cNvPr id="38" name="entity-9-4">
            <a:extLst xmlns:a="http://schemas.openxmlformats.org/drawingml/2006/main">
              <a:ext uri="{FF2B5EF4-FFF2-40B4-BE49-F238E27FC236}">
                <a16:creationId xmlns:a16="http://schemas.microsoft.com/office/drawing/2014/main" id="{56625150-0DE7-49CF-AC96-7B9BFDEC009A}"/>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LAYAR PUBLIK</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4490D287-5E8F-4A40-8D2A-5E17F8692AA4}"/>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antrean racikan/campuran benar, status tidak prematur, dan data klinis tidak dipublikasikan.</a:t>
            </a:r>
          </a:p>
        </p:txBody>
      </p:sp>
    </p:spTree>
    <p:extLst>
      <p:ext uri="{BB962C8B-B14F-4D97-AF65-F5344CB8AC3E}">
        <p14:creationId xmlns:p14="http://schemas.microsoft.com/office/powerpoint/2010/main" val="2029344571"/>
      </p:ext>
    </p:extLst>
  </p:cSld>
</p:sld>
</file>

<file path=ppt/slides/slide22.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22">
            <a:extLst xmlns:a="http://schemas.openxmlformats.org/drawingml/2006/main">
              <a:ext uri="{FF2B5EF4-FFF2-40B4-BE49-F238E27FC236}">
                <a16:creationId xmlns:a16="http://schemas.microsoft.com/office/drawing/2014/main" id="{4A4458CE-B1E2-424B-8738-CD60029EDAAA}"/>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10</a:t>
            </a:r>
          </a:p>
        </p:txBody>
      </p:sp>
      <p:sp>
        <p:nvSpPr>
          <p:cNvPr id="2" name="title-22">
            <a:extLst xmlns:a="http://schemas.openxmlformats.org/drawingml/2006/main">
              <a:ext uri="{FF2B5EF4-FFF2-40B4-BE49-F238E27FC236}">
                <a16:creationId xmlns:a16="http://schemas.microsoft.com/office/drawing/2014/main" id="{A80F48B7-95ED-4302-AB64-6DE003399340}"/>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Laporan Penjualan Apotik</a:t>
            </a:r>
          </a:p>
        </p:txBody>
      </p:sp>
      <p:sp>
        <p:nvSpPr>
          <p:cNvPr id="3" name="">
            <a:extLst xmlns:a="http://schemas.openxmlformats.org/drawingml/2006/main">
              <a:ext uri="{FF2B5EF4-FFF2-40B4-BE49-F238E27FC236}">
                <a16:creationId xmlns:a16="http://schemas.microsoft.com/office/drawing/2014/main" id="{00606276-0C77-48E6-9758-273DF51ACE98}"/>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22</a:t>
            </a:r>
          </a:p>
        </p:txBody>
      </p:sp>
      <p:sp>
        <p:nvSpPr>
          <p:cNvPr id="4" name="">
            <a:extLst xmlns:a="http://schemas.openxmlformats.org/drawingml/2006/main">
              <a:ext uri="{FF2B5EF4-FFF2-40B4-BE49-F238E27FC236}">
                <a16:creationId xmlns:a16="http://schemas.microsoft.com/office/drawing/2014/main" id="{EA23BBD6-850E-4019-90AC-167BBFA41409}"/>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22</a:t>
            </a:r>
          </a:p>
        </p:txBody>
      </p:sp>
      <p:sp>
        <p:nvSpPr>
          <p:cNvPr id="5" name="">
            <a:extLst xmlns:a="http://schemas.openxmlformats.org/drawingml/2006/main">
              <a:ext uri="{FF2B5EF4-FFF2-40B4-BE49-F238E27FC236}">
                <a16:creationId xmlns:a16="http://schemas.microsoft.com/office/drawing/2014/main" id="{6BAF38BC-75AD-49FC-A4DE-DA3EAC2CE15B}"/>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ef1b70ca5f4453a"/>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8D4F1165-55E5-4484-B6C8-CB86B50BC068}"/>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F056ED6D-EBE3-49DE-A308-67B8AC6B19BE}"/>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Laporan penjualan merangkum kuantitas dan nilai per item untuk periode yang dipilih. Layar harus dipakai setelah transaksi tersimpan, bukan sebagai pengganti nota. Filter periode dan toko menentukan ruang lingkup; total kemudian ditelusuri ke item serta transaksi sumber ketika ada perbedaan.</a:t>
            </a:r>
          </a:p>
        </p:txBody>
      </p:sp>
      <p:sp>
        <p:nvSpPr>
          <p:cNvPr id="9" name="">
            <a:extLst xmlns:a="http://schemas.openxmlformats.org/drawingml/2006/main">
              <a:ext uri="{FF2B5EF4-FFF2-40B4-BE49-F238E27FC236}">
                <a16:creationId xmlns:a16="http://schemas.microsoft.com/office/drawing/2014/main" id="{A6B282DD-ED0E-4CBA-AF0B-2541F3CAB2A2}"/>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9A47D814-D4BA-4C8F-B526-7E2E9AFD64FF}"/>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8CF07F8E-4033-4C45-AB11-A9A2DF85E8E6}"/>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059329523"/>
      </p:ext>
    </p:extLst>
  </p:cSld>
</p:sld>
</file>

<file path=ppt/slides/slide23.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23">
            <a:extLst xmlns:a="http://schemas.openxmlformats.org/drawingml/2006/main">
              <a:ext uri="{FF2B5EF4-FFF2-40B4-BE49-F238E27FC236}">
                <a16:creationId xmlns:a16="http://schemas.microsoft.com/office/drawing/2014/main" id="{4A3ACFFD-C7E4-40C4-AD6B-A7B15F760599}"/>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10</a:t>
            </a:r>
          </a:p>
        </p:txBody>
      </p:sp>
      <p:sp>
        <p:nvSpPr>
          <p:cNvPr id="2" name="title-23">
            <a:extLst xmlns:a="http://schemas.openxmlformats.org/drawingml/2006/main">
              <a:ext uri="{FF2B5EF4-FFF2-40B4-BE49-F238E27FC236}">
                <a16:creationId xmlns:a16="http://schemas.microsoft.com/office/drawing/2014/main" id="{053C32DC-E8AF-4195-8061-C6E68EBB6B61}"/>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Laporan Penjualan Apotik: peran, proses, dan data</a:t>
            </a:r>
          </a:p>
        </p:txBody>
      </p:sp>
      <p:sp>
        <p:nvSpPr>
          <p:cNvPr id="3" name="">
            <a:extLst xmlns:a="http://schemas.openxmlformats.org/drawingml/2006/main">
              <a:ext uri="{FF2B5EF4-FFF2-40B4-BE49-F238E27FC236}">
                <a16:creationId xmlns:a16="http://schemas.microsoft.com/office/drawing/2014/main" id="{1A9194A0-9A02-44DD-86AB-2A10E62E591B}"/>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23</a:t>
            </a:r>
          </a:p>
        </p:txBody>
      </p:sp>
      <p:sp>
        <p:nvSpPr>
          <p:cNvPr id="4" name="">
            <a:extLst xmlns:a="http://schemas.openxmlformats.org/drawingml/2006/main">
              <a:ext uri="{FF2B5EF4-FFF2-40B4-BE49-F238E27FC236}">
                <a16:creationId xmlns:a16="http://schemas.microsoft.com/office/drawing/2014/main" id="{D2A22B73-D2C8-482E-82DD-ECFCD67DEE0A}"/>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23</a:t>
            </a:r>
          </a:p>
        </p:txBody>
      </p:sp>
      <p:sp>
        <p:nvSpPr>
          <p:cNvPr id="5" name="">
            <a:extLst xmlns:a="http://schemas.openxmlformats.org/drawingml/2006/main">
              <a:ext uri="{FF2B5EF4-FFF2-40B4-BE49-F238E27FC236}">
                <a16:creationId xmlns:a16="http://schemas.microsoft.com/office/drawing/2014/main" id="{CE44EF84-A435-4DAC-B01A-48854F9C4F51}"/>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C317A8B6-A8AF-417A-A6FA-C9EC6407EBEE}"/>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465F5142-0505-4309-BF81-4F092AED59EF}"/>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D0D7FFD4-B5FA-4740-990D-57FB23AC2C26}"/>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10-0">
            <a:extLst xmlns:a="http://schemas.openxmlformats.org/drawingml/2006/main">
              <a:ext uri="{FF2B5EF4-FFF2-40B4-BE49-F238E27FC236}">
                <a16:creationId xmlns:a16="http://schemas.microsoft.com/office/drawing/2014/main" id="{D32EC7B8-6167-4E52-8FEC-780A8B8C384D}"/>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Supervisor</a:t>
            </a:r>
          </a:p>
        </p:txBody>
      </p:sp>
      <p:sp>
        <p:nvSpPr>
          <p:cNvPr id="10" name="case-10-0">
            <a:extLst xmlns:a="http://schemas.openxmlformats.org/drawingml/2006/main">
              <a:ext uri="{FF2B5EF4-FFF2-40B4-BE49-F238E27FC236}">
                <a16:creationId xmlns:a16="http://schemas.microsoft.com/office/drawing/2014/main" id="{C1538AAE-7656-4FCE-98E2-FA88A6293CDC}"/>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Memilih periode</a:t>
            </a:r>
          </a:p>
        </p:txBody>
      </p:sp>
      <p:sp>
        <p:nvSpPr>
          <p:cNvPr id="11" name="actor-10-1">
            <a:extLst xmlns:a="http://schemas.openxmlformats.org/drawingml/2006/main">
              <a:ext uri="{FF2B5EF4-FFF2-40B4-BE49-F238E27FC236}">
                <a16:creationId xmlns:a16="http://schemas.microsoft.com/office/drawing/2014/main" id="{77F3FA2E-EC78-4914-BEDD-28CF9548268F}"/>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Keuangan</a:t>
            </a:r>
          </a:p>
        </p:txBody>
      </p:sp>
      <p:sp>
        <p:nvSpPr>
          <p:cNvPr id="12" name="case-10-1">
            <a:extLst xmlns:a="http://schemas.openxmlformats.org/drawingml/2006/main">
              <a:ext uri="{FF2B5EF4-FFF2-40B4-BE49-F238E27FC236}">
                <a16:creationId xmlns:a16="http://schemas.microsoft.com/office/drawing/2014/main" id="{BE0B3F76-59CC-421B-A998-E6C334DB7720}"/>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Membaca agregat</a:t>
            </a:r>
          </a:p>
        </p:txBody>
      </p:sp>
      <p:sp>
        <p:nvSpPr>
          <p:cNvPr id="13" name="actor-10-2">
            <a:extLst xmlns:a="http://schemas.openxmlformats.org/drawingml/2006/main">
              <a:ext uri="{FF2B5EF4-FFF2-40B4-BE49-F238E27FC236}">
                <a16:creationId xmlns:a16="http://schemas.microsoft.com/office/drawing/2014/main" id="{EB34B228-457E-44C7-A0B0-873632CDB2E1}"/>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Kasir</a:t>
            </a:r>
          </a:p>
        </p:txBody>
      </p:sp>
      <p:sp>
        <p:nvSpPr>
          <p:cNvPr id="14" name="case-10-2">
            <a:extLst xmlns:a="http://schemas.openxmlformats.org/drawingml/2006/main">
              <a:ext uri="{FF2B5EF4-FFF2-40B4-BE49-F238E27FC236}">
                <a16:creationId xmlns:a16="http://schemas.microsoft.com/office/drawing/2014/main" id="{6FB5769B-7A36-4DA0-AAAA-3BD7D541F9C5}"/>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Menelusuri item</a:t>
            </a:r>
          </a:p>
        </p:txBody>
      </p:sp>
      <p:sp>
        <p:nvSpPr>
          <p:cNvPr id="15" name="actor-10-3">
            <a:extLst xmlns:a="http://schemas.openxmlformats.org/drawingml/2006/main">
              <a:ext uri="{FF2B5EF4-FFF2-40B4-BE49-F238E27FC236}">
                <a16:creationId xmlns:a16="http://schemas.microsoft.com/office/drawing/2014/main" id="{8A9A34AC-7B24-4FE8-B89A-AA9C5C4849A1}"/>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Auditor</a:t>
            </a:r>
          </a:p>
        </p:txBody>
      </p:sp>
      <p:sp>
        <p:nvSpPr>
          <p:cNvPr id="16" name="case-10-3">
            <a:extLst xmlns:a="http://schemas.openxmlformats.org/drawingml/2006/main">
              <a:ext uri="{FF2B5EF4-FFF2-40B4-BE49-F238E27FC236}">
                <a16:creationId xmlns:a16="http://schemas.microsoft.com/office/drawing/2014/main" id="{0D65AD7A-A468-497B-B8B7-E2D38580544A}"/>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Merekonsiliasi nota</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251B7A9F-E7A3-42C0-9D75-C99A94B56C04}"/>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10-0">
            <a:extLst xmlns:a="http://schemas.openxmlformats.org/drawingml/2006/main">
              <a:ext uri="{FF2B5EF4-FFF2-40B4-BE49-F238E27FC236}">
                <a16:creationId xmlns:a16="http://schemas.microsoft.com/office/drawing/2014/main" id="{C0681813-DCD9-477F-82FC-CDBFD0D3040A}"/>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Atur periode</a:t>
            </a:r>
          </a:p>
        </p:txBody>
      </p:sp>
      <p:sp>
        <p:nvSpPr>
          <p:cNvPr id="23" name="flow-10-1">
            <a:extLst xmlns:a="http://schemas.openxmlformats.org/drawingml/2006/main">
              <a:ext uri="{FF2B5EF4-FFF2-40B4-BE49-F238E27FC236}">
                <a16:creationId xmlns:a16="http://schemas.microsoft.com/office/drawing/2014/main" id="{CD6FF641-EC4F-4489-ADF9-708BF54EB2D6}"/>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Terapkan filter</a:t>
            </a:r>
          </a:p>
        </p:txBody>
      </p:sp>
      <p:sp>
        <p:nvSpPr>
          <p:cNvPr id="24" name="flow-10-2">
            <a:extLst xmlns:a="http://schemas.openxmlformats.org/drawingml/2006/main">
              <a:ext uri="{FF2B5EF4-FFF2-40B4-BE49-F238E27FC236}">
                <a16:creationId xmlns:a16="http://schemas.microsoft.com/office/drawing/2014/main" id="{FD871CFF-FCFF-4B3A-8AC5-59623573C3C2}"/>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Baca total</a:t>
            </a:r>
          </a:p>
        </p:txBody>
      </p:sp>
      <p:sp>
        <p:nvSpPr>
          <p:cNvPr id="25" name="flow-10-3">
            <a:extLst xmlns:a="http://schemas.openxmlformats.org/drawingml/2006/main">
              <a:ext uri="{FF2B5EF4-FFF2-40B4-BE49-F238E27FC236}">
                <a16:creationId xmlns:a16="http://schemas.microsoft.com/office/drawing/2014/main" id="{609CF470-4C2C-451D-9D3D-0CACFEB351E3}"/>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Periksa item</a:t>
            </a:r>
          </a:p>
        </p:txBody>
      </p:sp>
      <p:sp>
        <p:nvSpPr>
          <p:cNvPr id="26" name="flow-10-4">
            <a:extLst xmlns:a="http://schemas.openxmlformats.org/drawingml/2006/main">
              <a:ext uri="{FF2B5EF4-FFF2-40B4-BE49-F238E27FC236}">
                <a16:creationId xmlns:a16="http://schemas.microsoft.com/office/drawing/2014/main" id="{71B661FE-7726-4E36-AC14-9449A9FFFA78}"/>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Bandingkan nota</a:t>
            </a:r>
          </a:p>
        </p:txBody>
      </p:sp>
      <p:sp>
        <p:nvSpPr>
          <p:cNvPr id="27" name="flow-10-5">
            <a:extLst xmlns:a="http://schemas.openxmlformats.org/drawingml/2006/main">
              <a:ext uri="{FF2B5EF4-FFF2-40B4-BE49-F238E27FC236}">
                <a16:creationId xmlns:a16="http://schemas.microsoft.com/office/drawing/2014/main" id="{236B96AA-1637-4DB3-8BC1-089442574C06}"/>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Ekspor/arsipkan</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B33F5C3A-FE6E-4EA7-A878-BC79076C1F29}"/>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10-0">
            <a:extLst xmlns:a="http://schemas.openxmlformats.org/drawingml/2006/main">
              <a:ext uri="{FF2B5EF4-FFF2-40B4-BE49-F238E27FC236}">
                <a16:creationId xmlns:a16="http://schemas.microsoft.com/office/drawing/2014/main" id="{17D57CB2-A759-4E66-B53A-9AFACA523161}"/>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PENJUALAN</a:t>
            </a:r>
          </a:p>
        </p:txBody>
      </p:sp>
      <p:sp>
        <p:nvSpPr>
          <p:cNvPr id="35" name="entity-10-1">
            <a:extLst xmlns:a="http://schemas.openxmlformats.org/drawingml/2006/main">
              <a:ext uri="{FF2B5EF4-FFF2-40B4-BE49-F238E27FC236}">
                <a16:creationId xmlns:a16="http://schemas.microsoft.com/office/drawing/2014/main" id="{DAA89FF1-73CF-471D-A090-6582AE266F48}"/>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DETAIL ITEM</a:t>
            </a:r>
          </a:p>
        </p:txBody>
      </p:sp>
      <p:sp>
        <p:nvSpPr>
          <p:cNvPr id="36" name="entity-10-2">
            <a:extLst xmlns:a="http://schemas.openxmlformats.org/drawingml/2006/main">
              <a:ext uri="{FF2B5EF4-FFF2-40B4-BE49-F238E27FC236}">
                <a16:creationId xmlns:a16="http://schemas.microsoft.com/office/drawing/2014/main" id="{D992895B-F8CA-4A69-8153-C74CAAFAEBC6}"/>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FILTER PERIODE</a:t>
            </a:r>
          </a:p>
        </p:txBody>
      </p:sp>
      <p:sp>
        <p:nvSpPr>
          <p:cNvPr id="37" name="entity-10-3">
            <a:extLst xmlns:a="http://schemas.openxmlformats.org/drawingml/2006/main">
              <a:ext uri="{FF2B5EF4-FFF2-40B4-BE49-F238E27FC236}">
                <a16:creationId xmlns:a16="http://schemas.microsoft.com/office/drawing/2014/main" id="{DAFFBF97-1AAA-4F95-80AF-ABB4BB6E500F}"/>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AGREGAT</a:t>
            </a:r>
          </a:p>
        </p:txBody>
      </p:sp>
      <p:sp>
        <p:nvSpPr>
          <p:cNvPr id="38" name="entity-10-4">
            <a:extLst xmlns:a="http://schemas.openxmlformats.org/drawingml/2006/main">
              <a:ext uri="{FF2B5EF4-FFF2-40B4-BE49-F238E27FC236}">
                <a16:creationId xmlns:a16="http://schemas.microsoft.com/office/drawing/2014/main" id="{456F4549-7CB0-4A04-94C3-3BFA7BDCF0C5}"/>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LAPORAN</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2EA563D3-F89D-46B3-831D-250A9215CB6B}"/>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periode, status final, toko, pembatalan, diskon, dan retur dihitung konsisten.</a:t>
            </a:r>
          </a:p>
        </p:txBody>
      </p:sp>
    </p:spTree>
    <p:extLst>
      <p:ext uri="{BB962C8B-B14F-4D97-AF65-F5344CB8AC3E}">
        <p14:creationId xmlns:p14="http://schemas.microsoft.com/office/powerpoint/2010/main" val="701485787"/>
      </p:ext>
    </p:extLst>
  </p:cSld>
</p:sld>
</file>

<file path=ppt/slides/slide24.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24">
            <a:extLst xmlns:a="http://schemas.openxmlformats.org/drawingml/2006/main">
              <a:ext uri="{FF2B5EF4-FFF2-40B4-BE49-F238E27FC236}">
                <a16:creationId xmlns:a16="http://schemas.microsoft.com/office/drawing/2014/main" id="{649C00A2-18D6-443D-B476-B6BB581F8894}"/>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11</a:t>
            </a:r>
          </a:p>
        </p:txBody>
      </p:sp>
      <p:sp>
        <p:nvSpPr>
          <p:cNvPr id="2" name="title-24">
            <a:extLst xmlns:a="http://schemas.openxmlformats.org/drawingml/2006/main">
              <a:ext uri="{FF2B5EF4-FFF2-40B4-BE49-F238E27FC236}">
                <a16:creationId xmlns:a16="http://schemas.microsoft.com/office/drawing/2014/main" id="{A81EC8C0-5053-4EBF-B315-DD5A3A1A3E61}"/>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Register Obat Terkendali</a:t>
            </a:r>
          </a:p>
        </p:txBody>
      </p:sp>
      <p:sp>
        <p:nvSpPr>
          <p:cNvPr id="3" name="">
            <a:extLst xmlns:a="http://schemas.openxmlformats.org/drawingml/2006/main">
              <a:ext uri="{FF2B5EF4-FFF2-40B4-BE49-F238E27FC236}">
                <a16:creationId xmlns:a16="http://schemas.microsoft.com/office/drawing/2014/main" id="{A54D4C12-9ECC-4DD9-8A8D-E106FAA2604D}"/>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24</a:t>
            </a:r>
          </a:p>
        </p:txBody>
      </p:sp>
      <p:sp>
        <p:nvSpPr>
          <p:cNvPr id="4" name="">
            <a:extLst xmlns:a="http://schemas.openxmlformats.org/drawingml/2006/main">
              <a:ext uri="{FF2B5EF4-FFF2-40B4-BE49-F238E27FC236}">
                <a16:creationId xmlns:a16="http://schemas.microsoft.com/office/drawing/2014/main" id="{4A5839B8-0CE4-49FD-9C98-1F0A5686BBD3}"/>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24</a:t>
            </a:r>
          </a:p>
        </p:txBody>
      </p:sp>
      <p:sp>
        <p:nvSpPr>
          <p:cNvPr id="5" name="">
            <a:extLst xmlns:a="http://schemas.openxmlformats.org/drawingml/2006/main">
              <a:ext uri="{FF2B5EF4-FFF2-40B4-BE49-F238E27FC236}">
                <a16:creationId xmlns:a16="http://schemas.microsoft.com/office/drawing/2014/main" id="{5C251301-2F49-418A-BF9D-A58376CD7764}"/>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e1a38a5a1244916"/>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B563AC6A-2D24-47E0-9897-FCECC1C2107A}"/>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79F54CDE-E331-43EF-AB9F-EC5467F4146A}"/>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Register obat terkendali memisahkan transaksi yang memerlukan jejak kepatuhan lebih kuat dari penjualan obat bebas. Kolom dan filter membantu apoteker menelusuri tanggal, item, jumlah, referensi resep atau pasien, dan batch. Layar ini tidak boleh menyederhanakan kewajiban institusi; SOP dan ketentuan…</a:t>
            </a:r>
          </a:p>
        </p:txBody>
      </p:sp>
      <p:sp>
        <p:nvSpPr>
          <p:cNvPr id="9" name="">
            <a:extLst xmlns:a="http://schemas.openxmlformats.org/drawingml/2006/main">
              <a:ext uri="{FF2B5EF4-FFF2-40B4-BE49-F238E27FC236}">
                <a16:creationId xmlns:a16="http://schemas.microsoft.com/office/drawing/2014/main" id="{5874848D-86D8-4F67-97FF-28F7A722A0AF}"/>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A9ED2060-48EA-429F-BFCA-5524D694E8C3}"/>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40731378-2E08-4C0C-B358-63AABBAFECD4}"/>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796672882"/>
      </p:ext>
    </p:extLst>
  </p:cSld>
</p:sld>
</file>

<file path=ppt/slides/slide25.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25">
            <a:extLst xmlns:a="http://schemas.openxmlformats.org/drawingml/2006/main">
              <a:ext uri="{FF2B5EF4-FFF2-40B4-BE49-F238E27FC236}">
                <a16:creationId xmlns:a16="http://schemas.microsoft.com/office/drawing/2014/main" id="{FACC266A-BCCE-41AC-9C3C-62AB99D6A59A}"/>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11</a:t>
            </a:r>
          </a:p>
        </p:txBody>
      </p:sp>
      <p:sp>
        <p:nvSpPr>
          <p:cNvPr id="2" name="title-25">
            <a:extLst xmlns:a="http://schemas.openxmlformats.org/drawingml/2006/main">
              <a:ext uri="{FF2B5EF4-FFF2-40B4-BE49-F238E27FC236}">
                <a16:creationId xmlns:a16="http://schemas.microsoft.com/office/drawing/2014/main" id="{D2B07648-8EDE-409E-AA2F-82D5F7C7C2B6}"/>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Register Obat Terkendali: peran, proses, dan data</a:t>
            </a:r>
          </a:p>
        </p:txBody>
      </p:sp>
      <p:sp>
        <p:nvSpPr>
          <p:cNvPr id="3" name="">
            <a:extLst xmlns:a="http://schemas.openxmlformats.org/drawingml/2006/main">
              <a:ext uri="{FF2B5EF4-FFF2-40B4-BE49-F238E27FC236}">
                <a16:creationId xmlns:a16="http://schemas.microsoft.com/office/drawing/2014/main" id="{7AC8A58D-E8B4-41FE-983A-F8F6B038C7D5}"/>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25</a:t>
            </a:r>
          </a:p>
        </p:txBody>
      </p:sp>
      <p:sp>
        <p:nvSpPr>
          <p:cNvPr id="4" name="">
            <a:extLst xmlns:a="http://schemas.openxmlformats.org/drawingml/2006/main">
              <a:ext uri="{FF2B5EF4-FFF2-40B4-BE49-F238E27FC236}">
                <a16:creationId xmlns:a16="http://schemas.microsoft.com/office/drawing/2014/main" id="{1C8E7CC4-31AE-42A2-822F-8034101D09CE}"/>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25</a:t>
            </a:r>
          </a:p>
        </p:txBody>
      </p:sp>
      <p:sp>
        <p:nvSpPr>
          <p:cNvPr id="5" name="">
            <a:extLst xmlns:a="http://schemas.openxmlformats.org/drawingml/2006/main">
              <a:ext uri="{FF2B5EF4-FFF2-40B4-BE49-F238E27FC236}">
                <a16:creationId xmlns:a16="http://schemas.microsoft.com/office/drawing/2014/main" id="{3AAEC9C1-86F2-4FE3-943C-E3B813CA146D}"/>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2EFB2CB8-F90D-41A4-8871-309EFADAE4CA}"/>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9DDAC395-7950-4CD0-AF8A-A88C7C853068}"/>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FE140528-45F4-457F-8470-CD29F3E09938}"/>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11-0">
            <a:extLst xmlns:a="http://schemas.openxmlformats.org/drawingml/2006/main">
              <a:ext uri="{FF2B5EF4-FFF2-40B4-BE49-F238E27FC236}">
                <a16:creationId xmlns:a16="http://schemas.microsoft.com/office/drawing/2014/main" id="{0AC2606F-4355-4CA1-8676-EC88A41392F4}"/>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0" name="case-11-0">
            <a:extLst xmlns:a="http://schemas.openxmlformats.org/drawingml/2006/main">
              <a:ext uri="{FF2B5EF4-FFF2-40B4-BE49-F238E27FC236}">
                <a16:creationId xmlns:a16="http://schemas.microsoft.com/office/drawing/2014/main" id="{C32DF684-967C-4414-BB6F-AF32C77EADEB}"/>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Membaca transaksi terkendali</a:t>
            </a:r>
          </a:p>
        </p:txBody>
      </p:sp>
      <p:sp>
        <p:nvSpPr>
          <p:cNvPr id="11" name="actor-11-1">
            <a:extLst xmlns:a="http://schemas.openxmlformats.org/drawingml/2006/main">
              <a:ext uri="{FF2B5EF4-FFF2-40B4-BE49-F238E27FC236}">
                <a16:creationId xmlns:a16="http://schemas.microsoft.com/office/drawing/2014/main" id="{CBDA2DFB-2176-406D-A9D8-1CFC32A3E001}"/>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Penanggung Jawab</a:t>
            </a:r>
          </a:p>
        </p:txBody>
      </p:sp>
      <p:sp>
        <p:nvSpPr>
          <p:cNvPr id="12" name="case-11-1">
            <a:extLst xmlns:a="http://schemas.openxmlformats.org/drawingml/2006/main">
              <a:ext uri="{FF2B5EF4-FFF2-40B4-BE49-F238E27FC236}">
                <a16:creationId xmlns:a16="http://schemas.microsoft.com/office/drawing/2014/main" id="{A14BCC5B-433C-4B00-BB52-160F1C1E8190}"/>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Memeriksa identitas wajib</a:t>
            </a:r>
          </a:p>
        </p:txBody>
      </p:sp>
      <p:sp>
        <p:nvSpPr>
          <p:cNvPr id="13" name="actor-11-2">
            <a:extLst xmlns:a="http://schemas.openxmlformats.org/drawingml/2006/main">
              <a:ext uri="{FF2B5EF4-FFF2-40B4-BE49-F238E27FC236}">
                <a16:creationId xmlns:a16="http://schemas.microsoft.com/office/drawing/2014/main" id="{1597CFCC-751C-49F6-9D6B-A02E21B15454}"/>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Auditor</a:t>
            </a:r>
          </a:p>
        </p:txBody>
      </p:sp>
      <p:sp>
        <p:nvSpPr>
          <p:cNvPr id="14" name="case-11-2">
            <a:extLst xmlns:a="http://schemas.openxmlformats.org/drawingml/2006/main">
              <a:ext uri="{FF2B5EF4-FFF2-40B4-BE49-F238E27FC236}">
                <a16:creationId xmlns:a16="http://schemas.microsoft.com/office/drawing/2014/main" id="{269516F7-78EA-47EE-A7EC-6577FEA8B108}"/>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Menelusuri batch</a:t>
            </a:r>
          </a:p>
        </p:txBody>
      </p:sp>
      <p:sp>
        <p:nvSpPr>
          <p:cNvPr id="15" name="actor-11-3">
            <a:extLst xmlns:a="http://schemas.openxmlformats.org/drawingml/2006/main">
              <a:ext uri="{FF2B5EF4-FFF2-40B4-BE49-F238E27FC236}">
                <a16:creationId xmlns:a16="http://schemas.microsoft.com/office/drawing/2014/main" id="{C015134F-4CFC-4C24-8405-B7D271D68A39}"/>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Sistem Kepatuhan</a:t>
            </a:r>
          </a:p>
        </p:txBody>
      </p:sp>
      <p:sp>
        <p:nvSpPr>
          <p:cNvPr id="16" name="case-11-3">
            <a:extLst xmlns:a="http://schemas.openxmlformats.org/drawingml/2006/main">
              <a:ext uri="{FF2B5EF4-FFF2-40B4-BE49-F238E27FC236}">
                <a16:creationId xmlns:a16="http://schemas.microsoft.com/office/drawing/2014/main" id="{0D16D08C-A60B-41A4-8E56-7628182AB9B8}"/>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Mengaudit penyerahan</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0C9D5736-EA24-4EC3-82A7-456E5BA3A04D}"/>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11-0">
            <a:extLst xmlns:a="http://schemas.openxmlformats.org/drawingml/2006/main">
              <a:ext uri="{FF2B5EF4-FFF2-40B4-BE49-F238E27FC236}">
                <a16:creationId xmlns:a16="http://schemas.microsoft.com/office/drawing/2014/main" id="{BE7D273D-1C90-47D2-A1EE-BFB4DAE801B6}"/>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Pilih periode</a:t>
            </a:r>
          </a:p>
        </p:txBody>
      </p:sp>
      <p:sp>
        <p:nvSpPr>
          <p:cNvPr id="23" name="flow-11-1">
            <a:extLst xmlns:a="http://schemas.openxmlformats.org/drawingml/2006/main">
              <a:ext uri="{FF2B5EF4-FFF2-40B4-BE49-F238E27FC236}">
                <a16:creationId xmlns:a16="http://schemas.microsoft.com/office/drawing/2014/main" id="{BD199F2F-21B6-4A60-A89F-03CBE647C308}"/>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Filter golongan</a:t>
            </a:r>
          </a:p>
        </p:txBody>
      </p:sp>
      <p:sp>
        <p:nvSpPr>
          <p:cNvPr id="24" name="flow-11-2">
            <a:extLst xmlns:a="http://schemas.openxmlformats.org/drawingml/2006/main">
              <a:ext uri="{FF2B5EF4-FFF2-40B4-BE49-F238E27FC236}">
                <a16:creationId xmlns:a16="http://schemas.microsoft.com/office/drawing/2014/main" id="{637A00C4-F74C-4652-A7B2-8C1EF2DD4AA6}"/>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Buka transaksi</a:t>
            </a:r>
          </a:p>
        </p:txBody>
      </p:sp>
      <p:sp>
        <p:nvSpPr>
          <p:cNvPr id="25" name="flow-11-3">
            <a:extLst xmlns:a="http://schemas.openxmlformats.org/drawingml/2006/main">
              <a:ext uri="{FF2B5EF4-FFF2-40B4-BE49-F238E27FC236}">
                <a16:creationId xmlns:a16="http://schemas.microsoft.com/office/drawing/2014/main" id="{0FF31B26-17CE-4426-AD33-90EF8E62C88B}"/>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Periksa identitas</a:t>
            </a:r>
          </a:p>
        </p:txBody>
      </p:sp>
      <p:sp>
        <p:nvSpPr>
          <p:cNvPr id="26" name="flow-11-4">
            <a:extLst xmlns:a="http://schemas.openxmlformats.org/drawingml/2006/main">
              <a:ext uri="{FF2B5EF4-FFF2-40B4-BE49-F238E27FC236}">
                <a16:creationId xmlns:a16="http://schemas.microsoft.com/office/drawing/2014/main" id="{3C8BD098-08CE-4079-8E1E-C84F3CE69753}"/>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Cocokkan batch</a:t>
            </a:r>
          </a:p>
        </p:txBody>
      </p:sp>
      <p:sp>
        <p:nvSpPr>
          <p:cNvPr id="27" name="flow-11-5">
            <a:extLst xmlns:a="http://schemas.openxmlformats.org/drawingml/2006/main">
              <a:ext uri="{FF2B5EF4-FFF2-40B4-BE49-F238E27FC236}">
                <a16:creationId xmlns:a16="http://schemas.microsoft.com/office/drawing/2014/main" id="{0A956B78-5C9A-48A7-8D13-90598067EF7E}"/>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Tandai pemeriksaan</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129BFFBC-F73F-4877-884B-DB6672C0D4C3}"/>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11-0">
            <a:extLst xmlns:a="http://schemas.openxmlformats.org/drawingml/2006/main">
              <a:ext uri="{FF2B5EF4-FFF2-40B4-BE49-F238E27FC236}">
                <a16:creationId xmlns:a16="http://schemas.microsoft.com/office/drawing/2014/main" id="{938E4496-47A9-42E2-9C39-5675299C2680}"/>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ITEM TERKENDALI</a:t>
            </a:r>
          </a:p>
        </p:txBody>
      </p:sp>
      <p:sp>
        <p:nvSpPr>
          <p:cNvPr id="35" name="entity-11-1">
            <a:extLst xmlns:a="http://schemas.openxmlformats.org/drawingml/2006/main">
              <a:ext uri="{FF2B5EF4-FFF2-40B4-BE49-F238E27FC236}">
                <a16:creationId xmlns:a16="http://schemas.microsoft.com/office/drawing/2014/main" id="{E26A4214-BF22-4770-8533-F0708F866CF9}"/>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TRANSAKSI</a:t>
            </a:r>
          </a:p>
        </p:txBody>
      </p:sp>
      <p:sp>
        <p:nvSpPr>
          <p:cNvPr id="36" name="entity-11-2">
            <a:extLst xmlns:a="http://schemas.openxmlformats.org/drawingml/2006/main">
              <a:ext uri="{FF2B5EF4-FFF2-40B4-BE49-F238E27FC236}">
                <a16:creationId xmlns:a16="http://schemas.microsoft.com/office/drawing/2014/main" id="{FC73C3B8-FEE2-4B8F-A795-0A8F96BFA99A}"/>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PASIEN/RESEP</a:t>
            </a:r>
          </a:p>
        </p:txBody>
      </p:sp>
      <p:sp>
        <p:nvSpPr>
          <p:cNvPr id="37" name="entity-11-3">
            <a:extLst xmlns:a="http://schemas.openxmlformats.org/drawingml/2006/main">
              <a:ext uri="{FF2B5EF4-FFF2-40B4-BE49-F238E27FC236}">
                <a16:creationId xmlns:a16="http://schemas.microsoft.com/office/drawing/2014/main" id="{84D7DABA-06A3-4135-AA33-8BE2B23D3739}"/>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BATCH</a:t>
            </a:r>
          </a:p>
        </p:txBody>
      </p:sp>
      <p:sp>
        <p:nvSpPr>
          <p:cNvPr id="38" name="entity-11-4">
            <a:extLst xmlns:a="http://schemas.openxmlformats.org/drawingml/2006/main">
              <a:ext uri="{FF2B5EF4-FFF2-40B4-BE49-F238E27FC236}">
                <a16:creationId xmlns:a16="http://schemas.microsoft.com/office/drawing/2014/main" id="{16AE7910-EFEB-47E9-BF70-5F27ABF376C7}"/>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REGISTER</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C4EDD852-FF81-4893-A3A0-4584906965CD}"/>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obat terkendali tidak boleh diserahkan tanpa data dan otorisasi yang dipersyaratkan.</a:t>
            </a:r>
          </a:p>
        </p:txBody>
      </p:sp>
    </p:spTree>
    <p:extLst>
      <p:ext uri="{BB962C8B-B14F-4D97-AF65-F5344CB8AC3E}">
        <p14:creationId xmlns:p14="http://schemas.microsoft.com/office/powerpoint/2010/main" val="72694021"/>
      </p:ext>
    </p:extLst>
  </p:cSld>
</p:sld>
</file>

<file path=ppt/slides/slide26.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26">
            <a:extLst xmlns:a="http://schemas.openxmlformats.org/drawingml/2006/main">
              <a:ext uri="{FF2B5EF4-FFF2-40B4-BE49-F238E27FC236}">
                <a16:creationId xmlns:a16="http://schemas.microsoft.com/office/drawing/2014/main" id="{BC4CCB06-FF74-4135-AC86-86458D191310}"/>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12</a:t>
            </a:r>
          </a:p>
        </p:txBody>
      </p:sp>
      <p:sp>
        <p:nvSpPr>
          <p:cNvPr id="2" name="title-26">
            <a:extLst xmlns:a="http://schemas.openxmlformats.org/drawingml/2006/main">
              <a:ext uri="{FF2B5EF4-FFF2-40B4-BE49-F238E27FC236}">
                <a16:creationId xmlns:a16="http://schemas.microsoft.com/office/drawing/2014/main" id="{AA0FA632-577C-4407-9E34-894350F87A95}"/>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Laporan Kedaluwarsa</a:t>
            </a:r>
          </a:p>
        </p:txBody>
      </p:sp>
      <p:sp>
        <p:nvSpPr>
          <p:cNvPr id="3" name="">
            <a:extLst xmlns:a="http://schemas.openxmlformats.org/drawingml/2006/main">
              <a:ext uri="{FF2B5EF4-FFF2-40B4-BE49-F238E27FC236}">
                <a16:creationId xmlns:a16="http://schemas.microsoft.com/office/drawing/2014/main" id="{5DAC2432-5E30-4C11-8FE3-BC99AED1AB2F}"/>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26</a:t>
            </a:r>
          </a:p>
        </p:txBody>
      </p:sp>
      <p:sp>
        <p:nvSpPr>
          <p:cNvPr id="4" name="">
            <a:extLst xmlns:a="http://schemas.openxmlformats.org/drawingml/2006/main">
              <a:ext uri="{FF2B5EF4-FFF2-40B4-BE49-F238E27FC236}">
                <a16:creationId xmlns:a16="http://schemas.microsoft.com/office/drawing/2014/main" id="{6BE361C6-D6CB-4A48-99E8-8903651B1CD5}"/>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26</a:t>
            </a:r>
          </a:p>
        </p:txBody>
      </p:sp>
      <p:sp>
        <p:nvSpPr>
          <p:cNvPr id="5" name="">
            <a:extLst xmlns:a="http://schemas.openxmlformats.org/drawingml/2006/main">
              <a:ext uri="{FF2B5EF4-FFF2-40B4-BE49-F238E27FC236}">
                <a16:creationId xmlns:a16="http://schemas.microsoft.com/office/drawing/2014/main" id="{26CBB209-E36C-48D6-8DD4-13CCD5E73ACE}"/>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1ee3471752e45f3"/>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54BCC860-79C7-40EA-B8C1-3293EAC479FE}"/>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4CD9C651-2273-4E70-955F-FFBF84CF5FAD}"/>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Laporan kedaluwarsa mengubah data batch menjadi daftar kerja bagi gudang dan apoteker. Berbeda dari monitor operasional, laporan ini dipakai untuk melihat dampak lintas item pada horizon tertentu dan mendukung perencanaan retur, pemindahan, atau pemusnahan. Tanggal, sisa, dan nilai harus dapat ditelusuri…</a:t>
            </a:r>
          </a:p>
        </p:txBody>
      </p:sp>
      <p:sp>
        <p:nvSpPr>
          <p:cNvPr id="9" name="">
            <a:extLst xmlns:a="http://schemas.openxmlformats.org/drawingml/2006/main">
              <a:ext uri="{FF2B5EF4-FFF2-40B4-BE49-F238E27FC236}">
                <a16:creationId xmlns:a16="http://schemas.microsoft.com/office/drawing/2014/main" id="{827F782C-7A68-4F55-BD1C-AC97CA15EA14}"/>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DE45CC16-BAF7-4DA8-A546-88A18D142D90}"/>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97FC59C4-9A44-490B-9BAD-B15E7046C9FD}"/>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329501383"/>
      </p:ext>
    </p:extLst>
  </p:cSld>
</p:sld>
</file>

<file path=ppt/slides/slide27.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27">
            <a:extLst xmlns:a="http://schemas.openxmlformats.org/drawingml/2006/main">
              <a:ext uri="{FF2B5EF4-FFF2-40B4-BE49-F238E27FC236}">
                <a16:creationId xmlns:a16="http://schemas.microsoft.com/office/drawing/2014/main" id="{D4DBDBB9-6C49-4BD3-82D7-5105FBD0AC43}"/>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12</a:t>
            </a:r>
          </a:p>
        </p:txBody>
      </p:sp>
      <p:sp>
        <p:nvSpPr>
          <p:cNvPr id="2" name="title-27">
            <a:extLst xmlns:a="http://schemas.openxmlformats.org/drawingml/2006/main">
              <a:ext uri="{FF2B5EF4-FFF2-40B4-BE49-F238E27FC236}">
                <a16:creationId xmlns:a16="http://schemas.microsoft.com/office/drawing/2014/main" id="{3F7377B8-0294-448F-9A5E-CED28FC65DCA}"/>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Laporan Kedaluwarsa: peran, proses, dan data</a:t>
            </a:r>
          </a:p>
        </p:txBody>
      </p:sp>
      <p:sp>
        <p:nvSpPr>
          <p:cNvPr id="3" name="">
            <a:extLst xmlns:a="http://schemas.openxmlformats.org/drawingml/2006/main">
              <a:ext uri="{FF2B5EF4-FFF2-40B4-BE49-F238E27FC236}">
                <a16:creationId xmlns:a16="http://schemas.microsoft.com/office/drawing/2014/main" id="{D5CBAF25-BA39-4133-8694-17308FE6E5AC}"/>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27</a:t>
            </a:r>
          </a:p>
        </p:txBody>
      </p:sp>
      <p:sp>
        <p:nvSpPr>
          <p:cNvPr id="4" name="">
            <a:extLst xmlns:a="http://schemas.openxmlformats.org/drawingml/2006/main">
              <a:ext uri="{FF2B5EF4-FFF2-40B4-BE49-F238E27FC236}">
                <a16:creationId xmlns:a16="http://schemas.microsoft.com/office/drawing/2014/main" id="{8FFB72E4-2D6C-40F9-8340-75B95DC4080C}"/>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27</a:t>
            </a:r>
          </a:p>
        </p:txBody>
      </p:sp>
      <p:sp>
        <p:nvSpPr>
          <p:cNvPr id="5" name="">
            <a:extLst xmlns:a="http://schemas.openxmlformats.org/drawingml/2006/main">
              <a:ext uri="{FF2B5EF4-FFF2-40B4-BE49-F238E27FC236}">
                <a16:creationId xmlns:a16="http://schemas.microsoft.com/office/drawing/2014/main" id="{BA20492D-A455-4433-A61D-06A381EA5735}"/>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D42D544C-9E37-4B79-83DA-D2D3F4DC9F32}"/>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CD203FAB-D7A7-4C6C-9211-9F323972AD82}"/>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AAF71F36-613A-4BDB-9187-D1BA90531DAD}"/>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12-0">
            <a:extLst xmlns:a="http://schemas.openxmlformats.org/drawingml/2006/main">
              <a:ext uri="{FF2B5EF4-FFF2-40B4-BE49-F238E27FC236}">
                <a16:creationId xmlns:a16="http://schemas.microsoft.com/office/drawing/2014/main" id="{22F22D5F-92BC-4424-A98A-1BA19D74723B}"/>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Gudang</a:t>
            </a:r>
          </a:p>
        </p:txBody>
      </p:sp>
      <p:sp>
        <p:nvSpPr>
          <p:cNvPr id="10" name="case-12-0">
            <a:extLst xmlns:a="http://schemas.openxmlformats.org/drawingml/2006/main">
              <a:ext uri="{FF2B5EF4-FFF2-40B4-BE49-F238E27FC236}">
                <a16:creationId xmlns:a16="http://schemas.microsoft.com/office/drawing/2014/main" id="{0803F6E7-2DFC-413F-9F56-35A4B79E0E25}"/>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Menyaring horizon ED</a:t>
            </a:r>
          </a:p>
        </p:txBody>
      </p:sp>
      <p:sp>
        <p:nvSpPr>
          <p:cNvPr id="11" name="actor-12-1">
            <a:extLst xmlns:a="http://schemas.openxmlformats.org/drawingml/2006/main">
              <a:ext uri="{FF2B5EF4-FFF2-40B4-BE49-F238E27FC236}">
                <a16:creationId xmlns:a16="http://schemas.microsoft.com/office/drawing/2014/main" id="{305BF467-8E35-447C-A16C-E55020DC3D0B}"/>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Apoteker</a:t>
            </a:r>
          </a:p>
        </p:txBody>
      </p:sp>
      <p:sp>
        <p:nvSpPr>
          <p:cNvPr id="12" name="case-12-1">
            <a:extLst xmlns:a="http://schemas.openxmlformats.org/drawingml/2006/main">
              <a:ext uri="{FF2B5EF4-FFF2-40B4-BE49-F238E27FC236}">
                <a16:creationId xmlns:a16="http://schemas.microsoft.com/office/drawing/2014/main" id="{BC580E61-E2F1-4B08-9A94-9FA92A3E30CD}"/>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Mengukur nilai risiko</a:t>
            </a:r>
          </a:p>
        </p:txBody>
      </p:sp>
      <p:sp>
        <p:nvSpPr>
          <p:cNvPr id="13" name="actor-12-2">
            <a:extLst xmlns:a="http://schemas.openxmlformats.org/drawingml/2006/main">
              <a:ext uri="{FF2B5EF4-FFF2-40B4-BE49-F238E27FC236}">
                <a16:creationId xmlns:a16="http://schemas.microsoft.com/office/drawing/2014/main" id="{74BA25BC-836A-4C23-ABB8-B2999B422415}"/>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Manajemen</a:t>
            </a:r>
          </a:p>
        </p:txBody>
      </p:sp>
      <p:sp>
        <p:nvSpPr>
          <p:cNvPr id="14" name="case-12-2">
            <a:extLst xmlns:a="http://schemas.openxmlformats.org/drawingml/2006/main">
              <a:ext uri="{FF2B5EF4-FFF2-40B4-BE49-F238E27FC236}">
                <a16:creationId xmlns:a16="http://schemas.microsoft.com/office/drawing/2014/main" id="{BDECAA66-91A9-4704-A903-50E25B383E06}"/>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Menentukan tindakan</a:t>
            </a:r>
          </a:p>
        </p:txBody>
      </p:sp>
      <p:sp>
        <p:nvSpPr>
          <p:cNvPr id="15" name="actor-12-3">
            <a:extLst xmlns:a="http://schemas.openxmlformats.org/drawingml/2006/main">
              <a:ext uri="{FF2B5EF4-FFF2-40B4-BE49-F238E27FC236}">
                <a16:creationId xmlns:a16="http://schemas.microsoft.com/office/drawing/2014/main" id="{70AE64E1-EEC3-4F86-BF2D-34EB4BA479DB}"/>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Auditor</a:t>
            </a:r>
          </a:p>
        </p:txBody>
      </p:sp>
      <p:sp>
        <p:nvSpPr>
          <p:cNvPr id="16" name="case-12-3">
            <a:extLst xmlns:a="http://schemas.openxmlformats.org/drawingml/2006/main">
              <a:ext uri="{FF2B5EF4-FFF2-40B4-BE49-F238E27FC236}">
                <a16:creationId xmlns:a16="http://schemas.microsoft.com/office/drawing/2014/main" id="{30AE54F1-DDEC-4A35-9C6B-EA8241F4266A}"/>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Membuktikan disposisi</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6C6E0D53-FF19-4BBC-B2EA-178114BE51D1}"/>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12-0">
            <a:extLst xmlns:a="http://schemas.openxmlformats.org/drawingml/2006/main">
              <a:ext uri="{FF2B5EF4-FFF2-40B4-BE49-F238E27FC236}">
                <a16:creationId xmlns:a16="http://schemas.microsoft.com/office/drawing/2014/main" id="{3C8A008E-2771-457E-ACDC-48E92B452B91}"/>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Pilih horizon</a:t>
            </a:r>
          </a:p>
        </p:txBody>
      </p:sp>
      <p:sp>
        <p:nvSpPr>
          <p:cNvPr id="23" name="flow-12-1">
            <a:extLst xmlns:a="http://schemas.openxmlformats.org/drawingml/2006/main">
              <a:ext uri="{FF2B5EF4-FFF2-40B4-BE49-F238E27FC236}">
                <a16:creationId xmlns:a16="http://schemas.microsoft.com/office/drawing/2014/main" id="{D41E739D-FCED-42D6-81EC-68C7EAF99BF3}"/>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Tampilkan batch</a:t>
            </a:r>
          </a:p>
        </p:txBody>
      </p:sp>
      <p:sp>
        <p:nvSpPr>
          <p:cNvPr id="24" name="flow-12-2">
            <a:extLst xmlns:a="http://schemas.openxmlformats.org/drawingml/2006/main">
              <a:ext uri="{FF2B5EF4-FFF2-40B4-BE49-F238E27FC236}">
                <a16:creationId xmlns:a16="http://schemas.microsoft.com/office/drawing/2014/main" id="{A3D4EFAC-FF83-4453-B6CB-707DE01DDDF5}"/>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Kelompokkan urgensi</a:t>
            </a:r>
          </a:p>
        </p:txBody>
      </p:sp>
      <p:sp>
        <p:nvSpPr>
          <p:cNvPr id="25" name="flow-12-3">
            <a:extLst xmlns:a="http://schemas.openxmlformats.org/drawingml/2006/main">
              <a:ext uri="{FF2B5EF4-FFF2-40B4-BE49-F238E27FC236}">
                <a16:creationId xmlns:a16="http://schemas.microsoft.com/office/drawing/2014/main" id="{7DA6E7A3-12CA-4245-97EA-312ACA1CC202}"/>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Cek stok fisik</a:t>
            </a:r>
          </a:p>
        </p:txBody>
      </p:sp>
      <p:sp>
        <p:nvSpPr>
          <p:cNvPr id="26" name="flow-12-4">
            <a:extLst xmlns:a="http://schemas.openxmlformats.org/drawingml/2006/main">
              <a:ext uri="{FF2B5EF4-FFF2-40B4-BE49-F238E27FC236}">
                <a16:creationId xmlns:a16="http://schemas.microsoft.com/office/drawing/2014/main" id="{C3DCBFFA-15A4-4227-841A-9BDE849170AC}"/>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Tentukan disposisi</a:t>
            </a:r>
          </a:p>
        </p:txBody>
      </p:sp>
      <p:sp>
        <p:nvSpPr>
          <p:cNvPr id="27" name="flow-12-5">
            <a:extLst xmlns:a="http://schemas.openxmlformats.org/drawingml/2006/main">
              <a:ext uri="{FF2B5EF4-FFF2-40B4-BE49-F238E27FC236}">
                <a16:creationId xmlns:a16="http://schemas.microsoft.com/office/drawing/2014/main" id="{54559691-719C-4EFA-831F-A691DF9A9D29}"/>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Rekonsiliasi</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4E3B0586-AC1A-420A-A386-FBB85E8F4B9E}"/>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12-0">
            <a:extLst xmlns:a="http://schemas.openxmlformats.org/drawingml/2006/main">
              <a:ext uri="{FF2B5EF4-FFF2-40B4-BE49-F238E27FC236}">
                <a16:creationId xmlns:a16="http://schemas.microsoft.com/office/drawing/2014/main" id="{1E4DC21E-24BE-46B1-9418-A42891043E00}"/>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BATCH</a:t>
            </a:r>
          </a:p>
        </p:txBody>
      </p:sp>
      <p:sp>
        <p:nvSpPr>
          <p:cNvPr id="35" name="entity-12-1">
            <a:extLst xmlns:a="http://schemas.openxmlformats.org/drawingml/2006/main">
              <a:ext uri="{FF2B5EF4-FFF2-40B4-BE49-F238E27FC236}">
                <a16:creationId xmlns:a16="http://schemas.microsoft.com/office/drawing/2014/main" id="{F6B05F46-6204-48B8-97D6-CC4059B7A6F0}"/>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ITEM</a:t>
            </a:r>
          </a:p>
        </p:txBody>
      </p:sp>
      <p:sp>
        <p:nvSpPr>
          <p:cNvPr id="36" name="entity-12-2">
            <a:extLst xmlns:a="http://schemas.openxmlformats.org/drawingml/2006/main">
              <a:ext uri="{FF2B5EF4-FFF2-40B4-BE49-F238E27FC236}">
                <a16:creationId xmlns:a16="http://schemas.microsoft.com/office/drawing/2014/main" id="{56A65696-B2A3-4A8A-8F36-6670B1DB7FFB}"/>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HORIZON</a:t>
            </a:r>
          </a:p>
        </p:txBody>
      </p:sp>
      <p:sp>
        <p:nvSpPr>
          <p:cNvPr id="37" name="entity-12-3">
            <a:extLst xmlns:a="http://schemas.openxmlformats.org/drawingml/2006/main">
              <a:ext uri="{FF2B5EF4-FFF2-40B4-BE49-F238E27FC236}">
                <a16:creationId xmlns:a16="http://schemas.microsoft.com/office/drawing/2014/main" id="{843F2363-641E-42F5-93FA-257A4BC61D52}"/>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NILAI PERSEDIAAN</a:t>
            </a:r>
          </a:p>
        </p:txBody>
      </p:sp>
      <p:sp>
        <p:nvSpPr>
          <p:cNvPr id="38" name="entity-12-4">
            <a:extLst xmlns:a="http://schemas.openxmlformats.org/drawingml/2006/main">
              <a:ext uri="{FF2B5EF4-FFF2-40B4-BE49-F238E27FC236}">
                <a16:creationId xmlns:a16="http://schemas.microsoft.com/office/drawing/2014/main" id="{FC93DFF5-1687-41E8-BF16-9B0FCC5F9D6B}"/>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LAPORAN ED</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6F027339-A080-43C0-9F9D-D3E714926A82}"/>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hasil laporan harus cocok dengan batch fisik dan transaksi mutasi.</a:t>
            </a:r>
          </a:p>
        </p:txBody>
      </p:sp>
    </p:spTree>
    <p:extLst>
      <p:ext uri="{BB962C8B-B14F-4D97-AF65-F5344CB8AC3E}">
        <p14:creationId xmlns:p14="http://schemas.microsoft.com/office/powerpoint/2010/main" val="652800218"/>
      </p:ext>
    </p:extLst>
  </p:cSld>
</p:sld>
</file>

<file path=ppt/slides/slide28.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28">
            <a:extLst xmlns:a="http://schemas.openxmlformats.org/drawingml/2006/main">
              <a:ext uri="{FF2B5EF4-FFF2-40B4-BE49-F238E27FC236}">
                <a16:creationId xmlns:a16="http://schemas.microsoft.com/office/drawing/2014/main" id="{B7E129E7-FC19-40B8-ABDD-9F6EF6EFE01F}"/>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13</a:t>
            </a:r>
          </a:p>
        </p:txBody>
      </p:sp>
      <p:sp>
        <p:nvSpPr>
          <p:cNvPr id="2" name="title-28">
            <a:extLst xmlns:a="http://schemas.openxmlformats.org/drawingml/2006/main">
              <a:ext uri="{FF2B5EF4-FFF2-40B4-BE49-F238E27FC236}">
                <a16:creationId xmlns:a16="http://schemas.microsoft.com/office/drawing/2014/main" id="{5737A433-B616-475B-BE43-544BDA3C995F}"/>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Procure-to-Pay: PR sampai Pembayaran Vendor</a:t>
            </a:r>
          </a:p>
        </p:txBody>
      </p:sp>
      <p:sp>
        <p:nvSpPr>
          <p:cNvPr id="3" name="">
            <a:extLst xmlns:a="http://schemas.openxmlformats.org/drawingml/2006/main">
              <a:ext uri="{FF2B5EF4-FFF2-40B4-BE49-F238E27FC236}">
                <a16:creationId xmlns:a16="http://schemas.microsoft.com/office/drawing/2014/main" id="{7DE80FC9-8202-4ED8-AAFD-83EF33EAD185}"/>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28</a:t>
            </a:r>
          </a:p>
        </p:txBody>
      </p:sp>
      <p:sp>
        <p:nvSpPr>
          <p:cNvPr id="4" name="">
            <a:extLst xmlns:a="http://schemas.openxmlformats.org/drawingml/2006/main">
              <a:ext uri="{FF2B5EF4-FFF2-40B4-BE49-F238E27FC236}">
                <a16:creationId xmlns:a16="http://schemas.microsoft.com/office/drawing/2014/main" id="{613D712B-ACE5-4B7C-8708-715297FCB7AB}"/>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28</a:t>
            </a:r>
          </a:p>
        </p:txBody>
      </p:sp>
      <p:sp>
        <p:nvSpPr>
          <p:cNvPr id="5" name="">
            <a:extLst xmlns:a="http://schemas.openxmlformats.org/drawingml/2006/main">
              <a:ext uri="{FF2B5EF4-FFF2-40B4-BE49-F238E27FC236}">
                <a16:creationId xmlns:a16="http://schemas.microsoft.com/office/drawing/2014/main" id="{137D3427-F4BD-47E1-9997-03D78159FE88}"/>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30ad5a438bb495f"/>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E5DAD80B-94D5-4558-83B7-471A6196DA49}"/>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DEDDCAEC-2C1B-4CBB-9FDF-0B05E893197D}"/>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Layar pembayaran vendor adalah ujung rangkaian procure-to-pay, bukan titik awal. Sebuah baris layak dibayar hanya bila dapat ditelusuri ke permintaan, pemesanan, penerimaan/BAST, dan tagihan yang disetujui. Filter dan status pada halaman membantu keuangan memisahkan dokumen yang masih menunggu, ditolak,…</a:t>
            </a:r>
          </a:p>
        </p:txBody>
      </p:sp>
      <p:sp>
        <p:nvSpPr>
          <p:cNvPr id="9" name="">
            <a:extLst xmlns:a="http://schemas.openxmlformats.org/drawingml/2006/main">
              <a:ext uri="{FF2B5EF4-FFF2-40B4-BE49-F238E27FC236}">
                <a16:creationId xmlns:a16="http://schemas.microsoft.com/office/drawing/2014/main" id="{17A6AE0D-1D49-4423-B3B9-FE3C735762C3}"/>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5A3FCAAC-AC8C-4DD9-8C07-E77D4483C2C4}"/>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43EBC3F3-37E0-4C9B-BBED-18D2AAD7F99E}"/>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712558366"/>
      </p:ext>
    </p:extLst>
  </p:cSld>
</p:sld>
</file>

<file path=ppt/slides/slide29.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29">
            <a:extLst xmlns:a="http://schemas.openxmlformats.org/drawingml/2006/main">
              <a:ext uri="{FF2B5EF4-FFF2-40B4-BE49-F238E27FC236}">
                <a16:creationId xmlns:a16="http://schemas.microsoft.com/office/drawing/2014/main" id="{1E583CD1-7B29-4770-949B-6507A6F5ACCF}"/>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13</a:t>
            </a:r>
          </a:p>
        </p:txBody>
      </p:sp>
      <p:sp>
        <p:nvSpPr>
          <p:cNvPr id="2" name="title-29">
            <a:extLst xmlns:a="http://schemas.openxmlformats.org/drawingml/2006/main">
              <a:ext uri="{FF2B5EF4-FFF2-40B4-BE49-F238E27FC236}">
                <a16:creationId xmlns:a16="http://schemas.microsoft.com/office/drawing/2014/main" id="{493B4D9C-5A64-4111-BE2C-3AC3DE948C26}"/>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Procure-to-Pay: PR sampai Pembayaran Vendor: peran, proses, dan data</a:t>
            </a:r>
          </a:p>
        </p:txBody>
      </p:sp>
      <p:sp>
        <p:nvSpPr>
          <p:cNvPr id="3" name="">
            <a:extLst xmlns:a="http://schemas.openxmlformats.org/drawingml/2006/main">
              <a:ext uri="{FF2B5EF4-FFF2-40B4-BE49-F238E27FC236}">
                <a16:creationId xmlns:a16="http://schemas.microsoft.com/office/drawing/2014/main" id="{54340D04-913D-45AB-8425-9D9BEE858986}"/>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29</a:t>
            </a:r>
          </a:p>
        </p:txBody>
      </p:sp>
      <p:sp>
        <p:nvSpPr>
          <p:cNvPr id="4" name="">
            <a:extLst xmlns:a="http://schemas.openxmlformats.org/drawingml/2006/main">
              <a:ext uri="{FF2B5EF4-FFF2-40B4-BE49-F238E27FC236}">
                <a16:creationId xmlns:a16="http://schemas.microsoft.com/office/drawing/2014/main" id="{9CC75612-FBD8-4741-B99C-CAA5E4B7BB91}"/>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29</a:t>
            </a:r>
          </a:p>
        </p:txBody>
      </p:sp>
      <p:sp>
        <p:nvSpPr>
          <p:cNvPr id="5" name="">
            <a:extLst xmlns:a="http://schemas.openxmlformats.org/drawingml/2006/main">
              <a:ext uri="{FF2B5EF4-FFF2-40B4-BE49-F238E27FC236}">
                <a16:creationId xmlns:a16="http://schemas.microsoft.com/office/drawing/2014/main" id="{AE9575CA-1C89-4FEF-8073-241BEE7BBF77}"/>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EA525A12-C642-4EC5-BC42-9D3393BA4206}"/>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F5816C42-BE88-4F10-B6A6-E90BF89B947D}"/>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10BDCFFB-02B7-4D26-BACA-CE5247FC4BD5}"/>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13-0">
            <a:extLst xmlns:a="http://schemas.openxmlformats.org/drawingml/2006/main">
              <a:ext uri="{FF2B5EF4-FFF2-40B4-BE49-F238E27FC236}">
                <a16:creationId xmlns:a16="http://schemas.microsoft.com/office/drawing/2014/main" id="{BEFFE6EC-AACF-4F64-9B8F-883ADC5405D1}"/>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Peminta</a:t>
            </a:r>
          </a:p>
        </p:txBody>
      </p:sp>
      <p:sp>
        <p:nvSpPr>
          <p:cNvPr id="10" name="case-13-0">
            <a:extLst xmlns:a="http://schemas.openxmlformats.org/drawingml/2006/main">
              <a:ext uri="{FF2B5EF4-FFF2-40B4-BE49-F238E27FC236}">
                <a16:creationId xmlns:a16="http://schemas.microsoft.com/office/drawing/2014/main" id="{1B88E12B-35FE-447D-AFB0-3C9BC5A6A3B8}"/>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Membuat PR/PO</a:t>
            </a:r>
          </a:p>
        </p:txBody>
      </p:sp>
      <p:sp>
        <p:nvSpPr>
          <p:cNvPr id="11" name="actor-13-1">
            <a:extLst xmlns:a="http://schemas.openxmlformats.org/drawingml/2006/main">
              <a:ext uri="{FF2B5EF4-FFF2-40B4-BE49-F238E27FC236}">
                <a16:creationId xmlns:a16="http://schemas.microsoft.com/office/drawing/2014/main" id="{A7E236E6-C9C5-4D2B-9BB7-D9B01B11E218}"/>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Procurement</a:t>
            </a:r>
          </a:p>
        </p:txBody>
      </p:sp>
      <p:sp>
        <p:nvSpPr>
          <p:cNvPr id="12" name="case-13-1">
            <a:extLst xmlns:a="http://schemas.openxmlformats.org/drawingml/2006/main">
              <a:ext uri="{FF2B5EF4-FFF2-40B4-BE49-F238E27FC236}">
                <a16:creationId xmlns:a16="http://schemas.microsoft.com/office/drawing/2014/main" id="{A7AACB10-2008-4476-8498-3E23EF7483E0}"/>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Menerima melalui BAST</a:t>
            </a:r>
          </a:p>
        </p:txBody>
      </p:sp>
      <p:sp>
        <p:nvSpPr>
          <p:cNvPr id="13" name="actor-13-2">
            <a:extLst xmlns:a="http://schemas.openxmlformats.org/drawingml/2006/main">
              <a:ext uri="{FF2B5EF4-FFF2-40B4-BE49-F238E27FC236}">
                <a16:creationId xmlns:a16="http://schemas.microsoft.com/office/drawing/2014/main" id="{7831E8BE-A0D5-4ABC-AE6C-F175FDBCF51C}"/>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Penerima</a:t>
            </a:r>
          </a:p>
        </p:txBody>
      </p:sp>
      <p:sp>
        <p:nvSpPr>
          <p:cNvPr id="14" name="case-13-2">
            <a:extLst xmlns:a="http://schemas.openxmlformats.org/drawingml/2006/main">
              <a:ext uri="{FF2B5EF4-FFF2-40B4-BE49-F238E27FC236}">
                <a16:creationId xmlns:a16="http://schemas.microsoft.com/office/drawing/2014/main" id="{76B6C562-A65C-4F2D-8DCE-D5C4BF2EF791}"/>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Mencatat tagihan</a:t>
            </a:r>
          </a:p>
        </p:txBody>
      </p:sp>
      <p:sp>
        <p:nvSpPr>
          <p:cNvPr id="15" name="actor-13-3">
            <a:extLst xmlns:a="http://schemas.openxmlformats.org/drawingml/2006/main">
              <a:ext uri="{FF2B5EF4-FFF2-40B4-BE49-F238E27FC236}">
                <a16:creationId xmlns:a16="http://schemas.microsoft.com/office/drawing/2014/main" id="{6E5C2E90-C3A1-4B11-A069-CEA5A0CEF02B}"/>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Keuangan</a:t>
            </a:r>
          </a:p>
        </p:txBody>
      </p:sp>
      <p:sp>
        <p:nvSpPr>
          <p:cNvPr id="16" name="case-13-3">
            <a:extLst xmlns:a="http://schemas.openxmlformats.org/drawingml/2006/main">
              <a:ext uri="{FF2B5EF4-FFF2-40B4-BE49-F238E27FC236}">
                <a16:creationId xmlns:a16="http://schemas.microsoft.com/office/drawing/2014/main" id="{DFC02962-C1F4-469C-9BA7-D7CA5DB95348}"/>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Membayar vendor</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59982A6B-7CC1-44B7-8304-0CCF5B70A8F2}"/>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13-0">
            <a:extLst xmlns:a="http://schemas.openxmlformats.org/drawingml/2006/main">
              <a:ext uri="{FF2B5EF4-FFF2-40B4-BE49-F238E27FC236}">
                <a16:creationId xmlns:a16="http://schemas.microsoft.com/office/drawing/2014/main" id="{BB89A852-732D-48F0-9D38-0012048BBF01}"/>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Buat PR</a:t>
            </a:r>
          </a:p>
        </p:txBody>
      </p:sp>
      <p:sp>
        <p:nvSpPr>
          <p:cNvPr id="23" name="flow-13-1">
            <a:extLst xmlns:a="http://schemas.openxmlformats.org/drawingml/2006/main">
              <a:ext uri="{FF2B5EF4-FFF2-40B4-BE49-F238E27FC236}">
                <a16:creationId xmlns:a16="http://schemas.microsoft.com/office/drawing/2014/main" id="{F896C731-80C7-4110-B391-DCEF0EDA7623}"/>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Setujui dan buat PO</a:t>
            </a:r>
          </a:p>
        </p:txBody>
      </p:sp>
      <p:sp>
        <p:nvSpPr>
          <p:cNvPr id="24" name="flow-13-2">
            <a:extLst xmlns:a="http://schemas.openxmlformats.org/drawingml/2006/main">
              <a:ext uri="{FF2B5EF4-FFF2-40B4-BE49-F238E27FC236}">
                <a16:creationId xmlns:a16="http://schemas.microsoft.com/office/drawing/2014/main" id="{BACE71AA-8B24-4A36-B3EA-5E2F4AEAB1B5}"/>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Terima/BAST</a:t>
            </a:r>
          </a:p>
        </p:txBody>
      </p:sp>
      <p:sp>
        <p:nvSpPr>
          <p:cNvPr id="25" name="flow-13-3">
            <a:extLst xmlns:a="http://schemas.openxmlformats.org/drawingml/2006/main">
              <a:ext uri="{FF2B5EF4-FFF2-40B4-BE49-F238E27FC236}">
                <a16:creationId xmlns:a16="http://schemas.microsoft.com/office/drawing/2014/main" id="{CCE071DF-6F03-4FEE-90F4-FCC230838086}"/>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Terima tagihan</a:t>
            </a:r>
          </a:p>
        </p:txBody>
      </p:sp>
      <p:sp>
        <p:nvSpPr>
          <p:cNvPr id="26" name="flow-13-4">
            <a:extLst xmlns:a="http://schemas.openxmlformats.org/drawingml/2006/main">
              <a:ext uri="{FF2B5EF4-FFF2-40B4-BE49-F238E27FC236}">
                <a16:creationId xmlns:a16="http://schemas.microsoft.com/office/drawing/2014/main" id="{E781A40D-9362-49C6-987E-B499B51266DA}"/>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Setujui pembayaran</a:t>
            </a:r>
          </a:p>
        </p:txBody>
      </p:sp>
      <p:sp>
        <p:nvSpPr>
          <p:cNvPr id="27" name="flow-13-5">
            <a:extLst xmlns:a="http://schemas.openxmlformats.org/drawingml/2006/main">
              <a:ext uri="{FF2B5EF4-FFF2-40B4-BE49-F238E27FC236}">
                <a16:creationId xmlns:a16="http://schemas.microsoft.com/office/drawing/2014/main" id="{3767BA91-6F69-4071-AB3B-83FCBB0E1069}"/>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Rekonsiliasi</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6CEF66DC-3834-4445-A419-CD9C0300D1AA}"/>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13-0">
            <a:extLst xmlns:a="http://schemas.openxmlformats.org/drawingml/2006/main">
              <a:ext uri="{FF2B5EF4-FFF2-40B4-BE49-F238E27FC236}">
                <a16:creationId xmlns:a16="http://schemas.microsoft.com/office/drawing/2014/main" id="{44A28603-0DE3-4B6B-AF6B-9AADA7465C8A}"/>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PR</a:t>
            </a:r>
          </a:p>
        </p:txBody>
      </p:sp>
      <p:sp>
        <p:nvSpPr>
          <p:cNvPr id="35" name="entity-13-1">
            <a:extLst xmlns:a="http://schemas.openxmlformats.org/drawingml/2006/main">
              <a:ext uri="{FF2B5EF4-FFF2-40B4-BE49-F238E27FC236}">
                <a16:creationId xmlns:a16="http://schemas.microsoft.com/office/drawing/2014/main" id="{7C93449F-4319-4242-AD6D-4776BE0870F1}"/>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PO</a:t>
            </a:r>
          </a:p>
        </p:txBody>
      </p:sp>
      <p:sp>
        <p:nvSpPr>
          <p:cNvPr id="36" name="entity-13-2">
            <a:extLst xmlns:a="http://schemas.openxmlformats.org/drawingml/2006/main">
              <a:ext uri="{FF2B5EF4-FFF2-40B4-BE49-F238E27FC236}">
                <a16:creationId xmlns:a16="http://schemas.microsoft.com/office/drawing/2014/main" id="{36F8D696-19F3-4804-8604-445727C9964A}"/>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BAST</a:t>
            </a:r>
          </a:p>
        </p:txBody>
      </p:sp>
      <p:sp>
        <p:nvSpPr>
          <p:cNvPr id="37" name="entity-13-3">
            <a:extLst xmlns:a="http://schemas.openxmlformats.org/drawingml/2006/main">
              <a:ext uri="{FF2B5EF4-FFF2-40B4-BE49-F238E27FC236}">
                <a16:creationId xmlns:a16="http://schemas.microsoft.com/office/drawing/2014/main" id="{F2B896A1-42D6-43E1-A8D3-1BEB2F25ED31}"/>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TAGIHAN</a:t>
            </a:r>
          </a:p>
        </p:txBody>
      </p:sp>
      <p:sp>
        <p:nvSpPr>
          <p:cNvPr id="38" name="entity-13-4">
            <a:extLst xmlns:a="http://schemas.openxmlformats.org/drawingml/2006/main">
              <a:ext uri="{FF2B5EF4-FFF2-40B4-BE49-F238E27FC236}">
                <a16:creationId xmlns:a16="http://schemas.microsoft.com/office/drawing/2014/main" id="{B27ABCB2-1801-4D10-BF6B-069C0D774BBC}"/>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PEMBAYARAN</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C57254C9-DF74-4C5D-BB86-A4DE30E21A16}"/>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segregasi tugas, vendor sah, kuantitas diterima, tagihan, dan persetujuan lengkap.</a:t>
            </a:r>
          </a:p>
        </p:txBody>
      </p:sp>
    </p:spTree>
    <p:extLst>
      <p:ext uri="{BB962C8B-B14F-4D97-AF65-F5344CB8AC3E}">
        <p14:creationId xmlns:p14="http://schemas.microsoft.com/office/powerpoint/2010/main" val="990905079"/>
      </p:ext>
    </p:extLst>
  </p:cSld>
</p:sld>
</file>

<file path=ppt/slides/slide30.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30">
            <a:extLst xmlns:a="http://schemas.openxmlformats.org/drawingml/2006/main">
              <a:ext uri="{FF2B5EF4-FFF2-40B4-BE49-F238E27FC236}">
                <a16:creationId xmlns:a16="http://schemas.microsoft.com/office/drawing/2014/main" id="{0A2AB0EF-C966-4E26-A087-4F6FAFC0AC27}"/>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14</a:t>
            </a:r>
          </a:p>
        </p:txBody>
      </p:sp>
      <p:sp>
        <p:nvSpPr>
          <p:cNvPr id="2" name="title-30">
            <a:extLst xmlns:a="http://schemas.openxmlformats.org/drawingml/2006/main">
              <a:ext uri="{FF2B5EF4-FFF2-40B4-BE49-F238E27FC236}">
                <a16:creationId xmlns:a16="http://schemas.microsoft.com/office/drawing/2014/main" id="{E386B95F-2222-46E2-80D1-54E2A62FF734}"/>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Draft Jurnal dan Posting</a:t>
            </a:r>
          </a:p>
        </p:txBody>
      </p:sp>
      <p:sp>
        <p:nvSpPr>
          <p:cNvPr id="3" name="">
            <a:extLst xmlns:a="http://schemas.openxmlformats.org/drawingml/2006/main">
              <a:ext uri="{FF2B5EF4-FFF2-40B4-BE49-F238E27FC236}">
                <a16:creationId xmlns:a16="http://schemas.microsoft.com/office/drawing/2014/main" id="{A38C00C2-6E52-454A-9CBB-AFC2FECCD865}"/>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30</a:t>
            </a:r>
          </a:p>
        </p:txBody>
      </p:sp>
      <p:sp>
        <p:nvSpPr>
          <p:cNvPr id="4" name="">
            <a:extLst xmlns:a="http://schemas.openxmlformats.org/drawingml/2006/main">
              <a:ext uri="{FF2B5EF4-FFF2-40B4-BE49-F238E27FC236}">
                <a16:creationId xmlns:a16="http://schemas.microsoft.com/office/drawing/2014/main" id="{4138468C-4C36-4F46-859D-10452792AD1C}"/>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30</a:t>
            </a:r>
          </a:p>
        </p:txBody>
      </p:sp>
      <p:sp>
        <p:nvSpPr>
          <p:cNvPr id="5" name="">
            <a:extLst xmlns:a="http://schemas.openxmlformats.org/drawingml/2006/main">
              <a:ext uri="{FF2B5EF4-FFF2-40B4-BE49-F238E27FC236}">
                <a16:creationId xmlns:a16="http://schemas.microsoft.com/office/drawing/2014/main" id="{9164D119-77E2-42B7-825A-E4F53B1D6E5A}"/>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fb7df0c57e446f7"/>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7444F220-BF06-4D3C-9B08-36E8848FA375}"/>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3BDBD219-1B04-4093-858C-4AD421EFC20D}"/>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Draft Jurnal menampilkan transaksi sumber yang belum atau sudah diproses menjadi jurnal. Akuntan memakai kategori untuk memisahkan penjualan, HPP, kulakan, pembayaran vendor, jurnal umum, dan proses lain. Jumlah pada kartu adalah indikator pekerjaan; keputusan posting tetap dilakukan setelah membuka…</a:t>
            </a:r>
          </a:p>
        </p:txBody>
      </p:sp>
      <p:sp>
        <p:nvSpPr>
          <p:cNvPr id="9" name="">
            <a:extLst xmlns:a="http://schemas.openxmlformats.org/drawingml/2006/main">
              <a:ext uri="{FF2B5EF4-FFF2-40B4-BE49-F238E27FC236}">
                <a16:creationId xmlns:a16="http://schemas.microsoft.com/office/drawing/2014/main" id="{91C92A3D-756A-4E31-AEBB-AF7F2E072DE7}"/>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EF221998-9958-4C17-8EC3-7F430CC9267C}"/>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7C9D0136-D4AF-4D1A-8BA7-A14B8BE852FB}"/>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972127312"/>
      </p:ext>
    </p:extLst>
  </p:cSld>
</p:sld>
</file>

<file path=ppt/slides/slide31.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31">
            <a:extLst xmlns:a="http://schemas.openxmlformats.org/drawingml/2006/main">
              <a:ext uri="{FF2B5EF4-FFF2-40B4-BE49-F238E27FC236}">
                <a16:creationId xmlns:a16="http://schemas.microsoft.com/office/drawing/2014/main" id="{693EACDA-4722-4EF9-8DAC-ACE07EA723D1}"/>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14</a:t>
            </a:r>
          </a:p>
        </p:txBody>
      </p:sp>
      <p:sp>
        <p:nvSpPr>
          <p:cNvPr id="2" name="title-31">
            <a:extLst xmlns:a="http://schemas.openxmlformats.org/drawingml/2006/main">
              <a:ext uri="{FF2B5EF4-FFF2-40B4-BE49-F238E27FC236}">
                <a16:creationId xmlns:a16="http://schemas.microsoft.com/office/drawing/2014/main" id="{C1B8AB91-3890-48FD-91FE-AE4F9A82F2C7}"/>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Draft Jurnal dan Posting: peran, proses, dan data</a:t>
            </a:r>
          </a:p>
        </p:txBody>
      </p:sp>
      <p:sp>
        <p:nvSpPr>
          <p:cNvPr id="3" name="">
            <a:extLst xmlns:a="http://schemas.openxmlformats.org/drawingml/2006/main">
              <a:ext uri="{FF2B5EF4-FFF2-40B4-BE49-F238E27FC236}">
                <a16:creationId xmlns:a16="http://schemas.microsoft.com/office/drawing/2014/main" id="{768E1C45-62C4-4A9E-A4EF-B7CD4CF39DDC}"/>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31</a:t>
            </a:r>
          </a:p>
        </p:txBody>
      </p:sp>
      <p:sp>
        <p:nvSpPr>
          <p:cNvPr id="4" name="">
            <a:extLst xmlns:a="http://schemas.openxmlformats.org/drawingml/2006/main">
              <a:ext uri="{FF2B5EF4-FFF2-40B4-BE49-F238E27FC236}">
                <a16:creationId xmlns:a16="http://schemas.microsoft.com/office/drawing/2014/main" id="{DA1F7FAB-CBA9-4E1F-98C2-A0728A91CCF7}"/>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31</a:t>
            </a:r>
          </a:p>
        </p:txBody>
      </p:sp>
      <p:sp>
        <p:nvSpPr>
          <p:cNvPr id="5" name="">
            <a:extLst xmlns:a="http://schemas.openxmlformats.org/drawingml/2006/main">
              <a:ext uri="{FF2B5EF4-FFF2-40B4-BE49-F238E27FC236}">
                <a16:creationId xmlns:a16="http://schemas.microsoft.com/office/drawing/2014/main" id="{3751736B-FC32-45F0-9CF4-78B5FEB91FA5}"/>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1DA7B9C4-E82A-47A0-B462-54367C91440E}"/>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58A056C4-46F9-421D-A0BC-50F8AA8FAF56}"/>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382CC9FC-F1CA-477F-A5A2-FF032E87563C}"/>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14-0">
            <a:extLst xmlns:a="http://schemas.openxmlformats.org/drawingml/2006/main">
              <a:ext uri="{FF2B5EF4-FFF2-40B4-BE49-F238E27FC236}">
                <a16:creationId xmlns:a16="http://schemas.microsoft.com/office/drawing/2014/main" id="{1C622FC1-0091-4BD6-B614-5444C18B0075}"/>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Akuntan</a:t>
            </a:r>
          </a:p>
        </p:txBody>
      </p:sp>
      <p:sp>
        <p:nvSpPr>
          <p:cNvPr id="10" name="case-14-0">
            <a:extLst xmlns:a="http://schemas.openxmlformats.org/drawingml/2006/main">
              <a:ext uri="{FF2B5EF4-FFF2-40B4-BE49-F238E27FC236}">
                <a16:creationId xmlns:a16="http://schemas.microsoft.com/office/drawing/2014/main" id="{FABF25F2-FA69-4631-83E2-9A678BFEB409}"/>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Meninjau draft</a:t>
            </a:r>
          </a:p>
        </p:txBody>
      </p:sp>
      <p:sp>
        <p:nvSpPr>
          <p:cNvPr id="11" name="actor-14-1">
            <a:extLst xmlns:a="http://schemas.openxmlformats.org/drawingml/2006/main">
              <a:ext uri="{FF2B5EF4-FFF2-40B4-BE49-F238E27FC236}">
                <a16:creationId xmlns:a16="http://schemas.microsoft.com/office/drawing/2014/main" id="{CCE7C773-B307-42CC-AF3B-416BD0662CB1}"/>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Approver</a:t>
            </a:r>
          </a:p>
        </p:txBody>
      </p:sp>
      <p:sp>
        <p:nvSpPr>
          <p:cNvPr id="12" name="case-14-1">
            <a:extLst xmlns:a="http://schemas.openxmlformats.org/drawingml/2006/main">
              <a:ext uri="{FF2B5EF4-FFF2-40B4-BE49-F238E27FC236}">
                <a16:creationId xmlns:a16="http://schemas.microsoft.com/office/drawing/2014/main" id="{D621426B-8A60-45F7-9BD9-C9197815F1F1}"/>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Memetakan akun</a:t>
            </a:r>
          </a:p>
        </p:txBody>
      </p:sp>
      <p:sp>
        <p:nvSpPr>
          <p:cNvPr id="13" name="actor-14-2">
            <a:extLst xmlns:a="http://schemas.openxmlformats.org/drawingml/2006/main">
              <a:ext uri="{FF2B5EF4-FFF2-40B4-BE49-F238E27FC236}">
                <a16:creationId xmlns:a16="http://schemas.microsoft.com/office/drawing/2014/main" id="{DFBE63AF-1DB9-483F-AADE-71EEA509C19C}"/>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Owner COA</a:t>
            </a:r>
          </a:p>
        </p:txBody>
      </p:sp>
      <p:sp>
        <p:nvSpPr>
          <p:cNvPr id="14" name="case-14-2">
            <a:extLst xmlns:a="http://schemas.openxmlformats.org/drawingml/2006/main">
              <a:ext uri="{FF2B5EF4-FFF2-40B4-BE49-F238E27FC236}">
                <a16:creationId xmlns:a16="http://schemas.microsoft.com/office/drawing/2014/main" id="{1B2D8415-DAC0-4F94-920E-7DB57C05C24C}"/>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Memvalidasi debit/kredit</a:t>
            </a:r>
          </a:p>
        </p:txBody>
      </p:sp>
      <p:sp>
        <p:nvSpPr>
          <p:cNvPr id="15" name="actor-14-3">
            <a:extLst xmlns:a="http://schemas.openxmlformats.org/drawingml/2006/main">
              <a:ext uri="{FF2B5EF4-FFF2-40B4-BE49-F238E27FC236}">
                <a16:creationId xmlns:a16="http://schemas.microsoft.com/office/drawing/2014/main" id="{93A4A6E6-6CE0-4577-BCEE-90B8C1C548EC}"/>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Auditor</a:t>
            </a:r>
          </a:p>
        </p:txBody>
      </p:sp>
      <p:sp>
        <p:nvSpPr>
          <p:cNvPr id="16" name="case-14-3">
            <a:extLst xmlns:a="http://schemas.openxmlformats.org/drawingml/2006/main">
              <a:ext uri="{FF2B5EF4-FFF2-40B4-BE49-F238E27FC236}">
                <a16:creationId xmlns:a16="http://schemas.microsoft.com/office/drawing/2014/main" id="{EAB50F87-CAFE-4CAB-B6EE-DE6C9ACFDD17}"/>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Memposting buku besar</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0CA5DF66-43BA-4798-A9F5-BD83D1F9EC6F}"/>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14-0">
            <a:extLst xmlns:a="http://schemas.openxmlformats.org/drawingml/2006/main">
              <a:ext uri="{FF2B5EF4-FFF2-40B4-BE49-F238E27FC236}">
                <a16:creationId xmlns:a16="http://schemas.microsoft.com/office/drawing/2014/main" id="{45B0D3DE-FD33-4A9B-9F9F-C8C30FCC3189}"/>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Buka draft</a:t>
            </a:r>
          </a:p>
        </p:txBody>
      </p:sp>
      <p:sp>
        <p:nvSpPr>
          <p:cNvPr id="23" name="flow-14-1">
            <a:extLst xmlns:a="http://schemas.openxmlformats.org/drawingml/2006/main">
              <a:ext uri="{FF2B5EF4-FFF2-40B4-BE49-F238E27FC236}">
                <a16:creationId xmlns:a16="http://schemas.microsoft.com/office/drawing/2014/main" id="{1BC1D3BB-0CDE-4072-8BC3-704E0BC7A87E}"/>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Pilih kategori</a:t>
            </a:r>
          </a:p>
        </p:txBody>
      </p:sp>
      <p:sp>
        <p:nvSpPr>
          <p:cNvPr id="24" name="flow-14-2">
            <a:extLst xmlns:a="http://schemas.openxmlformats.org/drawingml/2006/main">
              <a:ext uri="{FF2B5EF4-FFF2-40B4-BE49-F238E27FC236}">
                <a16:creationId xmlns:a16="http://schemas.microsoft.com/office/drawing/2014/main" id="{25D399A6-BB62-4B0A-898A-9881DBD30E35}"/>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Baca referensi</a:t>
            </a:r>
          </a:p>
        </p:txBody>
      </p:sp>
      <p:sp>
        <p:nvSpPr>
          <p:cNvPr id="25" name="flow-14-3">
            <a:extLst xmlns:a="http://schemas.openxmlformats.org/drawingml/2006/main">
              <a:ext uri="{FF2B5EF4-FFF2-40B4-BE49-F238E27FC236}">
                <a16:creationId xmlns:a16="http://schemas.microsoft.com/office/drawing/2014/main" id="{09F5592F-E92E-4D34-97F1-54FE6C43A4B5}"/>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Validasi akun</a:t>
            </a:r>
          </a:p>
        </p:txBody>
      </p:sp>
      <p:sp>
        <p:nvSpPr>
          <p:cNvPr id="26" name="flow-14-4">
            <a:extLst xmlns:a="http://schemas.openxmlformats.org/drawingml/2006/main">
              <a:ext uri="{FF2B5EF4-FFF2-40B4-BE49-F238E27FC236}">
                <a16:creationId xmlns:a16="http://schemas.microsoft.com/office/drawing/2014/main" id="{85AE70BB-63A2-468B-912E-B9649C475037}"/>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Posting</a:t>
            </a:r>
          </a:p>
        </p:txBody>
      </p:sp>
      <p:sp>
        <p:nvSpPr>
          <p:cNvPr id="27" name="flow-14-5">
            <a:extLst xmlns:a="http://schemas.openxmlformats.org/drawingml/2006/main">
              <a:ext uri="{FF2B5EF4-FFF2-40B4-BE49-F238E27FC236}">
                <a16:creationId xmlns:a16="http://schemas.microsoft.com/office/drawing/2014/main" id="{899327B5-BF00-4DA5-905C-AAD55806C645}"/>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Periksa buku besar</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6810076F-31B0-480F-BB66-81B50980001B}"/>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14-0">
            <a:extLst xmlns:a="http://schemas.openxmlformats.org/drawingml/2006/main">
              <a:ext uri="{FF2B5EF4-FFF2-40B4-BE49-F238E27FC236}">
                <a16:creationId xmlns:a16="http://schemas.microsoft.com/office/drawing/2014/main" id="{4479D720-C3DF-4394-82FA-D45D4E6B729B}"/>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DOKUMEN SUMBER</a:t>
            </a:r>
          </a:p>
        </p:txBody>
      </p:sp>
      <p:sp>
        <p:nvSpPr>
          <p:cNvPr id="35" name="entity-14-1">
            <a:extLst xmlns:a="http://schemas.openxmlformats.org/drawingml/2006/main">
              <a:ext uri="{FF2B5EF4-FFF2-40B4-BE49-F238E27FC236}">
                <a16:creationId xmlns:a16="http://schemas.microsoft.com/office/drawing/2014/main" id="{8087DFA4-E154-4191-9414-A5211A815E2E}"/>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DRAFT JURNAL</a:t>
            </a:r>
          </a:p>
        </p:txBody>
      </p:sp>
      <p:sp>
        <p:nvSpPr>
          <p:cNvPr id="36" name="entity-14-2">
            <a:extLst xmlns:a="http://schemas.openxmlformats.org/drawingml/2006/main">
              <a:ext uri="{FF2B5EF4-FFF2-40B4-BE49-F238E27FC236}">
                <a16:creationId xmlns:a16="http://schemas.microsoft.com/office/drawing/2014/main" id="{B4A13A31-4005-4903-9CAB-6C8152395BB8}"/>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DETAIL D/K</a:t>
            </a:r>
          </a:p>
        </p:txBody>
      </p:sp>
      <p:sp>
        <p:nvSpPr>
          <p:cNvPr id="37" name="entity-14-3">
            <a:extLst xmlns:a="http://schemas.openxmlformats.org/drawingml/2006/main">
              <a:ext uri="{FF2B5EF4-FFF2-40B4-BE49-F238E27FC236}">
                <a16:creationId xmlns:a16="http://schemas.microsoft.com/office/drawing/2014/main" id="{48B74E54-427B-418F-9EF6-5143A1E2656B}"/>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POSTING HISTORY</a:t>
            </a:r>
          </a:p>
        </p:txBody>
      </p:sp>
      <p:sp>
        <p:nvSpPr>
          <p:cNvPr id="38" name="entity-14-4">
            <a:extLst xmlns:a="http://schemas.openxmlformats.org/drawingml/2006/main">
              <a:ext uri="{FF2B5EF4-FFF2-40B4-BE49-F238E27FC236}">
                <a16:creationId xmlns:a16="http://schemas.microsoft.com/office/drawing/2014/main" id="{BB289FFA-0655-4DBF-9BAF-BE9DA6EAF37B}"/>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BUKU BESAR</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9CE01D76-E13B-43C5-A979-D93442644850}"/>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debit sama dengan kredit, akun leaf aktif, periode terbuka, dan sumber dapat ditelusuri.</a:t>
            </a:r>
          </a:p>
        </p:txBody>
      </p:sp>
    </p:spTree>
    <p:extLst>
      <p:ext uri="{BB962C8B-B14F-4D97-AF65-F5344CB8AC3E}">
        <p14:creationId xmlns:p14="http://schemas.microsoft.com/office/powerpoint/2010/main" val="1386278455"/>
      </p:ext>
    </p:extLst>
  </p:cSld>
</p:sld>
</file>

<file path=ppt/slides/slide32.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12" name="eyebrow-32">
            <a:extLst xmlns:a="http://schemas.openxmlformats.org/drawingml/2006/main">
              <a:ext uri="{FF2B5EF4-FFF2-40B4-BE49-F238E27FC236}">
                <a16:creationId xmlns:a16="http://schemas.microsoft.com/office/drawing/2014/main" id="{4D00DF2B-193B-4441-A0EB-73204FF02E8E}"/>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BUKTI 15</a:t>
            </a:r>
          </a:p>
        </p:txBody>
      </p:sp>
      <p:sp>
        <p:nvSpPr>
          <p:cNvPr id="2" name="title-32">
            <a:extLst xmlns:a="http://schemas.openxmlformats.org/drawingml/2006/main">
              <a:ext uri="{FF2B5EF4-FFF2-40B4-BE49-F238E27FC236}">
                <a16:creationId xmlns:a16="http://schemas.microsoft.com/office/drawing/2014/main" id="{D4622733-80D4-47BD-9705-E83027404A21}"/>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Laporan Keuangan dan Rekonsiliasi</a:t>
            </a:r>
          </a:p>
        </p:txBody>
      </p:sp>
      <p:sp>
        <p:nvSpPr>
          <p:cNvPr id="3" name="">
            <a:extLst xmlns:a="http://schemas.openxmlformats.org/drawingml/2006/main">
              <a:ext uri="{FF2B5EF4-FFF2-40B4-BE49-F238E27FC236}">
                <a16:creationId xmlns:a16="http://schemas.microsoft.com/office/drawing/2014/main" id="{DF0A1D05-76EF-4EDF-AAFE-38929B20B3F7}"/>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32</a:t>
            </a:r>
          </a:p>
        </p:txBody>
      </p:sp>
      <p:sp>
        <p:nvSpPr>
          <p:cNvPr id="4" name="">
            <a:extLst xmlns:a="http://schemas.openxmlformats.org/drawingml/2006/main">
              <a:ext uri="{FF2B5EF4-FFF2-40B4-BE49-F238E27FC236}">
                <a16:creationId xmlns:a16="http://schemas.microsoft.com/office/drawing/2014/main" id="{85B65489-BE9F-460B-99E9-01A381D75DB0}"/>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32</a:t>
            </a:r>
          </a:p>
        </p:txBody>
      </p:sp>
      <p:sp>
        <p:nvSpPr>
          <p:cNvPr id="5" name="">
            <a:extLst xmlns:a="http://schemas.openxmlformats.org/drawingml/2006/main">
              <a:ext uri="{FF2B5EF4-FFF2-40B4-BE49-F238E27FC236}">
                <a16:creationId xmlns:a16="http://schemas.microsoft.com/office/drawing/2014/main" id="{3DFCBE87-A6FF-4AA9-B178-CAD90A7BE347}"/>
              </a:ext>
            </a:extLst>
          </p:cNvPr>
          <p:cNvSpPr>
            <a:spLocks xmlns:a="http://schemas.openxmlformats.org/drawingml/2006/main" noGrp="1"/>
          </p:cNvSpPr>
          <p:nvPr/>
        </p:nvSpPr>
        <p:spPr>
          <a:xfrm xmlns:a="http://schemas.openxmlformats.org/drawingml/2006/main">
            <a:off x="609600" y="1352550"/>
            <a:ext cx="733425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BBF7D0"/>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388a8c07b23455e"/>
          <a:stretch xmlns:a="http://schemas.openxmlformats.org/drawingml/2006/main"/>
        </p:blipFill>
        <p:spPr>
          <a:xfrm xmlns:a="http://schemas.openxmlformats.org/drawingml/2006/main">
            <a:off x="742950" y="1622227"/>
            <a:ext cx="7067550" cy="3975497"/>
          </a:xfrm>
          <a:prstGeom xmlns:a="http://schemas.openxmlformats.org/drawingml/2006/main" prst="roundRect">
            <a:avLst>
              <a:gd name="adj" fmla="val 2691"/>
            </a:avLst>
          </a:prstGeom>
        </p:spPr>
      </p:pic>
      <p:sp>
        <p:nvSpPr>
          <p:cNvPr id="7" name="">
            <a:extLst xmlns:a="http://schemas.openxmlformats.org/drawingml/2006/main">
              <a:ext uri="{FF2B5EF4-FFF2-40B4-BE49-F238E27FC236}">
                <a16:creationId xmlns:a16="http://schemas.microsoft.com/office/drawing/2014/main" id="{52150477-CC5D-4257-B0E8-9D8FD45A4EA7}"/>
              </a:ext>
            </a:extLst>
          </p:cNvPr>
          <p:cNvSpPr>
            <a:spLocks xmlns:a="http://schemas.openxmlformats.org/drawingml/2006/main" noGrp="1"/>
          </p:cNvSpPr>
          <p:nvPr/>
        </p:nvSpPr>
        <p:spPr>
          <a:xfrm xmlns:a="http://schemas.openxmlformats.org/drawingml/2006/main">
            <a:off x="8248650" y="1543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YANG DIBUKTIKAN</a:t>
            </a:r>
          </a:p>
        </p:txBody>
      </p:sp>
      <p:sp>
        <p:nvSpPr>
          <p:cNvPr id="8" name="">
            <a:extLst xmlns:a="http://schemas.openxmlformats.org/drawingml/2006/main">
              <a:ext uri="{FF2B5EF4-FFF2-40B4-BE49-F238E27FC236}">
                <a16:creationId xmlns:a16="http://schemas.microsoft.com/office/drawing/2014/main" id="{5A625F66-A61D-421F-A645-8CDBA629841E}"/>
              </a:ext>
            </a:extLst>
          </p:cNvPr>
          <p:cNvSpPr>
            <a:spLocks xmlns:a="http://schemas.openxmlformats.org/drawingml/2006/main" noGrp="1"/>
          </p:cNvSpPr>
          <p:nvPr/>
        </p:nvSpPr>
        <p:spPr>
          <a:xfrm xmlns:a="http://schemas.openxmlformats.org/drawingml/2006/main">
            <a:off x="8248650" y="1952625"/>
            <a:ext cx="27622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Tangkapan layar Laba Rugi memakai seluruh lebar area kerja: kolom keterangan memperoleh ruang utama sampai sisi kanan dan setiap sel angka dapat diklik untuk membuka data penyusunnya. Bukti ini menggantikan tangkapan layar kosong pada dokumen lama. Dari laporan ini akuntan melanjutkan rekonsiliasi ke Jurnal…</a:t>
            </a:r>
          </a:p>
        </p:txBody>
      </p:sp>
      <p:sp>
        <p:nvSpPr>
          <p:cNvPr id="9" name="">
            <a:extLst xmlns:a="http://schemas.openxmlformats.org/drawingml/2006/main">
              <a:ext uri="{FF2B5EF4-FFF2-40B4-BE49-F238E27FC236}">
                <a16:creationId xmlns:a16="http://schemas.microsoft.com/office/drawing/2014/main" id="{ED24687D-D261-4D4C-89FB-E6D07BFDDCEA}"/>
              </a:ext>
            </a:extLst>
          </p:cNvPr>
          <p:cNvSpPr>
            <a:spLocks xmlns:a="http://schemas.openxmlformats.org/drawingml/2006/main" noGrp="1"/>
          </p:cNvSpPr>
          <p:nvPr/>
        </p:nvSpPr>
        <p:spPr>
          <a:xfrm xmlns:a="http://schemas.openxmlformats.org/drawingml/2006/main">
            <a:off x="8096250" y="4038600"/>
            <a:ext cx="3105150" cy="1600200"/>
          </a:xfrm>
          <a:prstGeom xmlns:a="http://schemas.openxmlformats.org/drawingml/2006/main" prst="roundRect">
            <a:avLst>
              <a:gd name="adj" fmla="val 7143"/>
            </a:avLst>
          </a:prstGeom>
          <a:solidFill xmlns:a="http://schemas.openxmlformats.org/drawingml/2006/main">
            <a:srgbClr val="DCFCE7"/>
          </a:solidFill>
          <a:ln xmlns:a="http://schemas.openxmlformats.org/drawingml/2006/main" w="9525">
            <a:solidFill>
              <a:srgbClr val="166534"/>
            </a:solidFill>
            <a:prstDash val="solid"/>
          </a:ln>
        </p:spPr>
      </p:sp>
      <p:sp>
        <p:nvSpPr>
          <p:cNvPr id="10" name="">
            <a:extLst xmlns:a="http://schemas.openxmlformats.org/drawingml/2006/main">
              <a:ext uri="{FF2B5EF4-FFF2-40B4-BE49-F238E27FC236}">
                <a16:creationId xmlns:a16="http://schemas.microsoft.com/office/drawing/2014/main" id="{FFFC1CBC-62D2-4C73-8AE6-07BB96BF1CAC}"/>
              </a:ext>
            </a:extLst>
          </p:cNvPr>
          <p:cNvSpPr>
            <a:spLocks xmlns:a="http://schemas.openxmlformats.org/drawingml/2006/main" noGrp="1"/>
          </p:cNvSpPr>
          <p:nvPr/>
        </p:nvSpPr>
        <p:spPr>
          <a:xfrm xmlns:a="http://schemas.openxmlformats.org/drawingml/2006/main">
            <a:off x="8343900" y="4267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KONTROL UTAMA</a:t>
            </a:r>
          </a:p>
        </p:txBody>
      </p:sp>
      <p:sp>
        <p:nvSpPr>
          <p:cNvPr id="11" name="">
            <a:extLst xmlns:a="http://schemas.openxmlformats.org/drawingml/2006/main">
              <a:ext uri="{FF2B5EF4-FFF2-40B4-BE49-F238E27FC236}">
                <a16:creationId xmlns:a16="http://schemas.microsoft.com/office/drawing/2014/main" id="{D5F44933-B9B5-4423-904C-86B84701AD07}"/>
              </a:ext>
            </a:extLst>
          </p:cNvPr>
          <p:cNvSpPr>
            <a:spLocks xmlns:a="http://schemas.openxmlformats.org/drawingml/2006/main" noGrp="1"/>
          </p:cNvSpPr>
          <p:nvPr/>
        </p:nvSpPr>
        <p:spPr>
          <a:xfrm xmlns:a="http://schemas.openxmlformats.org/drawingml/2006/main">
            <a:off x="8343900" y="46291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23524"/>
                </a:solidFill>
              </a:defRPr>
            </a:pPr>
            <a:r>
              <a:rPr sz="1200" b="1">
                <a:solidFill>
                  <a:srgbClr val="123524"/>
                </a:solidFill>
              </a:rPr>
              <a:t>Role sesuai fungsi, data sumber lengkap, kode idempoten, audit trail, dan pembacaan ulang hasil.</a:t>
            </a:r>
          </a:p>
        </p:txBody>
      </p:sp>
    </p:spTree>
    <p:extLst>
      <p:ext uri="{BB962C8B-B14F-4D97-AF65-F5344CB8AC3E}">
        <p14:creationId xmlns:p14="http://schemas.microsoft.com/office/powerpoint/2010/main" val="1054583347"/>
      </p:ext>
    </p:extLst>
  </p:cSld>
</p:sld>
</file>

<file path=ppt/slides/slide33.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44" name="eyebrow-33">
            <a:extLst xmlns:a="http://schemas.openxmlformats.org/drawingml/2006/main">
              <a:ext uri="{FF2B5EF4-FFF2-40B4-BE49-F238E27FC236}">
                <a16:creationId xmlns:a16="http://schemas.microsoft.com/office/drawing/2014/main" id="{4BA153C0-540B-4C07-A9A5-FF4F5EDEBB2B}"/>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DIAGRAM 15</a:t>
            </a:r>
          </a:p>
        </p:txBody>
      </p:sp>
      <p:sp>
        <p:nvSpPr>
          <p:cNvPr id="2" name="title-33">
            <a:extLst xmlns:a="http://schemas.openxmlformats.org/drawingml/2006/main">
              <a:ext uri="{FF2B5EF4-FFF2-40B4-BE49-F238E27FC236}">
                <a16:creationId xmlns:a16="http://schemas.microsoft.com/office/drawing/2014/main" id="{66633E3B-AE78-4FEB-A5C6-4AACCA5818EA}"/>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Laporan Keuangan dan Rekonsiliasi: peran, proses, dan data</a:t>
            </a:r>
          </a:p>
        </p:txBody>
      </p:sp>
      <p:sp>
        <p:nvSpPr>
          <p:cNvPr id="3" name="">
            <a:extLst xmlns:a="http://schemas.openxmlformats.org/drawingml/2006/main">
              <a:ext uri="{FF2B5EF4-FFF2-40B4-BE49-F238E27FC236}">
                <a16:creationId xmlns:a16="http://schemas.microsoft.com/office/drawing/2014/main" id="{28A1A4E1-010A-4BBC-996A-1A8B0E0B7582}"/>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33</a:t>
            </a:r>
          </a:p>
        </p:txBody>
      </p:sp>
      <p:sp>
        <p:nvSpPr>
          <p:cNvPr id="4" name="">
            <a:extLst xmlns:a="http://schemas.openxmlformats.org/drawingml/2006/main">
              <a:ext uri="{FF2B5EF4-FFF2-40B4-BE49-F238E27FC236}">
                <a16:creationId xmlns:a16="http://schemas.microsoft.com/office/drawing/2014/main" id="{88380A33-01EC-419D-AC9C-7ED4D4D7A63A}"/>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33</a:t>
            </a:r>
          </a:p>
        </p:txBody>
      </p:sp>
      <p:sp>
        <p:nvSpPr>
          <p:cNvPr id="5" name="">
            <a:extLst xmlns:a="http://schemas.openxmlformats.org/drawingml/2006/main">
              <a:ext uri="{FF2B5EF4-FFF2-40B4-BE49-F238E27FC236}">
                <a16:creationId xmlns:a16="http://schemas.microsoft.com/office/drawing/2014/main" id="{FB544E1D-0ACD-47F6-B2F5-67301733719B}"/>
              </a:ext>
            </a:extLst>
          </p:cNvPr>
          <p:cNvSpPr>
            <a:spLocks xmlns:a="http://schemas.openxmlformats.org/drawingml/2006/main" noGrp="1"/>
          </p:cNvSpPr>
          <p:nvPr/>
        </p:nvSpPr>
        <p:spPr>
          <a:xfrm xmlns:a="http://schemas.openxmlformats.org/drawingml/2006/main">
            <a:off x="4953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F874E48F-717D-483E-A024-88F57B51D8CB}"/>
              </a:ext>
            </a:extLst>
          </p:cNvPr>
          <p:cNvSpPr>
            <a:spLocks xmlns:a="http://schemas.openxmlformats.org/drawingml/2006/main" noGrp="1"/>
          </p:cNvSpPr>
          <p:nvPr/>
        </p:nvSpPr>
        <p:spPr>
          <a:xfrm xmlns:a="http://schemas.openxmlformats.org/drawingml/2006/main">
            <a:off x="40767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7" name="">
            <a:extLst xmlns:a="http://schemas.openxmlformats.org/drawingml/2006/main">
              <a:ext uri="{FF2B5EF4-FFF2-40B4-BE49-F238E27FC236}">
                <a16:creationId xmlns:a16="http://schemas.microsoft.com/office/drawing/2014/main" id="{BBDC744D-A254-4A3F-A968-1BC3314C0FB3}"/>
              </a:ext>
            </a:extLst>
          </p:cNvPr>
          <p:cNvSpPr>
            <a:spLocks xmlns:a="http://schemas.openxmlformats.org/drawingml/2006/main" noGrp="1"/>
          </p:cNvSpPr>
          <p:nvPr/>
        </p:nvSpPr>
        <p:spPr>
          <a:xfrm xmlns:a="http://schemas.openxmlformats.org/drawingml/2006/main">
            <a:off x="7658100" y="1333500"/>
            <a:ext cx="3276600" cy="48196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BBF7D0"/>
            </a:solidFill>
            <a:prstDash val="solid"/>
          </a:ln>
        </p:spPr>
      </p:sp>
      <p:sp>
        <p:nvSpPr>
          <p:cNvPr id="8" name="">
            <a:extLst xmlns:a="http://schemas.openxmlformats.org/drawingml/2006/main">
              <a:ext uri="{FF2B5EF4-FFF2-40B4-BE49-F238E27FC236}">
                <a16:creationId xmlns:a16="http://schemas.microsoft.com/office/drawing/2014/main" id="{A0DA9EBF-FF88-4174-9CAF-06CE787BA6B2}"/>
              </a:ext>
            </a:extLst>
          </p:cNvPr>
          <p:cNvSpPr>
            <a:spLocks xmlns:a="http://schemas.openxmlformats.org/drawingml/2006/main" noGrp="1"/>
          </p:cNvSpPr>
          <p:nvPr/>
        </p:nvSpPr>
        <p:spPr>
          <a:xfrm xmlns:a="http://schemas.openxmlformats.org/drawingml/2006/main">
            <a:off x="7239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66534"/>
                </a:solidFill>
              </a:defRPr>
            </a:pPr>
            <a:r>
              <a:rPr sz="1350" b="1">
                <a:solidFill>
                  <a:srgbClr val="166534"/>
                </a:solidFill>
              </a:rPr>
              <a:t>USE CASE</a:t>
            </a:r>
          </a:p>
        </p:txBody>
      </p:sp>
      <p:sp>
        <p:nvSpPr>
          <p:cNvPr id="9" name="actor-15-0">
            <a:extLst xmlns:a="http://schemas.openxmlformats.org/drawingml/2006/main">
              <a:ext uri="{FF2B5EF4-FFF2-40B4-BE49-F238E27FC236}">
                <a16:creationId xmlns:a16="http://schemas.microsoft.com/office/drawing/2014/main" id="{B6FF2D57-BAB5-4B3A-B863-B2527EFCBE27}"/>
              </a:ext>
            </a:extLst>
          </p:cNvPr>
          <p:cNvSpPr>
            <a:spLocks xmlns:a="http://schemas.openxmlformats.org/drawingml/2006/main" noGrp="1"/>
          </p:cNvSpPr>
          <p:nvPr/>
        </p:nvSpPr>
        <p:spPr>
          <a:xfrm xmlns:a="http://schemas.openxmlformats.org/drawingml/2006/main">
            <a:off x="666750" y="195262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Akuntan</a:t>
            </a:r>
          </a:p>
        </p:txBody>
      </p:sp>
      <p:sp>
        <p:nvSpPr>
          <p:cNvPr id="10" name="case-15-0">
            <a:extLst xmlns:a="http://schemas.openxmlformats.org/drawingml/2006/main">
              <a:ext uri="{FF2B5EF4-FFF2-40B4-BE49-F238E27FC236}">
                <a16:creationId xmlns:a16="http://schemas.microsoft.com/office/drawing/2014/main" id="{94C6D685-0444-42DC-AAE8-479B5A069C56}"/>
              </a:ext>
            </a:extLst>
          </p:cNvPr>
          <p:cNvSpPr>
            <a:spLocks xmlns:a="http://schemas.openxmlformats.org/drawingml/2006/main" noGrp="1"/>
          </p:cNvSpPr>
          <p:nvPr/>
        </p:nvSpPr>
        <p:spPr>
          <a:xfrm xmlns:a="http://schemas.openxmlformats.org/drawingml/2006/main">
            <a:off x="2171700" y="195262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Membaca Laba Rugi</a:t>
            </a:r>
          </a:p>
        </p:txBody>
      </p:sp>
      <p:sp>
        <p:nvSpPr>
          <p:cNvPr id="11" name="actor-15-1">
            <a:extLst xmlns:a="http://schemas.openxmlformats.org/drawingml/2006/main">
              <a:ext uri="{FF2B5EF4-FFF2-40B4-BE49-F238E27FC236}">
                <a16:creationId xmlns:a16="http://schemas.microsoft.com/office/drawing/2014/main" id="{3262D2A2-3085-4D8C-BF44-9891700E9672}"/>
              </a:ext>
            </a:extLst>
          </p:cNvPr>
          <p:cNvSpPr>
            <a:spLocks xmlns:a="http://schemas.openxmlformats.org/drawingml/2006/main" noGrp="1"/>
          </p:cNvSpPr>
          <p:nvPr/>
        </p:nvSpPr>
        <p:spPr>
          <a:xfrm xmlns:a="http://schemas.openxmlformats.org/drawingml/2006/main">
            <a:off x="666750" y="283845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Manajemen</a:t>
            </a:r>
          </a:p>
        </p:txBody>
      </p:sp>
      <p:sp>
        <p:nvSpPr>
          <p:cNvPr id="12" name="case-15-1">
            <a:extLst xmlns:a="http://schemas.openxmlformats.org/drawingml/2006/main">
              <a:ext uri="{FF2B5EF4-FFF2-40B4-BE49-F238E27FC236}">
                <a16:creationId xmlns:a16="http://schemas.microsoft.com/office/drawing/2014/main" id="{20050FF9-51F0-4848-84CC-3CA2BFD9EB8A}"/>
              </a:ext>
            </a:extLst>
          </p:cNvPr>
          <p:cNvSpPr>
            <a:spLocks xmlns:a="http://schemas.openxmlformats.org/drawingml/2006/main" noGrp="1"/>
          </p:cNvSpPr>
          <p:nvPr/>
        </p:nvSpPr>
        <p:spPr>
          <a:xfrm xmlns:a="http://schemas.openxmlformats.org/drawingml/2006/main">
            <a:off x="2171700" y="283845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Merekonsiliasi Buku Besar</a:t>
            </a:r>
          </a:p>
        </p:txBody>
      </p:sp>
      <p:sp>
        <p:nvSpPr>
          <p:cNvPr id="13" name="actor-15-2">
            <a:extLst xmlns:a="http://schemas.openxmlformats.org/drawingml/2006/main">
              <a:ext uri="{FF2B5EF4-FFF2-40B4-BE49-F238E27FC236}">
                <a16:creationId xmlns:a16="http://schemas.microsoft.com/office/drawing/2014/main" id="{48089D98-C70A-4F04-8335-AE5C9262E93A}"/>
              </a:ext>
            </a:extLst>
          </p:cNvPr>
          <p:cNvSpPr>
            <a:spLocks xmlns:a="http://schemas.openxmlformats.org/drawingml/2006/main" noGrp="1"/>
          </p:cNvSpPr>
          <p:nvPr/>
        </p:nvSpPr>
        <p:spPr>
          <a:xfrm xmlns:a="http://schemas.openxmlformats.org/drawingml/2006/main">
            <a:off x="666750" y="3724275"/>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Auditor</a:t>
            </a:r>
          </a:p>
        </p:txBody>
      </p:sp>
      <p:sp>
        <p:nvSpPr>
          <p:cNvPr id="14" name="case-15-2">
            <a:extLst xmlns:a="http://schemas.openxmlformats.org/drawingml/2006/main">
              <a:ext uri="{FF2B5EF4-FFF2-40B4-BE49-F238E27FC236}">
                <a16:creationId xmlns:a16="http://schemas.microsoft.com/office/drawing/2014/main" id="{7684F542-1C40-42E2-A4FF-FC11A760AF74}"/>
              </a:ext>
            </a:extLst>
          </p:cNvPr>
          <p:cNvSpPr>
            <a:spLocks xmlns:a="http://schemas.openxmlformats.org/drawingml/2006/main" noGrp="1"/>
          </p:cNvSpPr>
          <p:nvPr/>
        </p:nvSpPr>
        <p:spPr>
          <a:xfrm xmlns:a="http://schemas.openxmlformats.org/drawingml/2006/main">
            <a:off x="2171700" y="3724275"/>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Menilai Arus Kas</a:t>
            </a:r>
          </a:p>
        </p:txBody>
      </p:sp>
      <p:sp>
        <p:nvSpPr>
          <p:cNvPr id="15" name="actor-15-3">
            <a:extLst xmlns:a="http://schemas.openxmlformats.org/drawingml/2006/main">
              <a:ext uri="{FF2B5EF4-FFF2-40B4-BE49-F238E27FC236}">
                <a16:creationId xmlns:a16="http://schemas.microsoft.com/office/drawing/2014/main" id="{9AAA0B94-C565-48B7-B8F8-277A941580CA}"/>
              </a:ext>
            </a:extLst>
          </p:cNvPr>
          <p:cNvSpPr>
            <a:spLocks xmlns:a="http://schemas.openxmlformats.org/drawingml/2006/main" noGrp="1"/>
          </p:cNvSpPr>
          <p:nvPr/>
        </p:nvSpPr>
        <p:spPr>
          <a:xfrm xmlns:a="http://schemas.openxmlformats.org/drawingml/2006/main">
            <a:off x="666750" y="4610100"/>
            <a:ext cx="1047750" cy="552450"/>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Pemilik Proses</a:t>
            </a:r>
          </a:p>
        </p:txBody>
      </p:sp>
      <p:sp>
        <p:nvSpPr>
          <p:cNvPr id="16" name="case-15-3">
            <a:extLst xmlns:a="http://schemas.openxmlformats.org/drawingml/2006/main">
              <a:ext uri="{FF2B5EF4-FFF2-40B4-BE49-F238E27FC236}">
                <a16:creationId xmlns:a16="http://schemas.microsoft.com/office/drawing/2014/main" id="{E3F34DDE-8334-4293-A812-84C429D7CB6C}"/>
              </a:ext>
            </a:extLst>
          </p:cNvPr>
          <p:cNvSpPr>
            <a:spLocks xmlns:a="http://schemas.openxmlformats.org/drawingml/2006/main" noGrp="1"/>
          </p:cNvSpPr>
          <p:nvPr/>
        </p:nvSpPr>
        <p:spPr>
          <a:xfrm xmlns:a="http://schemas.openxmlformats.org/drawingml/2006/main">
            <a:off x="2171700" y="4610100"/>
            <a:ext cx="1371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Menyetujui periode</a:t>
            </a:r>
          </a:p>
        </p:txBody>
      </p:sp>
      <p:cxnSp>
        <p:nvCxnSpPr>
          <p:cNvPr id="60" name=""/>
          <p:cNvCxnSpPr>
            <a:stCxn xmlns:a="http://schemas.openxmlformats.org/drawingml/2006/main" id="9" idx="3"/>
            <a:endCxn xmlns:a="http://schemas.openxmlformats.org/drawingml/2006/main" id="10" idx="1"/>
          </p:cNvCxnSpPr>
          <p:nvPr/>
        </p:nvCxnSpPr>
        <p:spPr>
          <a:xfrm xmlns:a="http://schemas.openxmlformats.org/drawingml/2006/main">
            <a:off x="1714500" y="222885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1" name=""/>
          <p:cNvCxnSpPr>
            <a:stCxn xmlns:a="http://schemas.openxmlformats.org/drawingml/2006/main" id="11" idx="3"/>
            <a:endCxn xmlns:a="http://schemas.openxmlformats.org/drawingml/2006/main" id="12" idx="1"/>
          </p:cNvCxnSpPr>
          <p:nvPr/>
        </p:nvCxnSpPr>
        <p:spPr>
          <a:xfrm xmlns:a="http://schemas.openxmlformats.org/drawingml/2006/main">
            <a:off x="1714500" y="311467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2" name=""/>
          <p:cNvCxnSpPr>
            <a:stCxn xmlns:a="http://schemas.openxmlformats.org/drawingml/2006/main" id="13" idx="3"/>
            <a:endCxn xmlns:a="http://schemas.openxmlformats.org/drawingml/2006/main" id="14" idx="1"/>
          </p:cNvCxnSpPr>
          <p:nvPr/>
        </p:nvCxnSpPr>
        <p:spPr>
          <a:xfrm xmlns:a="http://schemas.openxmlformats.org/drawingml/2006/main">
            <a:off x="1714500" y="4000500"/>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63" name=""/>
          <p:cNvCxnSpPr>
            <a:stCxn xmlns:a="http://schemas.openxmlformats.org/drawingml/2006/main" id="15" idx="3"/>
            <a:endCxn xmlns:a="http://schemas.openxmlformats.org/drawingml/2006/main" id="16" idx="1"/>
          </p:cNvCxnSpPr>
          <p:nvPr/>
        </p:nvCxnSpPr>
        <p:spPr>
          <a:xfrm xmlns:a="http://schemas.openxmlformats.org/drawingml/2006/main">
            <a:off x="1714500" y="4886325"/>
            <a:ext cx="457200" cy="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21" name="">
            <a:extLst xmlns:a="http://schemas.openxmlformats.org/drawingml/2006/main">
              <a:ext uri="{FF2B5EF4-FFF2-40B4-BE49-F238E27FC236}">
                <a16:creationId xmlns:a16="http://schemas.microsoft.com/office/drawing/2014/main" id="{108898E9-BF43-4926-A409-79C935252FBA}"/>
              </a:ext>
            </a:extLst>
          </p:cNvPr>
          <p:cNvSpPr>
            <a:spLocks xmlns:a="http://schemas.openxmlformats.org/drawingml/2006/main" noGrp="1"/>
          </p:cNvSpPr>
          <p:nvPr/>
        </p:nvSpPr>
        <p:spPr>
          <a:xfrm xmlns:a="http://schemas.openxmlformats.org/drawingml/2006/main">
            <a:off x="43053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F766E"/>
                </a:solidFill>
              </a:defRPr>
            </a:pPr>
            <a:r>
              <a:rPr sz="1350" b="1">
                <a:solidFill>
                  <a:srgbClr val="0F766E"/>
                </a:solidFill>
              </a:rPr>
              <a:t>FLOWCHART</a:t>
            </a:r>
          </a:p>
        </p:txBody>
      </p:sp>
      <p:sp>
        <p:nvSpPr>
          <p:cNvPr id="22" name="flow-15-0">
            <a:extLst xmlns:a="http://schemas.openxmlformats.org/drawingml/2006/main">
              <a:ext uri="{FF2B5EF4-FFF2-40B4-BE49-F238E27FC236}">
                <a16:creationId xmlns:a16="http://schemas.microsoft.com/office/drawing/2014/main" id="{C05185D5-B5F3-4D03-BE90-118A74A6CDAA}"/>
              </a:ext>
            </a:extLst>
          </p:cNvPr>
          <p:cNvSpPr>
            <a:spLocks xmlns:a="http://schemas.openxmlformats.org/drawingml/2006/main" noGrp="1"/>
          </p:cNvSpPr>
          <p:nvPr/>
        </p:nvSpPr>
        <p:spPr>
          <a:xfrm xmlns:a="http://schemas.openxmlformats.org/drawingml/2006/main">
            <a:off x="4305300" y="19240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1. Pastikan posting</a:t>
            </a:r>
          </a:p>
        </p:txBody>
      </p:sp>
      <p:sp>
        <p:nvSpPr>
          <p:cNvPr id="23" name="flow-15-1">
            <a:extLst xmlns:a="http://schemas.openxmlformats.org/drawingml/2006/main">
              <a:ext uri="{FF2B5EF4-FFF2-40B4-BE49-F238E27FC236}">
                <a16:creationId xmlns:a16="http://schemas.microsoft.com/office/drawing/2014/main" id="{A1939095-9F59-4043-B85D-673BEA504FC0}"/>
              </a:ext>
            </a:extLst>
          </p:cNvPr>
          <p:cNvSpPr>
            <a:spLocks xmlns:a="http://schemas.openxmlformats.org/drawingml/2006/main" noGrp="1"/>
          </p:cNvSpPr>
          <p:nvPr/>
        </p:nvSpPr>
        <p:spPr>
          <a:xfrm xmlns:a="http://schemas.openxmlformats.org/drawingml/2006/main">
            <a:off x="4305300" y="25717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2. Pilih periode</a:t>
            </a:r>
          </a:p>
        </p:txBody>
      </p:sp>
      <p:sp>
        <p:nvSpPr>
          <p:cNvPr id="24" name="flow-15-2">
            <a:extLst xmlns:a="http://schemas.openxmlformats.org/drawingml/2006/main">
              <a:ext uri="{FF2B5EF4-FFF2-40B4-BE49-F238E27FC236}">
                <a16:creationId xmlns:a16="http://schemas.microsoft.com/office/drawing/2014/main" id="{F9CEB150-A6FC-48CE-AA79-3075D151B0A6}"/>
              </a:ext>
            </a:extLst>
          </p:cNvPr>
          <p:cNvSpPr>
            <a:spLocks xmlns:a="http://schemas.openxmlformats.org/drawingml/2006/main" noGrp="1"/>
          </p:cNvSpPr>
          <p:nvPr/>
        </p:nvSpPr>
        <p:spPr>
          <a:xfrm xmlns:a="http://schemas.openxmlformats.org/drawingml/2006/main">
            <a:off x="4305300" y="32194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3. Buka laporan</a:t>
            </a:r>
          </a:p>
        </p:txBody>
      </p:sp>
      <p:sp>
        <p:nvSpPr>
          <p:cNvPr id="25" name="flow-15-3">
            <a:extLst xmlns:a="http://schemas.openxmlformats.org/drawingml/2006/main">
              <a:ext uri="{FF2B5EF4-FFF2-40B4-BE49-F238E27FC236}">
                <a16:creationId xmlns:a16="http://schemas.microsoft.com/office/drawing/2014/main" id="{F4C390E2-3075-44A3-AE18-36263395DBEE}"/>
              </a:ext>
            </a:extLst>
          </p:cNvPr>
          <p:cNvSpPr>
            <a:spLocks xmlns:a="http://schemas.openxmlformats.org/drawingml/2006/main" noGrp="1"/>
          </p:cNvSpPr>
          <p:nvPr/>
        </p:nvSpPr>
        <p:spPr>
          <a:xfrm xmlns:a="http://schemas.openxmlformats.org/drawingml/2006/main">
            <a:off x="4305300" y="38671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4. Telusuri akun</a:t>
            </a:r>
          </a:p>
        </p:txBody>
      </p:sp>
      <p:sp>
        <p:nvSpPr>
          <p:cNvPr id="26" name="flow-15-4">
            <a:extLst xmlns:a="http://schemas.openxmlformats.org/drawingml/2006/main">
              <a:ext uri="{FF2B5EF4-FFF2-40B4-BE49-F238E27FC236}">
                <a16:creationId xmlns:a16="http://schemas.microsoft.com/office/drawing/2014/main" id="{9C5EA7F4-9756-4222-89F6-8AFACEAC0B92}"/>
              </a:ext>
            </a:extLst>
          </p:cNvPr>
          <p:cNvSpPr>
            <a:spLocks xmlns:a="http://schemas.openxmlformats.org/drawingml/2006/main" noGrp="1"/>
          </p:cNvSpPr>
          <p:nvPr/>
        </p:nvSpPr>
        <p:spPr>
          <a:xfrm xmlns:a="http://schemas.openxmlformats.org/drawingml/2006/main">
            <a:off x="4305300" y="4514850"/>
            <a:ext cx="28194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5. Bandingkan sumber</a:t>
            </a:r>
          </a:p>
        </p:txBody>
      </p:sp>
      <p:sp>
        <p:nvSpPr>
          <p:cNvPr id="27" name="flow-15-5">
            <a:extLst xmlns:a="http://schemas.openxmlformats.org/drawingml/2006/main">
              <a:ext uri="{FF2B5EF4-FFF2-40B4-BE49-F238E27FC236}">
                <a16:creationId xmlns:a16="http://schemas.microsoft.com/office/drawing/2014/main" id="{7B72B261-3F68-4554-9C01-A5B4DE140A98}"/>
              </a:ext>
            </a:extLst>
          </p:cNvPr>
          <p:cNvSpPr>
            <a:spLocks xmlns:a="http://schemas.openxmlformats.org/drawingml/2006/main" noGrp="1"/>
          </p:cNvSpPr>
          <p:nvPr/>
        </p:nvSpPr>
        <p:spPr>
          <a:xfrm xmlns:a="http://schemas.openxmlformats.org/drawingml/2006/main">
            <a:off x="4305300" y="5162550"/>
            <a:ext cx="2819400" cy="438150"/>
          </a:xfrm>
          <a:prstGeom xmlns:a="http://schemas.openxmlformats.org/drawingml/2006/main" prst="roundRect">
            <a:avLst>
              <a:gd name="adj" fmla="val 17391"/>
            </a:avLst>
          </a:prstGeom>
          <a:solidFill xmlns:a="http://schemas.openxmlformats.org/drawingml/2006/main">
            <a:srgbClr val="DCFC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6. Sign-off</a:t>
            </a:r>
          </a:p>
        </p:txBody>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715000" y="23622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2" name=""/>
          <p:cNvCxnSpPr>
            <a:stCxn xmlns:a="http://schemas.openxmlformats.org/drawingml/2006/main" id="23" idx="2"/>
            <a:endCxn xmlns:a="http://schemas.openxmlformats.org/drawingml/2006/main" id="24" idx="0"/>
          </p:cNvCxnSpPr>
          <p:nvPr/>
        </p:nvCxnSpPr>
        <p:spPr>
          <a:xfrm xmlns:a="http://schemas.openxmlformats.org/drawingml/2006/main">
            <a:off x="5715000" y="30099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3" name=""/>
          <p:cNvCxnSpPr>
            <a:stCxn xmlns:a="http://schemas.openxmlformats.org/drawingml/2006/main" id="24" idx="2"/>
            <a:endCxn xmlns:a="http://schemas.openxmlformats.org/drawingml/2006/main" id="25" idx="0"/>
          </p:cNvCxnSpPr>
          <p:nvPr/>
        </p:nvCxnSpPr>
        <p:spPr>
          <a:xfrm xmlns:a="http://schemas.openxmlformats.org/drawingml/2006/main">
            <a:off x="5715000" y="36576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4" name=""/>
          <p:cNvCxnSpPr>
            <a:stCxn xmlns:a="http://schemas.openxmlformats.org/drawingml/2006/main" id="25" idx="2"/>
            <a:endCxn xmlns:a="http://schemas.openxmlformats.org/drawingml/2006/main" id="26" idx="0"/>
          </p:cNvCxnSpPr>
          <p:nvPr/>
        </p:nvCxnSpPr>
        <p:spPr>
          <a:xfrm xmlns:a="http://schemas.openxmlformats.org/drawingml/2006/main">
            <a:off x="5715000" y="43053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cxnSp>
        <p:nvCxnSpPr>
          <p:cNvPr id="75" name=""/>
          <p:cNvCxnSpPr>
            <a:stCxn xmlns:a="http://schemas.openxmlformats.org/drawingml/2006/main" id="26" idx="2"/>
            <a:endCxn xmlns:a="http://schemas.openxmlformats.org/drawingml/2006/main" id="27" idx="0"/>
          </p:cNvCxnSpPr>
          <p:nvPr/>
        </p:nvCxnSpPr>
        <p:spPr>
          <a:xfrm xmlns:a="http://schemas.openxmlformats.org/drawingml/2006/main">
            <a:off x="5715000" y="4953000"/>
            <a:ext cx="0" cy="209550"/>
          </a:xfrm>
          <a:prstGeom xmlns:a="http://schemas.openxmlformats.org/drawingml/2006/main" prst="straightConnector1">
            <a:avLst/>
          </a:prstGeom>
          <a:ln xmlns:a="http://schemas.openxmlformats.org/drawingml/2006/main" w="19050">
            <a:solidFill>
              <a:srgbClr val="0F766E"/>
            </a:solidFill>
            <a:prstDash val="solid"/>
            <a:headEnd type="arrow" w="sm" len="sm"/>
          </a:ln>
        </p:spPr>
      </p:cxnSp>
      <p:sp>
        <p:nvSpPr>
          <p:cNvPr id="33" name="">
            <a:extLst xmlns:a="http://schemas.openxmlformats.org/drawingml/2006/main">
              <a:ext uri="{FF2B5EF4-FFF2-40B4-BE49-F238E27FC236}">
                <a16:creationId xmlns:a16="http://schemas.microsoft.com/office/drawing/2014/main" id="{794EEBCE-3FDB-47C3-B67C-192459F76F82}"/>
              </a:ext>
            </a:extLst>
          </p:cNvPr>
          <p:cNvSpPr>
            <a:spLocks xmlns:a="http://schemas.openxmlformats.org/drawingml/2006/main" noGrp="1"/>
          </p:cNvSpPr>
          <p:nvPr/>
        </p:nvSpPr>
        <p:spPr>
          <a:xfrm xmlns:a="http://schemas.openxmlformats.org/drawingml/2006/main">
            <a:off x="7886700" y="15240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524"/>
                </a:solidFill>
              </a:defRPr>
            </a:pPr>
            <a:r>
              <a:rPr sz="1350" b="1">
                <a:solidFill>
                  <a:srgbClr val="123524"/>
                </a:solidFill>
              </a:rPr>
              <a:t>ERD / ALIRAN DATA</a:t>
            </a:r>
          </a:p>
        </p:txBody>
      </p:sp>
      <p:sp>
        <p:nvSpPr>
          <p:cNvPr id="34" name="entity-15-0">
            <a:extLst xmlns:a="http://schemas.openxmlformats.org/drawingml/2006/main">
              <a:ext uri="{FF2B5EF4-FFF2-40B4-BE49-F238E27FC236}">
                <a16:creationId xmlns:a16="http://schemas.microsoft.com/office/drawing/2014/main" id="{E3EAE17C-4EFA-42C4-9C72-3F3ADACBDA83}"/>
              </a:ext>
            </a:extLst>
          </p:cNvPr>
          <p:cNvSpPr>
            <a:spLocks xmlns:a="http://schemas.openxmlformats.org/drawingml/2006/main" noGrp="1"/>
          </p:cNvSpPr>
          <p:nvPr/>
        </p:nvSpPr>
        <p:spPr>
          <a:xfrm xmlns:a="http://schemas.openxmlformats.org/drawingml/2006/main">
            <a:off x="7886700" y="192405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AKUN</a:t>
            </a:r>
          </a:p>
        </p:txBody>
      </p:sp>
      <p:sp>
        <p:nvSpPr>
          <p:cNvPr id="35" name="entity-15-1">
            <a:extLst xmlns:a="http://schemas.openxmlformats.org/drawingml/2006/main">
              <a:ext uri="{FF2B5EF4-FFF2-40B4-BE49-F238E27FC236}">
                <a16:creationId xmlns:a16="http://schemas.microsoft.com/office/drawing/2014/main" id="{F855D9A2-FD30-4E16-AD54-BCEBF3A9281A}"/>
              </a:ext>
            </a:extLst>
          </p:cNvPr>
          <p:cNvSpPr>
            <a:spLocks xmlns:a="http://schemas.openxmlformats.org/drawingml/2006/main" noGrp="1"/>
          </p:cNvSpPr>
          <p:nvPr/>
        </p:nvSpPr>
        <p:spPr>
          <a:xfrm xmlns:a="http://schemas.openxmlformats.org/drawingml/2006/main">
            <a:off x="7886700" y="263842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JURNAL POSTED</a:t>
            </a:r>
          </a:p>
        </p:txBody>
      </p:sp>
      <p:sp>
        <p:nvSpPr>
          <p:cNvPr id="36" name="entity-15-2">
            <a:extLst xmlns:a="http://schemas.openxmlformats.org/drawingml/2006/main">
              <a:ext uri="{FF2B5EF4-FFF2-40B4-BE49-F238E27FC236}">
                <a16:creationId xmlns:a16="http://schemas.microsoft.com/office/drawing/2014/main" id="{B2915140-8E75-4537-B6A8-6FB370E17FBA}"/>
              </a:ext>
            </a:extLst>
          </p:cNvPr>
          <p:cNvSpPr>
            <a:spLocks xmlns:a="http://schemas.openxmlformats.org/drawingml/2006/main" noGrp="1"/>
          </p:cNvSpPr>
          <p:nvPr/>
        </p:nvSpPr>
        <p:spPr>
          <a:xfrm xmlns:a="http://schemas.openxmlformats.org/drawingml/2006/main">
            <a:off x="7886700" y="3352800"/>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BUKU BESAR</a:t>
            </a:r>
          </a:p>
        </p:txBody>
      </p:sp>
      <p:sp>
        <p:nvSpPr>
          <p:cNvPr id="37" name="entity-15-3">
            <a:extLst xmlns:a="http://schemas.openxmlformats.org/drawingml/2006/main">
              <a:ext uri="{FF2B5EF4-FFF2-40B4-BE49-F238E27FC236}">
                <a16:creationId xmlns:a16="http://schemas.microsoft.com/office/drawing/2014/main" id="{EBF61130-CCD5-490C-86CD-7BF96EA17AF8}"/>
              </a:ext>
            </a:extLst>
          </p:cNvPr>
          <p:cNvSpPr>
            <a:spLocks xmlns:a="http://schemas.openxmlformats.org/drawingml/2006/main" noGrp="1"/>
          </p:cNvSpPr>
          <p:nvPr/>
        </p:nvSpPr>
        <p:spPr>
          <a:xfrm xmlns:a="http://schemas.openxmlformats.org/drawingml/2006/main">
            <a:off x="7886700" y="4067175"/>
            <a:ext cx="2819400" cy="476250"/>
          </a:xfrm>
          <a:prstGeom xmlns:a="http://schemas.openxmlformats.org/drawingml/2006/main" prst="roundRect">
            <a:avLst>
              <a:gd name="adj" fmla="val 16000"/>
            </a:avLst>
          </a:prstGeom>
          <a:solidFill xmlns:a="http://schemas.openxmlformats.org/drawingml/2006/main">
            <a:srgbClr val="ECFDF5"/>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TRIAL BALANCE</a:t>
            </a:r>
          </a:p>
        </p:txBody>
      </p:sp>
      <p:sp>
        <p:nvSpPr>
          <p:cNvPr id="38" name="entity-15-4">
            <a:extLst xmlns:a="http://schemas.openxmlformats.org/drawingml/2006/main">
              <a:ext uri="{FF2B5EF4-FFF2-40B4-BE49-F238E27FC236}">
                <a16:creationId xmlns:a16="http://schemas.microsoft.com/office/drawing/2014/main" id="{7C524BCE-3243-4DB9-AC66-EEAFB64ED79B}"/>
              </a:ext>
            </a:extLst>
          </p:cNvPr>
          <p:cNvSpPr>
            <a:spLocks xmlns:a="http://schemas.openxmlformats.org/drawingml/2006/main" noGrp="1"/>
          </p:cNvSpPr>
          <p:nvPr/>
        </p:nvSpPr>
        <p:spPr>
          <a:xfrm xmlns:a="http://schemas.openxmlformats.org/drawingml/2006/main">
            <a:off x="7886700" y="4781550"/>
            <a:ext cx="28194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9525">
            <a:solidFill>
              <a:srgbClr val="B45309"/>
            </a:solidFill>
            <a:prstDash val="solid"/>
          </a:ln>
        </p:spPr>
        <p:txBody>
          <a:bodyPr xmlns:a="http://schemas.openxmlformats.org/drawingml/2006/main"/>
          <a:lstStyle xmlns:a="http://schemas.openxmlformats.org/drawingml/2006/main"/>
          <a:p xmlns:a="http://schemas.openxmlformats.org/drawingml/2006/main">
            <a:pPr algn="ctr">
              <a:defRPr sz="1125" b="1">
                <a:solidFill>
                  <a:srgbClr val="172033"/>
                </a:solidFill>
              </a:defRPr>
            </a:pPr>
            <a:r>
              <a:rPr sz="1125" b="1">
                <a:solidFill>
                  <a:srgbClr val="172033"/>
                </a:solidFill>
              </a:rPr>
              <a:t>LAPORAN KEUANGAN</a:t>
            </a:r>
          </a:p>
        </p:txBody>
      </p:sp>
      <p:cxnSp>
        <p:nvCxnSpPr>
          <p:cNvPr id="82" name=""/>
          <p:cNvCxnSpPr>
            <a:stCxn xmlns:a="http://schemas.openxmlformats.org/drawingml/2006/main" id="34" idx="2"/>
            <a:endCxn xmlns:a="http://schemas.openxmlformats.org/drawingml/2006/main" id="35" idx="0"/>
          </p:cNvCxnSpPr>
          <p:nvPr/>
        </p:nvCxnSpPr>
        <p:spPr>
          <a:xfrm xmlns:a="http://schemas.openxmlformats.org/drawingml/2006/main">
            <a:off x="9296400" y="240030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3" name=""/>
          <p:cNvCxnSpPr>
            <a:stCxn xmlns:a="http://schemas.openxmlformats.org/drawingml/2006/main" id="35" idx="2"/>
            <a:endCxn xmlns:a="http://schemas.openxmlformats.org/drawingml/2006/main" id="36" idx="0"/>
          </p:cNvCxnSpPr>
          <p:nvPr/>
        </p:nvCxnSpPr>
        <p:spPr>
          <a:xfrm xmlns:a="http://schemas.openxmlformats.org/drawingml/2006/main">
            <a:off x="9296400" y="311467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4" name=""/>
          <p:cNvCxnSpPr>
            <a:stCxn xmlns:a="http://schemas.openxmlformats.org/drawingml/2006/main" id="36" idx="2"/>
            <a:endCxn xmlns:a="http://schemas.openxmlformats.org/drawingml/2006/main" id="37" idx="0"/>
          </p:cNvCxnSpPr>
          <p:nvPr/>
        </p:nvCxnSpPr>
        <p:spPr>
          <a:xfrm xmlns:a="http://schemas.openxmlformats.org/drawingml/2006/main">
            <a:off x="9296400" y="3829050"/>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cxnSp>
        <p:nvCxnSpPr>
          <p:cNvPr id="85" name=""/>
          <p:cNvCxnSpPr>
            <a:stCxn xmlns:a="http://schemas.openxmlformats.org/drawingml/2006/main" id="37" idx="2"/>
            <a:endCxn xmlns:a="http://schemas.openxmlformats.org/drawingml/2006/main" id="38" idx="0"/>
          </p:cNvCxnSpPr>
          <p:nvPr/>
        </p:nvCxnSpPr>
        <p:spPr>
          <a:xfrm xmlns:a="http://schemas.openxmlformats.org/drawingml/2006/main">
            <a:off x="9296400" y="4543425"/>
            <a:ext cx="0" cy="238125"/>
          </a:xfrm>
          <a:prstGeom xmlns:a="http://schemas.openxmlformats.org/drawingml/2006/main" prst="straightConnector1">
            <a:avLst/>
          </a:prstGeom>
          <a:ln xmlns:a="http://schemas.openxmlformats.org/drawingml/2006/main" w="19050">
            <a:solidFill>
              <a:srgbClr val="166534"/>
            </a:solidFill>
            <a:prstDash val="solid"/>
            <a:headEnd type="arrow" w="sm" len="sm"/>
          </a:ln>
        </p:spPr>
      </p:cxnSp>
      <p:sp>
        <p:nvSpPr>
          <p:cNvPr id="43" name="">
            <a:extLst xmlns:a="http://schemas.openxmlformats.org/drawingml/2006/main">
              <a:ext uri="{FF2B5EF4-FFF2-40B4-BE49-F238E27FC236}">
                <a16:creationId xmlns:a16="http://schemas.microsoft.com/office/drawing/2014/main" id="{CEFB14DA-B41A-4A3E-AD5D-41EAE27DF99B}"/>
              </a:ext>
            </a:extLst>
          </p:cNvPr>
          <p:cNvSpPr>
            <a:spLocks xmlns:a="http://schemas.openxmlformats.org/drawingml/2006/main" noGrp="1"/>
          </p:cNvSpPr>
          <p:nvPr/>
        </p:nvSpPr>
        <p:spPr>
          <a:xfrm xmlns:a="http://schemas.openxmlformats.org/drawingml/2006/main">
            <a:off x="7848600" y="5572125"/>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hanya jurnal posted, saldo awal sah, klasifikasi akun benar, dan periode konsisten.</a:t>
            </a:r>
          </a:p>
        </p:txBody>
      </p:sp>
    </p:spTree>
    <p:extLst>
      <p:ext uri="{BB962C8B-B14F-4D97-AF65-F5344CB8AC3E}">
        <p14:creationId xmlns:p14="http://schemas.microsoft.com/office/powerpoint/2010/main" val="1784673547"/>
      </p:ext>
    </p:extLst>
  </p:cSld>
</p:sld>
</file>

<file path=ppt/slides/slide34.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29" name="eyebrow-34">
            <a:extLst xmlns:a="http://schemas.openxmlformats.org/drawingml/2006/main">
              <a:ext uri="{FF2B5EF4-FFF2-40B4-BE49-F238E27FC236}">
                <a16:creationId xmlns:a16="http://schemas.microsoft.com/office/drawing/2014/main" id="{2DD22FA6-1FE1-4818-9881-0CFECBF2052C}"/>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KONTROL RILIS</a:t>
            </a:r>
          </a:p>
        </p:txBody>
      </p:sp>
      <p:sp>
        <p:nvSpPr>
          <p:cNvPr id="2" name="title-34">
            <a:extLst xmlns:a="http://schemas.openxmlformats.org/drawingml/2006/main">
              <a:ext uri="{FF2B5EF4-FFF2-40B4-BE49-F238E27FC236}">
                <a16:creationId xmlns:a16="http://schemas.microsoft.com/office/drawing/2014/main" id="{5985A4C8-8CE0-46D7-8AE7-1FEBB642DB16}"/>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Semua gerbang ditutup kecuali signing APK produksi</a:t>
            </a:r>
          </a:p>
        </p:txBody>
      </p:sp>
      <p:sp>
        <p:nvSpPr>
          <p:cNvPr id="3" name="">
            <a:extLst xmlns:a="http://schemas.openxmlformats.org/drawingml/2006/main">
              <a:ext uri="{FF2B5EF4-FFF2-40B4-BE49-F238E27FC236}">
                <a16:creationId xmlns:a16="http://schemas.microsoft.com/office/drawing/2014/main" id="{41DD5612-4E9F-4187-9390-247F9DFEA7E5}"/>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34</a:t>
            </a:r>
          </a:p>
        </p:txBody>
      </p:sp>
      <p:sp>
        <p:nvSpPr>
          <p:cNvPr id="4" name="">
            <a:extLst xmlns:a="http://schemas.openxmlformats.org/drawingml/2006/main">
              <a:ext uri="{FF2B5EF4-FFF2-40B4-BE49-F238E27FC236}">
                <a16:creationId xmlns:a16="http://schemas.microsoft.com/office/drawing/2014/main" id="{4E5CCD58-60D2-416D-ABC6-8A006BC44016}"/>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34</a:t>
            </a:r>
          </a:p>
        </p:txBody>
      </p:sp>
      <p:sp>
        <p:nvSpPr>
          <p:cNvPr id="5" name="">
            <a:extLst xmlns:a="http://schemas.openxmlformats.org/drawingml/2006/main">
              <a:ext uri="{FF2B5EF4-FFF2-40B4-BE49-F238E27FC236}">
                <a16:creationId xmlns:a16="http://schemas.microsoft.com/office/drawing/2014/main" id="{D80C2D95-0E5A-4C1C-BBA9-B3214A8162D7}"/>
              </a:ext>
            </a:extLst>
          </p:cNvPr>
          <p:cNvSpPr>
            <a:spLocks xmlns:a="http://schemas.openxmlformats.org/drawingml/2006/main" noGrp="1"/>
          </p:cNvSpPr>
          <p:nvPr/>
        </p:nvSpPr>
        <p:spPr>
          <a:xfrm xmlns:a="http://schemas.openxmlformats.org/drawingml/2006/main">
            <a:off x="609600" y="1485900"/>
            <a:ext cx="50292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86314461-9621-4CAB-BFEA-7CA401895D59}"/>
              </a:ext>
            </a:extLst>
          </p:cNvPr>
          <p:cNvSpPr>
            <a:spLocks xmlns:a="http://schemas.openxmlformats.org/drawingml/2006/main" noGrp="1"/>
          </p:cNvSpPr>
          <p:nvPr/>
        </p:nvSpPr>
        <p:spPr>
          <a:xfrm xmlns:a="http://schemas.openxmlformats.org/drawingml/2006/main">
            <a:off x="819150" y="16954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PASS</a:t>
            </a:r>
          </a:p>
        </p:txBody>
      </p:sp>
      <p:sp>
        <p:nvSpPr>
          <p:cNvPr id="7" name="">
            <a:extLst xmlns:a="http://schemas.openxmlformats.org/drawingml/2006/main">
              <a:ext uri="{FF2B5EF4-FFF2-40B4-BE49-F238E27FC236}">
                <a16:creationId xmlns:a16="http://schemas.microsoft.com/office/drawing/2014/main" id="{B113C05E-1E98-40AE-A274-B2B3C1AE7422}"/>
              </a:ext>
            </a:extLst>
          </p:cNvPr>
          <p:cNvSpPr>
            <a:spLocks xmlns:a="http://schemas.openxmlformats.org/drawingml/2006/main" noGrp="1"/>
          </p:cNvSpPr>
          <p:nvPr/>
        </p:nvSpPr>
        <p:spPr>
          <a:xfrm xmlns:a="http://schemas.openxmlformats.org/drawingml/2006/main">
            <a:off x="2209800" y="16764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23524"/>
                </a:solidFill>
              </a:defRPr>
            </a:pPr>
            <a:r>
              <a:rPr sz="1500" b="1">
                <a:solidFill>
                  <a:srgbClr val="123524"/>
                </a:solidFill>
              </a:rPr>
              <a:t>Backend</a:t>
            </a:r>
          </a:p>
        </p:txBody>
      </p:sp>
      <p:sp>
        <p:nvSpPr>
          <p:cNvPr id="8" name="">
            <a:extLst xmlns:a="http://schemas.openxmlformats.org/drawingml/2006/main">
              <a:ext uri="{FF2B5EF4-FFF2-40B4-BE49-F238E27FC236}">
                <a16:creationId xmlns:a16="http://schemas.microsoft.com/office/drawing/2014/main" id="{64284317-28A5-4A33-AF24-32BCF964FA78}"/>
              </a:ext>
            </a:extLst>
          </p:cNvPr>
          <p:cNvSpPr>
            <a:spLocks xmlns:a="http://schemas.openxmlformats.org/drawingml/2006/main" noGrp="1"/>
          </p:cNvSpPr>
          <p:nvPr/>
        </p:nvSpPr>
        <p:spPr>
          <a:xfrm xmlns:a="http://schemas.openxmlformats.org/drawingml/2006/main">
            <a:off x="2209800" y="20193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endpoint dan provisioning aktif</a:t>
            </a:r>
          </a:p>
        </p:txBody>
      </p:sp>
      <p:sp>
        <p:nvSpPr>
          <p:cNvPr id="9" name="">
            <a:extLst xmlns:a="http://schemas.openxmlformats.org/drawingml/2006/main">
              <a:ext uri="{FF2B5EF4-FFF2-40B4-BE49-F238E27FC236}">
                <a16:creationId xmlns:a16="http://schemas.microsoft.com/office/drawing/2014/main" id="{3C108431-97B9-4017-A701-780AE53AB0D0}"/>
              </a:ext>
            </a:extLst>
          </p:cNvPr>
          <p:cNvSpPr>
            <a:spLocks xmlns:a="http://schemas.openxmlformats.org/drawingml/2006/main" noGrp="1"/>
          </p:cNvSpPr>
          <p:nvPr/>
        </p:nvSpPr>
        <p:spPr>
          <a:xfrm xmlns:a="http://schemas.openxmlformats.org/drawingml/2006/main">
            <a:off x="5943600" y="1485900"/>
            <a:ext cx="50292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BBF7D0"/>
            </a:solidFill>
            <a:prstDash val="solid"/>
          </a:ln>
        </p:spPr>
      </p:sp>
      <p:sp>
        <p:nvSpPr>
          <p:cNvPr id="10" name="">
            <a:extLst xmlns:a="http://schemas.openxmlformats.org/drawingml/2006/main">
              <a:ext uri="{FF2B5EF4-FFF2-40B4-BE49-F238E27FC236}">
                <a16:creationId xmlns:a16="http://schemas.microsoft.com/office/drawing/2014/main" id="{D293425E-96A5-4FE5-9467-9266DACBB1E1}"/>
              </a:ext>
            </a:extLst>
          </p:cNvPr>
          <p:cNvSpPr>
            <a:spLocks xmlns:a="http://schemas.openxmlformats.org/drawingml/2006/main" noGrp="1"/>
          </p:cNvSpPr>
          <p:nvPr/>
        </p:nvSpPr>
        <p:spPr>
          <a:xfrm xmlns:a="http://schemas.openxmlformats.org/drawingml/2006/main">
            <a:off x="6153150" y="16954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PASS</a:t>
            </a:r>
          </a:p>
        </p:txBody>
      </p:sp>
      <p:sp>
        <p:nvSpPr>
          <p:cNvPr id="11" name="">
            <a:extLst xmlns:a="http://schemas.openxmlformats.org/drawingml/2006/main">
              <a:ext uri="{FF2B5EF4-FFF2-40B4-BE49-F238E27FC236}">
                <a16:creationId xmlns:a16="http://schemas.microsoft.com/office/drawing/2014/main" id="{5302157A-F358-43C4-A8E4-6DD1064C5715}"/>
              </a:ext>
            </a:extLst>
          </p:cNvPr>
          <p:cNvSpPr>
            <a:spLocks xmlns:a="http://schemas.openxmlformats.org/drawingml/2006/main" noGrp="1"/>
          </p:cNvSpPr>
          <p:nvPr/>
        </p:nvSpPr>
        <p:spPr>
          <a:xfrm xmlns:a="http://schemas.openxmlformats.org/drawingml/2006/main">
            <a:off x="7543800" y="16764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23524"/>
                </a:solidFill>
              </a:defRPr>
            </a:pPr>
            <a:r>
              <a:rPr sz="1500" b="1">
                <a:solidFill>
                  <a:srgbClr val="123524"/>
                </a:solidFill>
              </a:rPr>
              <a:t>Data</a:t>
            </a:r>
          </a:p>
        </p:txBody>
      </p:sp>
      <p:sp>
        <p:nvSpPr>
          <p:cNvPr id="12" name="">
            <a:extLst xmlns:a="http://schemas.openxmlformats.org/drawingml/2006/main">
              <a:ext uri="{FF2B5EF4-FFF2-40B4-BE49-F238E27FC236}">
                <a16:creationId xmlns:a16="http://schemas.microsoft.com/office/drawing/2014/main" id="{7B1D31ED-1A96-426D-AC38-5DE523A7AAF1}"/>
              </a:ext>
            </a:extLst>
          </p:cNvPr>
          <p:cNvSpPr>
            <a:spLocks xmlns:a="http://schemas.openxmlformats.org/drawingml/2006/main" noGrp="1"/>
          </p:cNvSpPr>
          <p:nvPr/>
        </p:nvSpPr>
        <p:spPr>
          <a:xfrm xmlns:a="http://schemas.openxmlformats.org/drawingml/2006/main">
            <a:off x="7543800" y="20193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katalog, bahan, resep, antrean</a:t>
            </a:r>
          </a:p>
        </p:txBody>
      </p:sp>
      <p:sp>
        <p:nvSpPr>
          <p:cNvPr id="13" name="">
            <a:extLst xmlns:a="http://schemas.openxmlformats.org/drawingml/2006/main">
              <a:ext uri="{FF2B5EF4-FFF2-40B4-BE49-F238E27FC236}">
                <a16:creationId xmlns:a16="http://schemas.microsoft.com/office/drawing/2014/main" id="{3B65FE19-BDD9-4385-A34F-7A2CDC301131}"/>
              </a:ext>
            </a:extLst>
          </p:cNvPr>
          <p:cNvSpPr>
            <a:spLocks xmlns:a="http://schemas.openxmlformats.org/drawingml/2006/main" noGrp="1"/>
          </p:cNvSpPr>
          <p:nvPr/>
        </p:nvSpPr>
        <p:spPr>
          <a:xfrm xmlns:a="http://schemas.openxmlformats.org/drawingml/2006/main">
            <a:off x="609600" y="2857500"/>
            <a:ext cx="50292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BBF7D0"/>
            </a:solidFill>
            <a:prstDash val="solid"/>
          </a:ln>
        </p:spPr>
      </p:sp>
      <p:sp>
        <p:nvSpPr>
          <p:cNvPr id="14" name="">
            <a:extLst xmlns:a="http://schemas.openxmlformats.org/drawingml/2006/main">
              <a:ext uri="{FF2B5EF4-FFF2-40B4-BE49-F238E27FC236}">
                <a16:creationId xmlns:a16="http://schemas.microsoft.com/office/drawing/2014/main" id="{CB90A618-266A-4902-BDF6-47B6E05082CD}"/>
              </a:ext>
            </a:extLst>
          </p:cNvPr>
          <p:cNvSpPr>
            <a:spLocks xmlns:a="http://schemas.openxmlformats.org/drawingml/2006/main" noGrp="1"/>
          </p:cNvSpPr>
          <p:nvPr/>
        </p:nvSpPr>
        <p:spPr>
          <a:xfrm xmlns:a="http://schemas.openxmlformats.org/drawingml/2006/main">
            <a:off x="819150" y="3067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PASS</a:t>
            </a:r>
          </a:p>
        </p:txBody>
      </p:sp>
      <p:sp>
        <p:nvSpPr>
          <p:cNvPr id="15" name="">
            <a:extLst xmlns:a="http://schemas.openxmlformats.org/drawingml/2006/main">
              <a:ext uri="{FF2B5EF4-FFF2-40B4-BE49-F238E27FC236}">
                <a16:creationId xmlns:a16="http://schemas.microsoft.com/office/drawing/2014/main" id="{03734759-C4EA-45D1-8308-41A84FBF184B}"/>
              </a:ext>
            </a:extLst>
          </p:cNvPr>
          <p:cNvSpPr>
            <a:spLocks xmlns:a="http://schemas.openxmlformats.org/drawingml/2006/main" noGrp="1"/>
          </p:cNvSpPr>
          <p:nvPr/>
        </p:nvSpPr>
        <p:spPr>
          <a:xfrm xmlns:a="http://schemas.openxmlformats.org/drawingml/2006/main">
            <a:off x="2209800" y="30480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23524"/>
                </a:solidFill>
              </a:defRPr>
            </a:pPr>
            <a:r>
              <a:rPr sz="1500" b="1">
                <a:solidFill>
                  <a:srgbClr val="123524"/>
                </a:solidFill>
              </a:rPr>
              <a:t>Transaksi</a:t>
            </a:r>
          </a:p>
        </p:txBody>
      </p:sp>
      <p:sp>
        <p:nvSpPr>
          <p:cNvPr id="16" name="">
            <a:extLst xmlns:a="http://schemas.openxmlformats.org/drawingml/2006/main">
              <a:ext uri="{FF2B5EF4-FFF2-40B4-BE49-F238E27FC236}">
                <a16:creationId xmlns:a16="http://schemas.microsoft.com/office/drawing/2014/main" id="{F22C59C6-9052-477E-A7AF-A9D5B73C4D94}"/>
              </a:ext>
            </a:extLst>
          </p:cNvPr>
          <p:cNvSpPr>
            <a:spLocks xmlns:a="http://schemas.openxmlformats.org/drawingml/2006/main" noGrp="1"/>
          </p:cNvSpPr>
          <p:nvPr/>
        </p:nvSpPr>
        <p:spPr>
          <a:xfrm xmlns:a="http://schemas.openxmlformats.org/drawingml/2006/main">
            <a:off x="2209800" y="33909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obat jadi, racikan, gabungan</a:t>
            </a:r>
          </a:p>
        </p:txBody>
      </p:sp>
      <p:sp>
        <p:nvSpPr>
          <p:cNvPr id="17" name="">
            <a:extLst xmlns:a="http://schemas.openxmlformats.org/drawingml/2006/main">
              <a:ext uri="{FF2B5EF4-FFF2-40B4-BE49-F238E27FC236}">
                <a16:creationId xmlns:a16="http://schemas.microsoft.com/office/drawing/2014/main" id="{C3D3EE71-2571-49A5-A6EC-6D0052F2C55E}"/>
              </a:ext>
            </a:extLst>
          </p:cNvPr>
          <p:cNvSpPr>
            <a:spLocks xmlns:a="http://schemas.openxmlformats.org/drawingml/2006/main" noGrp="1"/>
          </p:cNvSpPr>
          <p:nvPr/>
        </p:nvSpPr>
        <p:spPr>
          <a:xfrm xmlns:a="http://schemas.openxmlformats.org/drawingml/2006/main">
            <a:off x="5943600" y="2857500"/>
            <a:ext cx="50292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BBF7D0"/>
            </a:solidFill>
            <a:prstDash val="solid"/>
          </a:ln>
        </p:spPr>
      </p:sp>
      <p:sp>
        <p:nvSpPr>
          <p:cNvPr id="18" name="">
            <a:extLst xmlns:a="http://schemas.openxmlformats.org/drawingml/2006/main">
              <a:ext uri="{FF2B5EF4-FFF2-40B4-BE49-F238E27FC236}">
                <a16:creationId xmlns:a16="http://schemas.microsoft.com/office/drawing/2014/main" id="{FD9CF0FB-B1A0-464F-B356-5E9BA22F6C52}"/>
              </a:ext>
            </a:extLst>
          </p:cNvPr>
          <p:cNvSpPr>
            <a:spLocks xmlns:a="http://schemas.openxmlformats.org/drawingml/2006/main" noGrp="1"/>
          </p:cNvSpPr>
          <p:nvPr/>
        </p:nvSpPr>
        <p:spPr>
          <a:xfrm xmlns:a="http://schemas.openxmlformats.org/drawingml/2006/main">
            <a:off x="6153150" y="3067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PASS</a:t>
            </a:r>
          </a:p>
        </p:txBody>
      </p:sp>
      <p:sp>
        <p:nvSpPr>
          <p:cNvPr id="19" name="">
            <a:extLst xmlns:a="http://schemas.openxmlformats.org/drawingml/2006/main">
              <a:ext uri="{FF2B5EF4-FFF2-40B4-BE49-F238E27FC236}">
                <a16:creationId xmlns:a16="http://schemas.microsoft.com/office/drawing/2014/main" id="{0C48B180-7E06-4F19-B1EF-A62BD4683370}"/>
              </a:ext>
            </a:extLst>
          </p:cNvPr>
          <p:cNvSpPr>
            <a:spLocks xmlns:a="http://schemas.openxmlformats.org/drawingml/2006/main" noGrp="1"/>
          </p:cNvSpPr>
          <p:nvPr/>
        </p:nvSpPr>
        <p:spPr>
          <a:xfrm xmlns:a="http://schemas.openxmlformats.org/drawingml/2006/main">
            <a:off x="7543800" y="30480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23524"/>
                </a:solidFill>
              </a:defRPr>
            </a:pPr>
            <a:r>
              <a:rPr sz="1500" b="1">
                <a:solidFill>
                  <a:srgbClr val="123524"/>
                </a:solidFill>
              </a:rPr>
              <a:t>P2P</a:t>
            </a:r>
          </a:p>
        </p:txBody>
      </p:sp>
      <p:sp>
        <p:nvSpPr>
          <p:cNvPr id="20" name="">
            <a:extLst xmlns:a="http://schemas.openxmlformats.org/drawingml/2006/main">
              <a:ext uri="{FF2B5EF4-FFF2-40B4-BE49-F238E27FC236}">
                <a16:creationId xmlns:a16="http://schemas.microsoft.com/office/drawing/2014/main" id="{00BD6F0D-F58A-480C-A811-69DFDDA5899B}"/>
              </a:ext>
            </a:extLst>
          </p:cNvPr>
          <p:cNvSpPr>
            <a:spLocks xmlns:a="http://schemas.openxmlformats.org/drawingml/2006/main" noGrp="1"/>
          </p:cNvSpPr>
          <p:nvPr/>
        </p:nvSpPr>
        <p:spPr>
          <a:xfrm xmlns:a="http://schemas.openxmlformats.org/drawingml/2006/main">
            <a:off x="7543800" y="33909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PR sampai pembayaran vendor</a:t>
            </a:r>
          </a:p>
        </p:txBody>
      </p:sp>
      <p:sp>
        <p:nvSpPr>
          <p:cNvPr id="21" name="">
            <a:extLst xmlns:a="http://schemas.openxmlformats.org/drawingml/2006/main">
              <a:ext uri="{FF2B5EF4-FFF2-40B4-BE49-F238E27FC236}">
                <a16:creationId xmlns:a16="http://schemas.microsoft.com/office/drawing/2014/main" id="{85ABCC41-C2E6-409A-B220-D6F779862C66}"/>
              </a:ext>
            </a:extLst>
          </p:cNvPr>
          <p:cNvSpPr>
            <a:spLocks xmlns:a="http://schemas.openxmlformats.org/drawingml/2006/main" noGrp="1"/>
          </p:cNvSpPr>
          <p:nvPr/>
        </p:nvSpPr>
        <p:spPr>
          <a:xfrm xmlns:a="http://schemas.openxmlformats.org/drawingml/2006/main">
            <a:off x="609600" y="4229100"/>
            <a:ext cx="502920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BBF7D0"/>
            </a:solidFill>
            <a:prstDash val="solid"/>
          </a:ln>
        </p:spPr>
      </p:sp>
      <p:sp>
        <p:nvSpPr>
          <p:cNvPr id="22" name="">
            <a:extLst xmlns:a="http://schemas.openxmlformats.org/drawingml/2006/main">
              <a:ext uri="{FF2B5EF4-FFF2-40B4-BE49-F238E27FC236}">
                <a16:creationId xmlns:a16="http://schemas.microsoft.com/office/drawing/2014/main" id="{45C7ECC8-A367-4722-AB3C-1654543A3E3B}"/>
              </a:ext>
            </a:extLst>
          </p:cNvPr>
          <p:cNvSpPr>
            <a:spLocks xmlns:a="http://schemas.openxmlformats.org/drawingml/2006/main" noGrp="1"/>
          </p:cNvSpPr>
          <p:nvPr/>
        </p:nvSpPr>
        <p:spPr>
          <a:xfrm xmlns:a="http://schemas.openxmlformats.org/drawingml/2006/main">
            <a:off x="819150" y="44386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66534"/>
                </a:solidFill>
              </a:defRPr>
            </a:pPr>
            <a:r>
              <a:rPr sz="1050" b="1">
                <a:solidFill>
                  <a:srgbClr val="166534"/>
                </a:solidFill>
              </a:rPr>
              <a:t>PASS</a:t>
            </a:r>
          </a:p>
        </p:txBody>
      </p:sp>
      <p:sp>
        <p:nvSpPr>
          <p:cNvPr id="23" name="">
            <a:extLst xmlns:a="http://schemas.openxmlformats.org/drawingml/2006/main">
              <a:ext uri="{FF2B5EF4-FFF2-40B4-BE49-F238E27FC236}">
                <a16:creationId xmlns:a16="http://schemas.microsoft.com/office/drawing/2014/main" id="{ACBE7B75-2A72-4B14-980E-217BEF65BBB6}"/>
              </a:ext>
            </a:extLst>
          </p:cNvPr>
          <p:cNvSpPr>
            <a:spLocks xmlns:a="http://schemas.openxmlformats.org/drawingml/2006/main" noGrp="1"/>
          </p:cNvSpPr>
          <p:nvPr/>
        </p:nvSpPr>
        <p:spPr>
          <a:xfrm xmlns:a="http://schemas.openxmlformats.org/drawingml/2006/main">
            <a:off x="2209800" y="44196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23524"/>
                </a:solidFill>
              </a:defRPr>
            </a:pPr>
            <a:r>
              <a:rPr sz="1500" b="1">
                <a:solidFill>
                  <a:srgbClr val="123524"/>
                </a:solidFill>
              </a:rPr>
              <a:t>Akuntansi</a:t>
            </a:r>
          </a:p>
        </p:txBody>
      </p:sp>
      <p:sp>
        <p:nvSpPr>
          <p:cNvPr id="24" name="">
            <a:extLst xmlns:a="http://schemas.openxmlformats.org/drawingml/2006/main">
              <a:ext uri="{FF2B5EF4-FFF2-40B4-BE49-F238E27FC236}">
                <a16:creationId xmlns:a16="http://schemas.microsoft.com/office/drawing/2014/main" id="{FCE9E2CA-EC36-4469-8A35-5BD2D6ADF8C2}"/>
              </a:ext>
            </a:extLst>
          </p:cNvPr>
          <p:cNvSpPr>
            <a:spLocks xmlns:a="http://schemas.openxmlformats.org/drawingml/2006/main" noGrp="1"/>
          </p:cNvSpPr>
          <p:nvPr/>
        </p:nvSpPr>
        <p:spPr>
          <a:xfrm xmlns:a="http://schemas.openxmlformats.org/drawingml/2006/main">
            <a:off x="2209800" y="4762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jurnal posted dan laporan</a:t>
            </a:r>
          </a:p>
        </p:txBody>
      </p:sp>
      <p:sp>
        <p:nvSpPr>
          <p:cNvPr id="25" name="">
            <a:extLst xmlns:a="http://schemas.openxmlformats.org/drawingml/2006/main">
              <a:ext uri="{FF2B5EF4-FFF2-40B4-BE49-F238E27FC236}">
                <a16:creationId xmlns:a16="http://schemas.microsoft.com/office/drawing/2014/main" id="{9E46D3FF-575D-4386-8FC5-D89B6AF051D8}"/>
              </a:ext>
            </a:extLst>
          </p:cNvPr>
          <p:cNvSpPr>
            <a:spLocks xmlns:a="http://schemas.openxmlformats.org/drawingml/2006/main" noGrp="1"/>
          </p:cNvSpPr>
          <p:nvPr/>
        </p:nvSpPr>
        <p:spPr>
          <a:xfrm xmlns:a="http://schemas.openxmlformats.org/drawingml/2006/main">
            <a:off x="5943600" y="4229100"/>
            <a:ext cx="5029200" cy="1066800"/>
          </a:xfrm>
          <a:prstGeom xmlns:a="http://schemas.openxmlformats.org/drawingml/2006/main" prst="roundRect">
            <a:avLst>
              <a:gd name="adj" fmla="val 10714"/>
            </a:avLst>
          </a:prstGeom>
          <a:solidFill xmlns:a="http://schemas.openxmlformats.org/drawingml/2006/main">
            <a:srgbClr val="FFF7ED"/>
          </a:solidFill>
          <a:ln xmlns:a="http://schemas.openxmlformats.org/drawingml/2006/main" w="9525">
            <a:solidFill>
              <a:srgbClr val="B45309"/>
            </a:solidFill>
            <a:prstDash val="solid"/>
          </a:ln>
        </p:spPr>
      </p:sp>
      <p:sp>
        <p:nvSpPr>
          <p:cNvPr id="26" name="">
            <a:extLst xmlns:a="http://schemas.openxmlformats.org/drawingml/2006/main">
              <a:ext uri="{FF2B5EF4-FFF2-40B4-BE49-F238E27FC236}">
                <a16:creationId xmlns:a16="http://schemas.microsoft.com/office/drawing/2014/main" id="{143048A8-6352-476B-B8C6-FDA6BB311A23}"/>
              </a:ext>
            </a:extLst>
          </p:cNvPr>
          <p:cNvSpPr>
            <a:spLocks xmlns:a="http://schemas.openxmlformats.org/drawingml/2006/main" noGrp="1"/>
          </p:cNvSpPr>
          <p:nvPr/>
        </p:nvSpPr>
        <p:spPr>
          <a:xfrm xmlns:a="http://schemas.openxmlformats.org/drawingml/2006/main">
            <a:off x="6153150" y="44386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45309"/>
                </a:solidFill>
              </a:defRPr>
            </a:pPr>
            <a:r>
              <a:rPr sz="1050" b="1">
                <a:solidFill>
                  <a:srgbClr val="B45309"/>
                </a:solidFill>
              </a:rPr>
              <a:t>PENGECUALIAN</a:t>
            </a:r>
          </a:p>
        </p:txBody>
      </p:sp>
      <p:sp>
        <p:nvSpPr>
          <p:cNvPr id="27" name="">
            <a:extLst xmlns:a="http://schemas.openxmlformats.org/drawingml/2006/main">
              <a:ext uri="{FF2B5EF4-FFF2-40B4-BE49-F238E27FC236}">
                <a16:creationId xmlns:a16="http://schemas.microsoft.com/office/drawing/2014/main" id="{9270FBA3-580D-4971-933D-96037E4B17BA}"/>
              </a:ext>
            </a:extLst>
          </p:cNvPr>
          <p:cNvSpPr>
            <a:spLocks xmlns:a="http://schemas.openxmlformats.org/drawingml/2006/main" noGrp="1"/>
          </p:cNvSpPr>
          <p:nvPr/>
        </p:nvSpPr>
        <p:spPr>
          <a:xfrm xmlns:a="http://schemas.openxmlformats.org/drawingml/2006/main">
            <a:off x="7543800" y="44196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23524"/>
                </a:solidFill>
              </a:defRPr>
            </a:pPr>
            <a:r>
              <a:rPr sz="1500" b="1">
                <a:solidFill>
                  <a:srgbClr val="123524"/>
                </a:solidFill>
              </a:rPr>
              <a:t>Distribusi</a:t>
            </a:r>
          </a:p>
        </p:txBody>
      </p:sp>
      <p:sp>
        <p:nvSpPr>
          <p:cNvPr id="28" name="">
            <a:extLst xmlns:a="http://schemas.openxmlformats.org/drawingml/2006/main">
              <a:ext uri="{FF2B5EF4-FFF2-40B4-BE49-F238E27FC236}">
                <a16:creationId xmlns:a16="http://schemas.microsoft.com/office/drawing/2014/main" id="{6060C9F8-D32F-4403-BC25-AA8CF8BDA822}"/>
              </a:ext>
            </a:extLst>
          </p:cNvPr>
          <p:cNvSpPr>
            <a:spLocks xmlns:a="http://schemas.openxmlformats.org/drawingml/2006/main" noGrp="1"/>
          </p:cNvSpPr>
          <p:nvPr/>
        </p:nvSpPr>
        <p:spPr>
          <a:xfrm xmlns:a="http://schemas.openxmlformats.org/drawingml/2006/main">
            <a:off x="7543800" y="4762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APK debug-signed; EXE installer</a:t>
            </a:r>
          </a:p>
        </p:txBody>
      </p:sp>
    </p:spTree>
    <p:extLst>
      <p:ext uri="{BB962C8B-B14F-4D97-AF65-F5344CB8AC3E}">
        <p14:creationId xmlns:p14="http://schemas.microsoft.com/office/powerpoint/2010/main" val="543147241"/>
      </p:ext>
    </p:extLst>
  </p:cSld>
</p:sld>
</file>

<file path=ppt/slides/slide35.xml><?xml version="1.0" encoding="utf-8"?>
<p:sld xmlns:p="http://schemas.openxmlformats.org/presentationml/2006/main">
  <p:cSld>
    <p:bg>
      <p:bgPr>
        <a:solidFill xmlns:a="http://schemas.openxmlformats.org/drawingml/2006/main">
          <a:srgbClr val="F0FDF4"/>
        </a:solidFill>
      </p:bgPr>
    </p:bg>
    <p:spTree>
      <p:nvGrpSpPr>
        <p:cNvPr id="1" name=""/>
        <p:cNvGrpSpPr/>
        <p:nvPr/>
      </p:nvGrpSpPr>
      <p:grpSpPr>
        <a:xfrm xmlns:a="http://schemas.openxmlformats.org/drawingml/2006/main"/>
      </p:grpSpPr>
      <p:sp>
        <p:nvSpPr>
          <p:cNvPr id="31" name="eyebrow-35">
            <a:extLst xmlns:a="http://schemas.openxmlformats.org/drawingml/2006/main">
              <a:ext uri="{FF2B5EF4-FFF2-40B4-BE49-F238E27FC236}">
                <a16:creationId xmlns:a16="http://schemas.microsoft.com/office/drawing/2014/main" id="{9AF0AF16-B8CF-4FEB-8412-F360E9767CF9}"/>
              </a:ext>
            </a:extLst>
          </p:cNvPr>
          <p:cNvSpPr>
            <a:spLocks xmlns:a="http://schemas.openxmlformats.org/drawingml/2006/main" noGrp="1"/>
          </p:cNvSpPr>
          <p:nvPr/>
        </p:nvSpPr>
        <p:spPr>
          <a:xfrm xmlns:a="http://schemas.openxmlformats.org/drawingml/2006/main">
            <a:off x="609600" y="285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66534"/>
                </a:solidFill>
              </a:defRPr>
            </a:pPr>
            <a:r>
              <a:rPr sz="975" b="1">
                <a:solidFill>
                  <a:srgbClr val="166534"/>
                </a:solidFill>
              </a:rPr>
              <a:t>SIGN-OFF</a:t>
            </a:r>
          </a:p>
        </p:txBody>
      </p:sp>
      <p:sp>
        <p:nvSpPr>
          <p:cNvPr id="2" name="title-35">
            <a:extLst xmlns:a="http://schemas.openxmlformats.org/drawingml/2006/main">
              <a:ext uri="{FF2B5EF4-FFF2-40B4-BE49-F238E27FC236}">
                <a16:creationId xmlns:a16="http://schemas.microsoft.com/office/drawing/2014/main" id="{28F098DE-F516-452D-89FE-B6306534A792}"/>
              </a:ext>
            </a:extLst>
          </p:cNvPr>
          <p:cNvSpPr>
            <a:spLocks xmlns:a="http://schemas.openxmlformats.org/drawingml/2006/main" noGrp="1"/>
          </p:cNvSpPr>
          <p:nvPr/>
        </p:nvSpPr>
        <p:spPr>
          <a:xfrm xmlns:a="http://schemas.openxmlformats.org/drawingml/2006/main">
            <a:off x="609600" y="609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23524"/>
                </a:solidFill>
              </a:defRPr>
            </a:pPr>
            <a:r>
              <a:rPr sz="2625" b="1">
                <a:solidFill>
                  <a:srgbClr val="123524"/>
                </a:solidFill>
              </a:rPr>
              <a:t>Keputusan tetap dimiliki oleh pemilik proses</a:t>
            </a:r>
          </a:p>
        </p:txBody>
      </p:sp>
      <p:sp>
        <p:nvSpPr>
          <p:cNvPr id="3" name="">
            <a:extLst xmlns:a="http://schemas.openxmlformats.org/drawingml/2006/main">
              <a:ext uri="{FF2B5EF4-FFF2-40B4-BE49-F238E27FC236}">
                <a16:creationId xmlns:a16="http://schemas.microsoft.com/office/drawing/2014/main" id="{9C1898C1-46FF-4565-B4AC-C382F5F1CA30}"/>
              </a:ext>
            </a:extLst>
          </p:cNvPr>
          <p:cNvSpPr>
            <a:spLocks xmlns:a="http://schemas.openxmlformats.org/drawingml/2006/main" noGrp="1"/>
          </p:cNvSpPr>
          <p:nvPr/>
        </p:nvSpPr>
        <p:spPr>
          <a:xfrm xmlns:a="http://schemas.openxmlformats.org/drawingml/2006/main">
            <a:off x="609600" y="65151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26273"/>
                </a:solidFill>
              </a:defRPr>
            </a:pPr>
            <a:r>
              <a:rPr sz="900" b="0">
                <a:solidFill>
                  <a:srgbClr val="526273"/>
                </a:solidFill>
              </a:rPr>
              <a:t>APOTIK | v1.34.24 | 35</a:t>
            </a:r>
          </a:p>
        </p:txBody>
      </p:sp>
      <p:sp>
        <p:nvSpPr>
          <p:cNvPr id="4" name="">
            <a:extLst xmlns:a="http://schemas.openxmlformats.org/drawingml/2006/main">
              <a:ext uri="{FF2B5EF4-FFF2-40B4-BE49-F238E27FC236}">
                <a16:creationId xmlns:a16="http://schemas.microsoft.com/office/drawing/2014/main" id="{6CC1E89A-AC88-4BC1-AB98-0AB9D0F8E9FA}"/>
              </a:ext>
            </a:extLst>
          </p:cNvPr>
          <p:cNvSpPr>
            <a:spLocks xmlns:a="http://schemas.openxmlformats.org/drawingml/2006/main" noGrp="1"/>
          </p:cNvSpPr>
          <p:nvPr/>
        </p:nvSpPr>
        <p:spPr>
          <a:xfrm xmlns:a="http://schemas.openxmlformats.org/drawingml/2006/main">
            <a:off x="11125200" y="64770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166534"/>
                </a:solidFill>
              </a:defRPr>
            </a:pPr>
            <a:r>
              <a:rPr sz="975" b="1">
                <a:solidFill>
                  <a:srgbClr val="166534"/>
                </a:solidFill>
              </a:rPr>
              <a:t>35</a:t>
            </a:r>
          </a:p>
        </p:txBody>
      </p:sp>
      <p:sp>
        <p:nvSpPr>
          <p:cNvPr id="5" name="">
            <a:extLst xmlns:a="http://schemas.openxmlformats.org/drawingml/2006/main">
              <a:ext uri="{FF2B5EF4-FFF2-40B4-BE49-F238E27FC236}">
                <a16:creationId xmlns:a16="http://schemas.microsoft.com/office/drawing/2014/main" id="{F88CAD34-61FF-4F6C-BD23-1C9D4112B537}"/>
              </a:ext>
            </a:extLst>
          </p:cNvPr>
          <p:cNvSpPr>
            <a:spLocks xmlns:a="http://schemas.openxmlformats.org/drawingml/2006/main" noGrp="1"/>
          </p:cNvSpPr>
          <p:nvPr/>
        </p:nvSpPr>
        <p:spPr>
          <a:xfrm xmlns:a="http://schemas.openxmlformats.org/drawingml/2006/main">
            <a:off x="609600" y="1504950"/>
            <a:ext cx="32575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BBF7D0"/>
            </a:solidFill>
            <a:prstDash val="solid"/>
          </a:ln>
        </p:spPr>
      </p:sp>
      <p:sp>
        <p:nvSpPr>
          <p:cNvPr id="6" name="">
            <a:extLst xmlns:a="http://schemas.openxmlformats.org/drawingml/2006/main">
              <a:ext uri="{FF2B5EF4-FFF2-40B4-BE49-F238E27FC236}">
                <a16:creationId xmlns:a16="http://schemas.microsoft.com/office/drawing/2014/main" id="{30BBABD6-D441-4A31-8341-ADDC59F35553}"/>
              </a:ext>
            </a:extLst>
          </p:cNvPr>
          <p:cNvSpPr>
            <a:spLocks xmlns:a="http://schemas.openxmlformats.org/drawingml/2006/main" noGrp="1"/>
          </p:cNvSpPr>
          <p:nvPr/>
        </p:nvSpPr>
        <p:spPr>
          <a:xfrm xmlns:a="http://schemas.openxmlformats.org/drawingml/2006/main">
            <a:off x="819150" y="169545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524"/>
                </a:solidFill>
              </a:defRPr>
            </a:pPr>
            <a:r>
              <a:rPr sz="1425" b="1">
                <a:solidFill>
                  <a:srgbClr val="123524"/>
                </a:solidFill>
              </a:rPr>
              <a:t>Owner Apotik</a:t>
            </a:r>
          </a:p>
        </p:txBody>
      </p:sp>
      <p:sp>
        <p:nvSpPr>
          <p:cNvPr id="7" name="">
            <a:extLst xmlns:a="http://schemas.openxmlformats.org/drawingml/2006/main">
              <a:ext uri="{FF2B5EF4-FFF2-40B4-BE49-F238E27FC236}">
                <a16:creationId xmlns:a16="http://schemas.microsoft.com/office/drawing/2014/main" id="{B32F99DB-03D3-482F-A9BA-FC8667BE5A9A}"/>
              </a:ext>
            </a:extLst>
          </p:cNvPr>
          <p:cNvSpPr>
            <a:spLocks xmlns:a="http://schemas.openxmlformats.org/drawingml/2006/main" noGrp="1"/>
          </p:cNvSpPr>
          <p:nvPr/>
        </p:nvSpPr>
        <p:spPr>
          <a:xfrm xmlns:a="http://schemas.openxmlformats.org/drawingml/2006/main">
            <a:off x="819150" y="217170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8" name="">
            <a:extLst xmlns:a="http://schemas.openxmlformats.org/drawingml/2006/main">
              <a:ext uri="{FF2B5EF4-FFF2-40B4-BE49-F238E27FC236}">
                <a16:creationId xmlns:a16="http://schemas.microsoft.com/office/drawing/2014/main" id="{77482C46-6E70-4E68-8626-402A5CC99AE0}"/>
              </a:ext>
            </a:extLst>
          </p:cNvPr>
          <p:cNvSpPr>
            <a:spLocks xmlns:a="http://schemas.openxmlformats.org/drawingml/2006/main" noGrp="1"/>
          </p:cNvSpPr>
          <p:nvPr/>
        </p:nvSpPr>
        <p:spPr>
          <a:xfrm xmlns:a="http://schemas.openxmlformats.org/drawingml/2006/main">
            <a:off x="819150" y="253365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Tanggal/paraf: _______________</a:t>
            </a:r>
          </a:p>
        </p:txBody>
      </p:sp>
      <p:sp>
        <p:nvSpPr>
          <p:cNvPr id="9" name="">
            <a:extLst xmlns:a="http://schemas.openxmlformats.org/drawingml/2006/main">
              <a:ext uri="{FF2B5EF4-FFF2-40B4-BE49-F238E27FC236}">
                <a16:creationId xmlns:a16="http://schemas.microsoft.com/office/drawing/2014/main" id="{7F3BF665-227B-4045-9626-206D2073250E}"/>
              </a:ext>
            </a:extLst>
          </p:cNvPr>
          <p:cNvSpPr>
            <a:spLocks xmlns:a="http://schemas.openxmlformats.org/drawingml/2006/main" noGrp="1"/>
          </p:cNvSpPr>
          <p:nvPr/>
        </p:nvSpPr>
        <p:spPr>
          <a:xfrm xmlns:a="http://schemas.openxmlformats.org/drawingml/2006/main">
            <a:off x="4171950" y="1504950"/>
            <a:ext cx="32575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BBF7D0"/>
            </a:solidFill>
            <a:prstDash val="solid"/>
          </a:ln>
        </p:spPr>
      </p:sp>
      <p:sp>
        <p:nvSpPr>
          <p:cNvPr id="10" name="">
            <a:extLst xmlns:a="http://schemas.openxmlformats.org/drawingml/2006/main">
              <a:ext uri="{FF2B5EF4-FFF2-40B4-BE49-F238E27FC236}">
                <a16:creationId xmlns:a16="http://schemas.microsoft.com/office/drawing/2014/main" id="{A3014297-D7D1-4836-8F00-A27202E999E4}"/>
              </a:ext>
            </a:extLst>
          </p:cNvPr>
          <p:cNvSpPr>
            <a:spLocks xmlns:a="http://schemas.openxmlformats.org/drawingml/2006/main" noGrp="1"/>
          </p:cNvSpPr>
          <p:nvPr/>
        </p:nvSpPr>
        <p:spPr>
          <a:xfrm xmlns:a="http://schemas.openxmlformats.org/drawingml/2006/main">
            <a:off x="4381500" y="169545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524"/>
                </a:solidFill>
              </a:defRPr>
            </a:pPr>
            <a:r>
              <a:rPr sz="1425" b="1">
                <a:solidFill>
                  <a:srgbClr val="123524"/>
                </a:solidFill>
              </a:rPr>
              <a:t>Apoteker PJ</a:t>
            </a:r>
          </a:p>
        </p:txBody>
      </p:sp>
      <p:sp>
        <p:nvSpPr>
          <p:cNvPr id="11" name="">
            <a:extLst xmlns:a="http://schemas.openxmlformats.org/drawingml/2006/main">
              <a:ext uri="{FF2B5EF4-FFF2-40B4-BE49-F238E27FC236}">
                <a16:creationId xmlns:a16="http://schemas.microsoft.com/office/drawing/2014/main" id="{77F84210-A92A-46B4-A135-3BA54B28F44C}"/>
              </a:ext>
            </a:extLst>
          </p:cNvPr>
          <p:cNvSpPr>
            <a:spLocks xmlns:a="http://schemas.openxmlformats.org/drawingml/2006/main" noGrp="1"/>
          </p:cNvSpPr>
          <p:nvPr/>
        </p:nvSpPr>
        <p:spPr>
          <a:xfrm xmlns:a="http://schemas.openxmlformats.org/drawingml/2006/main">
            <a:off x="4381500" y="217170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12" name="">
            <a:extLst xmlns:a="http://schemas.openxmlformats.org/drawingml/2006/main">
              <a:ext uri="{FF2B5EF4-FFF2-40B4-BE49-F238E27FC236}">
                <a16:creationId xmlns:a16="http://schemas.microsoft.com/office/drawing/2014/main" id="{64DF6B00-A7E3-4801-8D47-42BAE1E2F6A0}"/>
              </a:ext>
            </a:extLst>
          </p:cNvPr>
          <p:cNvSpPr>
            <a:spLocks xmlns:a="http://schemas.openxmlformats.org/drawingml/2006/main" noGrp="1"/>
          </p:cNvSpPr>
          <p:nvPr/>
        </p:nvSpPr>
        <p:spPr>
          <a:xfrm xmlns:a="http://schemas.openxmlformats.org/drawingml/2006/main">
            <a:off x="4381500" y="253365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Tanggal/paraf: _______________</a:t>
            </a:r>
          </a:p>
        </p:txBody>
      </p:sp>
      <p:sp>
        <p:nvSpPr>
          <p:cNvPr id="13" name="">
            <a:extLst xmlns:a="http://schemas.openxmlformats.org/drawingml/2006/main">
              <a:ext uri="{FF2B5EF4-FFF2-40B4-BE49-F238E27FC236}">
                <a16:creationId xmlns:a16="http://schemas.microsoft.com/office/drawing/2014/main" id="{5E2E2C4B-E8C2-4813-BE3E-167979D5DCBE}"/>
              </a:ext>
            </a:extLst>
          </p:cNvPr>
          <p:cNvSpPr>
            <a:spLocks xmlns:a="http://schemas.openxmlformats.org/drawingml/2006/main" noGrp="1"/>
          </p:cNvSpPr>
          <p:nvPr/>
        </p:nvSpPr>
        <p:spPr>
          <a:xfrm xmlns:a="http://schemas.openxmlformats.org/drawingml/2006/main">
            <a:off x="7734300" y="1504950"/>
            <a:ext cx="32575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BBF7D0"/>
            </a:solidFill>
            <a:prstDash val="solid"/>
          </a:ln>
        </p:spPr>
      </p:sp>
      <p:sp>
        <p:nvSpPr>
          <p:cNvPr id="14" name="">
            <a:extLst xmlns:a="http://schemas.openxmlformats.org/drawingml/2006/main">
              <a:ext uri="{FF2B5EF4-FFF2-40B4-BE49-F238E27FC236}">
                <a16:creationId xmlns:a16="http://schemas.microsoft.com/office/drawing/2014/main" id="{3D4191DE-1921-49F2-BA9C-384072486F0D}"/>
              </a:ext>
            </a:extLst>
          </p:cNvPr>
          <p:cNvSpPr>
            <a:spLocks xmlns:a="http://schemas.openxmlformats.org/drawingml/2006/main" noGrp="1"/>
          </p:cNvSpPr>
          <p:nvPr/>
        </p:nvSpPr>
        <p:spPr>
          <a:xfrm xmlns:a="http://schemas.openxmlformats.org/drawingml/2006/main">
            <a:off x="7943850" y="169545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524"/>
                </a:solidFill>
              </a:defRPr>
            </a:pPr>
            <a:r>
              <a:rPr sz="1425" b="1">
                <a:solidFill>
                  <a:srgbClr val="123524"/>
                </a:solidFill>
              </a:rPr>
              <a:t>Procurement</a:t>
            </a:r>
          </a:p>
        </p:txBody>
      </p:sp>
      <p:sp>
        <p:nvSpPr>
          <p:cNvPr id="15" name="">
            <a:extLst xmlns:a="http://schemas.openxmlformats.org/drawingml/2006/main">
              <a:ext uri="{FF2B5EF4-FFF2-40B4-BE49-F238E27FC236}">
                <a16:creationId xmlns:a16="http://schemas.microsoft.com/office/drawing/2014/main" id="{B754744A-C07F-4F75-B1AA-C058F6FE1BB1}"/>
              </a:ext>
            </a:extLst>
          </p:cNvPr>
          <p:cNvSpPr>
            <a:spLocks xmlns:a="http://schemas.openxmlformats.org/drawingml/2006/main" noGrp="1"/>
          </p:cNvSpPr>
          <p:nvPr/>
        </p:nvSpPr>
        <p:spPr>
          <a:xfrm xmlns:a="http://schemas.openxmlformats.org/drawingml/2006/main">
            <a:off x="7943850" y="217170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16" name="">
            <a:extLst xmlns:a="http://schemas.openxmlformats.org/drawingml/2006/main">
              <a:ext uri="{FF2B5EF4-FFF2-40B4-BE49-F238E27FC236}">
                <a16:creationId xmlns:a16="http://schemas.microsoft.com/office/drawing/2014/main" id="{7EDC0580-F57D-4179-90D0-3918321A95CF}"/>
              </a:ext>
            </a:extLst>
          </p:cNvPr>
          <p:cNvSpPr>
            <a:spLocks xmlns:a="http://schemas.openxmlformats.org/drawingml/2006/main" noGrp="1"/>
          </p:cNvSpPr>
          <p:nvPr/>
        </p:nvSpPr>
        <p:spPr>
          <a:xfrm xmlns:a="http://schemas.openxmlformats.org/drawingml/2006/main">
            <a:off x="7943850" y="253365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Tanggal/paraf: _______________</a:t>
            </a:r>
          </a:p>
        </p:txBody>
      </p:sp>
      <p:sp>
        <p:nvSpPr>
          <p:cNvPr id="17" name="">
            <a:extLst xmlns:a="http://schemas.openxmlformats.org/drawingml/2006/main">
              <a:ext uri="{FF2B5EF4-FFF2-40B4-BE49-F238E27FC236}">
                <a16:creationId xmlns:a16="http://schemas.microsoft.com/office/drawing/2014/main" id="{42602CA2-8107-44E9-9A3A-0B1D2FB86416}"/>
              </a:ext>
            </a:extLst>
          </p:cNvPr>
          <p:cNvSpPr>
            <a:spLocks xmlns:a="http://schemas.openxmlformats.org/drawingml/2006/main" noGrp="1"/>
          </p:cNvSpPr>
          <p:nvPr/>
        </p:nvSpPr>
        <p:spPr>
          <a:xfrm xmlns:a="http://schemas.openxmlformats.org/drawingml/2006/main">
            <a:off x="609600" y="3295650"/>
            <a:ext cx="32575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BBF7D0"/>
            </a:solidFill>
            <a:prstDash val="solid"/>
          </a:ln>
        </p:spPr>
      </p:sp>
      <p:sp>
        <p:nvSpPr>
          <p:cNvPr id="18" name="">
            <a:extLst xmlns:a="http://schemas.openxmlformats.org/drawingml/2006/main">
              <a:ext uri="{FF2B5EF4-FFF2-40B4-BE49-F238E27FC236}">
                <a16:creationId xmlns:a16="http://schemas.microsoft.com/office/drawing/2014/main" id="{13342CE4-C718-4244-84D4-40DC7F4C1283}"/>
              </a:ext>
            </a:extLst>
          </p:cNvPr>
          <p:cNvSpPr>
            <a:spLocks xmlns:a="http://schemas.openxmlformats.org/drawingml/2006/main" noGrp="1"/>
          </p:cNvSpPr>
          <p:nvPr/>
        </p:nvSpPr>
        <p:spPr>
          <a:xfrm xmlns:a="http://schemas.openxmlformats.org/drawingml/2006/main">
            <a:off x="819150" y="348615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524"/>
                </a:solidFill>
              </a:defRPr>
            </a:pPr>
            <a:r>
              <a:rPr sz="1425" b="1">
                <a:solidFill>
                  <a:srgbClr val="123524"/>
                </a:solidFill>
              </a:rPr>
              <a:t>Keuangan/Akuntansi</a:t>
            </a:r>
          </a:p>
        </p:txBody>
      </p:sp>
      <p:sp>
        <p:nvSpPr>
          <p:cNvPr id="19" name="">
            <a:extLst xmlns:a="http://schemas.openxmlformats.org/drawingml/2006/main">
              <a:ext uri="{FF2B5EF4-FFF2-40B4-BE49-F238E27FC236}">
                <a16:creationId xmlns:a16="http://schemas.microsoft.com/office/drawing/2014/main" id="{C13738D9-7957-44A1-9410-A7271BB3EA3C}"/>
              </a:ext>
            </a:extLst>
          </p:cNvPr>
          <p:cNvSpPr>
            <a:spLocks xmlns:a="http://schemas.openxmlformats.org/drawingml/2006/main" noGrp="1"/>
          </p:cNvSpPr>
          <p:nvPr/>
        </p:nvSpPr>
        <p:spPr>
          <a:xfrm xmlns:a="http://schemas.openxmlformats.org/drawingml/2006/main">
            <a:off x="819150" y="396240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20" name="">
            <a:extLst xmlns:a="http://schemas.openxmlformats.org/drawingml/2006/main">
              <a:ext uri="{FF2B5EF4-FFF2-40B4-BE49-F238E27FC236}">
                <a16:creationId xmlns:a16="http://schemas.microsoft.com/office/drawing/2014/main" id="{84056A23-C1C1-476B-AEFB-406051F67069}"/>
              </a:ext>
            </a:extLst>
          </p:cNvPr>
          <p:cNvSpPr>
            <a:spLocks xmlns:a="http://schemas.openxmlformats.org/drawingml/2006/main" noGrp="1"/>
          </p:cNvSpPr>
          <p:nvPr/>
        </p:nvSpPr>
        <p:spPr>
          <a:xfrm xmlns:a="http://schemas.openxmlformats.org/drawingml/2006/main">
            <a:off x="819150" y="432435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Tanggal/paraf: _______________</a:t>
            </a:r>
          </a:p>
        </p:txBody>
      </p:sp>
      <p:sp>
        <p:nvSpPr>
          <p:cNvPr id="21" name="">
            <a:extLst xmlns:a="http://schemas.openxmlformats.org/drawingml/2006/main">
              <a:ext uri="{FF2B5EF4-FFF2-40B4-BE49-F238E27FC236}">
                <a16:creationId xmlns:a16="http://schemas.microsoft.com/office/drawing/2014/main" id="{B76A81B7-2831-48F9-AE53-CC32A8488570}"/>
              </a:ext>
            </a:extLst>
          </p:cNvPr>
          <p:cNvSpPr>
            <a:spLocks xmlns:a="http://schemas.openxmlformats.org/drawingml/2006/main" noGrp="1"/>
          </p:cNvSpPr>
          <p:nvPr/>
        </p:nvSpPr>
        <p:spPr>
          <a:xfrm xmlns:a="http://schemas.openxmlformats.org/drawingml/2006/main">
            <a:off x="4171950" y="3295650"/>
            <a:ext cx="32575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BBF7D0"/>
            </a:solidFill>
            <a:prstDash val="solid"/>
          </a:ln>
        </p:spPr>
      </p:sp>
      <p:sp>
        <p:nvSpPr>
          <p:cNvPr id="22" name="">
            <a:extLst xmlns:a="http://schemas.openxmlformats.org/drawingml/2006/main">
              <a:ext uri="{FF2B5EF4-FFF2-40B4-BE49-F238E27FC236}">
                <a16:creationId xmlns:a16="http://schemas.microsoft.com/office/drawing/2014/main" id="{FC35D11E-9E0E-48B2-9FFC-D665D2BAF2D2}"/>
              </a:ext>
            </a:extLst>
          </p:cNvPr>
          <p:cNvSpPr>
            <a:spLocks xmlns:a="http://schemas.openxmlformats.org/drawingml/2006/main" noGrp="1"/>
          </p:cNvSpPr>
          <p:nvPr/>
        </p:nvSpPr>
        <p:spPr>
          <a:xfrm xmlns:a="http://schemas.openxmlformats.org/drawingml/2006/main">
            <a:off x="4381500" y="348615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524"/>
                </a:solidFill>
              </a:defRPr>
            </a:pPr>
            <a:r>
              <a:rPr sz="1425" b="1">
                <a:solidFill>
                  <a:srgbClr val="123524"/>
                </a:solidFill>
              </a:rPr>
              <a:t>IT/DevOps</a:t>
            </a:r>
          </a:p>
        </p:txBody>
      </p:sp>
      <p:sp>
        <p:nvSpPr>
          <p:cNvPr id="23" name="">
            <a:extLst xmlns:a="http://schemas.openxmlformats.org/drawingml/2006/main">
              <a:ext uri="{FF2B5EF4-FFF2-40B4-BE49-F238E27FC236}">
                <a16:creationId xmlns:a16="http://schemas.microsoft.com/office/drawing/2014/main" id="{A6EF5888-74C4-4F82-A23D-951E16E57188}"/>
              </a:ext>
            </a:extLst>
          </p:cNvPr>
          <p:cNvSpPr>
            <a:spLocks xmlns:a="http://schemas.openxmlformats.org/drawingml/2006/main" noGrp="1"/>
          </p:cNvSpPr>
          <p:nvPr/>
        </p:nvSpPr>
        <p:spPr>
          <a:xfrm xmlns:a="http://schemas.openxmlformats.org/drawingml/2006/main">
            <a:off x="4381500" y="396240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24" name="">
            <a:extLst xmlns:a="http://schemas.openxmlformats.org/drawingml/2006/main">
              <a:ext uri="{FF2B5EF4-FFF2-40B4-BE49-F238E27FC236}">
                <a16:creationId xmlns:a16="http://schemas.microsoft.com/office/drawing/2014/main" id="{4E3AD7E6-CBD5-428D-9765-315268E69AC2}"/>
              </a:ext>
            </a:extLst>
          </p:cNvPr>
          <p:cNvSpPr>
            <a:spLocks xmlns:a="http://schemas.openxmlformats.org/drawingml/2006/main" noGrp="1"/>
          </p:cNvSpPr>
          <p:nvPr/>
        </p:nvSpPr>
        <p:spPr>
          <a:xfrm xmlns:a="http://schemas.openxmlformats.org/drawingml/2006/main">
            <a:off x="4381500" y="432435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Tanggal/paraf: _______________</a:t>
            </a:r>
          </a:p>
        </p:txBody>
      </p:sp>
      <p:sp>
        <p:nvSpPr>
          <p:cNvPr id="25" name="">
            <a:extLst xmlns:a="http://schemas.openxmlformats.org/drawingml/2006/main">
              <a:ext uri="{FF2B5EF4-FFF2-40B4-BE49-F238E27FC236}">
                <a16:creationId xmlns:a16="http://schemas.microsoft.com/office/drawing/2014/main" id="{52573BDB-DEE2-4ED2-85B0-B15EE25EE581}"/>
              </a:ext>
            </a:extLst>
          </p:cNvPr>
          <p:cNvSpPr>
            <a:spLocks xmlns:a="http://schemas.openxmlformats.org/drawingml/2006/main" noGrp="1"/>
          </p:cNvSpPr>
          <p:nvPr/>
        </p:nvSpPr>
        <p:spPr>
          <a:xfrm xmlns:a="http://schemas.openxmlformats.org/drawingml/2006/main">
            <a:off x="7734300" y="3295650"/>
            <a:ext cx="32575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BBF7D0"/>
            </a:solidFill>
            <a:prstDash val="solid"/>
          </a:ln>
        </p:spPr>
      </p:sp>
      <p:sp>
        <p:nvSpPr>
          <p:cNvPr id="26" name="">
            <a:extLst xmlns:a="http://schemas.openxmlformats.org/drawingml/2006/main">
              <a:ext uri="{FF2B5EF4-FFF2-40B4-BE49-F238E27FC236}">
                <a16:creationId xmlns:a16="http://schemas.microsoft.com/office/drawing/2014/main" id="{9A6786F9-AEE4-4A9B-BCA6-21C7CD3A6E87}"/>
              </a:ext>
            </a:extLst>
          </p:cNvPr>
          <p:cNvSpPr>
            <a:spLocks xmlns:a="http://schemas.openxmlformats.org/drawingml/2006/main" noGrp="1"/>
          </p:cNvSpPr>
          <p:nvPr/>
        </p:nvSpPr>
        <p:spPr>
          <a:xfrm xmlns:a="http://schemas.openxmlformats.org/drawingml/2006/main">
            <a:off x="7943850" y="348615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524"/>
                </a:solidFill>
              </a:defRPr>
            </a:pPr>
            <a:r>
              <a:rPr sz="1425" b="1">
                <a:solidFill>
                  <a:srgbClr val="123524"/>
                </a:solidFill>
              </a:rPr>
              <a:t>Keamanan/Privasi</a:t>
            </a:r>
          </a:p>
        </p:txBody>
      </p:sp>
      <p:sp>
        <p:nvSpPr>
          <p:cNvPr id="27" name="">
            <a:extLst xmlns:a="http://schemas.openxmlformats.org/drawingml/2006/main">
              <a:ext uri="{FF2B5EF4-FFF2-40B4-BE49-F238E27FC236}">
                <a16:creationId xmlns:a16="http://schemas.microsoft.com/office/drawing/2014/main" id="{0C1483C8-B362-4A69-B0CA-4370C4990B03}"/>
              </a:ext>
            </a:extLst>
          </p:cNvPr>
          <p:cNvSpPr>
            <a:spLocks xmlns:a="http://schemas.openxmlformats.org/drawingml/2006/main" noGrp="1"/>
          </p:cNvSpPr>
          <p:nvPr/>
        </p:nvSpPr>
        <p:spPr>
          <a:xfrm xmlns:a="http://schemas.openxmlformats.org/drawingml/2006/main">
            <a:off x="7943850" y="396240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28" name="">
            <a:extLst xmlns:a="http://schemas.openxmlformats.org/drawingml/2006/main">
              <a:ext uri="{FF2B5EF4-FFF2-40B4-BE49-F238E27FC236}">
                <a16:creationId xmlns:a16="http://schemas.microsoft.com/office/drawing/2014/main" id="{6ABC319E-D068-4966-9D48-487CC5A83050}"/>
              </a:ext>
            </a:extLst>
          </p:cNvPr>
          <p:cNvSpPr>
            <a:spLocks xmlns:a="http://schemas.openxmlformats.org/drawingml/2006/main" noGrp="1"/>
          </p:cNvSpPr>
          <p:nvPr/>
        </p:nvSpPr>
        <p:spPr>
          <a:xfrm xmlns:a="http://schemas.openxmlformats.org/drawingml/2006/main">
            <a:off x="7943850" y="432435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Tanggal/paraf: _______________</a:t>
            </a:r>
          </a:p>
        </p:txBody>
      </p:sp>
      <p:sp>
        <p:nvSpPr>
          <p:cNvPr id="29" name="">
            <a:extLst xmlns:a="http://schemas.openxmlformats.org/drawingml/2006/main">
              <a:ext uri="{FF2B5EF4-FFF2-40B4-BE49-F238E27FC236}">
                <a16:creationId xmlns:a16="http://schemas.microsoft.com/office/drawing/2014/main" id="{F2370D11-D955-4896-95E1-CC22883A78B0}"/>
              </a:ext>
            </a:extLst>
          </p:cNvPr>
          <p:cNvSpPr>
            <a:spLocks xmlns:a="http://schemas.openxmlformats.org/drawingml/2006/main" noGrp="1"/>
          </p:cNvSpPr>
          <p:nvPr/>
        </p:nvSpPr>
        <p:spPr>
          <a:xfrm xmlns:a="http://schemas.openxmlformats.org/drawingml/2006/main">
            <a:off x="609600" y="5334000"/>
            <a:ext cx="10382250"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9525">
            <a:solidFill>
              <a:srgbClr val="166534"/>
            </a:solidFill>
            <a:prstDash val="solid"/>
          </a:ln>
        </p:spPr>
      </p:sp>
      <p:sp>
        <p:nvSpPr>
          <p:cNvPr id="30" name="">
            <a:extLst xmlns:a="http://schemas.openxmlformats.org/drawingml/2006/main">
              <a:ext uri="{FF2B5EF4-FFF2-40B4-BE49-F238E27FC236}">
                <a16:creationId xmlns:a16="http://schemas.microsoft.com/office/drawing/2014/main" id="{4DCE9C15-8D03-47E3-B923-F434138CFDBB}"/>
              </a:ext>
            </a:extLst>
          </p:cNvPr>
          <p:cNvSpPr>
            <a:spLocks xmlns:a="http://schemas.openxmlformats.org/drawingml/2006/main" noGrp="1"/>
          </p:cNvSpPr>
          <p:nvPr/>
        </p:nvSpPr>
        <p:spPr>
          <a:xfrm xmlns:a="http://schemas.openxmlformats.org/drawingml/2006/main">
            <a:off x="895350" y="552450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23524"/>
                </a:solidFill>
              </a:defRPr>
            </a:pPr>
            <a:r>
              <a:rPr sz="1425" b="1">
                <a:solidFill>
                  <a:srgbClr val="123524"/>
                </a:solidFill>
              </a:rPr>
              <a:t>Rilis UAT/pilot dapat digunakan setelah checksum diverifikasi; produksi menunggu keystore APK resmi.</a:t>
            </a:r>
          </a:p>
        </p:txBody>
      </p:sp>
    </p:spTree>
    <p:extLst>
      <p:ext uri="{BB962C8B-B14F-4D97-AF65-F5344CB8AC3E}">
        <p14:creationId xmlns:p14="http://schemas.microsoft.com/office/powerpoint/2010/main" val="329359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2026-09-04T17:21:45.4590000Z</dcterms:created>
  <dcterms:modified xsi:type="dcterms:W3CDTF">2026-09-04T17:21:45.4590000Z</dcterms:modified>
</coreProperties>
</file>