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b7b87d9181413c" /><Relationship Type="http://schemas.openxmlformats.org/officeDocument/2006/relationships/extended-properties" Target="/docProps/app.xml" Id="R5e70a5cf016b48a9" /><Relationship Type="http://schemas.openxmlformats.org/officeDocument/2006/relationships/officeDocument" Target="/ppt/presentation.xml" Id="Ra6f56b45609446c2" /></Relationships>
</file>

<file path=ppt/presentation.xml><?xml version="1.0" encoding="utf-8"?>
<p:presentation xmlns:p="http://schemas.openxmlformats.org/presentationml/2006/main">
  <p:sldMasterIdLst>
    <p:sldMasterId xmlns:r="http://schemas.openxmlformats.org/officeDocument/2006/relationships" id="2147483648" r:id="R58e01dbb22224bd9"/>
  </p:sldMasterIdLst>
  <p:notesMasterIdLst>
    <p:notesMasterId xmlns:r="http://schemas.openxmlformats.org/officeDocument/2006/relationships" r:id="Rdd5e1a91464a414f"/>
  </p:notesMasterIdLst>
  <p:sldIdLst>
    <p:sldId xmlns:r="http://schemas.openxmlformats.org/officeDocument/2006/relationships" id="256" r:id="Rba0bc3c6659e4cde"/>
    <p:sldId xmlns:r="http://schemas.openxmlformats.org/officeDocument/2006/relationships" id="257" r:id="Raeef0ce765a9409f"/>
    <p:sldId xmlns:r="http://schemas.openxmlformats.org/officeDocument/2006/relationships" id="258" r:id="Rd74945eee6224b26"/>
    <p:sldId xmlns:r="http://schemas.openxmlformats.org/officeDocument/2006/relationships" id="259" r:id="R4b0bf4a37984418d"/>
    <p:sldId xmlns:r="http://schemas.openxmlformats.org/officeDocument/2006/relationships" id="260" r:id="R746fe550bf074ead"/>
    <p:sldId xmlns:r="http://schemas.openxmlformats.org/officeDocument/2006/relationships" id="261" r:id="R232888e6d9f543af"/>
    <p:sldId xmlns:r="http://schemas.openxmlformats.org/officeDocument/2006/relationships" id="262" r:id="R381088ade1f04870"/>
    <p:sldId xmlns:r="http://schemas.openxmlformats.org/officeDocument/2006/relationships" id="263" r:id="R974bda0b80e443bd"/>
    <p:sldId xmlns:r="http://schemas.openxmlformats.org/officeDocument/2006/relationships" id="264" r:id="R54486ebab6754b26"/>
    <p:sldId xmlns:r="http://schemas.openxmlformats.org/officeDocument/2006/relationships" id="265" r:id="Rf25d534ff7e34a21"/>
    <p:sldId xmlns:r="http://schemas.openxmlformats.org/officeDocument/2006/relationships" id="266" r:id="Ra5f4eaadc6e94eb9"/>
    <p:sldId xmlns:r="http://schemas.openxmlformats.org/officeDocument/2006/relationships" id="267" r:id="R338c0e7356dc43e6"/>
    <p:sldId xmlns:r="http://schemas.openxmlformats.org/officeDocument/2006/relationships" id="268" r:id="R0903d959ad194b0f"/>
    <p:sldId xmlns:r="http://schemas.openxmlformats.org/officeDocument/2006/relationships" id="269" r:id="R0559c2c9ecbb451b"/>
    <p:sldId xmlns:r="http://schemas.openxmlformats.org/officeDocument/2006/relationships" id="270" r:id="Ra01a846c01f14f22"/>
    <p:sldId xmlns:r="http://schemas.openxmlformats.org/officeDocument/2006/relationships" id="271" r:id="R3e28f65c169d449a"/>
    <p:sldId xmlns:r="http://schemas.openxmlformats.org/officeDocument/2006/relationships" id="272" r:id="R04a4d003d9fd4d5c"/>
    <p:sldId xmlns:r="http://schemas.openxmlformats.org/officeDocument/2006/relationships" id="273" r:id="Rcf0dd0fced3340db"/>
    <p:sldId xmlns:r="http://schemas.openxmlformats.org/officeDocument/2006/relationships" id="274" r:id="R55ff4179a5f249d8"/>
    <p:sldId xmlns:r="http://schemas.openxmlformats.org/officeDocument/2006/relationships" id="275" r:id="R5935a7e88ee84103"/>
    <p:sldId xmlns:r="http://schemas.openxmlformats.org/officeDocument/2006/relationships" id="276" r:id="R394df5ff7c354599"/>
    <p:sldId xmlns:r="http://schemas.openxmlformats.org/officeDocument/2006/relationships" id="277" r:id="R8125afb9663b4d6a"/>
    <p:sldId xmlns:r="http://schemas.openxmlformats.org/officeDocument/2006/relationships" id="278" r:id="R8460865b69bc487a"/>
    <p:sldId xmlns:r="http://schemas.openxmlformats.org/officeDocument/2006/relationships" id="279" r:id="R3d9d2dae4f2b4a98"/>
    <p:sldId xmlns:r="http://schemas.openxmlformats.org/officeDocument/2006/relationships" id="280" r:id="R7f99fa0066cb42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7e0cc05f7a4801" /><Relationship Type="http://schemas.openxmlformats.org/officeDocument/2006/relationships/slideMaster" Target="/ppt/slideMasters/slideMaster1.xml" Id="R58e01dbb22224bd9" /><Relationship Type="http://schemas.openxmlformats.org/officeDocument/2006/relationships/notesMaster" Target="/ppt/notesMasters/notesMaster1.xml" Id="Rdd5e1a91464a414f" /><Relationship Type="http://schemas.openxmlformats.org/officeDocument/2006/relationships/presProps" Target="/ppt/presProps.xml" Id="R18e8596e5dca4541" /><Relationship Type="http://schemas.openxmlformats.org/officeDocument/2006/relationships/tableStyles" Target="/ppt/tableStyles.xml" Id="R764be7d5a50048d2" /><Relationship Type="http://schemas.openxmlformats.org/officeDocument/2006/relationships/slide" Target="/ppt/slides/slide1.xml" Id="Rba0bc3c6659e4cde" /><Relationship Type="http://schemas.openxmlformats.org/officeDocument/2006/relationships/slide" Target="/ppt/slides/slide2.xml" Id="Raeef0ce765a9409f" /><Relationship Type="http://schemas.openxmlformats.org/officeDocument/2006/relationships/slide" Target="/ppt/slides/slide3.xml" Id="Rd74945eee6224b26" /><Relationship Type="http://schemas.openxmlformats.org/officeDocument/2006/relationships/slide" Target="/ppt/slides/slide4.xml" Id="R4b0bf4a37984418d" /><Relationship Type="http://schemas.openxmlformats.org/officeDocument/2006/relationships/slide" Target="/ppt/slides/slide5.xml" Id="R746fe550bf074ead" /><Relationship Type="http://schemas.openxmlformats.org/officeDocument/2006/relationships/slide" Target="/ppt/slides/slide6.xml" Id="R232888e6d9f543af" /><Relationship Type="http://schemas.openxmlformats.org/officeDocument/2006/relationships/slide" Target="/ppt/slides/slide7.xml" Id="R381088ade1f04870" /><Relationship Type="http://schemas.openxmlformats.org/officeDocument/2006/relationships/slide" Target="/ppt/slides/slide8.xml" Id="R974bda0b80e443bd" /><Relationship Type="http://schemas.openxmlformats.org/officeDocument/2006/relationships/slide" Target="/ppt/slides/slide9.xml" Id="R54486ebab6754b26" /><Relationship Type="http://schemas.openxmlformats.org/officeDocument/2006/relationships/slide" Target="/ppt/slides/slide10.xml" Id="Rf25d534ff7e34a21" /><Relationship Type="http://schemas.openxmlformats.org/officeDocument/2006/relationships/slide" Target="/ppt/slides/slide11.xml" Id="Ra5f4eaadc6e94eb9" /><Relationship Type="http://schemas.openxmlformats.org/officeDocument/2006/relationships/slide" Target="/ppt/slides/slide12.xml" Id="R338c0e7356dc43e6" /><Relationship Type="http://schemas.openxmlformats.org/officeDocument/2006/relationships/slide" Target="/ppt/slides/slide13.xml" Id="R0903d959ad194b0f" /><Relationship Type="http://schemas.openxmlformats.org/officeDocument/2006/relationships/slide" Target="/ppt/slides/slide14.xml" Id="R0559c2c9ecbb451b" /><Relationship Type="http://schemas.openxmlformats.org/officeDocument/2006/relationships/slide" Target="/ppt/slides/slide15.xml" Id="Ra01a846c01f14f22" /><Relationship Type="http://schemas.openxmlformats.org/officeDocument/2006/relationships/slide" Target="/ppt/slides/slide16.xml" Id="R3e28f65c169d449a" /><Relationship Type="http://schemas.openxmlformats.org/officeDocument/2006/relationships/slide" Target="/ppt/slides/slide17.xml" Id="R04a4d003d9fd4d5c" /><Relationship Type="http://schemas.openxmlformats.org/officeDocument/2006/relationships/slide" Target="/ppt/slides/slide18.xml" Id="Rcf0dd0fced3340db" /><Relationship Type="http://schemas.openxmlformats.org/officeDocument/2006/relationships/slide" Target="/ppt/slides/slide19.xml" Id="R55ff4179a5f249d8" /><Relationship Type="http://schemas.openxmlformats.org/officeDocument/2006/relationships/slide" Target="/ppt/slides/slide20.xml" Id="R5935a7e88ee84103" /><Relationship Type="http://schemas.openxmlformats.org/officeDocument/2006/relationships/slide" Target="/ppt/slides/slide21.xml" Id="R394df5ff7c354599" /><Relationship Type="http://schemas.openxmlformats.org/officeDocument/2006/relationships/slide" Target="/ppt/slides/slide22.xml" Id="R8125afb9663b4d6a" /><Relationship Type="http://schemas.openxmlformats.org/officeDocument/2006/relationships/slide" Target="/ppt/slides/slide23.xml" Id="R8460865b69bc487a" /><Relationship Type="http://schemas.openxmlformats.org/officeDocument/2006/relationships/slide" Target="/ppt/slides/slide24.xml" Id="R3d9d2dae4f2b4a98" /><Relationship Type="http://schemas.openxmlformats.org/officeDocument/2006/relationships/slide" Target="/ppt/slides/slide25.xml" Id="R7f99fa0066cb42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2fcf3c2dfb47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02fd6aad7c47c3" /><Relationship Type="http://schemas.openxmlformats.org/officeDocument/2006/relationships/notesMaster" Target="/ppt/notesMasters/notesMaster1.xml" Id="R8fb794d845e148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e90c2a1eb94bd6" /><Relationship Type="http://schemas.openxmlformats.org/officeDocument/2006/relationships/notesMaster" Target="/ppt/notesMasters/notesMaster1.xml" Id="R1da0a4be6af14f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280b6f1e2f44af" /><Relationship Type="http://schemas.openxmlformats.org/officeDocument/2006/relationships/notesMaster" Target="/ppt/notesMasters/notesMaster1.xml" Id="R0f6b20f36ca548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4d50ff06024186" /><Relationship Type="http://schemas.openxmlformats.org/officeDocument/2006/relationships/notesMaster" Target="/ppt/notesMasters/notesMaster1.xml" Id="Re16a9dec260f44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11366d5d414a57" /><Relationship Type="http://schemas.openxmlformats.org/officeDocument/2006/relationships/notesMaster" Target="/ppt/notesMasters/notesMaster1.xml" Id="R48636ef50c6247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1dc5e639f74179" /><Relationship Type="http://schemas.openxmlformats.org/officeDocument/2006/relationships/notesMaster" Target="/ppt/notesMasters/notesMaster1.xml" Id="R11c2593ac1df47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7477ac262140e3" /><Relationship Type="http://schemas.openxmlformats.org/officeDocument/2006/relationships/notesMaster" Target="/ppt/notesMasters/notesMaster1.xml" Id="Ref42f0aa904d4e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dc0bfd51c74843" /><Relationship Type="http://schemas.openxmlformats.org/officeDocument/2006/relationships/notesMaster" Target="/ppt/notesMasters/notesMaster1.xml" Id="R6120dac867af4f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f2e350a84649d9" /><Relationship Type="http://schemas.openxmlformats.org/officeDocument/2006/relationships/notesMaster" Target="/ppt/notesMasters/notesMaster1.xml" Id="Re81781abf95f4d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c63fa7ab014047" /><Relationship Type="http://schemas.openxmlformats.org/officeDocument/2006/relationships/notesMaster" Target="/ppt/notesMasters/notesMaster1.xml" Id="Rd06021cc294b46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f954e0443f4a13" /><Relationship Type="http://schemas.openxmlformats.org/officeDocument/2006/relationships/notesMaster" Target="/ppt/notesMasters/notesMaster1.xml" Id="R42ec530436434d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8e768d2859a4fe5" /><Relationship Type="http://schemas.openxmlformats.org/officeDocument/2006/relationships/notesMaster" Target="/ppt/notesMasters/notesMaster1.xml" Id="R20fd3ee987ce46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fe632af131a4d6d" /><Relationship Type="http://schemas.openxmlformats.org/officeDocument/2006/relationships/notesMaster" Target="/ppt/notesMasters/notesMaster1.xml" Id="R2916760a814240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2de9c4c739b431e" /><Relationship Type="http://schemas.openxmlformats.org/officeDocument/2006/relationships/notesMaster" Target="/ppt/notesMasters/notesMaster1.xml" Id="Re4b993ec8afb46b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24fc6eaa3124e24" /><Relationship Type="http://schemas.openxmlformats.org/officeDocument/2006/relationships/notesMaster" Target="/ppt/notesMasters/notesMaster1.xml" Id="R3fd92cc376974f6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83fd38daaf44a9d" /><Relationship Type="http://schemas.openxmlformats.org/officeDocument/2006/relationships/notesMaster" Target="/ppt/notesMasters/notesMaster1.xml" Id="R18c8a1af701c41b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5f6ffa3264a41f2" /><Relationship Type="http://schemas.openxmlformats.org/officeDocument/2006/relationships/notesMaster" Target="/ppt/notesMasters/notesMaster1.xml" Id="Rfea1869f4763400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4e4c3da94ca4ab8" /><Relationship Type="http://schemas.openxmlformats.org/officeDocument/2006/relationships/notesMaster" Target="/ppt/notesMasters/notesMaster1.xml" Id="Rdffc83fd5c22494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34b1d00a99542e3" /><Relationship Type="http://schemas.openxmlformats.org/officeDocument/2006/relationships/notesMaster" Target="/ppt/notesMasters/notesMaster1.xml" Id="Rc3d885b50e53418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7296cd904754db4" /><Relationship Type="http://schemas.openxmlformats.org/officeDocument/2006/relationships/notesMaster" Target="/ppt/notesMasters/notesMaster1.xml" Id="Re058ff7dea9b4f7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0f5a43430274ed4" /><Relationship Type="http://schemas.openxmlformats.org/officeDocument/2006/relationships/notesMaster" Target="/ppt/notesMasters/notesMaster1.xml" Id="Rc4ff3380cea7491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ed52fd12a414b44" /><Relationship Type="http://schemas.openxmlformats.org/officeDocument/2006/relationships/notesMaster" Target="/ppt/notesMasters/notesMaster1.xml" Id="Rb36277f71848469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f12d220544c46df" /><Relationship Type="http://schemas.openxmlformats.org/officeDocument/2006/relationships/notesMaster" Target="/ppt/notesMasters/notesMaster1.xml" Id="R43b8d85caf6a44f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1719c9fba734467" /><Relationship Type="http://schemas.openxmlformats.org/officeDocument/2006/relationships/notesMaster" Target="/ppt/notesMasters/notesMaster1.xml" Id="Rbbd038f484d6442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fba86e763824272" /><Relationship Type="http://schemas.openxmlformats.org/officeDocument/2006/relationships/notesMaster" Target="/ppt/notesMasters/notesMaster1.xml" Id="Ra9b70848284a48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Presentasi ini merangkum UAT end-to-end POS Apotik v1.34.23 pada server demo. Keputusan LULUS BERSYARAT sengaja membedakan transaksi yang benar-benar tersimpan, tampilan yang berhasil dirender, dan integrasi yang masih diblokir backend. Rilis berisi APK Android dan installer Windows EXE langsung, bukan ZIP. Artefak masih untuk UAT atau pilot terkontrol sampai keystore Android dan sertifikat Authenticode tersedia.</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docs/pos-apotik-emedik/uat-v1.34.23/document-manifest.json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Angka pada slide berasal dari ringkasan mesin UAT. Tenant demo digunakan bersama, sehingga angka total dashboard dapat lebih besar daripada data yang dibuat run ini. Kelulusan dihitung melalui prefix rilis dan kunci idempoten. Tiga ratus transaksi penjualan terdiri dari seratus obat jadi, seratus racikan, dan seratus gabungan. Rangkaian procure-to-pay dibuat seratus kali pada setiap tahap. Seratus pembayaran vendor ditelusuri ke jurnal yang dibuat, diposting, dan dibaca ulang. Enam halaman laporan keuangan berhasil dirender, tetapi keberhasilan render belum berarti validasi angka lulus.</a:t>
            </a:r>
          </a:p>
          <a:p xmlns:a="http://schemas.openxmlformats.org/drawingml/2006/main">
            <a:r>
              <a:t/>
            </a:r>
          </a:p>
          <a:p xmlns:a="http://schemas.openxmlformats.org/drawingml/2006/main">
            <a:r>
              <a:t>[Sources]</a:t>
            </a:r>
          </a:p>
          <a:p xmlns:a="http://schemas.openxmlformats.org/drawingml/2006/main">
            <a:r>
              <a:t>- docs/pos-apotik-emedik/uat-v1.34.23/screenshots/uat-summary.json</a:t>
            </a:r>
          </a:p>
          <a:p xmlns:a="http://schemas.openxmlformats.org/drawingml/2006/main">
            <a:r>
              <a:t>- docs/pos-apotik-emedik/uat-v1.34.23/screenshots/procurement-summary.json</a:t>
            </a:r>
          </a:p>
          <a:p xmlns:a="http://schemas.openxmlformats.org/drawingml/2006/main">
            <a:r>
              <a:t>- docs/pos-apotik-emedik/uat-v1.34.23/screenshots/vendor-journal-summary.json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Matriks ini adalah kontrol anti-overclaim. PASS transaksi berarti transaksi berhasil disimpan dan diperiksa ulang. PASS komponen berarti tampilan atau widget berjalan dengan data terkontrol, tetapi backend live mungkin belum ada. BLOCKED menunjukkan prasyarat yang belum tersedia. PASS render laporan hanya membuktikan halaman dapat dibuka tanpa error fatal; validasi angka membutuhkan rekonsiliasi dengan dokumen sumber, periode, dan klasifikasi akun. Dengan definisi ini, pemilik proses dapat memberi sign-off terpisah untuk fungsi, integrasi, data, keamanan, dan deployment.</a:t>
            </a:r>
          </a:p>
          <a:p xmlns:a="http://schemas.openxmlformats.org/drawingml/2006/main">
            <a:r>
              <a:t/>
            </a:r>
          </a:p>
          <a:p xmlns:a="http://schemas.openxmlformats.org/drawingml/2006/main">
            <a:r>
              <a:t>[Sources]</a:t>
            </a:r>
          </a:p>
          <a:p xmlns:a="http://schemas.openxmlformats.org/drawingml/2006/main">
            <a:r>
              <a:t>- docs/pos-apotik-emedik/uat-v1.34.23/Laporan-UAT-dan-Manual-POS-Apotik-v1.34.23.docx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Bukti layar untuk Penjualan Obat Jadi dipakai sebagai titik masuk pemeriksaan UAT sekaligus panduan kerja operator. Tujuan pengujian bukan hanya memastikan halaman dapat terbuka, melainkan memastikan rangkaian keputusan, data, otorisasi, dan jejak audit tetap konsisten dari awal sampai akhir. Aktor yang terlibat adalah Pasien / keluarga, Kasir, Apoteker, Supervisor. Sebelum memulai, penguji memastikan varian yang tampil adalah POS Apotik, koneksi HTTPS menuju server demo aktif, pengguna berhasil login dengan role yang sesuai, tanggal dan waktu perangkat benar, serta data uji mempunyai penanda rilis agar dapat dibedakan dari transaksi lain pada tenant bersama. Screenshot diambil pada resolusi 1600 × 900 setelah indikator pemuatan selesai. Karena server demo dipakai bersama, jumlah total yang tampak pada dashboard dapat melebihi volume yang dibuat dalam run ini; hasil kelulusan karena itu dihitung dari kode idempoten dan ringkasan API, bukan dari perkiraan visual semata.</a:t>
            </a:r>
          </a:p>
          <a:p xmlns:a="http://schemas.openxmlformats.org/drawingml/2006/main">
            <a:r>
              <a:t/>
            </a:r>
          </a:p>
          <a:p xmlns:a="http://schemas.openxmlformats.org/drawingml/2006/main">
            <a:r>
              <a:t>Cara penggunaan normal mengikuti urutan: Identifikasi pasien; Cari/pindai obat; Validasi stok &amp; golongan; Pilih batch FEFO; Bayar &amp; simpan; Etiket dan serah terima. Operator membaca seluruh label dan nilai sebelum menekan tindakan simpan atau setujui. Kolom wajib tidak boleh diisi dengan nilai acak hanya untuk melewati validasi. Untuk nominal, kuantitas, batch, tanggal, vendor, pasien, dan akun, penguji mencocokkan kembali sumbernya dengan dokumen atau skenario. Setelah penyimpanan, operator menunggu notifikasi sukses, kemudian membuka ulang daftar dan mencari kode uji yang sama. Langkah baca ulang ini penting untuk membuktikan persistensi, bukan sekadar perubahan state sementara pada layar. Jika tombol tidak aktif, aplikasi menampilkan pesan gagal, atau indikator terus berputar, penguji mencatat waktu, menu, kode dokumen, payload relevan tanpa kredensial, dan screenshot. Penguji tidak mengulang simpan dengan kode baru sebelum memastikan apakah permintaan pertama sebenarnya sudah diterima server, karena tindakan tersebut dapat menggandakan transaksi.</a:t>
            </a:r>
          </a:p>
          <a:p xmlns:a="http://schemas.openxmlformats.org/drawingml/2006/main">
            <a:r>
              <a:t/>
            </a:r>
          </a:p>
          <a:p xmlns:a="http://schemas.openxmlformats.org/drawingml/2006/main">
            <a:r>
              <a:t>Data yang diamati dalam skenario ini membentuk aliran konseptual antara PASIEN</a:t>
            </a:r>
          </a:p>
          <a:p xmlns:a="http://schemas.openxmlformats.org/drawingml/2006/main">
            <a:r>
              <a:t>id, identitas, PENJUALAN</a:t>
            </a:r>
          </a:p>
          <a:p xmlns:a="http://schemas.openxmlformats.org/drawingml/2006/main">
            <a:r>
              <a:t>kode, tanggal, DETAIL OBAT</a:t>
            </a:r>
          </a:p>
          <a:p xmlns:a="http://schemas.openxmlformats.org/drawingml/2006/main">
            <a:r>
              <a:t>qty, harga, BATCH</a:t>
            </a:r>
          </a:p>
          <a:p xmlns:a="http://schemas.openxmlformats.org/drawingml/2006/main">
            <a:r>
              <a:t>ED, sisa, JURNAL/AUDIT</a:t>
            </a:r>
          </a:p>
          <a:p xmlns:a="http://schemas.openxmlformats.org/drawingml/2006/main">
            <a:r>
              <a:t>referensi. Hubungan antardata dijaga melalui identitas dokumen, referensi transaksi sumber, detail barang atau akun, dan status proses. Kunci idempoten pada run volume mencegah penciptaan ulang ketika tes diulang setelah gangguan jaringan. Untuk data persediaan, kuantitas tidak boleh hanya dicatat di header; detail batch, tanggal kedaluwarsa, dan sisa stok harus dapat ditelusuri. Untuk data keuangan, jurnal harus membawa referensi dokumen sumber dan pasangan debit-kredit yang seimbang. Untuk data pasien, layar petugas boleh menampilkan informasi operasional yang diperlukan, sedangkan layar publik wajib menggunakan identitas tersamar. Penguji juga memperhatikan bahwa keberhasilan respons HTTP atau status “success” belum selalu membuktikan angka laporan benar; rekonsiliasi nilai terhadap dokumen sumber tetap menjadi acceptance test terpisah.</a:t>
            </a:r>
          </a:p>
          <a:p xmlns:a="http://schemas.openxmlformats.org/drawingml/2006/main">
            <a:r>
              <a:t/>
            </a:r>
          </a:p>
          <a:p xmlns:a="http://schemas.openxmlformats.org/drawingml/2006/main">
            <a:r>
              <a:t>Hasil aktual pada server demo untuk skenario ini adalah: 100 dari 100 transaksi obat jadi dengan kode UAT v1.34.23 berhasil dan pemeriksaan idempotensi lulus. Katalog deploy hanya memuat dua item, sehingga keberhasilan transaksi volume tidak berarti katalog 100 item telah tersedia. Status formalnya PASS transaksi / BLOCKED volume katalog. Arti status tersebut harus dibaca secara presisi. PASS berarti operasi yang dinyatakan berhasil benar-benar disimpan atau dirender dan diverifikasi dengan pemeriksaan lanjutan. PASS TAMPILAN hanya berarti komponen dapat digunakan dan difoto, bukan bahwa seluruh endpoint produksi sudah tersedia. BLOCKED berarti prasyarat backend, konfigurasi, atau data master belum mencukupi; blocker tidak boleh disamarkan sebagai kegagalan operator dan juga tidak boleh dianggap lulus. LULUS BERSYARAT berarti jalur utama dapat dipakai untuk UAT atau pilot yang dikendalikan, dengan risiko dan pekerjaan retest yang tercantum. Pemisahan ini menjaga dokumen tetap dapat diaudit dan membantu pemilik proses memutuskan apakah sebuah temuan menahan produksi atau cukup ditangani sebelum go-live.</a:t>
            </a:r>
          </a:p>
          <a:p xmlns:a="http://schemas.openxmlformats.org/drawingml/2006/main">
            <a:r>
              <a:t/>
            </a:r>
          </a:p>
          <a:p xmlns:a="http://schemas.openxmlformats.org/drawingml/2006/main">
            <a:r>
              <a:t>Kontrol utama untuk Penjualan Obat Jadi adalah validasi item, batch tidak kedaluwarsa, sisa stok, FEFO, obat terkendali, pembayaran, dan bukti serah terima. Penguji melakukan negative check dengan mempertimbangkan data kosong, hak akses tidak memadai, dokumen sudah diproses, batch tidak layak, ketidakseimbangan jurnal, duplikasi kode, dan putus jaringan. Sistem harus menolak atau membatasi tindakan yang tidak sah tanpa menghapus data yang telah benar. Setelah setiap perubahan status, petugas yang berbeda—bila segregasi tugas diwajibkan—membuka data dari sesinya sendiri dan mengonfirmasi hasil. Bukti ideal terdiri dari screenshot sebelum tindakan, respons sesudah tindakan, daftar hasil, dan ringkasan mesin. Dokumen ini menampilkan satu screenshot representatif per kelompok skenario agar setiap gambar dapat diberi narasi dan diagram lengkap; berkas screenshot lain tetap tersedia di folder bukti dalam repository untuk investigasi teknis, namun tidak ditampilkan di badan dokumen agar tidak menimbulkan interpretasi bahwa semua gambar memiliki status integrasi yang sama.</a:t>
            </a:r>
          </a:p>
          <a:p xmlns:a="http://schemas.openxmlformats.org/drawingml/2006/main">
            <a:r>
              <a:t/>
            </a:r>
          </a:p>
          <a:p xmlns:a="http://schemas.openxmlformats.org/drawingml/2006/main">
            <a:r>
              <a:t>Bila terjadi penyimpangan, operator menjalankan prosedur berikut. Pertama, hentikan tindakan lanjutan yang dapat mengubah stok atau keuangan. Kedua, catat kode dokumen, waktu, role, dan pesan kesalahan. Ketiga, muat ulang daftar serta cari kode idempoten yang sama untuk menentukan apakah server sudah menyimpan transaksi. Keempat, bandingkan detail dengan dokumen sumber dan jangan membuat pengganti sebelum status transaksi pertama pasti. Kelima, eskalasikan ke pemilik modul dengan klasifikasi: data master, RBAC, validasi bisnis, integrasi API, tampilan, atau akuntansi. Jika penyimpangan menyentuh pasien, obat, batch, atau kedaluwarsa, apoteker mengambil keputusan keselamatan dan menahan penyerahan bila perlu. Jika menyentuh vendor, tagihan, pembayaran, atau jurnal, keuangan menahan pembayaran/posting dan akuntansi melakukan rekonsiliasi. Seluruh koreksi harus menghasilkan jejak audit baru, bukan menghapus diam-diam riwayat lama.</a:t>
            </a:r>
          </a:p>
          <a:p xmlns:a="http://schemas.openxmlformats.org/drawingml/2006/main">
            <a:r>
              <a:t/>
            </a:r>
          </a:p>
          <a:p xmlns:a="http://schemas.openxmlformats.org/drawingml/2006/main">
            <a:r>
              <a:t>Kriteria penerimaan akhir untuk skenario ini adalah: 100 kode tersimpan satu kali, stok berkurang pada batch yang benar, transaksi dapat dibaca ulang, dan penyerahan dilakukan setelah verifikasi pasien-obat-jumlah. Setelah kriteria terpenuhi, penguji memberi tanda pada matriks, mencatat bukti, dan meminta sign-off pemilik proses. Untuk penggunaan harian, supervisor sebaiknya menjalankan pemeriksaan awal shift terhadap koneksi, toko aktif, perangkat periferal, role, dan sinkronisasi; pemeriksaan selama shift terhadap transaksi tertahan, stok negatif, batch mendekati kedaluwarsa, antrean, dan dokumen gagal; serta pemeriksaan akhir shift terhadap kas, stok kritis, dokumen pengadaan, pembayaran, jurnal, dan laporan. Pola ini membuat aplikasi berfungsi sebagai sistem pengendalian, bukan hanya alat input. Pada rilis 1.34.23 (build 185), kesimpulan PASS transaksi / BLOCKED volume katalog berlaku untuk lingkungan yang diuji dan tidak otomatis membuktikan kompatibilitas setiap tenant, printer, monitor, kebijakan COA, atau keystore. Retest produksi wajib memakai konfigurasi tujuan dan persetujuan owner.</a:t>
            </a:r>
          </a:p>
          <a:p xmlns:a="http://schemas.openxmlformats.org/drawingml/2006/main">
            <a:r>
              <a:t/>
            </a:r>
          </a:p>
          <a:p xmlns:a="http://schemas.openxmlformats.org/drawingml/2006/main">
            <a:r>
              <a:t>Kriteria penerimaan: 100 kode tersimpan satu kali, stok berkurang pada batch yang benar, transaksi dapat dibaca ulang, dan penyerahan dilakukan setelah verifikasi pasien-obat-jumlah</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docs/pos-apotik-emedik/uat-v1.34.23/screenshots/01-kasir-obat-jadi.png</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 ini melengkapi bukti 1. Use case menunjukkan aktor dan tanggung jawab utama. Flowchart memperlihatkan urutan kontrol. ERD/data flow adalah model konseptual, bukan klaim nama tabel fisik. Gate yang tercantum harus dipenuhi sebelum skenario dapat diberi sign-off. Kontrol rinci: validasi item, batch tidak kedaluwarsa, sisa stok, FEFO, obat terkendali, pembayaran, dan bukti serah terima. Kriteria penerimaan: 100 kode tersimpan satu kali, stok berkurang pada batch yang benar, transaksi dapat dibaca ulang, dan penyerahan dilakukan setelah verifikasi pasien-obat-jumlah.</a:t>
            </a:r>
          </a:p>
          <a:p xmlns:a="http://schemas.openxmlformats.org/drawingml/2006/main">
            <a:r>
              <a:t/>
            </a:r>
          </a:p>
          <a:p xmlns:a="http://schemas.openxmlformats.org/drawingml/2006/main">
            <a:r>
              <a:t>[Sources]</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Bukti layar untuk Penjualan Obat Racik dipakai sebagai titik masuk pemeriksaan UAT sekaligus panduan kerja operator. Tujuan pengujian bukan hanya memastikan halaman dapat terbuka, melainkan memastikan rangkaian keputusan, data, otorisasi, dan jejak audit tetap konsisten dari awal sampai akhir. Aktor yang terlibat adalah Dokter / resep, Apoteker, Tenaga teknis, Pasien. Sebelum memulai, penguji memastikan varian yang tampil adalah POS Apotik, koneksi HTTPS menuju server demo aktif, pengguna berhasil login dengan role yang sesuai, tanggal dan waktu perangkat benar, serta data uji mempunyai penanda rilis agar dapat dibedakan dari transaksi lain pada tenant bersama. Screenshot diambil pada resolusi 1600 × 900 setelah indikator pemuatan selesai. Karena server demo dipakai bersama, jumlah total yang tampak pada dashboard dapat melebihi volume yang dibuat dalam run ini; hasil kelulusan karena itu dihitung dari kode idempoten dan ringkasan API, bukan dari perkiraan visual semata.</a:t>
            </a:r>
          </a:p>
          <a:p xmlns:a="http://schemas.openxmlformats.org/drawingml/2006/main">
            <a:r>
              <a:t/>
            </a:r>
          </a:p>
          <a:p xmlns:a="http://schemas.openxmlformats.org/drawingml/2006/main">
            <a:r>
              <a:t>Cara penggunaan normal mengikuti urutan: Resep diterima; Telaah klinis/farmasetik; Hitung bahan; Racik &amp; kemas; Pemeriksaan akhir; Serahkan &amp; edukasi. Operator membaca seluruh label dan nilai sebelum menekan tindakan simpan atau setujui. Kolom wajib tidak boleh diisi dengan nilai acak hanya untuk melewati validasi. Untuk nominal, kuantitas, batch, tanggal, vendor, pasien, dan akun, penguji mencocokkan kembali sumbernya dengan dokumen atau skenario. Setelah penyimpanan, operator menunggu notifikasi sukses, kemudian membuka ulang daftar dan mencari kode uji yang sama. Langkah baca ulang ini penting untuk membuktikan persistensi, bukan sekadar perubahan state sementara pada layar. Jika tombol tidak aktif, aplikasi menampilkan pesan gagal, atau indikator terus berputar, penguji mencatat waktu, menu, kode dokumen, payload relevan tanpa kredensial, dan screenshot. Penguji tidak mengulang simpan dengan kode baru sebelum memastikan apakah permintaan pertama sebenarnya sudah diterima server, karena tindakan tersebut dapat menggandakan transaksi.</a:t>
            </a:r>
          </a:p>
          <a:p xmlns:a="http://schemas.openxmlformats.org/drawingml/2006/main">
            <a:r>
              <a:t/>
            </a:r>
          </a:p>
          <a:p xmlns:a="http://schemas.openxmlformats.org/drawingml/2006/main">
            <a:r>
              <a:t>Data yang diamati dalam skenario ini membentuk aliran konseptual antara RESEP</a:t>
            </a:r>
          </a:p>
          <a:p xmlns:a="http://schemas.openxmlformats.org/drawingml/2006/main">
            <a:r>
              <a:t>id, pasien, RACIKAN</a:t>
            </a:r>
          </a:p>
          <a:p xmlns:a="http://schemas.openxmlformats.org/drawingml/2006/main">
            <a:r>
              <a:t>formula, dosis, BAHAN</a:t>
            </a:r>
          </a:p>
          <a:p xmlns:a="http://schemas.openxmlformats.org/drawingml/2006/main">
            <a:r>
              <a:t>item, qty, BATCH BAHAN</a:t>
            </a:r>
          </a:p>
          <a:p xmlns:a="http://schemas.openxmlformats.org/drawingml/2006/main">
            <a:r>
              <a:t>ED, sisa, PENYERAHAN</a:t>
            </a:r>
          </a:p>
          <a:p xmlns:a="http://schemas.openxmlformats.org/drawingml/2006/main">
            <a:r>
              <a:t>status, edukasi. Hubungan antardata dijaga melalui identitas dokumen, referensi transaksi sumber, detail barang atau akun, dan status proses. Kunci idempoten pada run volume mencegah penciptaan ulang ketika tes diulang setelah gangguan jaringan. Untuk data persediaan, kuantitas tidak boleh hanya dicatat di header; detail batch, tanggal kedaluwarsa, dan sisa stok harus dapat ditelusuri. Untuk data keuangan, jurnal harus membawa referensi dokumen sumber dan pasangan debit-kredit yang seimbang. Untuk data pasien, layar petugas boleh menampilkan informasi operasional yang diperlukan, sedangkan layar publik wajib menggunakan identitas tersamar. Penguji juga memperhatikan bahwa keberhasilan respons HTTP atau status “success” belum selalu membuktikan angka laporan benar; rekonsiliasi nilai terhadap dokumen sumber tetap menjadi acceptance test terpisah.</a:t>
            </a:r>
          </a:p>
          <a:p xmlns:a="http://schemas.openxmlformats.org/drawingml/2006/main">
            <a:r>
              <a:t/>
            </a:r>
          </a:p>
          <a:p xmlns:a="http://schemas.openxmlformats.org/drawingml/2006/main">
            <a:r>
              <a:t>Hasil aktual pada server demo untuk skenario ini adalah: 100 dari 100 transaksi racikan berhasil; endpoint daftar mengembalikan 100 resep pada halaman uji dan ringkasan provision server menyatakan total 5.000 resep demo tersedia. Status formalnya PASS transaksi racikan. Arti status tersebut harus dibaca secara presisi. PASS berarti operasi yang dinyatakan berhasil benar-benar disimpan atau dirender dan diverifikasi dengan pemeriksaan lanjutan. PASS TAMPILAN hanya berarti komponen dapat digunakan dan difoto, bukan bahwa seluruh endpoint produksi sudah tersedia. BLOCKED berarti prasyarat backend, konfigurasi, atau data master belum mencukupi; blocker tidak boleh disamarkan sebagai kegagalan operator dan juga tidak boleh dianggap lulus. LULUS BERSYARAT berarti jalur utama dapat dipakai untuk UAT atau pilot yang dikendalikan, dengan risiko dan pekerjaan retest yang tercantum. Pemisahan ini menjaga dokumen tetap dapat diaudit dan membantu pemilik proses memutuskan apakah sebuah temuan menahan produksi atau cukup ditangani sebelum go-live.</a:t>
            </a:r>
          </a:p>
          <a:p xmlns:a="http://schemas.openxmlformats.org/drawingml/2006/main">
            <a:r>
              <a:t/>
            </a:r>
          </a:p>
          <a:p xmlns:a="http://schemas.openxmlformats.org/drawingml/2006/main">
            <a:r>
              <a:t>Kontrol utama untuk Penjualan Obat Racik adalah telaah resep, kalkulasi dosis, kompatibilitas, pemilihan batch, kebersihan area racik, pemeriksaan akhir, etiket, dan edukasi. Penguji melakukan negative check dengan mempertimbangkan data kosong, hak akses tidak memadai, dokumen sudah diproses, batch tidak layak, ketidakseimbangan jurnal, duplikasi kode, dan putus jaringan. Sistem harus menolak atau membatasi tindakan yang tidak sah tanpa menghapus data yang telah benar. Setelah setiap perubahan status, petugas yang berbeda—bila segregasi tugas diwajibkan—membuka data dari sesinya sendiri dan mengonfirmasi hasil. Bukti ideal terdiri dari screenshot sebelum tindakan, respons sesudah tindakan, daftar hasil, dan ringkasan mesin. Dokumen ini menampilkan satu screenshot representatif per kelompok skenario agar setiap gambar dapat diberi narasi dan diagram lengkap; berkas screenshot lain tetap tersedia di folder bukti dalam repository untuk investigasi teknis, namun tidak ditampilkan di badan dokumen agar tidak menimbulkan interpretasi bahwa semua gambar memiliki status integrasi yang sama.</a:t>
            </a:r>
          </a:p>
          <a:p xmlns:a="http://schemas.openxmlformats.org/drawingml/2006/main">
            <a:r>
              <a:t/>
            </a:r>
          </a:p>
          <a:p xmlns:a="http://schemas.openxmlformats.org/drawingml/2006/main">
            <a:r>
              <a:t>Bila terjadi penyimpangan, operator menjalankan prosedur berikut. Pertama, hentikan tindakan lanjutan yang dapat mengubah stok atau keuangan. Kedua, catat kode dokumen, waktu, role, dan pesan kesalahan. Ketiga, muat ulang daftar serta cari kode idempoten yang sama untuk menentukan apakah server sudah menyimpan transaksi. Keempat, bandingkan detail dengan dokumen sumber dan jangan membuat pengganti sebelum status transaksi pertama pasti. Kelima, eskalasikan ke pemilik modul dengan klasifikasi: data master, RBAC, validasi bisnis, integrasi API, tampilan, atau akuntansi. Jika penyimpangan menyentuh pasien, obat, batch, atau kedaluwarsa, apoteker mengambil keputusan keselamatan dan menahan penyerahan bila perlu. Jika menyentuh vendor, tagihan, pembayaran, atau jurnal, keuangan menahan pembayaran/posting dan akuntansi melakukan rekonsiliasi. Seluruh koreksi harus menghasilkan jejak audit baru, bukan menghapus diam-diam riwayat lama.</a:t>
            </a:r>
          </a:p>
          <a:p xmlns:a="http://schemas.openxmlformats.org/drawingml/2006/main">
            <a:r>
              <a:t/>
            </a:r>
          </a:p>
          <a:p xmlns:a="http://schemas.openxmlformats.org/drawingml/2006/main">
            <a:r>
              <a:t>Kriteria penerimaan akhir untuk skenario ini adalah: 100 resep terhubung ke transaksi satu kali, pemakaian bahan dapat ditelusuri, status selesai benar, dan hasil racikan diserahkan setelah pemeriksaan akhir. Setelah kriteria terpenuhi, penguji memberi tanda pada matriks, mencatat bukti, dan meminta sign-off pemilik proses. Untuk penggunaan harian, supervisor sebaiknya menjalankan pemeriksaan awal shift terhadap koneksi, toko aktif, perangkat periferal, role, dan sinkronisasi; pemeriksaan selama shift terhadap transaksi tertahan, stok negatif, batch mendekati kedaluwarsa, antrean, dan dokumen gagal; serta pemeriksaan akhir shift terhadap kas, stok kritis, dokumen pengadaan, pembayaran, jurnal, dan laporan. Pola ini membuat aplikasi berfungsi sebagai sistem pengendalian, bukan hanya alat input. Pada rilis 1.34.23 (build 185), kesimpulan PASS transaksi racikan berlaku untuk lingkungan yang diuji dan tidak otomatis membuktikan kompatibilitas setiap tenant, printer, monitor, kebijakan COA, atau keystore. Retest produksi wajib memakai konfigurasi tujuan dan persetujuan owner.</a:t>
            </a:r>
          </a:p>
          <a:p xmlns:a="http://schemas.openxmlformats.org/drawingml/2006/main">
            <a:r>
              <a:t/>
            </a:r>
          </a:p>
          <a:p xmlns:a="http://schemas.openxmlformats.org/drawingml/2006/main">
            <a:r>
              <a:t>Kriteria penerimaan: 100 resep terhubung ke transaksi satu kali, pemakaian bahan dapat ditelusuri, status selesai benar, dan hasil racikan diserahkan setelah pemeriksaan akhir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docs/pos-apotik-emedik/uat-v1.34.23/screenshots/02-resep-racikan.png</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 ini melengkapi bukti 2. Use case menunjukkan aktor dan tanggung jawab utama. Flowchart memperlihatkan urutan kontrol. ERD/data flow adalah model konseptual, bukan klaim nama tabel fisik. Gate yang tercantum harus dipenuhi sebelum skenario dapat diberi sign-off. Kontrol rinci: telaah resep, kalkulasi dosis, kompatibilitas, pemilihan batch, kebersihan area racik, pemeriksaan akhir, etiket, dan edukasi. Kriteria penerimaan: 100 resep terhubung ke transaksi satu kali, pemakaian bahan dapat ditelusuri, status selesai benar, dan hasil racikan diserahkan setelah pemeriksaan akhir.</a:t>
            </a:r>
          </a:p>
          <a:p xmlns:a="http://schemas.openxmlformats.org/drawingml/2006/main">
            <a:r>
              <a:t/>
            </a:r>
          </a:p>
          <a:p xmlns:a="http://schemas.openxmlformats.org/drawingml/2006/main">
            <a:r>
              <a:t>[Sources]</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Bukti layar untuk Penjualan Gabungan dan Layar Pasien dipakai sebagai titik masuk pemeriksaan UAT sekaligus panduan kerja operator. Tujuan pengujian bukan hanya memastikan halaman dapat terbuka, melainkan memastikan rangkaian keputusan, data, otorisasi, dan jejak audit tetap konsisten dari awal sampai akhir. Aktor yang terlibat adalah Kasir, Apoteker, Pasien / keluarga, Layar publik. Sebelum memulai, penguji memastikan varian yang tampil adalah POS Apotik, koneksi HTTPS menuju server demo aktif, pengguna berhasil login dengan role yang sesuai, tanggal dan waktu perangkat benar, serta data uji mempunyai penanda rilis agar dapat dibedakan dari transaksi lain pada tenant bersama. Screenshot diambil pada resolusi 1600 × 900 setelah indikator pemuatan selesai. Karena server demo dipakai bersama, jumlah total yang tampak pada dashboard dapat melebihi volume yang dibuat dalam run ini; hasil kelulusan karena itu dihitung dari kode idempoten dan ringkasan API, bukan dari perkiraan visual semata.</a:t>
            </a:r>
          </a:p>
          <a:p xmlns:a="http://schemas.openxmlformats.org/drawingml/2006/main">
            <a:r>
              <a:t/>
            </a:r>
          </a:p>
          <a:p xmlns:a="http://schemas.openxmlformats.org/drawingml/2006/main">
            <a:r>
              <a:t>Cara penggunaan normal mengikuti urutan: Pilih item jadi; Pilih resep racikan; Validasi dua lini; Bayar gabungan; Siapkan obat; Panggil pada layar. Operator membaca seluruh label dan nilai sebelum menekan tindakan simpan atau setujui. Kolom wajib tidak boleh diisi dengan nilai acak hanya untuk melewati validasi. Untuk nominal, kuantitas, batch, tanggal, vendor, pasien, dan akun, penguji mencocokkan kembali sumbernya dengan dokumen atau skenario. Setelah penyimpanan, operator menunggu notifikasi sukses, kemudian membuka ulang daftar dan mencari kode uji yang sama. Langkah baca ulang ini penting untuk membuktikan persistensi, bukan sekadar perubahan state sementara pada layar. Jika tombol tidak aktif, aplikasi menampilkan pesan gagal, atau indikator terus berputar, penguji mencatat waktu, menu, kode dokumen, payload relevan tanpa kredensial, dan screenshot. Penguji tidak mengulang simpan dengan kode baru sebelum memastikan apakah permintaan pertama sebenarnya sudah diterima server, karena tindakan tersebut dapat menggandakan transaksi.</a:t>
            </a:r>
          </a:p>
          <a:p xmlns:a="http://schemas.openxmlformats.org/drawingml/2006/main">
            <a:r>
              <a:t/>
            </a:r>
          </a:p>
          <a:p xmlns:a="http://schemas.openxmlformats.org/drawingml/2006/main">
            <a:r>
              <a:t>Data yang diamati dalam skenario ini membentuk aliran konseptual antara PENJUALAN</a:t>
            </a:r>
          </a:p>
          <a:p xmlns:a="http://schemas.openxmlformats.org/drawingml/2006/main">
            <a:r>
              <a:t>kode gabungan, DETAIL JADI</a:t>
            </a:r>
          </a:p>
          <a:p xmlns:a="http://schemas.openxmlformats.org/drawingml/2006/main">
            <a:r>
              <a:t>item, batch, DETAIL RACIK</a:t>
            </a:r>
          </a:p>
          <a:p xmlns:a="http://schemas.openxmlformats.org/drawingml/2006/main">
            <a:r>
              <a:t>resep, bahan, ANTREAN</a:t>
            </a:r>
          </a:p>
          <a:p xmlns:a="http://schemas.openxmlformats.org/drawingml/2006/main">
            <a:r>
              <a:t>nomor, status, LAYAR PUBLIK</a:t>
            </a:r>
          </a:p>
          <a:p xmlns:a="http://schemas.openxmlformats.org/drawingml/2006/main">
            <a:r>
              <a:t>view tersamar. Hubungan antardata dijaga melalui identitas dokumen, referensi transaksi sumber, detail barang atau akun, dan status proses. Kunci idempoten pada run volume mencegah penciptaan ulang ketika tes diulang setelah gangguan jaringan. Untuk data persediaan, kuantitas tidak boleh hanya dicatat di header; detail batch, tanggal kedaluwarsa, dan sisa stok harus dapat ditelusuri. Untuk data keuangan, jurnal harus membawa referensi dokumen sumber dan pasangan debit-kredit yang seimbang. Untuk data pasien, layar petugas boleh menampilkan informasi operasional yang diperlukan, sedangkan layar publik wajib menggunakan identitas tersamar. Penguji juga memperhatikan bahwa keberhasilan respons HTTP atau status “success” belum selalu membuktikan angka laporan benar; rekonsiliasi nilai terhadap dokumen sumber tetap menjadi acceptance test terpisah.</a:t>
            </a:r>
          </a:p>
          <a:p xmlns:a="http://schemas.openxmlformats.org/drawingml/2006/main">
            <a:r>
              <a:t/>
            </a:r>
          </a:p>
          <a:p xmlns:a="http://schemas.openxmlformats.org/drawingml/2006/main">
            <a:r>
              <a:t>Hasil aktual pada server demo untuk skenario ini adalah: 100 dari 100 transaksi gabungan yang masing-masing berisi lini obat jadi dan racikan berhasil. Komponen layar gabungan, khusus obat jadi, dan khusus racikan dapat dirender, tetapi endpoint antrean farmasi pada server demo mengembalikan aksi belum tersedia; screenshot ini memakai data pratinjau terkontrol. Status formalnya PASS transaksi / PASS komponen / BLOCKED integrasi antrean. Arti status tersebut harus dibaca secara presisi. PASS berarti operasi yang dinyatakan berhasil benar-benar disimpan atau dirender dan diverifikasi dengan pemeriksaan lanjutan. PASS TAMPILAN hanya berarti komponen dapat digunakan dan difoto, bukan bahwa seluruh endpoint produksi sudah tersedia. BLOCKED berarti prasyarat backend, konfigurasi, atau data master belum mencukupi; blocker tidak boleh disamarkan sebagai kegagalan operator dan juga tidak boleh dianggap lulus. LULUS BERSYARAT berarti jalur utama dapat dipakai untuk UAT atau pilot yang dikendalikan, dengan risiko dan pekerjaan retest yang tercantum. Pemisahan ini menjaga dokumen tetap dapat diaudit dan membantu pemilik proses memutuskan apakah sebuah temuan menahan produksi atau cukup ditangani sebelum go-live.</a:t>
            </a:r>
          </a:p>
          <a:p xmlns:a="http://schemas.openxmlformats.org/drawingml/2006/main">
            <a:r>
              <a:t/>
            </a:r>
          </a:p>
          <a:p xmlns:a="http://schemas.openxmlformats.org/drawingml/2006/main">
            <a:r>
              <a:t>Kontrol utama untuk Penjualan Gabungan dan Layar Pasien adalah atomicity transaksi gabungan, pencegahan duplikasi, sinkronisasi status, privasi pasien, polling, dan pemilihan monitor. Penguji melakukan negative check dengan mempertimbangkan data kosong, hak akses tidak memadai, dokumen sudah diproses, batch tidak layak, ketidakseimbangan jurnal, duplikasi kode, dan putus jaringan. Sistem harus menolak atau membatasi tindakan yang tidak sah tanpa menghapus data yang telah benar. Setelah setiap perubahan status, petugas yang berbeda—bila segregasi tugas diwajibkan—membuka data dari sesinya sendiri dan mengonfirmasi hasil. Bukti ideal terdiri dari screenshot sebelum tindakan, respons sesudah tindakan, daftar hasil, dan ringkasan mesin. Dokumen ini menampilkan satu screenshot representatif per kelompok skenario agar setiap gambar dapat diberi narasi dan diagram lengkap; berkas screenshot lain tetap tersedia di folder bukti dalam repository untuk investigasi teknis, namun tidak ditampilkan di badan dokumen agar tidak menimbulkan interpretasi bahwa semua gambar memiliki status integrasi yang sama.</a:t>
            </a:r>
          </a:p>
          <a:p xmlns:a="http://schemas.openxmlformats.org/drawingml/2006/main">
            <a:r>
              <a:t/>
            </a:r>
          </a:p>
          <a:p xmlns:a="http://schemas.openxmlformats.org/drawingml/2006/main">
            <a:r>
              <a:t>Bila terjadi penyimpangan, operator menjalankan prosedur berikut. Pertama, hentikan tindakan lanjutan yang dapat mengubah stok atau keuangan. Kedua, catat kode dokumen, waktu, role, dan pesan kesalahan. Ketiga, muat ulang daftar serta cari kode idempoten yang sama untuk menentukan apakah server sudah menyimpan transaksi. Keempat, bandingkan detail dengan dokumen sumber dan jangan membuat pengganti sebelum status transaksi pertama pasti. Kelima, eskalasikan ke pemilik modul dengan klasifikasi: data master, RBAC, validasi bisnis, integrasi API, tampilan, atau akuntansi. Jika penyimpangan menyentuh pasien, obat, batch, atau kedaluwarsa, apoteker mengambil keputusan keselamatan dan menahan penyerahan bila perlu. Jika menyentuh vendor, tagihan, pembayaran, atau jurnal, keuangan menahan pembayaran/posting dan akuntansi melakukan rekonsiliasi. Seluruh koreksi harus menghasilkan jejak audit baru, bukan menghapus diam-diam riwayat lama.</a:t>
            </a:r>
          </a:p>
          <a:p xmlns:a="http://schemas.openxmlformats.org/drawingml/2006/main">
            <a:r>
              <a:t/>
            </a:r>
          </a:p>
          <a:p xmlns:a="http://schemas.openxmlformats.org/drawingml/2006/main">
            <a:r>
              <a:t>Kriteria penerimaan akhir untuk skenario ini adalah: 100 transaksi gabungan tersimpan utuh, tidak ada lini terputus, dan integrasi layar baru lulus setelah endpoint live menampilkan minimal 50 antrean tersamar serta perubahan status real-time. Setelah kriteria terpenuhi, penguji memberi tanda pada matriks, mencatat bukti, dan meminta sign-off pemilik proses. Untuk penggunaan harian, supervisor sebaiknya menjalankan pemeriksaan awal shift terhadap koneksi, toko aktif, perangkat periferal, role, dan sinkronisasi; pemeriksaan selama shift terhadap transaksi tertahan, stok negatif, batch mendekati kedaluwarsa, antrean, dan dokumen gagal; serta pemeriksaan akhir shift terhadap kas, stok kritis, dokumen pengadaan, pembayaran, jurnal, dan laporan. Pola ini membuat aplikasi berfungsi sebagai sistem pengendalian, bukan hanya alat input. Pada rilis 1.34.23 (build 185), kesimpulan PASS transaksi / PASS komponen / BLOCKED integrasi antrean berlaku untuk lingkungan yang diuji dan tidak otomatis membuktikan kompatibilitas setiap tenant, printer, monitor, kebijakan COA, atau keystore. Retest produksi wajib memakai konfigurasi tujuan dan persetujuan owner.</a:t>
            </a:r>
          </a:p>
          <a:p xmlns:a="http://schemas.openxmlformats.org/drawingml/2006/main">
            <a:r>
              <a:t/>
            </a:r>
          </a:p>
          <a:p xmlns:a="http://schemas.openxmlformats.org/drawingml/2006/main">
            <a:r>
              <a:t>Kriteria penerimaan: 100 transaksi gabungan tersimpan utuh, tidak ada lini terputus, dan integrasi layar baru lulus setelah endpoint live menampilkan minimal 50 antrean tersamar serta perubahan status real-time</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docs/pos-apotik-emedik/uat-v1.34.23/screenshots/06-layar-kedua-obat-jadi-racikan.png</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 ini melengkapi bukti 3. Use case menunjukkan aktor dan tanggung jawab utama. Flowchart memperlihatkan urutan kontrol. ERD/data flow adalah model konseptual, bukan klaim nama tabel fisik. Gate yang tercantum harus dipenuhi sebelum skenario dapat diberi sign-off. Kontrol rinci: atomicity transaksi gabungan, pencegahan duplikasi, sinkronisasi status, privasi pasien, polling, dan pemilihan monitor. Kriteria penerimaan: 100 transaksi gabungan tersimpan utuh, tidak ada lini terputus, dan integrasi layar baru lulus setelah endpoint live menampilkan minimal 50 antrean tersamar serta perubahan status real-time.</a:t>
            </a:r>
          </a:p>
          <a:p xmlns:a="http://schemas.openxmlformats.org/drawingml/2006/main">
            <a:r>
              <a:t/>
            </a:r>
          </a:p>
          <a:p xmlns:a="http://schemas.openxmlformats.org/drawingml/2006/main">
            <a:r>
              <a:t>[Sources]</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Bukti layar untuk Kulakan: PR, PO, BAST, Tagihan, dan Pembayaran dipakai sebagai titik masuk pemeriksaan UAT sekaligus panduan kerja operator. Tujuan pengujian bukan hanya memastikan halaman dapat terbuka, melainkan memastikan rangkaian keputusan, data, otorisasi, dan jejak audit tetap konsisten dari awal sampai akhir. Aktor yang terlibat adalah Peminta, Approver, Gudang, Keuangan. Sebelum memulai, penguji memastikan varian yang tampil adalah POS Apotik, koneksi HTTPS menuju server demo aktif, pengguna berhasil login dengan role yang sesuai, tanggal dan waktu perangkat benar, serta data uji mempunyai penanda rilis agar dapat dibedakan dari transaksi lain pada tenant bersama. Screenshot diambil pada resolusi 1600 × 900 setelah indikator pemuatan selesai. Karena server demo dipakai bersama, jumlah total yang tampak pada dashboard dapat melebihi volume yang dibuat dalam run ini; hasil kelulusan karena itu dihitung dari kode idempoten dan ringkasan API, bukan dari perkiraan visual semata.</a:t>
            </a:r>
          </a:p>
          <a:p xmlns:a="http://schemas.openxmlformats.org/drawingml/2006/main">
            <a:r>
              <a:t/>
            </a:r>
          </a:p>
          <a:p xmlns:a="http://schemas.openxmlformats.org/drawingml/2006/main">
            <a:r>
              <a:t>Cara penggunaan normal mengikuti urutan: PR + justifikasi; Persetujuan; PO ke vendor; BAST &amp; batch; Terima tagihan; Bayar vendor. Operator membaca seluruh label dan nilai sebelum menekan tindakan simpan atau setujui. Kolom wajib tidak boleh diisi dengan nilai acak hanya untuk melewati validasi. Untuk nominal, kuantitas, batch, tanggal, vendor, pasien, dan akun, penguji mencocokkan kembali sumbernya dengan dokumen atau skenario. Setelah penyimpanan, operator menunggu notifikasi sukses, kemudian membuka ulang daftar dan mencari kode uji yang sama. Langkah baca ulang ini penting untuk membuktikan persistensi, bukan sekadar perubahan state sementara pada layar. Jika tombol tidak aktif, aplikasi menampilkan pesan gagal, atau indikator terus berputar, penguji mencatat waktu, menu, kode dokumen, payload relevan tanpa kredensial, dan screenshot. Penguji tidak mengulang simpan dengan kode baru sebelum memastikan apakah permintaan pertama sebenarnya sudah diterima server, karena tindakan tersebut dapat menggandakan transaksi.</a:t>
            </a:r>
          </a:p>
          <a:p xmlns:a="http://schemas.openxmlformats.org/drawingml/2006/main">
            <a:r>
              <a:t/>
            </a:r>
          </a:p>
          <a:p xmlns:a="http://schemas.openxmlformats.org/drawingml/2006/main">
            <a:r>
              <a:t>Data yang diamati dalam skenario ini membentuk aliran konseptual antara PR</a:t>
            </a:r>
          </a:p>
          <a:p xmlns:a="http://schemas.openxmlformats.org/drawingml/2006/main">
            <a:r>
              <a:t>kode, kebutuhan, PO</a:t>
            </a:r>
          </a:p>
          <a:p xmlns:a="http://schemas.openxmlformats.org/drawingml/2006/main">
            <a:r>
              <a:t>vendor, termin, BAST</a:t>
            </a:r>
          </a:p>
          <a:p xmlns:a="http://schemas.openxmlformats.org/drawingml/2006/main">
            <a:r>
              <a:t>qty, mutu, TAGIHAN</a:t>
            </a:r>
          </a:p>
          <a:p xmlns:a="http://schemas.openxmlformats.org/drawingml/2006/main">
            <a:r>
              <a:t>nomor, nilai, PEMBAYARAN</a:t>
            </a:r>
          </a:p>
          <a:p xmlns:a="http://schemas.openxmlformats.org/drawingml/2006/main">
            <a:r>
              <a:t>bukti, jurnal. Hubungan antardata dijaga melalui identitas dokumen, referensi transaksi sumber, detail barang atau akun, dan status proses. Kunci idempoten pada run volume mencegah penciptaan ulang ketika tes diulang setelah gangguan jaringan. Untuk data persediaan, kuantitas tidak boleh hanya dicatat di header; detail batch, tanggal kedaluwarsa, dan sisa stok harus dapat ditelusuri. Untuk data keuangan, jurnal harus membawa referensi dokumen sumber dan pasangan debit-kredit yang seimbang. Untuk data pasien, layar petugas boleh menampilkan informasi operasional yang diperlukan, sedangkan layar publik wajib menggunakan identitas tersamar. Penguji juga memperhatikan bahwa keberhasilan respons HTTP atau status “success” belum selalu membuktikan angka laporan benar; rekonsiliasi nilai terhadap dokumen sumber tetap menjadi acceptance test terpisah.</a:t>
            </a:r>
          </a:p>
          <a:p xmlns:a="http://schemas.openxmlformats.org/drawingml/2006/main">
            <a:r>
              <a:t/>
            </a:r>
          </a:p>
          <a:p xmlns:a="http://schemas.openxmlformats.org/drawingml/2006/main">
            <a:r>
              <a:t>Hasil aktual pada server demo untuk skenario ini adalah: 100 PR, 100 PO, 100 BAST, dan 100 tagihan dengan prefix rilis berhasil dibaca. Seratus pembayaran berhasil disetujui dan dijadikan sumber jurnal, namun filter daftar pembayaran memakai marker yang sama mengembalikan nol sehingga query/filter tersebut dicatat sebagai defect. Dashboard bersama menampilkan total lebih besar dari run ini. Status formalnya PASS alur P2P / defect filter daftar pembayaran. Arti status tersebut harus dibaca secara presisi. PASS berarti operasi yang dinyatakan berhasil benar-benar disimpan atau dirender dan diverifikasi dengan pemeriksaan lanjutan. PASS TAMPILAN hanya berarti komponen dapat digunakan dan difoto, bukan bahwa seluruh endpoint produksi sudah tersedia. BLOCKED berarti prasyarat backend, konfigurasi, atau data master belum mencukupi; blocker tidak boleh disamarkan sebagai kegagalan operator dan juga tidak boleh dianggap lulus. LULUS BERSYARAT berarti jalur utama dapat dipakai untuk UAT atau pilot yang dikendalikan, dengan risiko dan pekerjaan retest yang tercantum. Pemisahan ini menjaga dokumen tetap dapat diaudit dan membantu pemilik proses memutuskan apakah sebuah temuan menahan produksi atau cukup ditangani sebelum go-live.</a:t>
            </a:r>
          </a:p>
          <a:p xmlns:a="http://schemas.openxmlformats.org/drawingml/2006/main">
            <a:r>
              <a:t/>
            </a:r>
          </a:p>
          <a:p xmlns:a="http://schemas.openxmlformats.org/drawingml/2006/main">
            <a:r>
              <a:t>Kontrol utama untuk Kulakan: PR, PO, BAST, Tagihan, dan Pembayaran adalah segregasi tugas, otorisasi anggaran, vendor, qty, mutu, batch, ED, three-way match, bukti transfer, dan pelacakan status. Penguji melakukan negative check dengan mempertimbangkan data kosong, hak akses tidak memadai, dokumen sudah diproses, batch tidak layak, ketidakseimbangan jurnal, duplikasi kode, dan putus jaringan. Sistem harus menolak atau membatasi tindakan yang tidak sah tanpa menghapus data yang telah benar. Setelah setiap perubahan status, petugas yang berbeda—bila segregasi tugas diwajibkan—membuka data dari sesinya sendiri dan mengonfirmasi hasil. Bukti ideal terdiri dari screenshot sebelum tindakan, respons sesudah tindakan, daftar hasil, dan ringkasan mesin. Dokumen ini menampilkan satu screenshot representatif per kelompok skenario agar setiap gambar dapat diberi narasi dan diagram lengkap; berkas screenshot lain tetap tersedia di folder bukti dalam repository untuk investigasi teknis, namun tidak ditampilkan di badan dokumen agar tidak menimbulkan interpretasi bahwa semua gambar memiliki status integrasi yang sama.</a:t>
            </a:r>
          </a:p>
          <a:p xmlns:a="http://schemas.openxmlformats.org/drawingml/2006/main">
            <a:r>
              <a:t/>
            </a:r>
          </a:p>
          <a:p xmlns:a="http://schemas.openxmlformats.org/drawingml/2006/main">
            <a:r>
              <a:t>Bila terjadi penyimpangan, operator menjalankan prosedur berikut. Pertama, hentikan tindakan lanjutan yang dapat mengubah stok atau keuangan. Kedua, catat kode dokumen, waktu, role, dan pesan kesalahan. Ketiga, muat ulang daftar serta cari kode idempoten yang sama untuk menentukan apakah server sudah menyimpan transaksi. Keempat, bandingkan detail dengan dokumen sumber dan jangan membuat pengganti sebelum status transaksi pertama pasti. Kelima, eskalasikan ke pemilik modul dengan klasifikasi: data master, RBAC, validasi bisnis, integrasi API, tampilan, atau akuntansi. Jika penyimpangan menyentuh pasien, obat, batch, atau kedaluwarsa, apoteker mengambil keputusan keselamatan dan menahan penyerahan bila perlu. Jika menyentuh vendor, tagihan, pembayaran, atau jurnal, keuangan menahan pembayaran/posting dan akuntansi melakukan rekonsiliasi. Seluruh koreksi harus menghasilkan jejak audit baru, bukan menghapus diam-diam riwayat lama.</a:t>
            </a:r>
          </a:p>
          <a:p xmlns:a="http://schemas.openxmlformats.org/drawingml/2006/main">
            <a:r>
              <a:t/>
            </a:r>
          </a:p>
          <a:p xmlns:a="http://schemas.openxmlformats.org/drawingml/2006/main">
            <a:r>
              <a:t>Kriteria penerimaan akhir untuk skenario ini adalah: 100 dokumen per tahap terhubung konsisten, tidak ada pembayaran tanpa tagihan disetujui, serta filter pembayaran diperbaiki dan diretest terhadap marker rilis. Setelah kriteria terpenuhi, penguji memberi tanda pada matriks, mencatat bukti, dan meminta sign-off pemilik proses. Untuk penggunaan harian, supervisor sebaiknya menjalankan pemeriksaan awal shift terhadap koneksi, toko aktif, perangkat periferal, role, dan sinkronisasi; pemeriksaan selama shift terhadap transaksi tertahan, stok negatif, batch mendekati kedaluwarsa, antrean, dan dokumen gagal; serta pemeriksaan akhir shift terhadap kas, stok kritis, dokumen pengadaan, pembayaran, jurnal, dan laporan. Pola ini membuat aplikasi berfungsi sebagai sistem pengendalian, bukan hanya alat input. Pada rilis 1.34.23 (build 185), kesimpulan PASS alur P2P / defect filter daftar pembayaran berlaku untuk lingkungan yang diuji dan tidak otomatis membuktikan kompatibilitas setiap tenant, printer, monitor, kebijakan COA, atau keystore. Retest produksi wajib memakai konfigurasi tujuan dan persetujuan owner.</a:t>
            </a:r>
          </a:p>
          <a:p xmlns:a="http://schemas.openxmlformats.org/drawingml/2006/main">
            <a:r>
              <a:t/>
            </a:r>
          </a:p>
          <a:p xmlns:a="http://schemas.openxmlformats.org/drawingml/2006/main">
            <a:r>
              <a:t>Kriteria penerimaan: 100 dokumen per tahap terhubung konsisten, tidak ada pembayaran tanpa tagihan disetujui, serta filter pembayaran diperbaiki dan diretest terhadap marker rilis</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docs/pos-apotik-emedik/uat-v1.34.23/screenshots-pengadaan/02-pr-daftar-50.png</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 ini melengkapi bukti 4. Use case menunjukkan aktor dan tanggung jawab utama. Flowchart memperlihatkan urutan kontrol. ERD/data flow adalah model konseptual, bukan klaim nama tabel fisik. Gate yang tercantum harus dipenuhi sebelum skenario dapat diberi sign-off. Kontrol rinci: segregasi tugas, otorisasi anggaran, vendor, qty, mutu, batch, ED, three-way match, bukti transfer, dan pelacakan status. Kriteria penerimaan: 100 dokumen per tahap terhubung konsisten, tidak ada pembayaran tanpa tagihan disetujui, serta filter pembayaran diperbaiki dan diretest terhadap marker rilis.</a:t>
            </a:r>
          </a:p>
          <a:p xmlns:a="http://schemas.openxmlformats.org/drawingml/2006/main">
            <a:r>
              <a:t/>
            </a:r>
          </a:p>
          <a:p xmlns:a="http://schemas.openxmlformats.org/drawingml/2006/main">
            <a:r>
              <a:t>[Sources]</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Bukti layar untuk Pengelolaan Stok Semua Obat dan Alat Kesehatan dipakai sebagai titik masuk pemeriksaan UAT sekaligus panduan kerja operator. Tujuan pengujian bukan hanya memastikan halaman dapat terbuka, melainkan memastikan rangkaian keputusan, data, otorisasi, dan jejak audit tetap konsisten dari awal sampai akhir. Aktor yang terlibat adalah Petugas gudang, Apoteker, Kasir, Auditor stok. Sebelum memulai, penguji memastikan varian yang tampil adalah POS Apotik, koneksi HTTPS menuju server demo aktif, pengguna berhasil login dengan role yang sesuai, tanggal dan waktu perangkat benar, serta data uji mempunyai penanda rilis agar dapat dibedakan dari transaksi lain pada tenant bersama. Screenshot diambil pada resolusi 1600 × 900 setelah indikator pemuatan selesai. Karena server demo dipakai bersama, jumlah total yang tampak pada dashboard dapat melebihi volume yang dibuat dalam run ini; hasil kelulusan karena itu dihitung dari kode idempoten dan ringkasan API, bukan dari perkiraan visual semata.</a:t>
            </a:r>
          </a:p>
          <a:p xmlns:a="http://schemas.openxmlformats.org/drawingml/2006/main">
            <a:r>
              <a:t/>
            </a:r>
          </a:p>
          <a:p xmlns:a="http://schemas.openxmlformats.org/drawingml/2006/main">
            <a:r>
              <a:t>Cara penggunaan normal mengikuti urutan: Buat/validasi item; Kelompokkan kategori; Terima batch; Mutasi/penjualan; Hitung fisik; Rekonsiliasi selisih. Operator membaca seluruh label dan nilai sebelum menekan tindakan simpan atau setujui. Kolom wajib tidak boleh diisi dengan nilai acak hanya untuk melewati validasi. Untuk nominal, kuantitas, batch, tanggal, vendor, pasien, dan akun, penguji mencocokkan kembali sumbernya dengan dokumen atau skenario. Setelah penyimpanan, operator menunggu notifikasi sukses, kemudian membuka ulang daftar dan mencari kode uji yang sama. Langkah baca ulang ini penting untuk membuktikan persistensi, bukan sekadar perubahan state sementara pada layar. Jika tombol tidak aktif, aplikasi menampilkan pesan gagal, atau indikator terus berputar, penguji mencatat waktu, menu, kode dokumen, payload relevan tanpa kredensial, dan screenshot. Penguji tidak mengulang simpan dengan kode baru sebelum memastikan apakah permintaan pertama sebenarnya sudah diterima server, karena tindakan tersebut dapat menggandakan transaksi.</a:t>
            </a:r>
          </a:p>
          <a:p xmlns:a="http://schemas.openxmlformats.org/drawingml/2006/main">
            <a:r>
              <a:t/>
            </a:r>
          </a:p>
          <a:p xmlns:a="http://schemas.openxmlformats.org/drawingml/2006/main">
            <a:r>
              <a:t>Data yang diamati dalam skenario ini membentuk aliran konseptual antara ITEM</a:t>
            </a:r>
          </a:p>
          <a:p xmlns:a="http://schemas.openxmlformats.org/drawingml/2006/main">
            <a:r>
              <a:t>kode, kategori, BATCH</a:t>
            </a:r>
          </a:p>
          <a:p xmlns:a="http://schemas.openxmlformats.org/drawingml/2006/main">
            <a:r>
              <a:t>lot, ED, MUTASI</a:t>
            </a:r>
          </a:p>
          <a:p xmlns:a="http://schemas.openxmlformats.org/drawingml/2006/main">
            <a:r>
              <a:t>masuk/keluar, LOKASI</a:t>
            </a:r>
          </a:p>
          <a:p xmlns:a="http://schemas.openxmlformats.org/drawingml/2006/main">
            <a:r>
              <a:t>rak, gudang, OPNAME</a:t>
            </a:r>
          </a:p>
          <a:p xmlns:a="http://schemas.openxmlformats.org/drawingml/2006/main">
            <a:r>
              <a:t>fisik, selisih. Hubungan antardata dijaga melalui identitas dokumen, referensi transaksi sumber, detail barang atau akun, dan status proses. Kunci idempoten pada run volume mencegah penciptaan ulang ketika tes diulang setelah gangguan jaringan. Untuk data persediaan, kuantitas tidak boleh hanya dicatat di header; detail batch, tanggal kedaluwarsa, dan sisa stok harus dapat ditelusuri. Untuk data keuangan, jurnal harus membawa referensi dokumen sumber dan pasangan debit-kredit yang seimbang. Untuk data pasien, layar petugas boleh menampilkan informasi operasional yang diperlukan, sedangkan layar publik wajib menggunakan identitas tersamar. Penguji juga memperhatikan bahwa keberhasilan respons HTTP atau status “success” belum selalu membuktikan angka laporan benar; rekonsiliasi nilai terhadap dokumen sumber tetap menjadi acceptance test terpisah.</a:t>
            </a:r>
          </a:p>
          <a:p xmlns:a="http://schemas.openxmlformats.org/drawingml/2006/main">
            <a:r>
              <a:t/>
            </a:r>
          </a:p>
          <a:p xmlns:a="http://schemas.openxmlformats.org/drawingml/2006/main">
            <a:r>
              <a:t>Hasil aktual pada server demo untuk skenario ini adalah: pencarian katalog pada deployment demo hanya mengembalikan dua item dan satu item non-terkendali yang layak dipakai untuk uji transaksi. Provision telah dijalankan, tetapi volume master obat yang diminta belum muncul di endpoint katalog. Uji 100 transaksi tetap dapat dilakukan melalui top-up batch idempoten. Status formalnya BLOCKED data master volume / PASS fungsi stok yang terpakai. Arti status tersebut harus dibaca secara presisi. PASS berarti operasi yang dinyatakan berhasil benar-benar disimpan atau dirender dan diverifikasi dengan pemeriksaan lanjutan. PASS TAMPILAN hanya berarti komponen dapat digunakan dan difoto, bukan bahwa seluruh endpoint produksi sudah tersedia. BLOCKED berarti prasyarat backend, konfigurasi, atau data master belum mencukupi; blocker tidak boleh disamarkan sebagai kegagalan operator dan juga tidak boleh dianggap lulus. LULUS BERSYARAT berarti jalur utama dapat dipakai untuk UAT atau pilot yang dikendalikan, dengan risiko dan pekerjaan retest yang tercantum. Pemisahan ini menjaga dokumen tetap dapat diaudit dan membantu pemilik proses memutuskan apakah sebuah temuan menahan produksi atau cukup ditangani sebelum go-live.</a:t>
            </a:r>
          </a:p>
          <a:p xmlns:a="http://schemas.openxmlformats.org/drawingml/2006/main">
            <a:r>
              <a:t/>
            </a:r>
          </a:p>
          <a:p xmlns:a="http://schemas.openxmlformats.org/drawingml/2006/main">
            <a:r>
              <a:t>Kontrol utama untuk Pengelolaan Stok Semua Obat dan Alat Kesehatan adalah keunikan kode, kategori obat jadi, bahan racikan, alat kesehatan, satuan, batch, FEFO, stok negatif, mutasi, dan stock opname. Penguji melakukan negative check dengan mempertimbangkan data kosong, hak akses tidak memadai, dokumen sudah diproses, batch tidak layak, ketidakseimbangan jurnal, duplikasi kode, dan putus jaringan. Sistem harus menolak atau membatasi tindakan yang tidak sah tanpa menghapus data yang telah benar. Setelah setiap perubahan status, petugas yang berbeda—bila segregasi tugas diwajibkan—membuka data dari sesinya sendiri dan mengonfirmasi hasil. Bukti ideal terdiri dari screenshot sebelum tindakan, respons sesudah tindakan, daftar hasil, dan ringkasan mesin. Dokumen ini menampilkan satu screenshot representatif per kelompok skenario agar setiap gambar dapat diberi narasi dan diagram lengkap; berkas screenshot lain tetap tersedia di folder bukti dalam repository untuk investigasi teknis, namun tidak ditampilkan di badan dokumen agar tidak menimbulkan interpretasi bahwa semua gambar memiliki status integrasi yang sama.</a:t>
            </a:r>
          </a:p>
          <a:p xmlns:a="http://schemas.openxmlformats.org/drawingml/2006/main">
            <a:r>
              <a:t/>
            </a:r>
          </a:p>
          <a:p xmlns:a="http://schemas.openxmlformats.org/drawingml/2006/main">
            <a:r>
              <a:t>Bila terjadi penyimpangan, operator menjalankan prosedur berikut. Pertama, hentikan tindakan lanjutan yang dapat mengubah stok atau keuangan. Kedua, catat kode dokumen, waktu, role, dan pesan kesalahan. Ketiga, muat ulang daftar serta cari kode idempoten yang sama untuk menentukan apakah server sudah menyimpan transaksi. Keempat, bandingkan detail dengan dokumen sumber dan jangan membuat pengganti sebelum status transaksi pertama pasti. Kelima, eskalasikan ke pemilik modul dengan klasifikasi: data master, RBAC, validasi bisnis, integrasi API, tampilan, atau akuntansi. Jika penyimpangan menyentuh pasien, obat, batch, atau kedaluwarsa, apoteker mengambil keputusan keselamatan dan menahan penyerahan bila perlu. Jika menyentuh vendor, tagihan, pembayaran, atau jurnal, keuangan menahan pembayaran/posting dan akuntansi melakukan rekonsiliasi. Seluruh koreksi harus menghasilkan jejak audit baru, bukan menghapus diam-diam riwayat lama.</a:t>
            </a:r>
          </a:p>
          <a:p xmlns:a="http://schemas.openxmlformats.org/drawingml/2006/main">
            <a:r>
              <a:t/>
            </a:r>
          </a:p>
          <a:p xmlns:a="http://schemas.openxmlformats.org/drawingml/2006/main">
            <a:r>
              <a:t>Kriteria penerimaan akhir untuk skenario ini adalah: minimal 100 item lintas kategori tersedia dan dapat ditelusuri per batch/lokasi; mutasi dari penerimaan, penjualan, racikan, retur, dan opname menghasilkan saldo yang dapat direkonsiliasi. Setelah kriteria terpenuhi, penguji memberi tanda pada matriks, mencatat bukti, dan meminta sign-off pemilik proses. Untuk penggunaan harian, supervisor sebaiknya menjalankan pemeriksaan awal shift terhadap koneksi, toko aktif, perangkat periferal, role, dan sinkronisasi; pemeriksaan selama shift terhadap transaksi tertahan, stok negatif, batch mendekati kedaluwarsa, antrean, dan dokumen gagal; serta pemeriksaan akhir shift terhadap kas, stok kritis, dokumen pengadaan, pembayaran, jurnal, dan laporan. Pola ini membuat aplikasi berfungsi sebagai sistem pengendalian, bukan hanya alat input. Pada rilis 1.34.23 (build 185), kesimpulan BLOCKED data master volume / PASS fungsi stok yang terpakai berlaku untuk lingkungan yang diuji dan tidak otomatis membuktikan kompatibilitas setiap tenant, printer, monitor, kebijakan COA, atau keystore. Retest produksi wajib memakai konfigurasi tujuan dan persetujuan owner.</a:t>
            </a:r>
          </a:p>
          <a:p xmlns:a="http://schemas.openxmlformats.org/drawingml/2006/main">
            <a:r>
              <a:t/>
            </a:r>
          </a:p>
          <a:p xmlns:a="http://schemas.openxmlformats.org/drawingml/2006/main">
            <a:r>
              <a:t>Kriteria penerimaan: minimal 100 item lintas kategori tersedia dan dapat ditelusuri per batch/lokasi; mutasi dari penerimaan, penjualan, racikan, retur, dan opname menghasilkan saldo yang dapat direkonsiliasi</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docs/pos-apotik-emedik/uat-v1.34.23/screenshots/03-formularium-obat.png</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 ini melengkapi bukti 5. Use case menunjukkan aktor dan tanggung jawab utama. Flowchart memperlihatkan urutan kontrol. ERD/data flow adalah model konseptual, bukan klaim nama tabel fisik. Gate yang tercantum harus dipenuhi sebelum skenario dapat diberi sign-off. Kontrol rinci: keunikan kode, kategori obat jadi, bahan racikan, alat kesehatan, satuan, batch, FEFO, stok negatif, mutasi, dan stock opname. Kriteria penerimaan: minimal 100 item lintas kategori tersedia dan dapat ditelusuri per batch/lokasi; mutasi dari penerimaan, penjualan, racikan, retur, dan opname menghasilkan saldo yang dapat direkonsiliasi.</a:t>
            </a:r>
          </a:p>
          <a:p xmlns:a="http://schemas.openxmlformats.org/drawingml/2006/main">
            <a:r>
              <a:t/>
            </a:r>
          </a:p>
          <a:p xmlns:a="http://schemas.openxmlformats.org/drawingml/2006/main">
            <a:r>
              <a:t>[Sources]</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Bukti layar untuk Pengelolaan Tanggal Kedaluwarsa dipakai sebagai titik masuk pemeriksaan UAT sekaligus panduan kerja operator. Tujuan pengujian bukan hanya memastikan halaman dapat terbuka, melainkan memastikan rangkaian keputusan, data, otorisasi, dan jejak audit tetap konsisten dari awal sampai akhir. Aktor yang terlibat adalah Sistem, Gudang, Apoteker, Supervisor. Sebelum memulai, penguji memastikan varian yang tampil adalah POS Apotik, koneksi HTTPS menuju server demo aktif, pengguna berhasil login dengan role yang sesuai, tanggal dan waktu perangkat benar, serta data uji mempunyai penanda rilis agar dapat dibedakan dari transaksi lain pada tenant bersama. Screenshot diambil pada resolusi 1600 × 900 setelah indikator pemuatan selesai. Karena server demo dipakai bersama, jumlah total yang tampak pada dashboard dapat melebihi volume yang dibuat dalam run ini; hasil kelulusan karena itu dihitung dari kode idempoten dan ringkasan API, bukan dari perkiraan visual semata.</a:t>
            </a:r>
          </a:p>
          <a:p xmlns:a="http://schemas.openxmlformats.org/drawingml/2006/main">
            <a:r>
              <a:t/>
            </a:r>
          </a:p>
          <a:p xmlns:a="http://schemas.openxmlformats.org/drawingml/2006/main">
            <a:r>
              <a:t>Cara penggunaan normal mengikuti urutan: Terima lot; Validasi ED; Simpan batch; Pantau horizon; Karantina jika tidak layak; Retur/musnahkan. Operator membaca seluruh label dan nilai sebelum menekan tindakan simpan atau setujui. Kolom wajib tidak boleh diisi dengan nilai acak hanya untuk melewati validasi. Untuk nominal, kuantitas, batch, tanggal, vendor, pasien, dan akun, penguji mencocokkan kembali sumbernya dengan dokumen atau skenario. Setelah penyimpanan, operator menunggu notifikasi sukses, kemudian membuka ulang daftar dan mencari kode uji yang sama. Langkah baca ulang ini penting untuk membuktikan persistensi, bukan sekadar perubahan state sementara pada layar. Jika tombol tidak aktif, aplikasi menampilkan pesan gagal, atau indikator terus berputar, penguji mencatat waktu, menu, kode dokumen, payload relevan tanpa kredensial, dan screenshot. Penguji tidak mengulang simpan dengan kode baru sebelum memastikan apakah permintaan pertama sebenarnya sudah diterima server, karena tindakan tersebut dapat menggandakan transaksi.</a:t>
            </a:r>
          </a:p>
          <a:p xmlns:a="http://schemas.openxmlformats.org/drawingml/2006/main">
            <a:r>
              <a:t/>
            </a:r>
          </a:p>
          <a:p xmlns:a="http://schemas.openxmlformats.org/drawingml/2006/main">
            <a:r>
              <a:t>Data yang diamati dalam skenario ini membentuk aliran konseptual antara ITEM</a:t>
            </a:r>
          </a:p>
          <a:p xmlns:a="http://schemas.openxmlformats.org/drawingml/2006/main">
            <a:r>
              <a:t>kode, BATCH</a:t>
            </a:r>
          </a:p>
          <a:p xmlns:a="http://schemas.openxmlformats.org/drawingml/2006/main">
            <a:r>
              <a:t>lot, ED, ALERT</a:t>
            </a:r>
          </a:p>
          <a:p xmlns:a="http://schemas.openxmlformats.org/drawingml/2006/main">
            <a:r>
              <a:t>horizon, status, KARANTINA</a:t>
            </a:r>
          </a:p>
          <a:p xmlns:a="http://schemas.openxmlformats.org/drawingml/2006/main">
            <a:r>
              <a:t>alasan, DISPOSISI</a:t>
            </a:r>
          </a:p>
          <a:p xmlns:a="http://schemas.openxmlformats.org/drawingml/2006/main">
            <a:r>
              <a:t>retur/musnah. Hubungan antardata dijaga melalui identitas dokumen, referensi transaksi sumber, detail barang atau akun, dan status proses. Kunci idempoten pada run volume mencegah penciptaan ulang ketika tes diulang setelah gangguan jaringan. Untuk data persediaan, kuantitas tidak boleh hanya dicatat di header; detail batch, tanggal kedaluwarsa, dan sisa stok harus dapat ditelusuri. Untuk data keuangan, jurnal harus membawa referensi dokumen sumber dan pasangan debit-kredit yang seimbang. Untuk data pasien, layar petugas boleh menampilkan informasi operasional yang diperlukan, sedangkan layar publik wajib menggunakan identitas tersamar. Penguji juga memperhatikan bahwa keberhasilan respons HTTP atau status “success” belum selalu membuktikan angka laporan benar; rekonsiliasi nilai terhadap dokumen sumber tetap menjadi acceptance test terpisah.</a:t>
            </a:r>
          </a:p>
          <a:p xmlns:a="http://schemas.openxmlformats.org/drawingml/2006/main">
            <a:r>
              <a:t/>
            </a:r>
          </a:p>
          <a:p xmlns:a="http://schemas.openxmlformats.org/drawingml/2006/main">
            <a:r>
              <a:t>Hasil aktual pada server demo untuk skenario ini adalah: monitor batch dan laporan kedaluwarsa berhasil diakses; run akhir mendeteksi setidaknya satu batch kedaluwarsa ketika memilih batch uji dan laporan API mengembalikan baris data. Algoritme kemudian memilih batch aktif dengan sisa tertinggi untuk mencegah false failure akibat batch FEFO yang hampir habis. Status formalnya PASS monitoring / perlu sign-off SOP disposisi. Arti status tersebut harus dibaca secara presisi. PASS berarti operasi yang dinyatakan berhasil benar-benar disimpan atau dirender dan diverifikasi dengan pemeriksaan lanjutan. PASS TAMPILAN hanya berarti komponen dapat digunakan dan difoto, bukan bahwa seluruh endpoint produksi sudah tersedia. BLOCKED berarti prasyarat backend, konfigurasi, atau data master belum mencukupi; blocker tidak boleh disamarkan sebagai kegagalan operator dan juga tidak boleh dianggap lulus. LULUS BERSYARAT berarti jalur utama dapat dipakai untuk UAT atau pilot yang dikendalikan, dengan risiko dan pekerjaan retest yang tercantum. Pemisahan ini menjaga dokumen tetap dapat diaudit dan membantu pemilik proses memutuskan apakah sebuah temuan menahan produksi atau cukup ditangani sebelum go-live.</a:t>
            </a:r>
          </a:p>
          <a:p xmlns:a="http://schemas.openxmlformats.org/drawingml/2006/main">
            <a:r>
              <a:t/>
            </a:r>
          </a:p>
          <a:p xmlns:a="http://schemas.openxmlformats.org/drawingml/2006/main">
            <a:r>
              <a:t>Kontrol utama untuk Pengelolaan Tanggal Kedaluwarsa adalah format tanggal, zona waktu, horizon peringatan, FEFO, larangan batch lewat ED, karantina, otorisasi retur/pemusnahan, dan audit trail. Penguji melakukan negative check dengan mempertimbangkan data kosong, hak akses tidak memadai, dokumen sudah diproses, batch tidak layak, ketidakseimbangan jurnal, duplikasi kode, dan putus jaringan. Sistem harus menolak atau membatasi tindakan yang tidak sah tanpa menghapus data yang telah benar. Setelah setiap perubahan status, petugas yang berbeda—bila segregasi tugas diwajibkan—membuka data dari sesinya sendiri dan mengonfirmasi hasil. Bukti ideal terdiri dari screenshot sebelum tindakan, respons sesudah tindakan, daftar hasil, dan ringkasan mesin. Dokumen ini menampilkan satu screenshot representatif per kelompok skenario agar setiap gambar dapat diberi narasi dan diagram lengkap; berkas screenshot lain tetap tersedia di folder bukti dalam repository untuk investigasi teknis, namun tidak ditampilkan di badan dokumen agar tidak menimbulkan interpretasi bahwa semua gambar memiliki status integrasi yang sama.</a:t>
            </a:r>
          </a:p>
          <a:p xmlns:a="http://schemas.openxmlformats.org/drawingml/2006/main">
            <a:r>
              <a:t/>
            </a:r>
          </a:p>
          <a:p xmlns:a="http://schemas.openxmlformats.org/drawingml/2006/main">
            <a:r>
              <a:t>Bila terjadi penyimpangan, operator menjalankan prosedur berikut. Pertama, hentikan tindakan lanjutan yang dapat mengubah stok atau keuangan. Kedua, catat kode dokumen, waktu, role, dan pesan kesalahan. Ketiga, muat ulang daftar serta cari kode idempoten yang sama untuk menentukan apakah server sudah menyimpan transaksi. Keempat, bandingkan detail dengan dokumen sumber dan jangan membuat pengganti sebelum status transaksi pertama pasti. Kelima, eskalasikan ke pemilik modul dengan klasifikasi: data master, RBAC, validasi bisnis, integrasi API, tampilan, atau akuntansi. Jika penyimpangan menyentuh pasien, obat, batch, atau kedaluwarsa, apoteker mengambil keputusan keselamatan dan menahan penyerahan bila perlu. Jika menyentuh vendor, tagihan, pembayaran, atau jurnal, keuangan menahan pembayaran/posting dan akuntansi melakukan rekonsiliasi. Seluruh koreksi harus menghasilkan jejak audit baru, bukan menghapus diam-diam riwayat lama.</a:t>
            </a:r>
          </a:p>
          <a:p xmlns:a="http://schemas.openxmlformats.org/drawingml/2006/main">
            <a:r>
              <a:t/>
            </a:r>
          </a:p>
          <a:p xmlns:a="http://schemas.openxmlformats.org/drawingml/2006/main">
            <a:r>
              <a:t>Kriteria penerimaan akhir untuk skenario ini adalah: batch kedaluwarsa selalu ditolak dari transaksi, batch mendekati ED tampil dalam monitoring, dan setiap disposisi mempunyai alasan, jumlah, petugas, persetujuan, serta bukti. Setelah kriteria terpenuhi, penguji memberi tanda pada matriks, mencatat bukti, dan meminta sign-off pemilik proses. Untuk penggunaan harian, supervisor sebaiknya menjalankan pemeriksaan awal shift terhadap koneksi, toko aktif, perangkat periferal, role, dan sinkronisasi; pemeriksaan selama shift terhadap transaksi tertahan, stok negatif, batch mendekati kedaluwarsa, antrean, dan dokumen gagal; serta pemeriksaan akhir shift terhadap kas, stok kritis, dokumen pengadaan, pembayaran, jurnal, dan laporan. Pola ini membuat aplikasi berfungsi sebagai sistem pengendalian, bukan hanya alat input. Pada rilis 1.34.23 (build 185), kesimpulan PASS monitoring / perlu sign-off SOP disposisi berlaku untuk lingkungan yang diuji dan tidak otomatis membuktikan kompatibilitas setiap tenant, printer, monitor, kebijakan COA, atau keystore. Retest produksi wajib memakai konfigurasi tujuan dan persetujuan owner.</a:t>
            </a:r>
          </a:p>
          <a:p xmlns:a="http://schemas.openxmlformats.org/drawingml/2006/main">
            <a:r>
              <a:t/>
            </a:r>
          </a:p>
          <a:p xmlns:a="http://schemas.openxmlformats.org/drawingml/2006/main">
            <a:r>
              <a:t>Kriteria penerimaan: batch kedaluwarsa selalu ditolak dari transaksi, batch mendekati ED tampil dalam monitoring, dan setiap disposisi mempunyai alasan, jumlah, petugas, persetujuan, serta bukti</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docs/pos-apotik-emedik/uat-v1.34.23/screenshots/04-batch-kedaluwarsa.png</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 ini melengkapi bukti 6. Use case menunjukkan aktor dan tanggung jawab utama. Flowchart memperlihatkan urutan kontrol. ERD/data flow adalah model konseptual, bukan klaim nama tabel fisik. Gate yang tercantum harus dipenuhi sebelum skenario dapat diberi sign-off. Kontrol rinci: format tanggal, zona waktu, horizon peringatan, FEFO, larangan batch lewat ED, karantina, otorisasi retur/pemusnahan, dan audit trail. Kriteria penerimaan: batch kedaluwarsa selalu ditolak dari transaksi, batch mendekati ED tampil dalam monitoring, dan setiap disposisi mempunyai alasan, jumlah, petugas, persetujuan, serta bukti.</a:t>
            </a:r>
          </a:p>
          <a:p xmlns:a="http://schemas.openxmlformats.org/drawingml/2006/main">
            <a:r>
              <a:t/>
            </a:r>
          </a:p>
          <a:p xmlns:a="http://schemas.openxmlformats.org/drawingml/2006/main">
            <a:r>
              <a:t>[Sources]</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Bukti layar untuk Akuntansi: Jurnal dan Posting dipakai sebagai titik masuk pemeriksaan UAT sekaligus panduan kerja operator. Tujuan pengujian bukan hanya memastikan halaman dapat terbuka, melainkan memastikan rangkaian keputusan, data, otorisasi, dan jejak audit tetap konsisten dari awal sampai akhir. Aktor yang terlibat adalah Keuangan, Akuntan, Approver, Auditor. Sebelum memulai, penguji memastikan varian yang tampil adalah POS Apotik, koneksi HTTPS menuju server demo aktif, pengguna berhasil login dengan role yang sesuai, tanggal dan waktu perangkat benar, serta data uji mempunyai penanda rilis agar dapat dibedakan dari transaksi lain pada tenant bersama. Screenshot diambil pada resolusi 1600 × 900 setelah indikator pemuatan selesai. Karena server demo dipakai bersama, jumlah total yang tampak pada dashboard dapat melebihi volume yang dibuat dalam run ini; hasil kelulusan karena itu dihitung dari kode idempoten dan ringkasan API, bukan dari perkiraan visual semata.</a:t>
            </a:r>
          </a:p>
          <a:p xmlns:a="http://schemas.openxmlformats.org/drawingml/2006/main">
            <a:r>
              <a:t/>
            </a:r>
          </a:p>
          <a:p xmlns:a="http://schemas.openxmlformats.org/drawingml/2006/main">
            <a:r>
              <a:t>Cara penggunaan normal mengikuti urutan: Dokumen sumber; Preview/mapping akun; Jurnal draf; Validasi seimbang; Posting; Rekonsiliasi. Operator membaca seluruh label dan nilai sebelum menekan tindakan simpan atau setujui. Kolom wajib tidak boleh diisi dengan nilai acak hanya untuk melewati validasi. Untuk nominal, kuantitas, batch, tanggal, vendor, pasien, dan akun, penguji mencocokkan kembali sumbernya dengan dokumen atau skenario. Setelah penyimpanan, operator menunggu notifikasi sukses, kemudian membuka ulang daftar dan mencari kode uji yang sama. Langkah baca ulang ini penting untuk membuktikan persistensi, bukan sekadar perubahan state sementara pada layar. Jika tombol tidak aktif, aplikasi menampilkan pesan gagal, atau indikator terus berputar, penguji mencatat waktu, menu, kode dokumen, payload relevan tanpa kredensial, dan screenshot. Penguji tidak mengulang simpan dengan kode baru sebelum memastikan apakah permintaan pertama sebenarnya sudah diterima server, karena tindakan tersebut dapat menggandakan transaksi.</a:t>
            </a:r>
          </a:p>
          <a:p xmlns:a="http://schemas.openxmlformats.org/drawingml/2006/main">
            <a:r>
              <a:t/>
            </a:r>
          </a:p>
          <a:p xmlns:a="http://schemas.openxmlformats.org/drawingml/2006/main">
            <a:r>
              <a:t>Data yang diamati dalam skenario ini membentuk aliran konseptual antara DOKUMEN SUMBER</a:t>
            </a:r>
          </a:p>
          <a:p xmlns:a="http://schemas.openxmlformats.org/drawingml/2006/main">
            <a:r>
              <a:t>pembayaran, JURNAL</a:t>
            </a:r>
          </a:p>
          <a:p xmlns:a="http://schemas.openxmlformats.org/drawingml/2006/main">
            <a:r>
              <a:t>tanggal, referensi, DETAIL JURNAL</a:t>
            </a:r>
          </a:p>
          <a:p xmlns:a="http://schemas.openxmlformats.org/drawingml/2006/main">
            <a:r>
              <a:t>akun, D/K, BUKU BESAR</a:t>
            </a:r>
          </a:p>
          <a:p xmlns:a="http://schemas.openxmlformats.org/drawingml/2006/main">
            <a:r>
              <a:t>posting, AUDIT</a:t>
            </a:r>
          </a:p>
          <a:p xmlns:a="http://schemas.openxmlformats.org/drawingml/2006/main">
            <a:r>
              <a:t>user, waktu. Hubungan antardata dijaga melalui identitas dokumen, referensi transaksi sumber, detail barang atau akun, dan status proses. Kunci idempoten pada run volume mencegah penciptaan ulang ketika tes diulang setelah gangguan jaringan. Untuk data persediaan, kuantitas tidak boleh hanya dicatat di header; detail batch, tanggal kedaluwarsa, dan sisa stok harus dapat ditelusuri. Untuk data keuangan, jurnal harus membawa referensi dokumen sumber dan pasangan debit-kredit yang seimbang. Untuk data pasien, layar petugas boleh menampilkan informasi operasional yang diperlukan, sedangkan layar publik wajib menggunakan identitas tersamar. Penguji juga memperhatikan bahwa keberhasilan respons HTTP atau status “success” belum selalu membuktikan angka laporan benar; rekonsiliasi nilai terhadap dokumen sumber tetap menjadi acceptance test terpisah.</a:t>
            </a:r>
          </a:p>
          <a:p xmlns:a="http://schemas.openxmlformats.org/drawingml/2006/main">
            <a:r>
              <a:t/>
            </a:r>
          </a:p>
          <a:p xmlns:a="http://schemas.openxmlformats.org/drawingml/2006/main">
            <a:r>
              <a:t>Hasil aktual pada server demo untuk skenario ini adalah: 100 pembayaran vendor diperiksa, 100 jurnal dibuat, 100 diposting pada run, dan 100 diverifikasi terposting. Mapping UAT memakai debit 310.500 HUTANG VENDOR dan kredit 111.101 KAS YAYASAN. Dashboard tenant bersama kemudian menampilkan 777 draf, 151 posted, total 928; angka dashboard tidak semuanya berasal dari run ini. Status formalnya PASS jurnal vendor / BLOCKED posting otomatis tertentu. Arti status tersebut harus dibaca secara presisi. PASS berarti operasi yang dinyatakan berhasil benar-benar disimpan atau dirender dan diverifikasi dengan pemeriksaan lanjutan. PASS TAMPILAN hanya berarti komponen dapat digunakan dan difoto, bukan bahwa seluruh endpoint produksi sudah tersedia. BLOCKED berarti prasyarat backend, konfigurasi, atau data master belum mencukupi; blocker tidak boleh disamarkan sebagai kegagalan operator dan juga tidak boleh dianggap lulus. LULUS BERSYARAT berarti jalur utama dapat dipakai untuk UAT atau pilot yang dikendalikan, dengan risiko dan pekerjaan retest yang tercantum. Pemisahan ini menjaga dokumen tetap dapat diaudit dan membantu pemilik proses memutuskan apakah sebuah temuan menahan produksi atau cukup ditangani sebelum go-live.</a:t>
            </a:r>
          </a:p>
          <a:p xmlns:a="http://schemas.openxmlformats.org/drawingml/2006/main">
            <a:r>
              <a:t/>
            </a:r>
          </a:p>
          <a:p xmlns:a="http://schemas.openxmlformats.org/drawingml/2006/main">
            <a:r>
              <a:t>Kontrol utama untuk Akuntansi: Jurnal dan Posting adalah pemetaan COA, keseimbangan, periode, approval, referensi sumber, pencegahan posting ganda, reversal, dan rekonsiliasi. Penguji melakukan negative check dengan mempertimbangkan data kosong, hak akses tidak memadai, dokumen sudah diproses, batch tidak layak, ketidakseimbangan jurnal, duplikasi kode, dan putus jaringan. Sistem harus menolak atau membatasi tindakan yang tidak sah tanpa menghapus data yang telah benar. Setelah setiap perubahan status, petugas yang berbeda—bila segregasi tugas diwajibkan—membuka data dari sesinya sendiri dan mengonfirmasi hasil. Bukti ideal terdiri dari screenshot sebelum tindakan, respons sesudah tindakan, daftar hasil, dan ringkasan mesin. Dokumen ini menampilkan satu screenshot representatif per kelompok skenario agar setiap gambar dapat diberi narasi dan diagram lengkap; berkas screenshot lain tetap tersedia di folder bukti dalam repository untuk investigasi teknis, namun tidak ditampilkan di badan dokumen agar tidak menimbulkan interpretasi bahwa semua gambar memiliki status integrasi yang sama.</a:t>
            </a:r>
          </a:p>
          <a:p xmlns:a="http://schemas.openxmlformats.org/drawingml/2006/main">
            <a:r>
              <a:t/>
            </a:r>
          </a:p>
          <a:p xmlns:a="http://schemas.openxmlformats.org/drawingml/2006/main">
            <a:r>
              <a:t>Bila terjadi penyimpangan, operator menjalankan prosedur berikut. Pertama, hentikan tindakan lanjutan yang dapat mengubah stok atau keuangan. Kedua, catat kode dokumen, waktu, role, dan pesan kesalahan. Ketiga, muat ulang daftar serta cari kode idempoten yang sama untuk menentukan apakah server sudah menyimpan transaksi. Keempat, bandingkan detail dengan dokumen sumber dan jangan membuat pengganti sebelum status transaksi pertama pasti. Kelima, eskalasikan ke pemilik modul dengan klasifikasi: data master, RBAC, validasi bisnis, integrasi API, tampilan, atau akuntansi. Jika penyimpangan menyentuh pasien, obat, batch, atau kedaluwarsa, apoteker mengambil keputusan keselamatan dan menahan penyerahan bila perlu. Jika menyentuh vendor, tagihan, pembayaran, atau jurnal, keuangan menahan pembayaran/posting dan akuntansi melakukan rekonsiliasi. Seluruh koreksi harus menghasilkan jejak audit baru, bukan menghapus diam-diam riwayat lama.</a:t>
            </a:r>
          </a:p>
          <a:p xmlns:a="http://schemas.openxmlformats.org/drawingml/2006/main">
            <a:r>
              <a:t/>
            </a:r>
          </a:p>
          <a:p xmlns:a="http://schemas.openxmlformats.org/drawingml/2006/main">
            <a:r>
              <a:t>Kriteria penerimaan akhir untuk skenario ini adalah: 100 jurnal berstatus posted satu kali, total debit sama dengan kredit, akun sesuai workbook, dan buku besar dapat menelusuri kembali pembayaran vendor. Setelah kriteria terpenuhi, penguji memberi tanda pada matriks, mencatat bukti, dan meminta sign-off pemilik proses. Untuk penggunaan harian, supervisor sebaiknya menjalankan pemeriksaan awal shift terhadap koneksi, toko aktif, perangkat periferal, role, dan sinkronisasi; pemeriksaan selama shift terhadap transaksi tertahan, stok negatif, batch mendekati kedaluwarsa, antrean, dan dokumen gagal; serta pemeriksaan akhir shift terhadap kas, stok kritis, dokumen pengadaan, pembayaran, jurnal, dan laporan. Pola ini membuat aplikasi berfungsi sebagai sistem pengendalian, bukan hanya alat input. Pada rilis 1.34.23 (build 185), kesimpulan PASS jurnal vendor / BLOCKED posting otomatis tertentu berlaku untuk lingkungan yang diuji dan tidak otomatis membuktikan kompatibilitas setiap tenant, printer, monitor, kebijakan COA, atau keystore. Retest produksi wajib memakai konfigurasi tujuan dan persetujuan owner.</a:t>
            </a:r>
          </a:p>
          <a:p xmlns:a="http://schemas.openxmlformats.org/drawingml/2006/main">
            <a:r>
              <a:t/>
            </a:r>
          </a:p>
          <a:p xmlns:a="http://schemas.openxmlformats.org/drawingml/2006/main">
            <a:r>
              <a:t>Kriteria penerimaan: 100 jurnal berstatus posted satu kali, total debit sama dengan kredit, akun sesuai workbook, dan buku besar dapat menelusuri kembali pembayaran vendor</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docs/pos-apotik-emedik/uat-v1.34.23/screenshots-akuntansi/08-draft-jurnal.png</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 ini melengkapi bukti 7. Use case menunjukkan aktor dan tanggung jawab utama. Flowchart memperlihatkan urutan kontrol. ERD/data flow adalah model konseptual, bukan klaim nama tabel fisik. Gate yang tercantum harus dipenuhi sebelum skenario dapat diberi sign-off. Kontrol rinci: pemetaan COA, keseimbangan, periode, approval, referensi sumber, pencegahan posting ganda, reversal, dan rekonsiliasi. Kriteria penerimaan: 100 jurnal berstatus posted satu kali, total debit sama dengan kredit, akun sesuai workbook, dan buku besar dapat menelusuri kembali pembayaran vendor.</a:t>
            </a:r>
          </a:p>
          <a:p xmlns:a="http://schemas.openxmlformats.org/drawingml/2006/main">
            <a:r>
              <a:t/>
            </a:r>
          </a:p>
          <a:p xmlns:a="http://schemas.openxmlformats.org/drawingml/2006/main">
            <a:r>
              <a:t>[Sources]</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Bukti layar untuk Laporan Penjualan dan Kulakan dipakai sebagai titik masuk pemeriksaan UAT sekaligus panduan kerja operator. Tujuan pengujian bukan hanya memastikan halaman dapat terbuka, melainkan memastikan rangkaian keputusan, data, otorisasi, dan jejak audit tetap konsisten dari awal sampai akhir. Aktor yang terlibat adalah Supervisor Apotik, Procurement, Keuangan, Auditor. Sebelum memulai, penguji memastikan varian yang tampil adalah POS Apotik, koneksi HTTPS menuju server demo aktif, pengguna berhasil login dengan role yang sesuai, tanggal dan waktu perangkat benar, serta data uji mempunyai penanda rilis agar dapat dibedakan dari transaksi lain pada tenant bersama. Screenshot diambil pada resolusi 1600 × 900 setelah indikator pemuatan selesai. Karena server demo dipakai bersama, jumlah total yang tampak pada dashboard dapat melebihi volume yang dibuat dalam run ini; hasil kelulusan karena itu dihitung dari kode idempoten dan ringkasan API, bukan dari perkiraan visual semata.</a:t>
            </a:r>
          </a:p>
          <a:p xmlns:a="http://schemas.openxmlformats.org/drawingml/2006/main">
            <a:r>
              <a:t/>
            </a:r>
          </a:p>
          <a:p xmlns:a="http://schemas.openxmlformats.org/drawingml/2006/main">
            <a:r>
              <a:t>Cara penggunaan normal mengikuti urutan: Pilih laporan; Atur periode; Terapkan filter; Tampilkan agregat; Drill-down dokumen; Ekspor/rekonsiliasi. Operator membaca seluruh label dan nilai sebelum menekan tindakan simpan atau setujui. Kolom wajib tidak boleh diisi dengan nilai acak hanya untuk melewati validasi. Untuk nominal, kuantitas, batch, tanggal, vendor, pasien, dan akun, penguji mencocokkan kembali sumbernya dengan dokumen atau skenario. Setelah penyimpanan, operator menunggu notifikasi sukses, kemudian membuka ulang daftar dan mencari kode uji yang sama. Langkah baca ulang ini penting untuk membuktikan persistensi, bukan sekadar perubahan state sementara pada layar. Jika tombol tidak aktif, aplikasi menampilkan pesan gagal, atau indikator terus berputar, penguji mencatat waktu, menu, kode dokumen, payload relevan tanpa kredensial, dan screenshot. Penguji tidak mengulang simpan dengan kode baru sebelum memastikan apakah permintaan pertama sebenarnya sudah diterima server, karena tindakan tersebut dapat menggandakan transaksi.</a:t>
            </a:r>
          </a:p>
          <a:p xmlns:a="http://schemas.openxmlformats.org/drawingml/2006/main">
            <a:r>
              <a:t/>
            </a:r>
          </a:p>
          <a:p xmlns:a="http://schemas.openxmlformats.org/drawingml/2006/main">
            <a:r>
              <a:t>Data yang diamati dalam skenario ini membentuk aliran konseptual antara PENJUALAN</a:t>
            </a:r>
          </a:p>
          <a:p xmlns:a="http://schemas.openxmlformats.org/drawingml/2006/main">
            <a:r>
              <a:t>header/detail, PENGADAAN</a:t>
            </a:r>
          </a:p>
          <a:p xmlns:a="http://schemas.openxmlformats.org/drawingml/2006/main">
            <a:r>
              <a:t>PR-PO-BAST, FILTER</a:t>
            </a:r>
          </a:p>
          <a:p xmlns:a="http://schemas.openxmlformats.org/drawingml/2006/main">
            <a:r>
              <a:t>periode/toko, AGREGAT</a:t>
            </a:r>
          </a:p>
          <a:p xmlns:a="http://schemas.openxmlformats.org/drawingml/2006/main">
            <a:r>
              <a:t>qty/nilai, EKSPOR</a:t>
            </a:r>
          </a:p>
          <a:p xmlns:a="http://schemas.openxmlformats.org/drawingml/2006/main">
            <a:r>
              <a:t>rekonsiliasi. Hubungan antardata dijaga melalui identitas dokumen, referensi transaksi sumber, detail barang atau akun, dan status proses. Kunci idempoten pada run volume mencegah penciptaan ulang ketika tes diulang setelah gangguan jaringan. Untuk data persediaan, kuantitas tidak boleh hanya dicatat di header; detail batch, tanggal kedaluwarsa, dan sisa stok harus dapat ditelusuri. Untuk data keuangan, jurnal harus membawa referensi dokumen sumber dan pasangan debit-kredit yang seimbang. Untuk data pasien, layar petugas boleh menampilkan informasi operasional yang diperlukan, sedangkan layar publik wajib menggunakan identitas tersamar. Penguji juga memperhatikan bahwa keberhasilan respons HTTP atau status “success” belum selalu membuktikan angka laporan benar; rekonsiliasi nilai terhadap dokumen sumber tetap menjadi acceptance test terpisah.</a:t>
            </a:r>
          </a:p>
          <a:p xmlns:a="http://schemas.openxmlformats.org/drawingml/2006/main">
            <a:r>
              <a:t/>
            </a:r>
          </a:p>
          <a:p xmlns:a="http://schemas.openxmlformats.org/drawingml/2006/main">
            <a:r>
              <a:t>Hasil aktual pada server demo untuk skenario ini adalah: endpoint laporan penjualan mengembalikan status success tetapi nol baris setelah 300 transaksi UAT; hal ini dicatat sebagai defect data/reporting, bukan PASS angka. Dashboard PR/PO/BAST/tagihan berhasil menunjukkan data pengadaan volume dan katalog laporan dapat dibuka. Status formalnya PASS akses layar / BLOCKED validasi isi laporan penjualan. Arti status tersebut harus dibaca secara presisi. PASS berarti operasi yang dinyatakan berhasil benar-benar disimpan atau dirender dan diverifikasi dengan pemeriksaan lanjutan. PASS TAMPILAN hanya berarti komponen dapat digunakan dan difoto, bukan bahwa seluruh endpoint produksi sudah tersedia. BLOCKED berarti prasyarat backend, konfigurasi, atau data master belum mencukupi; blocker tidak boleh disamarkan sebagai kegagalan operator dan juga tidak boleh dianggap lulus. LULUS BERSYARAT berarti jalur utama dapat dipakai untuk UAT atau pilot yang dikendalikan, dengan risiko dan pekerjaan retest yang tercantum. Pemisahan ini menjaga dokumen tetap dapat diaudit dan membantu pemilik proses memutuskan apakah sebuah temuan menahan produksi atau cukup ditangani sebelum go-live.</a:t>
            </a:r>
          </a:p>
          <a:p xmlns:a="http://schemas.openxmlformats.org/drawingml/2006/main">
            <a:r>
              <a:t/>
            </a:r>
          </a:p>
          <a:p xmlns:a="http://schemas.openxmlformats.org/drawingml/2006/main">
            <a:r>
              <a:t>Kontrol utama untuk Laporan Penjualan dan Kulakan adalah cut-off, status final, void/retur, diskon, pajak, COGS, vendor, toko, pagination, total, drill-down, dan konsistensi ekspor. Penguji melakukan negative check dengan mempertimbangkan data kosong, hak akses tidak memadai, dokumen sudah diproses, batch tidak layak, ketidakseimbangan jurnal, duplikasi kode, dan putus jaringan. Sistem harus menolak atau membatasi tindakan yang tidak sah tanpa menghapus data yang telah benar. Setelah setiap perubahan status, petugas yang berbeda—bila segregasi tugas diwajibkan—membuka data dari sesinya sendiri dan mengonfirmasi hasil. Bukti ideal terdiri dari screenshot sebelum tindakan, respons sesudah tindakan, daftar hasil, dan ringkasan mesin. Dokumen ini menampilkan satu screenshot representatif per kelompok skenario agar setiap gambar dapat diberi narasi dan diagram lengkap; berkas screenshot lain tetap tersedia di folder bukti dalam repository untuk investigasi teknis, namun tidak ditampilkan di badan dokumen agar tidak menimbulkan interpretasi bahwa semua gambar memiliki status integrasi yang sama.</a:t>
            </a:r>
          </a:p>
          <a:p xmlns:a="http://schemas.openxmlformats.org/drawingml/2006/main">
            <a:r>
              <a:t/>
            </a:r>
          </a:p>
          <a:p xmlns:a="http://schemas.openxmlformats.org/drawingml/2006/main">
            <a:r>
              <a:t>Bila terjadi penyimpangan, operator menjalankan prosedur berikut. Pertama, hentikan tindakan lanjutan yang dapat mengubah stok atau keuangan. Kedua, catat kode dokumen, waktu, role, dan pesan kesalahan. Ketiga, muat ulang daftar serta cari kode idempoten yang sama untuk menentukan apakah server sudah menyimpan transaksi. Keempat, bandingkan detail dengan dokumen sumber dan jangan membuat pengganti sebelum status transaksi pertama pasti. Kelima, eskalasikan ke pemilik modul dengan klasifikasi: data master, RBAC, validasi bisnis, integrasi API, tampilan, atau akuntansi. Jika penyimpangan menyentuh pasien, obat, batch, atau kedaluwarsa, apoteker mengambil keputusan keselamatan dan menahan penyerahan bila perlu. Jika menyentuh vendor, tagihan, pembayaran, atau jurnal, keuangan menahan pembayaran/posting dan akuntansi melakukan rekonsiliasi. Seluruh koreksi harus menghasilkan jejak audit baru, bukan menghapus diam-diam riwayat lama.</a:t>
            </a:r>
          </a:p>
          <a:p xmlns:a="http://schemas.openxmlformats.org/drawingml/2006/main">
            <a:r>
              <a:t/>
            </a:r>
          </a:p>
          <a:p xmlns:a="http://schemas.openxmlformats.org/drawingml/2006/main">
            <a:r>
              <a:t>Kriteria penerimaan akhir untuk skenario ini adalah: 300 transaksi muncul pada periode yang tepat dan totalnya cocok dengan detail; 100 rantai pengadaan dapat ditelusuri; agregat layar, ekspor, dan dokumen sumber mempunyai nilai yang sama. Setelah kriteria terpenuhi, penguji memberi tanda pada matriks, mencatat bukti, dan meminta sign-off pemilik proses. Untuk penggunaan harian, supervisor sebaiknya menjalankan pemeriksaan awal shift terhadap koneksi, toko aktif, perangkat periferal, role, dan sinkronisasi; pemeriksaan selama shift terhadap transaksi tertahan, stok negatif, batch mendekati kedaluwarsa, antrean, dan dokumen gagal; serta pemeriksaan akhir shift terhadap kas, stok kritis, dokumen pengadaan, pembayaran, jurnal, dan laporan. Pola ini membuat aplikasi berfungsi sebagai sistem pengendalian, bukan hanya alat input. Pada rilis 1.34.23 (build 185), kesimpulan PASS akses layar / BLOCKED validasi isi laporan penjualan berlaku untuk lingkungan yang diuji dan tidak otomatis membuktikan kompatibilitas setiap tenant, printer, monitor, kebijakan COA, atau keystore. Retest produksi wajib memakai konfigurasi tujuan dan persetujuan owner.</a:t>
            </a:r>
          </a:p>
          <a:p xmlns:a="http://schemas.openxmlformats.org/drawingml/2006/main">
            <a:r>
              <a:t/>
            </a:r>
          </a:p>
          <a:p xmlns:a="http://schemas.openxmlformats.org/drawingml/2006/main">
            <a:r>
              <a:t>Kriteria penerimaan: 300 transaksi muncul pada periode yang tepat dan totalnya cocok dengan detail; 100 rantai pengadaan dapat ditelusuri; agregat layar, ekspor, dan dokumen sumber mempunyai nilai yang sama</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docs/pos-apotik-emedik/uat-v1.34.23/screenshots/09-laporan-penjualan.png</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 ini melengkapi bukti 8. Use case menunjukkan aktor dan tanggung jawab utama. Flowchart memperlihatkan urutan kontrol. ERD/data flow adalah model konseptual, bukan klaim nama tabel fisik. Gate yang tercantum harus dipenuhi sebelum skenario dapat diberi sign-off. Kontrol rinci: cut-off, status final, void/retur, diskon, pajak, COGS, vendor, toko, pagination, total, drill-down, dan konsistensi ekspor. Kriteria penerimaan: 300 transaksi muncul pada periode yang tepat dan totalnya cocok dengan detail; 100 rantai pengadaan dapat ditelusuri; agregat layar, ekspor, dan dokumen sumber mempunyai nilai yang sama.</a:t>
            </a:r>
          </a:p>
          <a:p xmlns:a="http://schemas.openxmlformats.org/drawingml/2006/main">
            <a:r>
              <a:t/>
            </a:r>
          </a:p>
          <a:p xmlns:a="http://schemas.openxmlformats.org/drawingml/2006/main">
            <a:r>
              <a:t>[Sources]</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Bukti layar untuk Laporan Keuangan dipakai sebagai titik masuk pemeriksaan UAT sekaligus panduan kerja operator. Tujuan pengujian bukan hanya memastikan halaman dapat terbuka, melainkan memastikan rangkaian keputusan, data, otorisasi, dan jejak audit tetap konsisten dari awal sampai akhir. Aktor yang terlibat adalah Akuntan, Manajemen, Auditor, Owner COA. Sebelum memulai, penguji memastikan varian yang tampil adalah POS Apotik, koneksi HTTPS menuju server demo aktif, pengguna berhasil login dengan role yang sesuai, tanggal dan waktu perangkat benar, serta data uji mempunyai penanda rilis agar dapat dibedakan dari transaksi lain pada tenant bersama. Screenshot diambil pada resolusi 1600 × 900 setelah indikator pemuatan selesai. Karena server demo dipakai bersama, jumlah total yang tampak pada dashboard dapat melebihi volume yang dibuat dalam run ini; hasil kelulusan karena itu dihitung dari kode idempoten dan ringkasan API, bukan dari perkiraan visual semata.</a:t>
            </a:r>
          </a:p>
          <a:p xmlns:a="http://schemas.openxmlformats.org/drawingml/2006/main">
            <a:r>
              <a:t/>
            </a:r>
          </a:p>
          <a:p xmlns:a="http://schemas.openxmlformats.org/drawingml/2006/main">
            <a:r>
              <a:t>Cara penggunaan normal mengikuti urutan: Posting jurnal; Buku besar; Neraca saldo; Laporan utama; Bandingkan periode; Review &amp; sign-off. Operator membaca seluruh label dan nilai sebelum menekan tindakan simpan atau setujui. Kolom wajib tidak boleh diisi dengan nilai acak hanya untuk melewati validasi. Untuk nominal, kuantitas, batch, tanggal, vendor, pasien, dan akun, penguji mencocokkan kembali sumbernya dengan dokumen atau skenario. Setelah penyimpanan, operator menunggu notifikasi sukses, kemudian membuka ulang daftar dan mencari kode uji yang sama. Langkah baca ulang ini penting untuk membuktikan persistensi, bukan sekadar perubahan state sementara pada layar. Jika tombol tidak aktif, aplikasi menampilkan pesan gagal, atau indikator terus berputar, penguji mencatat waktu, menu, kode dokumen, payload relevan tanpa kredensial, dan screenshot. Penguji tidak mengulang simpan dengan kode baru sebelum memastikan apakah permintaan pertama sebenarnya sudah diterima server, karena tindakan tersebut dapat menggandakan transaksi.</a:t>
            </a:r>
          </a:p>
          <a:p xmlns:a="http://schemas.openxmlformats.org/drawingml/2006/main">
            <a:r>
              <a:t/>
            </a:r>
          </a:p>
          <a:p xmlns:a="http://schemas.openxmlformats.org/drawingml/2006/main">
            <a:r>
              <a:t>Data yang diamati dalam skenario ini membentuk aliran konseptual antara AKUN</a:t>
            </a:r>
          </a:p>
          <a:p xmlns:a="http://schemas.openxmlformats.org/drawingml/2006/main">
            <a:r>
              <a:t>kode, grup, DETAIL POSTED</a:t>
            </a:r>
          </a:p>
          <a:p xmlns:a="http://schemas.openxmlformats.org/drawingml/2006/main">
            <a:r>
              <a:t>D/K, BUKU BESAR</a:t>
            </a:r>
          </a:p>
          <a:p xmlns:a="http://schemas.openxmlformats.org/drawingml/2006/main">
            <a:r>
              <a:t>saldo, TRIAL BALANCE</a:t>
            </a:r>
          </a:p>
          <a:p xmlns:a="http://schemas.openxmlformats.org/drawingml/2006/main">
            <a:r>
              <a:t>D/K, LAPORAN</a:t>
            </a:r>
          </a:p>
          <a:p xmlns:a="http://schemas.openxmlformats.org/drawingml/2006/main">
            <a:r>
              <a:t>LR/neraca/arus kas. Hubungan antardata dijaga melalui identitas dokumen, referensi transaksi sumber, detail barang atau akun, dan status proses. Kunci idempoten pada run volume mencegah penciptaan ulang ketika tes diulang setelah gangguan jaringan. Untuk data persediaan, kuantitas tidak boleh hanya dicatat di header; detail batch, tanggal kedaluwarsa, dan sisa stok harus dapat ditelusuri. Untuk data keuangan, jurnal harus membawa referensi dokumen sumber dan pasangan debit-kredit yang seimbang. Untuk data pasien, layar petugas boleh menampilkan informasi operasional yang diperlukan, sedangkan layar publik wajib menggunakan identitas tersamar. Penguji juga memperhatikan bahwa keberhasilan respons HTTP atau status “success” belum selalu membuktikan angka laporan benar; rekonsiliasi nilai terhadap dokumen sumber tetap menjadi acceptance test terpisah.</a:t>
            </a:r>
          </a:p>
          <a:p xmlns:a="http://schemas.openxmlformats.org/drawingml/2006/main">
            <a:r>
              <a:t/>
            </a:r>
          </a:p>
          <a:p xmlns:a="http://schemas.openxmlformats.org/drawingml/2006/main">
            <a:r>
              <a:t>Hasil aktual pada server demo untuk skenario ini adalah: enam halaman inti—Laba Rugi, Neraca, Arus Kas, Keseluruhan Jurnal, Buku Besar, dan Neraca Saldo—berhasil dibuka dan dirender. Beberapa hasil belum mempunyai data yang dapat direkonsiliasi; Saldo Awal dan Jurnal Penyesuaian menampilkan masalah parsing respons, sedangkan katalog menyediakan laporan perbandingan namun belum diuji angka bulan/tahun. Status formalnya PASS render / BLOCKED rekonsiliasi angka dan beberapa backend. Arti status tersebut harus dibaca secara presisi. PASS berarti operasi yang dinyatakan berhasil benar-benar disimpan atau dirender dan diverifikasi dengan pemeriksaan lanjutan. PASS TAMPILAN hanya berarti komponen dapat digunakan dan difoto, bukan bahwa seluruh endpoint produksi sudah tersedia. BLOCKED berarti prasyarat backend, konfigurasi, atau data master belum mencukupi; blocker tidak boleh disamarkan sebagai kegagalan operator dan juga tidak boleh dianggap lulus. LULUS BERSYARAT berarti jalur utama dapat dipakai untuk UAT atau pilot yang dikendalikan, dengan risiko dan pekerjaan retest yang tercantum. Pemisahan ini menjaga dokumen tetap dapat diaudit dan membantu pemilik proses memutuskan apakah sebuah temuan menahan produksi atau cukup ditangani sebelum go-live.</a:t>
            </a:r>
          </a:p>
          <a:p xmlns:a="http://schemas.openxmlformats.org/drawingml/2006/main">
            <a:r>
              <a:t/>
            </a:r>
          </a:p>
          <a:p xmlns:a="http://schemas.openxmlformats.org/drawingml/2006/main">
            <a:r>
              <a:t>Kontrol utama untuk Laporan Keuangan adalah klasifikasi akun, saldo awal, cut-off, posting, closing, retained earnings, arus kas, dimensi unit, perbandingan bulanan/tahunan, dan audit trail. Penguji melakukan negative check dengan mempertimbangkan data kosong, hak akses tidak memadai, dokumen sudah diproses, batch tidak layak, ketidakseimbangan jurnal, duplikasi kode, dan putus jaringan. Sistem harus menolak atau membatasi tindakan yang tidak sah tanpa menghapus data yang telah benar. Setelah setiap perubahan status, petugas yang berbeda—bila segregasi tugas diwajibkan—membuka data dari sesinya sendiri dan mengonfirmasi hasil. Bukti ideal terdiri dari screenshot sebelum tindakan, respons sesudah tindakan, daftar hasil, dan ringkasan mesin. Dokumen ini menampilkan satu screenshot representatif per kelompok skenario agar setiap gambar dapat diberi narasi dan diagram lengkap; berkas screenshot lain tetap tersedia di folder bukti dalam repository untuk investigasi teknis, namun tidak ditampilkan di badan dokumen agar tidak menimbulkan interpretasi bahwa semua gambar memiliki status integrasi yang sama.</a:t>
            </a:r>
          </a:p>
          <a:p xmlns:a="http://schemas.openxmlformats.org/drawingml/2006/main">
            <a:r>
              <a:t/>
            </a:r>
          </a:p>
          <a:p xmlns:a="http://schemas.openxmlformats.org/drawingml/2006/main">
            <a:r>
              <a:t>Bila terjadi penyimpangan, operator menjalankan prosedur berikut. Pertama, hentikan tindakan lanjutan yang dapat mengubah stok atau keuangan. Kedua, catat kode dokumen, waktu, role, dan pesan kesalahan. Ketiga, muat ulang daftar serta cari kode idempoten yang sama untuk menentukan apakah server sudah menyimpan transaksi. Keempat, bandingkan detail dengan dokumen sumber dan jangan membuat pengganti sebelum status transaksi pertama pasti. Kelima, eskalasikan ke pemilik modul dengan klasifikasi: data master, RBAC, validasi bisnis, integrasi API, tampilan, atau akuntansi. Jika penyimpangan menyentuh pasien, obat, batch, atau kedaluwarsa, apoteker mengambil keputusan keselamatan dan menahan penyerahan bila perlu. Jika menyentuh vendor, tagihan, pembayaran, atau jurnal, keuangan menahan pembayaran/posting dan akuntansi melakukan rekonsiliasi. Seluruh koreksi harus menghasilkan jejak audit baru, bukan menghapus diam-diam riwayat lama.</a:t>
            </a:r>
          </a:p>
          <a:p xmlns:a="http://schemas.openxmlformats.org/drawingml/2006/main">
            <a:r>
              <a:t/>
            </a:r>
          </a:p>
          <a:p xmlns:a="http://schemas.openxmlformats.org/drawingml/2006/main">
            <a:r>
              <a:t>Kriteria penerimaan akhir untuk skenario ini adalah: buku besar, trial balance, Laba Rugi, Neraca, dan Arus Kas seimbang serta cocok dengan 100 jurnal vendor dan transaksi sumber; perbandingan bulanan/tahunan dapat direproduksi dan disetujui owner Akuntansi. Setelah kriteria terpenuhi, penguji memberi tanda pada matriks, mencatat bukti, dan meminta sign-off pemilik proses. Untuk penggunaan harian, supervisor sebaiknya menjalankan pemeriksaan awal shift terhadap koneksi, toko aktif, perangkat periferal, role, dan sinkronisasi; pemeriksaan selama shift terhadap transaksi tertahan, stok negatif, batch mendekati kedaluwarsa, antrean, dan dokumen gagal; serta pemeriksaan akhir shift terhadap kas, stok kritis, dokumen pengadaan, pembayaran, jurnal, dan laporan. Pola ini membuat aplikasi berfungsi sebagai sistem pengendalian, bukan hanya alat input. Pada rilis 1.34.23 (build 185), kesimpulan PASS render / BLOCKED rekonsiliasi angka dan beberapa backend berlaku untuk lingkungan yang diuji dan tidak otomatis membuktikan kompatibilitas setiap tenant, printer, monitor, kebijakan COA, atau keystore. Retest produksi wajib memakai konfigurasi tujuan dan persetujuan owner.</a:t>
            </a:r>
          </a:p>
          <a:p xmlns:a="http://schemas.openxmlformats.org/drawingml/2006/main">
            <a:r>
              <a:t/>
            </a:r>
          </a:p>
          <a:p xmlns:a="http://schemas.openxmlformats.org/drawingml/2006/main">
            <a:r>
              <a:t>Kriteria penerimaan: buku besar, trial balance, Laba Rugi, Neraca, dan Arus Kas seimbang serta cocok dengan 100 jurnal vendor dan transaksi sumber; perbandingan bulanan/tahunan dapat direproduksi dan disetujui owner Akuntansi</a:t>
            </a:r>
          </a:p>
          <a:p xmlns:a="http://schemas.openxmlformats.org/drawingml/2006/main">
            <a:r>
              <a:t/>
            </a:r>
          </a:p>
          <a:p xmlns:a="http://schemas.openxmlformats.org/drawingml/2006/main">
            <a:r>
              <a:t>[Sources]</a:t>
            </a:r>
          </a:p>
          <a:p xmlns:a="http://schemas.openxmlformats.org/drawingml/2006/main">
            <a:r>
              <a:t>- https://demo.ecampus.id/ecampus/</a:t>
            </a:r>
          </a:p>
          <a:p xmlns:a="http://schemas.openxmlformats.org/drawingml/2006/main">
            <a:r>
              <a:t>- docs/pos-apotik-emedik/uat-v1.34.23/screenshots-akuntansi/24-laporan-laba-rugi.png</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 ini melengkapi bukti 9. Use case menunjukkan aktor dan tanggung jawab utama. Flowchart memperlihatkan urutan kontrol. ERD/data flow adalah model konseptual, bukan klaim nama tabel fisik. Gate yang tercantum harus dipenuhi sebelum skenario dapat diberi sign-off. Kontrol rinci: klasifikasi akun, saldo awal, cut-off, posting, closing, retained earnings, arus kas, dimensi unit, perbandingan bulanan/tahunan, dan audit trail. Kriteria penerimaan: buku besar, trial balance, Laba Rugi, Neraca, dan Arus Kas seimbang serta cocok dengan 100 jurnal vendor dan transaksi sumber; perbandingan bulanan/tahunan dapat direproduksi dan disetujui owner Akuntansi.</a:t>
            </a:r>
          </a:p>
          <a:p xmlns:a="http://schemas.openxmlformats.org/drawingml/2006/main">
            <a:r>
              <a:t/>
            </a:r>
          </a:p>
          <a:p xmlns:a="http://schemas.openxmlformats.org/drawingml/2006/main">
            <a:r>
              <a:t>[Sources]</a:t>
            </a:r>
          </a:p>
          <a:p xmlns:a="http://schemas.openxmlformats.org/drawingml/2006/main">
            <a:r>
              <a:t>- docs/pos-apotik-emedik/uat-v1.34.23/presentation-data.json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Temuan P0 adalah exit criterion sebelum produksi, bukan sekadar catatan kosmetik. Release GitHub tetap dapat dipublikasikan sebagai UAT/pilot agar stakeholder dapat menguji klien dan dokumen, tetapi deployment produksi harus menunggu data master, endpoint, laporan, jalur akuntansi, dan signing resmi. Overflow tampilan diprioritaskan lebih rendah karena tidak merusak transaksi, namun tetap harus diretest pada resolusi umum.</a:t>
            </a:r>
          </a:p>
          <a:p xmlns:a="http://schemas.openxmlformats.org/drawingml/2006/main">
            <a:r>
              <a:t/>
            </a:r>
          </a:p>
          <a:p xmlns:a="http://schemas.openxmlformats.org/drawingml/2006/main">
            <a:r>
              <a:t>[Sources]</a:t>
            </a:r>
          </a:p>
          <a:p xmlns:a="http://schemas.openxmlformats.org/drawingml/2006/main">
            <a:r>
              <a:t>- docs/pos-apotik-emedik/uat-v1.34.23/Laporan-UAT-dan-Manual-POS-Apotik-v1.34.23.docx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Aset Windows dipublikasikan sebagai installer EXE langsung sesuai permintaan, bukan ZIP. Installer memuat executable varian Apotik dan dependensi runtime. Startup desktop dimaksimalkan pada work area monitor sehingga halaman kasir dan screenshot menggunakan area layar seluas mungkin tanpa exclusive fullscreen. APK dan EXE harus diverifikasi menggunakan SHA-256. Karena credential signing produksi belum tersedia, release diberi batasan UAT/pilot secara eksplisit.</a:t>
            </a:r>
          </a:p>
          <a:p xmlns:a="http://schemas.openxmlformats.org/drawingml/2006/main">
            <a:r>
              <a:t/>
            </a:r>
          </a:p>
          <a:p xmlns:a="http://schemas.openxmlformats.org/drawingml/2006/main">
            <a:r>
              <a:t>[Sources]</a:t>
            </a:r>
          </a:p>
          <a:p xmlns:a="http://schemas.openxmlformats.org/drawingml/2006/main">
            <a:r>
              <a:t>- apps/ebisnis/installer/apotik.iss</a:t>
            </a:r>
          </a:p>
          <a:p xmlns:a="http://schemas.openxmlformats.org/drawingml/2006/main">
            <a:r>
              <a:t>- apps/ebisnis/windows/runner/win32_window.cpp</a:t>
            </a:r>
          </a:p>
          <a:p xmlns:a="http://schemas.openxmlformats.org/drawingml/2006/main">
            <a:r>
              <a:t>- apps/ebisnis/pubspec.yaml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Urutan rollout menjaga agar klien tidak mendahului backend dan data master. Setelah backend dipasang, provisioning harus idempoten. Retest menggunakan prefix baru agar dapat dipisahkan dari data UAT sebelumnya. Rekonsiliasi dilakukan oleh owner proses, bukan hanya tim teknis. Signing adalah gate terpisah. Pilot dimulai setelah sign-off, dengan rollback trigger yang disepakati sebelum deployment. Rollback klien memakai artefak rilis sebelumnya; rollback data/backend memakai backup serta reversal yang disetujui dan tidak menghapus audit trail.</a:t>
            </a:r>
          </a:p>
          <a:p xmlns:a="http://schemas.openxmlformats.org/drawingml/2006/main">
            <a:r>
              <a:t/>
            </a:r>
          </a:p>
          <a:p xmlns:a="http://schemas.openxmlformats.org/drawingml/2006/main">
            <a:r>
              <a:t>[Sources]</a:t>
            </a:r>
          </a:p>
          <a:p xmlns:a="http://schemas.openxmlformats.org/drawingml/2006/main">
            <a:r>
              <a:t>- docs/pos-apotik-emedik/uat-v1.34.23/Laporan-UAT-dan-Manual-POS-Apotik-v1.34.23.docx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Sign-off dipisahkan agar keputusan farmasi, pengadaan, keuangan, akuntansi, teknologi, keamanan, dan privasi tidak diwakili satu pihak. Setiap owner meninjau bukti, temuan, exit criterion, dan risiko di wilayahnya. Status UAT/pilot tidak boleh diubah menjadi produksi hanya karena installer tersedia di GitHub. Produksi membutuhkan seluruh P0 tertutup, build ditandatangani, dan rollback plan disetujui.</a:t>
            </a:r>
          </a:p>
          <a:p xmlns:a="http://schemas.openxmlformats.org/drawingml/2006/main">
            <a:r>
              <a:t/>
            </a:r>
          </a:p>
          <a:p xmlns:a="http://schemas.openxmlformats.org/drawingml/2006/main">
            <a:r>
              <a:t>[Sources]</a:t>
            </a:r>
          </a:p>
          <a:p xmlns:a="http://schemas.openxmlformats.org/drawingml/2006/main">
            <a:r>
              <a:t>- docs/pos-apotik-emedik/uat-v1.34.23/Laporan-UAT-dan-Manual-POS-Apotik-v1.34.23.docx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38e3d7e05a47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1a96b9fffa4751" /><Relationship Type="http://schemas.openxmlformats.org/officeDocument/2006/relationships/slideLayout" Target="/ppt/slideLayouts/slideLayout1.xml" Id="R841e9768310b4b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1e9768310b4b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6c6853294242ed" /><Relationship Type="http://schemas.openxmlformats.org/officeDocument/2006/relationships/notesSlide" Target="/ppt/notesSlides/notesSlide1.xml" Id="R21256aaa8dff44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065c5733a74fdf" /><Relationship Type="http://schemas.openxmlformats.org/officeDocument/2006/relationships/notesSlide" Target="/ppt/notesSlides/notesSlide2.xml" Id="Re0aedcb6deb14c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1ce77898964faa" /><Relationship Type="http://schemas.openxmlformats.org/officeDocument/2006/relationships/notesSlide" Target="/ppt/notesSlides/notesSlide3.xml" Id="R9de7f5399ff64e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36d7a670fd457d" /><Relationship Type="http://schemas.openxmlformats.org/officeDocument/2006/relationships/image" Target="/ppt/media/image.png" Id="R22b586d081264f98" /><Relationship Type="http://schemas.openxmlformats.org/officeDocument/2006/relationships/notesSlide" Target="/ppt/notesSlides/notesSlide4.xml" Id="R140a3dcb6f4643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98e2159115d40c8" /><Relationship Type="http://schemas.openxmlformats.org/officeDocument/2006/relationships/notesSlide" Target="/ppt/notesSlides/notesSlide5.xml" Id="R934ac0cd9ac045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2b61777f7f4214" /><Relationship Type="http://schemas.openxmlformats.org/officeDocument/2006/relationships/image" Target="/ppt/media/image2.png" Id="Rf63e76fdaff54157" /><Relationship Type="http://schemas.openxmlformats.org/officeDocument/2006/relationships/notesSlide" Target="/ppt/notesSlides/notesSlide6.xml" Id="R3e584dc037a046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73436123124b3a" /><Relationship Type="http://schemas.openxmlformats.org/officeDocument/2006/relationships/notesSlide" Target="/ppt/notesSlides/notesSlide7.xml" Id="Rcd507e06c2c742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825a41db6484ca3" /><Relationship Type="http://schemas.openxmlformats.org/officeDocument/2006/relationships/image" Target="/ppt/media/image3.png" Id="R0f3ea058894c44f2" /><Relationship Type="http://schemas.openxmlformats.org/officeDocument/2006/relationships/notesSlide" Target="/ppt/notesSlides/notesSlide8.xml" Id="R861ef688c4fc48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fc82d89f7a94b83" /><Relationship Type="http://schemas.openxmlformats.org/officeDocument/2006/relationships/notesSlide" Target="/ppt/notesSlides/notesSlide9.xml" Id="R31190bf36ee84b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73ab6dc58fb46f2" /><Relationship Type="http://schemas.openxmlformats.org/officeDocument/2006/relationships/image" Target="/ppt/media/image4.png" Id="R6e609d58bf174275" /><Relationship Type="http://schemas.openxmlformats.org/officeDocument/2006/relationships/notesSlide" Target="/ppt/notesSlides/notesSlide10.xml" Id="Rc70e18b6cee040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d6ddf7e219f4ccc" /><Relationship Type="http://schemas.openxmlformats.org/officeDocument/2006/relationships/notesSlide" Target="/ppt/notesSlides/notesSlide11.xml" Id="R9cbaa7ba12ef45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6d2f8b2bca4deb" /><Relationship Type="http://schemas.openxmlformats.org/officeDocument/2006/relationships/image" Target="/ppt/media/image5.png" Id="R0a1dd0a998534305" /><Relationship Type="http://schemas.openxmlformats.org/officeDocument/2006/relationships/notesSlide" Target="/ppt/notesSlides/notesSlide12.xml" Id="Ra696205e0f7541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e9445ea5964c24" /><Relationship Type="http://schemas.openxmlformats.org/officeDocument/2006/relationships/notesSlide" Target="/ppt/notesSlides/notesSlide13.xml" Id="R97f2927f97de43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4c78542d3344971" /><Relationship Type="http://schemas.openxmlformats.org/officeDocument/2006/relationships/image" Target="/ppt/media/image6.png" Id="R7d507f56cd954cff" /><Relationship Type="http://schemas.openxmlformats.org/officeDocument/2006/relationships/notesSlide" Target="/ppt/notesSlides/notesSlide14.xml" Id="R14a716f66f6a482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b467dda117b421e" /><Relationship Type="http://schemas.openxmlformats.org/officeDocument/2006/relationships/notesSlide" Target="/ppt/notesSlides/notesSlide15.xml" Id="R34711efa65804e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3b09b2cf29d4aae" /><Relationship Type="http://schemas.openxmlformats.org/officeDocument/2006/relationships/image" Target="/ppt/media/image7.png" Id="R9ccdc93d7e7d47d0" /><Relationship Type="http://schemas.openxmlformats.org/officeDocument/2006/relationships/notesSlide" Target="/ppt/notesSlides/notesSlide16.xml" Id="R39076498d2dd4e7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5ae5934130a466c" /><Relationship Type="http://schemas.openxmlformats.org/officeDocument/2006/relationships/notesSlide" Target="/ppt/notesSlides/notesSlide17.xml" Id="R681c5b04fdda43b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a1a9b38ff294963" /><Relationship Type="http://schemas.openxmlformats.org/officeDocument/2006/relationships/image" Target="/ppt/media/image8.png" Id="Recdb17f47c9749f1" /><Relationship Type="http://schemas.openxmlformats.org/officeDocument/2006/relationships/notesSlide" Target="/ppt/notesSlides/notesSlide18.xml" Id="Re56620ba858b4a5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9b7469efc47472f" /><Relationship Type="http://schemas.openxmlformats.org/officeDocument/2006/relationships/notesSlide" Target="/ppt/notesSlides/notesSlide19.xml" Id="Rf950180fca4f414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480f220b75746dd" /><Relationship Type="http://schemas.openxmlformats.org/officeDocument/2006/relationships/image" Target="/ppt/media/image9.png" Id="Rc47caf3e7e6747bc" /><Relationship Type="http://schemas.openxmlformats.org/officeDocument/2006/relationships/notesSlide" Target="/ppt/notesSlides/notesSlide20.xml" Id="R3de7a55c12ff499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e5b4072453a4cbb" /><Relationship Type="http://schemas.openxmlformats.org/officeDocument/2006/relationships/notesSlide" Target="/ppt/notesSlides/notesSlide21.xml" Id="R0188b5af099546f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04426d701e04fb6" /><Relationship Type="http://schemas.openxmlformats.org/officeDocument/2006/relationships/notesSlide" Target="/ppt/notesSlides/notesSlide22.xml" Id="R8daa8cd0fec147e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8ede5d8ad354859" /><Relationship Type="http://schemas.openxmlformats.org/officeDocument/2006/relationships/notesSlide" Target="/ppt/notesSlides/notesSlide23.xml" Id="R3e258f3311c04fe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d0613b359094c2a" /><Relationship Type="http://schemas.openxmlformats.org/officeDocument/2006/relationships/notesSlide" Target="/ppt/notesSlides/notesSlide24.xml" Id="R27b08f2f656d470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6f48df037f54e13" /><Relationship Type="http://schemas.openxmlformats.org/officeDocument/2006/relationships/notesSlide" Target="/ppt/notesSlides/notesSlide25.xml" Id="Rb8d724440c9e49f1"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5F238DA-FEE9-44F6-AEBB-544E1D26BC6F}"/>
              </a:ext>
            </a:extLst>
          </p:cNvPr>
          <p:cNvSpPr>
            <a:spLocks xmlns:a="http://schemas.openxmlformats.org/drawingml/2006/main" noGrp="1"/>
          </p:cNvSpPr>
          <p:nvPr/>
        </p:nvSpPr>
        <p:spPr>
          <a:xfrm xmlns:a="http://schemas.openxmlformats.org/drawingml/2006/main">
            <a:off x="685800" y="6096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7E8F9"/>
                </a:solidFill>
              </a:defRPr>
            </a:pPr>
            <a:r>
              <a:rPr sz="1050" b="1">
                <a:solidFill>
                  <a:srgbClr val="67E8F9"/>
                </a:solidFill>
              </a:rPr>
              <a:t>UAT END-TO-END • DATA REAL SERVER DEMO</a:t>
            </a:r>
          </a:p>
        </p:txBody>
      </p:sp>
      <p:sp>
        <p:nvSpPr>
          <p:cNvPr id="2" name="">
            <a:extLst xmlns:a="http://schemas.openxmlformats.org/drawingml/2006/main">
              <a:ext uri="{FF2B5EF4-FFF2-40B4-BE49-F238E27FC236}">
                <a16:creationId xmlns:a16="http://schemas.microsoft.com/office/drawing/2014/main" id="{77C62EED-F253-4A3A-A4B9-A5524E4A855C}"/>
              </a:ext>
            </a:extLst>
          </p:cNvPr>
          <p:cNvSpPr>
            <a:spLocks xmlns:a="http://schemas.openxmlformats.org/drawingml/2006/main" noGrp="1"/>
          </p:cNvSpPr>
          <p:nvPr/>
        </p:nvSpPr>
        <p:spPr>
          <a:xfrm xmlns:a="http://schemas.openxmlformats.org/drawingml/2006/main">
            <a:off x="685800" y="1352550"/>
            <a:ext cx="495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defRPr>
            </a:pPr>
            <a:r>
              <a:rPr sz="4050" b="1">
                <a:solidFill>
                  <a:srgbClr val="FFFFFF"/>
                </a:solidFill>
              </a:rPr>
              <a:t>POS Apotik</a:t>
            </a:r>
          </a:p>
          <a:p xmlns:a="http://schemas.openxmlformats.org/drawingml/2006/main">
            <a:pPr algn="l">
              <a:defRPr sz="4050" b="1">
                <a:solidFill>
                  <a:srgbClr val="FFFFFF"/>
                </a:solidFill>
              </a:defRPr>
            </a:pPr>
            <a:r>
              <a:rPr sz="4050" b="1">
                <a:solidFill>
                  <a:srgbClr val="FFFFFF"/>
                </a:solidFill>
              </a:rPr>
              <a:t>v1.34.23</a:t>
            </a:r>
          </a:p>
        </p:txBody>
      </p:sp>
      <p:sp>
        <p:nvSpPr>
          <p:cNvPr id="3" name="">
            <a:extLst xmlns:a="http://schemas.openxmlformats.org/drawingml/2006/main">
              <a:ext uri="{FF2B5EF4-FFF2-40B4-BE49-F238E27FC236}">
                <a16:creationId xmlns:a16="http://schemas.microsoft.com/office/drawing/2014/main" id="{672443FE-99D8-454A-AAB0-A280B59C6052}"/>
              </a:ext>
            </a:extLst>
          </p:cNvPr>
          <p:cNvSpPr>
            <a:spLocks xmlns:a="http://schemas.openxmlformats.org/drawingml/2006/main" noGrp="1"/>
          </p:cNvSpPr>
          <p:nvPr/>
        </p:nvSpPr>
        <p:spPr>
          <a:xfrm xmlns:a="http://schemas.openxmlformats.org/drawingml/2006/main">
            <a:off x="685800" y="3048000"/>
            <a:ext cx="4953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CBD5E1"/>
                </a:solidFill>
              </a:defRPr>
            </a:pPr>
            <a:r>
              <a:rPr sz="1800" b="0">
                <a:solidFill>
                  <a:srgbClr val="CBD5E1"/>
                </a:solidFill>
              </a:rPr>
              <a:t>Penjualan, racikan, procure-to-pay, stok, kedaluwarsa, akuntansi, dan laporan</a:t>
            </a:r>
          </a:p>
        </p:txBody>
      </p:sp>
      <p:sp>
        <p:nvSpPr>
          <p:cNvPr id="4" name="">
            <a:extLst xmlns:a="http://schemas.openxmlformats.org/drawingml/2006/main">
              <a:ext uri="{FF2B5EF4-FFF2-40B4-BE49-F238E27FC236}">
                <a16:creationId xmlns:a16="http://schemas.microsoft.com/office/drawing/2014/main" id="{428BCB0B-1A11-48EF-A9D2-3FC03E46C5B8}"/>
              </a:ext>
            </a:extLst>
          </p:cNvPr>
          <p:cNvSpPr>
            <a:spLocks xmlns:a="http://schemas.openxmlformats.org/drawingml/2006/main" noGrp="1"/>
          </p:cNvSpPr>
          <p:nvPr/>
        </p:nvSpPr>
        <p:spPr>
          <a:xfrm xmlns:a="http://schemas.openxmlformats.org/drawingml/2006/main">
            <a:off x="6572250" y="914400"/>
            <a:ext cx="4686300" cy="4533900"/>
          </a:xfrm>
          <a:prstGeom xmlns:a="http://schemas.openxmlformats.org/drawingml/2006/main" prst="roundRect">
            <a:avLst>
              <a:gd name="adj" fmla="val 5042"/>
            </a:avLst>
          </a:prstGeom>
          <a:solidFill xmlns:a="http://schemas.openxmlformats.org/drawingml/2006/main">
            <a:srgbClr val="102C46"/>
          </a:solidFill>
          <a:ln xmlns:a="http://schemas.openxmlformats.org/drawingml/2006/main" w="9525">
            <a:solidFill>
              <a:srgbClr val="25627E"/>
            </a:solidFill>
            <a:prstDash val="solid"/>
          </a:ln>
        </p:spPr>
      </p:sp>
      <p:sp>
        <p:nvSpPr>
          <p:cNvPr id="5" name="">
            <a:extLst xmlns:a="http://schemas.openxmlformats.org/drawingml/2006/main">
              <a:ext uri="{FF2B5EF4-FFF2-40B4-BE49-F238E27FC236}">
                <a16:creationId xmlns:a16="http://schemas.microsoft.com/office/drawing/2014/main" id="{DC467A3F-EE42-4079-A5D0-B79240A709C0}"/>
              </a:ext>
            </a:extLst>
          </p:cNvPr>
          <p:cNvSpPr>
            <a:spLocks xmlns:a="http://schemas.openxmlformats.org/drawingml/2006/main" noGrp="1"/>
          </p:cNvSpPr>
          <p:nvPr/>
        </p:nvSpPr>
        <p:spPr>
          <a:xfrm xmlns:a="http://schemas.openxmlformats.org/drawingml/2006/main">
            <a:off x="6953250" y="12954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7E8F9"/>
                </a:solidFill>
              </a:defRPr>
            </a:pPr>
            <a:r>
              <a:rPr sz="1050" b="1">
                <a:solidFill>
                  <a:srgbClr val="67E8F9"/>
                </a:solidFill>
              </a:rPr>
              <a:t>KEPUTUSAN</a:t>
            </a:r>
          </a:p>
        </p:txBody>
      </p:sp>
      <p:sp>
        <p:nvSpPr>
          <p:cNvPr id="6" name="">
            <a:extLst xmlns:a="http://schemas.openxmlformats.org/drawingml/2006/main">
              <a:ext uri="{FF2B5EF4-FFF2-40B4-BE49-F238E27FC236}">
                <a16:creationId xmlns:a16="http://schemas.microsoft.com/office/drawing/2014/main" id="{60BE6AA8-58F3-47B0-A681-DD4249A0AD15}"/>
              </a:ext>
            </a:extLst>
          </p:cNvPr>
          <p:cNvSpPr>
            <a:spLocks xmlns:a="http://schemas.openxmlformats.org/drawingml/2006/main" noGrp="1"/>
          </p:cNvSpPr>
          <p:nvPr/>
        </p:nvSpPr>
        <p:spPr>
          <a:xfrm xmlns:a="http://schemas.openxmlformats.org/drawingml/2006/main">
            <a:off x="6953250" y="1752600"/>
            <a:ext cx="3714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LULUS</a:t>
            </a:r>
          </a:p>
          <a:p xmlns:a="http://schemas.openxmlformats.org/drawingml/2006/main">
            <a:pPr algn="l">
              <a:defRPr sz="3150" b="1">
                <a:solidFill>
                  <a:srgbClr val="FFFFFF"/>
                </a:solidFill>
              </a:defRPr>
            </a:pPr>
            <a:r>
              <a:rPr sz="3150" b="1">
                <a:solidFill>
                  <a:srgbClr val="FFFFFF"/>
                </a:solidFill>
              </a:rPr>
              <a:t>BERSYARAT</a:t>
            </a:r>
          </a:p>
        </p:txBody>
      </p:sp>
      <p:sp>
        <p:nvSpPr>
          <p:cNvPr id="7" name="">
            <a:extLst xmlns:a="http://schemas.openxmlformats.org/drawingml/2006/main">
              <a:ext uri="{FF2B5EF4-FFF2-40B4-BE49-F238E27FC236}">
                <a16:creationId xmlns:a16="http://schemas.microsoft.com/office/drawing/2014/main" id="{2AB2B1BF-39FD-499D-A725-50BC523A1455}"/>
              </a:ext>
            </a:extLst>
          </p:cNvPr>
          <p:cNvSpPr>
            <a:spLocks xmlns:a="http://schemas.openxmlformats.org/drawingml/2006/main" noGrp="1"/>
          </p:cNvSpPr>
          <p:nvPr/>
        </p:nvSpPr>
        <p:spPr>
          <a:xfrm xmlns:a="http://schemas.openxmlformats.org/drawingml/2006/main">
            <a:off x="6953250" y="3095625"/>
            <a:ext cx="3714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DCE8F0"/>
                </a:solidFill>
              </a:defRPr>
            </a:pPr>
            <a:r>
              <a:rPr sz="1575" b="0">
                <a:solidFill>
                  <a:srgbClr val="DCE8F0"/>
                </a:solidFill>
              </a:rPr>
              <a:t>Layak untuk UAT/pilot terkontrol. Signing produksi, katalog volume, antrean live, dan rekonsiliasi laporan masih menjadi exit criterion.</a:t>
            </a:r>
          </a:p>
        </p:txBody>
      </p:sp>
      <p:sp>
        <p:nvSpPr>
          <p:cNvPr id="8" name="">
            <a:extLst xmlns:a="http://schemas.openxmlformats.org/drawingml/2006/main">
              <a:ext uri="{FF2B5EF4-FFF2-40B4-BE49-F238E27FC236}">
                <a16:creationId xmlns:a16="http://schemas.microsoft.com/office/drawing/2014/main" id="{101C0301-B1A6-4094-ADAA-FFBBD2DD82A3}"/>
              </a:ext>
            </a:extLst>
          </p:cNvPr>
          <p:cNvSpPr>
            <a:spLocks xmlns:a="http://schemas.openxmlformats.org/drawingml/2006/main" noGrp="1"/>
          </p:cNvSpPr>
          <p:nvPr/>
        </p:nvSpPr>
        <p:spPr>
          <a:xfrm xmlns:a="http://schemas.openxmlformats.org/drawingml/2006/main">
            <a:off x="685800" y="6172200"/>
            <a:ext cx="981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94A3B8"/>
                </a:solidFill>
              </a:defRPr>
            </a:pPr>
            <a:r>
              <a:rPr sz="1200" b="0">
                <a:solidFill>
                  <a:srgbClr val="94A3B8"/>
                </a:solidFill>
              </a:rPr>
              <a:t>4 September 2026 • demo.ecampus.id/ecampus</a:t>
            </a:r>
          </a:p>
        </p:txBody>
      </p:sp>
    </p:spTree>
    <p:extLst>
      <p:ext uri="{BB962C8B-B14F-4D97-AF65-F5344CB8AC3E}">
        <p14:creationId xmlns:p14="http://schemas.microsoft.com/office/powerpoint/2010/main" val="1099468419"/>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BBFFE7C-D4A4-4E79-ADDA-FD44B393309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RINGKASAN EKSEKUTIF</a:t>
            </a:r>
          </a:p>
        </p:txBody>
      </p:sp>
      <p:sp>
        <p:nvSpPr>
          <p:cNvPr id="2" name="">
            <a:extLst xmlns:a="http://schemas.openxmlformats.org/drawingml/2006/main">
              <a:ext uri="{FF2B5EF4-FFF2-40B4-BE49-F238E27FC236}">
                <a16:creationId xmlns:a16="http://schemas.microsoft.com/office/drawing/2014/main" id="{2F46F169-EB0D-4372-B2BD-E922EA90D8E7}"/>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Volume yang benar-benar dijalankan</a:t>
            </a:r>
          </a:p>
        </p:txBody>
      </p:sp>
      <p:sp>
        <p:nvSpPr>
          <p:cNvPr id="3" name="">
            <a:extLst xmlns:a="http://schemas.openxmlformats.org/drawingml/2006/main">
              <a:ext uri="{FF2B5EF4-FFF2-40B4-BE49-F238E27FC236}">
                <a16:creationId xmlns:a16="http://schemas.microsoft.com/office/drawing/2014/main" id="{37CFAB34-A916-4292-A611-100ACE0DA9FC}"/>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02</a:t>
            </a:r>
          </a:p>
        </p:txBody>
      </p:sp>
      <p:sp>
        <p:nvSpPr>
          <p:cNvPr id="4" name="">
            <a:extLst xmlns:a="http://schemas.openxmlformats.org/drawingml/2006/main">
              <a:ext uri="{FF2B5EF4-FFF2-40B4-BE49-F238E27FC236}">
                <a16:creationId xmlns:a16="http://schemas.microsoft.com/office/drawing/2014/main" id="{1C8219CF-45E6-4E97-B4DB-2C13C53471B6}"/>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2</a:t>
            </a:r>
          </a:p>
        </p:txBody>
      </p:sp>
      <p:sp>
        <p:nvSpPr>
          <p:cNvPr id="5" name="">
            <a:extLst xmlns:a="http://schemas.openxmlformats.org/drawingml/2006/main">
              <a:ext uri="{FF2B5EF4-FFF2-40B4-BE49-F238E27FC236}">
                <a16:creationId xmlns:a16="http://schemas.microsoft.com/office/drawing/2014/main" id="{1A4F8FC9-16F0-44C0-9A8B-D0B2C01B3BB7}"/>
              </a:ext>
            </a:extLst>
          </p:cNvPr>
          <p:cNvSpPr>
            <a:spLocks xmlns:a="http://schemas.openxmlformats.org/drawingml/2006/main" noGrp="1"/>
          </p:cNvSpPr>
          <p:nvPr/>
        </p:nvSpPr>
        <p:spPr>
          <a:xfrm xmlns:a="http://schemas.openxmlformats.org/drawingml/2006/main">
            <a:off x="609600" y="1476375"/>
            <a:ext cx="2476500" cy="110490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E5EC"/>
            </a:solidFill>
            <a:prstDash val="solid"/>
          </a:ln>
        </p:spPr>
      </p:sp>
      <p:sp>
        <p:nvSpPr>
          <p:cNvPr id="6" name="">
            <a:extLst xmlns:a="http://schemas.openxmlformats.org/drawingml/2006/main">
              <a:ext uri="{FF2B5EF4-FFF2-40B4-BE49-F238E27FC236}">
                <a16:creationId xmlns:a16="http://schemas.microsoft.com/office/drawing/2014/main" id="{BF54B004-06C8-447C-8F8A-430751A5E14C}"/>
              </a:ext>
            </a:extLst>
          </p:cNvPr>
          <p:cNvSpPr>
            <a:spLocks xmlns:a="http://schemas.openxmlformats.org/drawingml/2006/main" noGrp="1"/>
          </p:cNvSpPr>
          <p:nvPr/>
        </p:nvSpPr>
        <p:spPr>
          <a:xfrm xmlns:a="http://schemas.openxmlformats.org/drawingml/2006/main">
            <a:off x="781050" y="1628775"/>
            <a:ext cx="2133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75985"/>
                </a:solidFill>
              </a:defRPr>
            </a:pPr>
            <a:r>
              <a:rPr sz="2550" b="1">
                <a:solidFill>
                  <a:srgbClr val="075985"/>
                </a:solidFill>
              </a:rPr>
              <a:t>300</a:t>
            </a:r>
          </a:p>
        </p:txBody>
      </p:sp>
      <p:sp>
        <p:nvSpPr>
          <p:cNvPr id="7" name="">
            <a:extLst xmlns:a="http://schemas.openxmlformats.org/drawingml/2006/main">
              <a:ext uri="{FF2B5EF4-FFF2-40B4-BE49-F238E27FC236}">
                <a16:creationId xmlns:a16="http://schemas.microsoft.com/office/drawing/2014/main" id="{E2118500-6181-4E4D-802B-1E4CF74904D3}"/>
              </a:ext>
            </a:extLst>
          </p:cNvPr>
          <p:cNvSpPr>
            <a:spLocks xmlns:a="http://schemas.openxmlformats.org/drawingml/2006/main" noGrp="1"/>
          </p:cNvSpPr>
          <p:nvPr/>
        </p:nvSpPr>
        <p:spPr>
          <a:xfrm xmlns:a="http://schemas.openxmlformats.org/drawingml/2006/main">
            <a:off x="781050" y="2114550"/>
            <a:ext cx="2133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transaksi penjualan</a:t>
            </a:r>
          </a:p>
        </p:txBody>
      </p:sp>
      <p:sp>
        <p:nvSpPr>
          <p:cNvPr id="8" name="">
            <a:extLst xmlns:a="http://schemas.openxmlformats.org/drawingml/2006/main">
              <a:ext uri="{FF2B5EF4-FFF2-40B4-BE49-F238E27FC236}">
                <a16:creationId xmlns:a16="http://schemas.microsoft.com/office/drawing/2014/main" id="{EA902AE6-00C6-4507-A9AB-695B67282E8F}"/>
              </a:ext>
            </a:extLst>
          </p:cNvPr>
          <p:cNvSpPr>
            <a:spLocks xmlns:a="http://schemas.openxmlformats.org/drawingml/2006/main" noGrp="1"/>
          </p:cNvSpPr>
          <p:nvPr/>
        </p:nvSpPr>
        <p:spPr>
          <a:xfrm xmlns:a="http://schemas.openxmlformats.org/drawingml/2006/main">
            <a:off x="3314700" y="1476375"/>
            <a:ext cx="2476500" cy="110490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E5EC"/>
            </a:solidFill>
            <a:prstDash val="solid"/>
          </a:ln>
        </p:spPr>
      </p:sp>
      <p:sp>
        <p:nvSpPr>
          <p:cNvPr id="9" name="">
            <a:extLst xmlns:a="http://schemas.openxmlformats.org/drawingml/2006/main">
              <a:ext uri="{FF2B5EF4-FFF2-40B4-BE49-F238E27FC236}">
                <a16:creationId xmlns:a16="http://schemas.microsoft.com/office/drawing/2014/main" id="{F5A58C0D-057B-45C3-B1DC-48F5D24C9812}"/>
              </a:ext>
            </a:extLst>
          </p:cNvPr>
          <p:cNvSpPr>
            <a:spLocks xmlns:a="http://schemas.openxmlformats.org/drawingml/2006/main" noGrp="1"/>
          </p:cNvSpPr>
          <p:nvPr/>
        </p:nvSpPr>
        <p:spPr>
          <a:xfrm xmlns:a="http://schemas.openxmlformats.org/drawingml/2006/main">
            <a:off x="3486150" y="1628775"/>
            <a:ext cx="2133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F766E"/>
                </a:solidFill>
              </a:defRPr>
            </a:pPr>
            <a:r>
              <a:rPr sz="2550" b="1">
                <a:solidFill>
                  <a:srgbClr val="0F766E"/>
                </a:solidFill>
              </a:rPr>
              <a:t>100 × 5</a:t>
            </a:r>
          </a:p>
        </p:txBody>
      </p:sp>
      <p:sp>
        <p:nvSpPr>
          <p:cNvPr id="10" name="">
            <a:extLst xmlns:a="http://schemas.openxmlformats.org/drawingml/2006/main">
              <a:ext uri="{FF2B5EF4-FFF2-40B4-BE49-F238E27FC236}">
                <a16:creationId xmlns:a16="http://schemas.microsoft.com/office/drawing/2014/main" id="{ED7B81A5-D631-46EA-AFB2-F941D9BF8E3E}"/>
              </a:ext>
            </a:extLst>
          </p:cNvPr>
          <p:cNvSpPr>
            <a:spLocks xmlns:a="http://schemas.openxmlformats.org/drawingml/2006/main" noGrp="1"/>
          </p:cNvSpPr>
          <p:nvPr/>
        </p:nvSpPr>
        <p:spPr>
          <a:xfrm xmlns:a="http://schemas.openxmlformats.org/drawingml/2006/main">
            <a:off x="3486150" y="2114550"/>
            <a:ext cx="2133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dokumen P2P per tahap</a:t>
            </a:r>
          </a:p>
        </p:txBody>
      </p:sp>
      <p:sp>
        <p:nvSpPr>
          <p:cNvPr id="11" name="">
            <a:extLst xmlns:a="http://schemas.openxmlformats.org/drawingml/2006/main">
              <a:ext uri="{FF2B5EF4-FFF2-40B4-BE49-F238E27FC236}">
                <a16:creationId xmlns:a16="http://schemas.microsoft.com/office/drawing/2014/main" id="{F4D1A428-110C-48FE-AB18-0CA2FB13E5D2}"/>
              </a:ext>
            </a:extLst>
          </p:cNvPr>
          <p:cNvSpPr>
            <a:spLocks xmlns:a="http://schemas.openxmlformats.org/drawingml/2006/main" noGrp="1"/>
          </p:cNvSpPr>
          <p:nvPr/>
        </p:nvSpPr>
        <p:spPr>
          <a:xfrm xmlns:a="http://schemas.openxmlformats.org/drawingml/2006/main">
            <a:off x="6019800" y="1476375"/>
            <a:ext cx="2476500" cy="110490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E5EC"/>
            </a:solidFill>
            <a:prstDash val="solid"/>
          </a:ln>
        </p:spPr>
      </p:sp>
      <p:sp>
        <p:nvSpPr>
          <p:cNvPr id="12" name="">
            <a:extLst xmlns:a="http://schemas.openxmlformats.org/drawingml/2006/main">
              <a:ext uri="{FF2B5EF4-FFF2-40B4-BE49-F238E27FC236}">
                <a16:creationId xmlns:a16="http://schemas.microsoft.com/office/drawing/2014/main" id="{B05AF453-6EDA-444E-AFC7-E89651D0BB08}"/>
              </a:ext>
            </a:extLst>
          </p:cNvPr>
          <p:cNvSpPr>
            <a:spLocks xmlns:a="http://schemas.openxmlformats.org/drawingml/2006/main" noGrp="1"/>
          </p:cNvSpPr>
          <p:nvPr/>
        </p:nvSpPr>
        <p:spPr>
          <a:xfrm xmlns:a="http://schemas.openxmlformats.org/drawingml/2006/main">
            <a:off x="6191250" y="1628775"/>
            <a:ext cx="2133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5803D"/>
                </a:solidFill>
              </a:defRPr>
            </a:pPr>
            <a:r>
              <a:rPr sz="2550" b="1">
                <a:solidFill>
                  <a:srgbClr val="15803D"/>
                </a:solidFill>
              </a:rPr>
              <a:t>100</a:t>
            </a:r>
          </a:p>
        </p:txBody>
      </p:sp>
      <p:sp>
        <p:nvSpPr>
          <p:cNvPr id="13" name="">
            <a:extLst xmlns:a="http://schemas.openxmlformats.org/drawingml/2006/main">
              <a:ext uri="{FF2B5EF4-FFF2-40B4-BE49-F238E27FC236}">
                <a16:creationId xmlns:a16="http://schemas.microsoft.com/office/drawing/2014/main" id="{020AB27F-58BE-4E26-93F0-F01DD074771D}"/>
              </a:ext>
            </a:extLst>
          </p:cNvPr>
          <p:cNvSpPr>
            <a:spLocks xmlns:a="http://schemas.openxmlformats.org/drawingml/2006/main" noGrp="1"/>
          </p:cNvSpPr>
          <p:nvPr/>
        </p:nvSpPr>
        <p:spPr>
          <a:xfrm xmlns:a="http://schemas.openxmlformats.org/drawingml/2006/main">
            <a:off x="6191250" y="2114550"/>
            <a:ext cx="2133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jurnal vendor posted</a:t>
            </a:r>
          </a:p>
        </p:txBody>
      </p:sp>
      <p:sp>
        <p:nvSpPr>
          <p:cNvPr id="14" name="">
            <a:extLst xmlns:a="http://schemas.openxmlformats.org/drawingml/2006/main">
              <a:ext uri="{FF2B5EF4-FFF2-40B4-BE49-F238E27FC236}">
                <a16:creationId xmlns:a16="http://schemas.microsoft.com/office/drawing/2014/main" id="{016C3152-5234-4378-9DCD-BE025CC958BB}"/>
              </a:ext>
            </a:extLst>
          </p:cNvPr>
          <p:cNvSpPr>
            <a:spLocks xmlns:a="http://schemas.openxmlformats.org/drawingml/2006/main" noGrp="1"/>
          </p:cNvSpPr>
          <p:nvPr/>
        </p:nvSpPr>
        <p:spPr>
          <a:xfrm xmlns:a="http://schemas.openxmlformats.org/drawingml/2006/main">
            <a:off x="8724900" y="1476375"/>
            <a:ext cx="2476500" cy="110490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E5EC"/>
            </a:solidFill>
            <a:prstDash val="solid"/>
          </a:ln>
        </p:spPr>
      </p:sp>
      <p:sp>
        <p:nvSpPr>
          <p:cNvPr id="15" name="">
            <a:extLst xmlns:a="http://schemas.openxmlformats.org/drawingml/2006/main">
              <a:ext uri="{FF2B5EF4-FFF2-40B4-BE49-F238E27FC236}">
                <a16:creationId xmlns:a16="http://schemas.microsoft.com/office/drawing/2014/main" id="{B7357A15-A025-48F8-949E-11EB63B4D9EB}"/>
              </a:ext>
            </a:extLst>
          </p:cNvPr>
          <p:cNvSpPr>
            <a:spLocks xmlns:a="http://schemas.openxmlformats.org/drawingml/2006/main" noGrp="1"/>
          </p:cNvSpPr>
          <p:nvPr/>
        </p:nvSpPr>
        <p:spPr>
          <a:xfrm xmlns:a="http://schemas.openxmlformats.org/drawingml/2006/main">
            <a:off x="8896350" y="1628775"/>
            <a:ext cx="2133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7C3AED"/>
                </a:solidFill>
              </a:defRPr>
            </a:pPr>
            <a:r>
              <a:rPr sz="2550" b="1">
                <a:solidFill>
                  <a:srgbClr val="7C3AED"/>
                </a:solidFill>
              </a:rPr>
              <a:t>6</a:t>
            </a:r>
          </a:p>
        </p:txBody>
      </p:sp>
      <p:sp>
        <p:nvSpPr>
          <p:cNvPr id="16" name="">
            <a:extLst xmlns:a="http://schemas.openxmlformats.org/drawingml/2006/main">
              <a:ext uri="{FF2B5EF4-FFF2-40B4-BE49-F238E27FC236}">
                <a16:creationId xmlns:a16="http://schemas.microsoft.com/office/drawing/2014/main" id="{CB42D0E8-0C23-4065-A624-968E7CA7624E}"/>
              </a:ext>
            </a:extLst>
          </p:cNvPr>
          <p:cNvSpPr>
            <a:spLocks xmlns:a="http://schemas.openxmlformats.org/drawingml/2006/main" noGrp="1"/>
          </p:cNvSpPr>
          <p:nvPr/>
        </p:nvSpPr>
        <p:spPr>
          <a:xfrm xmlns:a="http://schemas.openxmlformats.org/drawingml/2006/main">
            <a:off x="8896350" y="2114550"/>
            <a:ext cx="2133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laporan keuangan render</a:t>
            </a:r>
          </a:p>
        </p:txBody>
      </p:sp>
      <p:sp>
        <p:nvSpPr>
          <p:cNvPr id="17" name="">
            <a:extLst xmlns:a="http://schemas.openxmlformats.org/drawingml/2006/main">
              <a:ext uri="{FF2B5EF4-FFF2-40B4-BE49-F238E27FC236}">
                <a16:creationId xmlns:a16="http://schemas.microsoft.com/office/drawing/2014/main" id="{81E461A9-EA20-4774-949D-8AE129A89439}"/>
              </a:ext>
            </a:extLst>
          </p:cNvPr>
          <p:cNvSpPr>
            <a:spLocks xmlns:a="http://schemas.openxmlformats.org/drawingml/2006/main" noGrp="1"/>
          </p:cNvSpPr>
          <p:nvPr/>
        </p:nvSpPr>
        <p:spPr>
          <a:xfrm xmlns:a="http://schemas.openxmlformats.org/drawingml/2006/main">
            <a:off x="609600" y="2952750"/>
            <a:ext cx="105918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9E5EC"/>
            </a:solidFill>
            <a:prstDash val="solid"/>
          </a:ln>
        </p:spPr>
      </p:sp>
      <p:sp>
        <p:nvSpPr>
          <p:cNvPr id="18" name="">
            <a:extLst xmlns:a="http://schemas.openxmlformats.org/drawingml/2006/main">
              <a:ext uri="{FF2B5EF4-FFF2-40B4-BE49-F238E27FC236}">
                <a16:creationId xmlns:a16="http://schemas.microsoft.com/office/drawing/2014/main" id="{7CE0A8C7-CE20-433D-9A12-46305D43E14E}"/>
              </a:ext>
            </a:extLst>
          </p:cNvPr>
          <p:cNvSpPr>
            <a:spLocks xmlns:a="http://schemas.openxmlformats.org/drawingml/2006/main" noGrp="1"/>
          </p:cNvSpPr>
          <p:nvPr/>
        </p:nvSpPr>
        <p:spPr>
          <a:xfrm xmlns:a="http://schemas.openxmlformats.org/drawingml/2006/main">
            <a:off x="876300" y="32194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5803D"/>
                </a:solidFill>
              </a:defRPr>
            </a:pPr>
            <a:r>
              <a:rPr sz="1800" b="1">
                <a:solidFill>
                  <a:srgbClr val="15803D"/>
                </a:solidFill>
              </a:rPr>
              <a:t>Yang lulus</a:t>
            </a:r>
          </a:p>
        </p:txBody>
      </p:sp>
      <p:sp>
        <p:nvSpPr>
          <p:cNvPr id="19" name="">
            <a:extLst xmlns:a="http://schemas.openxmlformats.org/drawingml/2006/main">
              <a:ext uri="{FF2B5EF4-FFF2-40B4-BE49-F238E27FC236}">
                <a16:creationId xmlns:a16="http://schemas.microsoft.com/office/drawing/2014/main" id="{5C0C8024-8812-4499-94B4-92761C641CC1}"/>
              </a:ext>
            </a:extLst>
          </p:cNvPr>
          <p:cNvSpPr>
            <a:spLocks xmlns:a="http://schemas.openxmlformats.org/drawingml/2006/main" noGrp="1"/>
          </p:cNvSpPr>
          <p:nvPr/>
        </p:nvSpPr>
        <p:spPr>
          <a:xfrm xmlns:a="http://schemas.openxmlformats.org/drawingml/2006/main">
            <a:off x="876300" y="3695700"/>
            <a:ext cx="4286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 100 obat jadi</a:t>
            </a:r>
          </a:p>
          <a:p xmlns:a="http://schemas.openxmlformats.org/drawingml/2006/main">
            <a:pPr algn="l">
              <a:defRPr sz="1500" b="0">
                <a:solidFill>
                  <a:srgbClr val="172033"/>
                </a:solidFill>
              </a:defRPr>
            </a:pPr>
            <a:r>
              <a:rPr sz="1500" b="0">
                <a:solidFill>
                  <a:srgbClr val="172033"/>
                </a:solidFill>
              </a:rPr>
              <a:t>• 100 obat racik</a:t>
            </a:r>
          </a:p>
          <a:p xmlns:a="http://schemas.openxmlformats.org/drawingml/2006/main">
            <a:pPr algn="l">
              <a:defRPr sz="1500" b="0">
                <a:solidFill>
                  <a:srgbClr val="172033"/>
                </a:solidFill>
              </a:defRPr>
            </a:pPr>
            <a:r>
              <a:rPr sz="1500" b="0">
                <a:solidFill>
                  <a:srgbClr val="172033"/>
                </a:solidFill>
              </a:rPr>
              <a:t>• 100 gabungan</a:t>
            </a:r>
          </a:p>
          <a:p xmlns:a="http://schemas.openxmlformats.org/drawingml/2006/main">
            <a:pPr algn="l">
              <a:defRPr sz="1500" b="0">
                <a:solidFill>
                  <a:srgbClr val="172033"/>
                </a:solidFill>
              </a:defRPr>
            </a:pPr>
            <a:r>
              <a:rPr sz="1500" b="0">
                <a:solidFill>
                  <a:srgbClr val="172033"/>
                </a:solidFill>
              </a:rPr>
              <a:t>• 100 PR–PO–BAST–tagihan–bayar</a:t>
            </a:r>
          </a:p>
          <a:p xmlns:a="http://schemas.openxmlformats.org/drawingml/2006/main">
            <a:pPr algn="l">
              <a:defRPr sz="1500" b="0">
                <a:solidFill>
                  <a:srgbClr val="172033"/>
                </a:solidFill>
              </a:defRPr>
            </a:pPr>
            <a:r>
              <a:rPr sz="1500" b="0">
                <a:solidFill>
                  <a:srgbClr val="172033"/>
                </a:solidFill>
              </a:rPr>
              <a:t>• 100 jurnal vendor diposting</a:t>
            </a:r>
          </a:p>
        </p:txBody>
      </p:sp>
      <p:sp>
        <p:nvSpPr>
          <p:cNvPr id="20" name="">
            <a:extLst xmlns:a="http://schemas.openxmlformats.org/drawingml/2006/main">
              <a:ext uri="{FF2B5EF4-FFF2-40B4-BE49-F238E27FC236}">
                <a16:creationId xmlns:a16="http://schemas.microsoft.com/office/drawing/2014/main" id="{E6B445DD-A824-4638-9C87-DE506187A57D}"/>
              </a:ext>
            </a:extLst>
          </p:cNvPr>
          <p:cNvSpPr>
            <a:spLocks xmlns:a="http://schemas.openxmlformats.org/drawingml/2006/main" noGrp="1"/>
          </p:cNvSpPr>
          <p:nvPr/>
        </p:nvSpPr>
        <p:spPr>
          <a:xfrm xmlns:a="http://schemas.openxmlformats.org/drawingml/2006/main">
            <a:off x="6000750" y="32194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B91C1C"/>
                </a:solidFill>
              </a:defRPr>
            </a:pPr>
            <a:r>
              <a:rPr sz="1800" b="1">
                <a:solidFill>
                  <a:srgbClr val="B91C1C"/>
                </a:solidFill>
              </a:rPr>
              <a:t>Exit criterion produksi</a:t>
            </a:r>
          </a:p>
        </p:txBody>
      </p:sp>
      <p:sp>
        <p:nvSpPr>
          <p:cNvPr id="21" name="">
            <a:extLst xmlns:a="http://schemas.openxmlformats.org/drawingml/2006/main">
              <a:ext uri="{FF2B5EF4-FFF2-40B4-BE49-F238E27FC236}">
                <a16:creationId xmlns:a16="http://schemas.microsoft.com/office/drawing/2014/main" id="{D24C37AF-BB72-4197-9BFA-25CE300F567A}"/>
              </a:ext>
            </a:extLst>
          </p:cNvPr>
          <p:cNvSpPr>
            <a:spLocks xmlns:a="http://schemas.openxmlformats.org/drawingml/2006/main" noGrp="1"/>
          </p:cNvSpPr>
          <p:nvPr/>
        </p:nvSpPr>
        <p:spPr>
          <a:xfrm xmlns:a="http://schemas.openxmlformats.org/drawingml/2006/main">
            <a:off x="6000750" y="3695700"/>
            <a:ext cx="4524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 Seed katalog ≥100 item</a:t>
            </a:r>
          </a:p>
          <a:p xmlns:a="http://schemas.openxmlformats.org/drawingml/2006/main">
            <a:pPr algn="l">
              <a:defRPr sz="1500" b="0">
                <a:solidFill>
                  <a:srgbClr val="172033"/>
                </a:solidFill>
              </a:defRPr>
            </a:pPr>
            <a:r>
              <a:rPr sz="1500" b="0">
                <a:solidFill>
                  <a:srgbClr val="172033"/>
                </a:solidFill>
              </a:rPr>
              <a:t>• Endpoint antrean live</a:t>
            </a:r>
          </a:p>
          <a:p xmlns:a="http://schemas.openxmlformats.org/drawingml/2006/main">
            <a:pPr algn="l">
              <a:defRPr sz="1500" b="0">
                <a:solidFill>
                  <a:srgbClr val="172033"/>
                </a:solidFill>
              </a:defRPr>
            </a:pPr>
            <a:r>
              <a:rPr sz="1500" b="0">
                <a:solidFill>
                  <a:srgbClr val="172033"/>
                </a:solidFill>
              </a:rPr>
              <a:t>• Laporan penjualan berisi data</a:t>
            </a:r>
          </a:p>
          <a:p xmlns:a="http://schemas.openxmlformats.org/drawingml/2006/main">
            <a:pPr algn="l">
              <a:defRPr sz="1500" b="0">
                <a:solidFill>
                  <a:srgbClr val="172033"/>
                </a:solidFill>
              </a:defRPr>
            </a:pPr>
            <a:r>
              <a:rPr sz="1500" b="0">
                <a:solidFill>
                  <a:srgbClr val="172033"/>
                </a:solidFill>
              </a:rPr>
              <a:t>• Saldo awal/posting otomatis stabil</a:t>
            </a:r>
          </a:p>
          <a:p xmlns:a="http://schemas.openxmlformats.org/drawingml/2006/main">
            <a:pPr algn="l">
              <a:defRPr sz="1500" b="0">
                <a:solidFill>
                  <a:srgbClr val="172033"/>
                </a:solidFill>
              </a:defRPr>
            </a:pPr>
            <a:r>
              <a:rPr sz="1500" b="0">
                <a:solidFill>
                  <a:srgbClr val="172033"/>
                </a:solidFill>
              </a:rPr>
              <a:t>• APK dan EXE ditandatangani resmi</a:t>
            </a:r>
          </a:p>
        </p:txBody>
      </p:sp>
    </p:spTree>
    <p:extLst>
      <p:ext uri="{BB962C8B-B14F-4D97-AF65-F5344CB8AC3E}">
        <p14:creationId xmlns:p14="http://schemas.microsoft.com/office/powerpoint/2010/main" val="562142116"/>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19A6FD1-F7BC-4AA4-BA5D-3DEB5A0492C3}"/>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STATUS UAT</a:t>
            </a:r>
          </a:p>
        </p:txBody>
      </p:sp>
      <p:sp>
        <p:nvSpPr>
          <p:cNvPr id="2" name="">
            <a:extLst xmlns:a="http://schemas.openxmlformats.org/drawingml/2006/main">
              <a:ext uri="{FF2B5EF4-FFF2-40B4-BE49-F238E27FC236}">
                <a16:creationId xmlns:a16="http://schemas.microsoft.com/office/drawing/2014/main" id="{5D79DDB3-283A-4AA1-A92A-CD909E83A657}"/>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PASS tidak sama dengan siap produksi</a:t>
            </a:r>
          </a:p>
        </p:txBody>
      </p:sp>
      <p:sp>
        <p:nvSpPr>
          <p:cNvPr id="3" name="">
            <a:extLst xmlns:a="http://schemas.openxmlformats.org/drawingml/2006/main">
              <a:ext uri="{FF2B5EF4-FFF2-40B4-BE49-F238E27FC236}">
                <a16:creationId xmlns:a16="http://schemas.microsoft.com/office/drawing/2014/main" id="{AADE3B68-A903-4C48-9A95-ED2F7729841E}"/>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03</a:t>
            </a:r>
          </a:p>
        </p:txBody>
      </p:sp>
      <p:sp>
        <p:nvSpPr>
          <p:cNvPr id="4" name="">
            <a:extLst xmlns:a="http://schemas.openxmlformats.org/drawingml/2006/main">
              <a:ext uri="{FF2B5EF4-FFF2-40B4-BE49-F238E27FC236}">
                <a16:creationId xmlns:a16="http://schemas.microsoft.com/office/drawing/2014/main" id="{CFBD2D18-4A97-4442-8216-C6BA376DC82D}"/>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3</a:t>
            </a:r>
          </a:p>
        </p:txBody>
      </p:sp>
      <p:sp>
        <p:nvSpPr>
          <p:cNvPr id="5" name="">
            <a:extLst xmlns:a="http://schemas.openxmlformats.org/drawingml/2006/main">
              <a:ext uri="{FF2B5EF4-FFF2-40B4-BE49-F238E27FC236}">
                <a16:creationId xmlns:a16="http://schemas.microsoft.com/office/drawing/2014/main" id="{01843BC1-5452-43F0-BFD0-CE34185ECBF9}"/>
              </a:ext>
            </a:extLst>
          </p:cNvPr>
          <p:cNvSpPr>
            <a:spLocks xmlns:a="http://schemas.openxmlformats.org/drawingml/2006/main" noGrp="1"/>
          </p:cNvSpPr>
          <p:nvPr/>
        </p:nvSpPr>
        <p:spPr>
          <a:xfrm xmlns:a="http://schemas.openxmlformats.org/drawingml/2006/main">
            <a:off x="781050" y="14668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526273"/>
                </a:solidFill>
              </a:defRPr>
            </a:pPr>
            <a:r>
              <a:rPr sz="1200" b="1">
                <a:solidFill>
                  <a:srgbClr val="526273"/>
                </a:solidFill>
              </a:rPr>
              <a:t>AREA</a:t>
            </a:r>
          </a:p>
        </p:txBody>
      </p:sp>
      <p:sp>
        <p:nvSpPr>
          <p:cNvPr id="6" name="">
            <a:extLst xmlns:a="http://schemas.openxmlformats.org/drawingml/2006/main">
              <a:ext uri="{FF2B5EF4-FFF2-40B4-BE49-F238E27FC236}">
                <a16:creationId xmlns:a16="http://schemas.microsoft.com/office/drawing/2014/main" id="{0EBDEB0E-AF73-40CE-9953-9FA8F435440A}"/>
              </a:ext>
            </a:extLst>
          </p:cNvPr>
          <p:cNvSpPr>
            <a:spLocks xmlns:a="http://schemas.openxmlformats.org/drawingml/2006/main" noGrp="1"/>
          </p:cNvSpPr>
          <p:nvPr/>
        </p:nvSpPr>
        <p:spPr>
          <a:xfrm xmlns:a="http://schemas.openxmlformats.org/drawingml/2006/main">
            <a:off x="4514850" y="14668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526273"/>
                </a:solidFill>
              </a:defRPr>
            </a:pPr>
            <a:r>
              <a:rPr sz="1200" b="1">
                <a:solidFill>
                  <a:srgbClr val="526273"/>
                </a:solidFill>
              </a:rPr>
              <a:t>BUKTI</a:t>
            </a:r>
          </a:p>
        </p:txBody>
      </p:sp>
      <p:sp>
        <p:nvSpPr>
          <p:cNvPr id="7" name="">
            <a:extLst xmlns:a="http://schemas.openxmlformats.org/drawingml/2006/main">
              <a:ext uri="{FF2B5EF4-FFF2-40B4-BE49-F238E27FC236}">
                <a16:creationId xmlns:a16="http://schemas.microsoft.com/office/drawing/2014/main" id="{BD97AFB8-87B8-416E-B09F-E18414571F33}"/>
              </a:ext>
            </a:extLst>
          </p:cNvPr>
          <p:cNvSpPr>
            <a:spLocks xmlns:a="http://schemas.openxmlformats.org/drawingml/2006/main" noGrp="1"/>
          </p:cNvSpPr>
          <p:nvPr/>
        </p:nvSpPr>
        <p:spPr>
          <a:xfrm xmlns:a="http://schemas.openxmlformats.org/drawingml/2006/main">
            <a:off x="7219950" y="14668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526273"/>
                </a:solidFill>
              </a:defRPr>
            </a:pPr>
            <a:r>
              <a:rPr sz="1200" b="1">
                <a:solidFill>
                  <a:srgbClr val="526273"/>
                </a:solidFill>
              </a:rPr>
              <a:t>KEPUTUSAN</a:t>
            </a:r>
          </a:p>
        </p:txBody>
      </p:sp>
      <p:sp>
        <p:nvSpPr>
          <p:cNvPr id="8" name="">
            <a:extLst xmlns:a="http://schemas.openxmlformats.org/drawingml/2006/main">
              <a:ext uri="{FF2B5EF4-FFF2-40B4-BE49-F238E27FC236}">
                <a16:creationId xmlns:a16="http://schemas.microsoft.com/office/drawing/2014/main" id="{1E9A3EEA-35A2-48CF-B288-0A104F78AF75}"/>
              </a:ext>
            </a:extLst>
          </p:cNvPr>
          <p:cNvSpPr>
            <a:spLocks xmlns:a="http://schemas.openxmlformats.org/drawingml/2006/main" noGrp="1"/>
          </p:cNvSpPr>
          <p:nvPr/>
        </p:nvSpPr>
        <p:spPr>
          <a:xfrm xmlns:a="http://schemas.openxmlformats.org/drawingml/2006/main">
            <a:off x="609600" y="1847850"/>
            <a:ext cx="10591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E5EC"/>
            </a:solidFill>
            <a:prstDash val="solid"/>
          </a:ln>
        </p:spPr>
      </p:sp>
      <p:sp>
        <p:nvSpPr>
          <p:cNvPr id="9" name="">
            <a:extLst xmlns:a="http://schemas.openxmlformats.org/drawingml/2006/main">
              <a:ext uri="{FF2B5EF4-FFF2-40B4-BE49-F238E27FC236}">
                <a16:creationId xmlns:a16="http://schemas.microsoft.com/office/drawing/2014/main" id="{D826C0EC-A61B-464C-A262-00BBA12EA919}"/>
              </a:ext>
            </a:extLst>
          </p:cNvPr>
          <p:cNvSpPr>
            <a:spLocks xmlns:a="http://schemas.openxmlformats.org/drawingml/2006/main" noGrp="1"/>
          </p:cNvSpPr>
          <p:nvPr/>
        </p:nvSpPr>
        <p:spPr>
          <a:xfrm xmlns:a="http://schemas.openxmlformats.org/drawingml/2006/main">
            <a:off x="781050" y="19907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033"/>
                </a:solidFill>
              </a:defRPr>
            </a:pPr>
            <a:r>
              <a:rPr sz="1425" b="1">
                <a:solidFill>
                  <a:srgbClr val="172033"/>
                </a:solidFill>
              </a:rPr>
              <a:t>Penjualan</a:t>
            </a:r>
          </a:p>
        </p:txBody>
      </p:sp>
      <p:sp>
        <p:nvSpPr>
          <p:cNvPr id="10" name="">
            <a:extLst xmlns:a="http://schemas.openxmlformats.org/drawingml/2006/main">
              <a:ext uri="{FF2B5EF4-FFF2-40B4-BE49-F238E27FC236}">
                <a16:creationId xmlns:a16="http://schemas.microsoft.com/office/drawing/2014/main" id="{A6BE4F6F-596C-4482-8A2F-5B0700EC6F71}"/>
              </a:ext>
            </a:extLst>
          </p:cNvPr>
          <p:cNvSpPr>
            <a:spLocks xmlns:a="http://schemas.openxmlformats.org/drawingml/2006/main" noGrp="1"/>
          </p:cNvSpPr>
          <p:nvPr/>
        </p:nvSpPr>
        <p:spPr>
          <a:xfrm xmlns:a="http://schemas.openxmlformats.org/drawingml/2006/main">
            <a:off x="4514850" y="19907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75985"/>
                </a:solidFill>
              </a:defRPr>
            </a:pPr>
            <a:r>
              <a:rPr sz="1425" b="1">
                <a:solidFill>
                  <a:srgbClr val="075985"/>
                </a:solidFill>
              </a:rPr>
              <a:t>300/300</a:t>
            </a:r>
          </a:p>
        </p:txBody>
      </p:sp>
      <p:sp>
        <p:nvSpPr>
          <p:cNvPr id="11" name="">
            <a:extLst xmlns:a="http://schemas.openxmlformats.org/drawingml/2006/main">
              <a:ext uri="{FF2B5EF4-FFF2-40B4-BE49-F238E27FC236}">
                <a16:creationId xmlns:a16="http://schemas.microsoft.com/office/drawing/2014/main" id="{5E91DDFA-1F3B-4710-B083-FB8A32C5AF06}"/>
              </a:ext>
            </a:extLst>
          </p:cNvPr>
          <p:cNvSpPr>
            <a:spLocks xmlns:a="http://schemas.openxmlformats.org/drawingml/2006/main" noGrp="1"/>
          </p:cNvSpPr>
          <p:nvPr/>
        </p:nvSpPr>
        <p:spPr>
          <a:xfrm xmlns:a="http://schemas.openxmlformats.org/drawingml/2006/main">
            <a:off x="7219950" y="19907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5803D"/>
                </a:solidFill>
              </a:defRPr>
            </a:pPr>
            <a:r>
              <a:rPr sz="1425" b="1">
                <a:solidFill>
                  <a:srgbClr val="15803D"/>
                </a:solidFill>
              </a:rPr>
              <a:t>PASS</a:t>
            </a:r>
          </a:p>
        </p:txBody>
      </p:sp>
      <p:sp>
        <p:nvSpPr>
          <p:cNvPr id="12" name="">
            <a:extLst xmlns:a="http://schemas.openxmlformats.org/drawingml/2006/main">
              <a:ext uri="{FF2B5EF4-FFF2-40B4-BE49-F238E27FC236}">
                <a16:creationId xmlns:a16="http://schemas.microsoft.com/office/drawing/2014/main" id="{C1FFF6E9-380E-4315-BB60-4FF71A74A8C4}"/>
              </a:ext>
            </a:extLst>
          </p:cNvPr>
          <p:cNvSpPr>
            <a:spLocks xmlns:a="http://schemas.openxmlformats.org/drawingml/2006/main" noGrp="1"/>
          </p:cNvSpPr>
          <p:nvPr/>
        </p:nvSpPr>
        <p:spPr>
          <a:xfrm xmlns:a="http://schemas.openxmlformats.org/drawingml/2006/main">
            <a:off x="609600" y="2533650"/>
            <a:ext cx="1059180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D9E5EC"/>
            </a:solidFill>
            <a:prstDash val="solid"/>
          </a:ln>
        </p:spPr>
      </p:sp>
      <p:sp>
        <p:nvSpPr>
          <p:cNvPr id="13" name="">
            <a:extLst xmlns:a="http://schemas.openxmlformats.org/drawingml/2006/main">
              <a:ext uri="{FF2B5EF4-FFF2-40B4-BE49-F238E27FC236}">
                <a16:creationId xmlns:a16="http://schemas.microsoft.com/office/drawing/2014/main" id="{12E6F8BB-0769-4EFD-ADAA-C059FE4F0A8C}"/>
              </a:ext>
            </a:extLst>
          </p:cNvPr>
          <p:cNvSpPr>
            <a:spLocks xmlns:a="http://schemas.openxmlformats.org/drawingml/2006/main" noGrp="1"/>
          </p:cNvSpPr>
          <p:nvPr/>
        </p:nvSpPr>
        <p:spPr>
          <a:xfrm xmlns:a="http://schemas.openxmlformats.org/drawingml/2006/main">
            <a:off x="781050" y="26765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033"/>
                </a:solidFill>
              </a:defRPr>
            </a:pPr>
            <a:r>
              <a:rPr sz="1425" b="1">
                <a:solidFill>
                  <a:srgbClr val="172033"/>
                </a:solidFill>
              </a:rPr>
              <a:t>Procure-to-pay</a:t>
            </a:r>
          </a:p>
        </p:txBody>
      </p:sp>
      <p:sp>
        <p:nvSpPr>
          <p:cNvPr id="14" name="">
            <a:extLst xmlns:a="http://schemas.openxmlformats.org/drawingml/2006/main">
              <a:ext uri="{FF2B5EF4-FFF2-40B4-BE49-F238E27FC236}">
                <a16:creationId xmlns:a16="http://schemas.microsoft.com/office/drawing/2014/main" id="{AE44AFBC-7A36-40F6-8573-228364A3BEB6}"/>
              </a:ext>
            </a:extLst>
          </p:cNvPr>
          <p:cNvSpPr>
            <a:spLocks xmlns:a="http://schemas.openxmlformats.org/drawingml/2006/main" noGrp="1"/>
          </p:cNvSpPr>
          <p:nvPr/>
        </p:nvSpPr>
        <p:spPr>
          <a:xfrm xmlns:a="http://schemas.openxmlformats.org/drawingml/2006/main">
            <a:off x="4514850" y="26765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75985"/>
                </a:solidFill>
              </a:defRPr>
            </a:pPr>
            <a:r>
              <a:rPr sz="1425" b="1">
                <a:solidFill>
                  <a:srgbClr val="075985"/>
                </a:solidFill>
              </a:rPr>
              <a:t>100/tahap</a:t>
            </a:r>
          </a:p>
        </p:txBody>
      </p:sp>
      <p:sp>
        <p:nvSpPr>
          <p:cNvPr id="15" name="">
            <a:extLst xmlns:a="http://schemas.openxmlformats.org/drawingml/2006/main">
              <a:ext uri="{FF2B5EF4-FFF2-40B4-BE49-F238E27FC236}">
                <a16:creationId xmlns:a16="http://schemas.microsoft.com/office/drawing/2014/main" id="{CC740253-1C18-4916-A3AD-18D8D57E1F77}"/>
              </a:ext>
            </a:extLst>
          </p:cNvPr>
          <p:cNvSpPr>
            <a:spLocks xmlns:a="http://schemas.openxmlformats.org/drawingml/2006/main" noGrp="1"/>
          </p:cNvSpPr>
          <p:nvPr/>
        </p:nvSpPr>
        <p:spPr>
          <a:xfrm xmlns:a="http://schemas.openxmlformats.org/drawingml/2006/main">
            <a:off x="7219950" y="26765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B45309"/>
                </a:solidFill>
              </a:defRPr>
            </a:pPr>
            <a:r>
              <a:rPr sz="1425" b="1">
                <a:solidFill>
                  <a:srgbClr val="B45309"/>
                </a:solidFill>
              </a:rPr>
              <a:t>PASS bersyarat</a:t>
            </a:r>
          </a:p>
        </p:txBody>
      </p:sp>
      <p:sp>
        <p:nvSpPr>
          <p:cNvPr id="16" name="">
            <a:extLst xmlns:a="http://schemas.openxmlformats.org/drawingml/2006/main">
              <a:ext uri="{FF2B5EF4-FFF2-40B4-BE49-F238E27FC236}">
                <a16:creationId xmlns:a16="http://schemas.microsoft.com/office/drawing/2014/main" id="{5B7476A1-E1EA-4DC3-ABD9-39F2EA153DA8}"/>
              </a:ext>
            </a:extLst>
          </p:cNvPr>
          <p:cNvSpPr>
            <a:spLocks xmlns:a="http://schemas.openxmlformats.org/drawingml/2006/main" noGrp="1"/>
          </p:cNvSpPr>
          <p:nvPr/>
        </p:nvSpPr>
        <p:spPr>
          <a:xfrm xmlns:a="http://schemas.openxmlformats.org/drawingml/2006/main">
            <a:off x="609600" y="3219450"/>
            <a:ext cx="10591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E5EC"/>
            </a:solidFill>
            <a:prstDash val="solid"/>
          </a:ln>
        </p:spPr>
      </p:sp>
      <p:sp>
        <p:nvSpPr>
          <p:cNvPr id="17" name="">
            <a:extLst xmlns:a="http://schemas.openxmlformats.org/drawingml/2006/main">
              <a:ext uri="{FF2B5EF4-FFF2-40B4-BE49-F238E27FC236}">
                <a16:creationId xmlns:a16="http://schemas.microsoft.com/office/drawing/2014/main" id="{16585CF7-814E-47FE-9A45-ED7A86925170}"/>
              </a:ext>
            </a:extLst>
          </p:cNvPr>
          <p:cNvSpPr>
            <a:spLocks xmlns:a="http://schemas.openxmlformats.org/drawingml/2006/main" noGrp="1"/>
          </p:cNvSpPr>
          <p:nvPr/>
        </p:nvSpPr>
        <p:spPr>
          <a:xfrm xmlns:a="http://schemas.openxmlformats.org/drawingml/2006/main">
            <a:off x="781050" y="33623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033"/>
                </a:solidFill>
              </a:defRPr>
            </a:pPr>
            <a:r>
              <a:rPr sz="1425" b="1">
                <a:solidFill>
                  <a:srgbClr val="172033"/>
                </a:solidFill>
              </a:rPr>
              <a:t>Stok master</a:t>
            </a:r>
          </a:p>
        </p:txBody>
      </p:sp>
      <p:sp>
        <p:nvSpPr>
          <p:cNvPr id="18" name="">
            <a:extLst xmlns:a="http://schemas.openxmlformats.org/drawingml/2006/main">
              <a:ext uri="{FF2B5EF4-FFF2-40B4-BE49-F238E27FC236}">
                <a16:creationId xmlns:a16="http://schemas.microsoft.com/office/drawing/2014/main" id="{90018517-57EA-44FD-8897-8A47FC98CBE3}"/>
              </a:ext>
            </a:extLst>
          </p:cNvPr>
          <p:cNvSpPr>
            <a:spLocks xmlns:a="http://schemas.openxmlformats.org/drawingml/2006/main" noGrp="1"/>
          </p:cNvSpPr>
          <p:nvPr/>
        </p:nvSpPr>
        <p:spPr>
          <a:xfrm xmlns:a="http://schemas.openxmlformats.org/drawingml/2006/main">
            <a:off x="4514850" y="33623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75985"/>
                </a:solidFill>
              </a:defRPr>
            </a:pPr>
            <a:r>
              <a:rPr sz="1425" b="1">
                <a:solidFill>
                  <a:srgbClr val="075985"/>
                </a:solidFill>
              </a:rPr>
              <a:t>2 item</a:t>
            </a:r>
          </a:p>
        </p:txBody>
      </p:sp>
      <p:sp>
        <p:nvSpPr>
          <p:cNvPr id="19" name="">
            <a:extLst xmlns:a="http://schemas.openxmlformats.org/drawingml/2006/main">
              <a:ext uri="{FF2B5EF4-FFF2-40B4-BE49-F238E27FC236}">
                <a16:creationId xmlns:a16="http://schemas.microsoft.com/office/drawing/2014/main" id="{1106EF15-C228-48AD-8D24-10D78FC91B1F}"/>
              </a:ext>
            </a:extLst>
          </p:cNvPr>
          <p:cNvSpPr>
            <a:spLocks xmlns:a="http://schemas.openxmlformats.org/drawingml/2006/main" noGrp="1"/>
          </p:cNvSpPr>
          <p:nvPr/>
        </p:nvSpPr>
        <p:spPr>
          <a:xfrm xmlns:a="http://schemas.openxmlformats.org/drawingml/2006/main">
            <a:off x="7219950" y="33623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B91C1C"/>
                </a:solidFill>
              </a:defRPr>
            </a:pPr>
            <a:r>
              <a:rPr sz="1425" b="1">
                <a:solidFill>
                  <a:srgbClr val="B91C1C"/>
                </a:solidFill>
              </a:rPr>
              <a:t>BLOCKED volume</a:t>
            </a:r>
          </a:p>
        </p:txBody>
      </p:sp>
      <p:sp>
        <p:nvSpPr>
          <p:cNvPr id="20" name="">
            <a:extLst xmlns:a="http://schemas.openxmlformats.org/drawingml/2006/main">
              <a:ext uri="{FF2B5EF4-FFF2-40B4-BE49-F238E27FC236}">
                <a16:creationId xmlns:a16="http://schemas.microsoft.com/office/drawing/2014/main" id="{3B498EDD-7887-4612-9325-F1DC8993720B}"/>
              </a:ext>
            </a:extLst>
          </p:cNvPr>
          <p:cNvSpPr>
            <a:spLocks xmlns:a="http://schemas.openxmlformats.org/drawingml/2006/main" noGrp="1"/>
          </p:cNvSpPr>
          <p:nvPr/>
        </p:nvSpPr>
        <p:spPr>
          <a:xfrm xmlns:a="http://schemas.openxmlformats.org/drawingml/2006/main">
            <a:off x="609600" y="3905250"/>
            <a:ext cx="1059180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D9E5EC"/>
            </a:solidFill>
            <a:prstDash val="solid"/>
          </a:ln>
        </p:spPr>
      </p:sp>
      <p:sp>
        <p:nvSpPr>
          <p:cNvPr id="21" name="">
            <a:extLst xmlns:a="http://schemas.openxmlformats.org/drawingml/2006/main">
              <a:ext uri="{FF2B5EF4-FFF2-40B4-BE49-F238E27FC236}">
                <a16:creationId xmlns:a16="http://schemas.microsoft.com/office/drawing/2014/main" id="{C4EE047A-16A3-4BD0-BACE-5A36A3B0183A}"/>
              </a:ext>
            </a:extLst>
          </p:cNvPr>
          <p:cNvSpPr>
            <a:spLocks xmlns:a="http://schemas.openxmlformats.org/drawingml/2006/main" noGrp="1"/>
          </p:cNvSpPr>
          <p:nvPr/>
        </p:nvSpPr>
        <p:spPr>
          <a:xfrm xmlns:a="http://schemas.openxmlformats.org/drawingml/2006/main">
            <a:off x="781050" y="40481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033"/>
                </a:solidFill>
              </a:defRPr>
            </a:pPr>
            <a:r>
              <a:rPr sz="1425" b="1">
                <a:solidFill>
                  <a:srgbClr val="172033"/>
                </a:solidFill>
              </a:rPr>
              <a:t>Antrean pasien</a:t>
            </a:r>
          </a:p>
        </p:txBody>
      </p:sp>
      <p:sp>
        <p:nvSpPr>
          <p:cNvPr id="22" name="">
            <a:extLst xmlns:a="http://schemas.openxmlformats.org/drawingml/2006/main">
              <a:ext uri="{FF2B5EF4-FFF2-40B4-BE49-F238E27FC236}">
                <a16:creationId xmlns:a16="http://schemas.microsoft.com/office/drawing/2014/main" id="{CA1CB67C-8444-450C-BC9D-AC9C900077F1}"/>
              </a:ext>
            </a:extLst>
          </p:cNvPr>
          <p:cNvSpPr>
            <a:spLocks xmlns:a="http://schemas.openxmlformats.org/drawingml/2006/main" noGrp="1"/>
          </p:cNvSpPr>
          <p:nvPr/>
        </p:nvSpPr>
        <p:spPr>
          <a:xfrm xmlns:a="http://schemas.openxmlformats.org/drawingml/2006/main">
            <a:off x="4514850" y="40481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75985"/>
                </a:solidFill>
              </a:defRPr>
            </a:pPr>
            <a:r>
              <a:rPr sz="1425" b="1">
                <a:solidFill>
                  <a:srgbClr val="075985"/>
                </a:solidFill>
              </a:rPr>
              <a:t>komponen</a:t>
            </a:r>
          </a:p>
        </p:txBody>
      </p:sp>
      <p:sp>
        <p:nvSpPr>
          <p:cNvPr id="23" name="">
            <a:extLst xmlns:a="http://schemas.openxmlformats.org/drawingml/2006/main">
              <a:ext uri="{FF2B5EF4-FFF2-40B4-BE49-F238E27FC236}">
                <a16:creationId xmlns:a16="http://schemas.microsoft.com/office/drawing/2014/main" id="{7F3B0C1E-4AAC-4DEE-A9CA-68C11F9FC28A}"/>
              </a:ext>
            </a:extLst>
          </p:cNvPr>
          <p:cNvSpPr>
            <a:spLocks xmlns:a="http://schemas.openxmlformats.org/drawingml/2006/main" noGrp="1"/>
          </p:cNvSpPr>
          <p:nvPr/>
        </p:nvSpPr>
        <p:spPr>
          <a:xfrm xmlns:a="http://schemas.openxmlformats.org/drawingml/2006/main">
            <a:off x="7219950" y="40481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B91C1C"/>
                </a:solidFill>
              </a:defRPr>
            </a:pPr>
            <a:r>
              <a:rPr sz="1425" b="1">
                <a:solidFill>
                  <a:srgbClr val="B91C1C"/>
                </a:solidFill>
              </a:rPr>
              <a:t>BLOCKED backend</a:t>
            </a:r>
          </a:p>
        </p:txBody>
      </p:sp>
      <p:sp>
        <p:nvSpPr>
          <p:cNvPr id="24" name="">
            <a:extLst xmlns:a="http://schemas.openxmlformats.org/drawingml/2006/main">
              <a:ext uri="{FF2B5EF4-FFF2-40B4-BE49-F238E27FC236}">
                <a16:creationId xmlns:a16="http://schemas.microsoft.com/office/drawing/2014/main" id="{2322F842-20FE-4A74-8643-19CEB71CB1D6}"/>
              </a:ext>
            </a:extLst>
          </p:cNvPr>
          <p:cNvSpPr>
            <a:spLocks xmlns:a="http://schemas.openxmlformats.org/drawingml/2006/main" noGrp="1"/>
          </p:cNvSpPr>
          <p:nvPr/>
        </p:nvSpPr>
        <p:spPr>
          <a:xfrm xmlns:a="http://schemas.openxmlformats.org/drawingml/2006/main">
            <a:off x="609600" y="4591050"/>
            <a:ext cx="10591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E5EC"/>
            </a:solidFill>
            <a:prstDash val="solid"/>
          </a:ln>
        </p:spPr>
      </p:sp>
      <p:sp>
        <p:nvSpPr>
          <p:cNvPr id="25" name="">
            <a:extLst xmlns:a="http://schemas.openxmlformats.org/drawingml/2006/main">
              <a:ext uri="{FF2B5EF4-FFF2-40B4-BE49-F238E27FC236}">
                <a16:creationId xmlns:a16="http://schemas.microsoft.com/office/drawing/2014/main" id="{A697120B-CBCA-4900-9383-B47B363B1908}"/>
              </a:ext>
            </a:extLst>
          </p:cNvPr>
          <p:cNvSpPr>
            <a:spLocks xmlns:a="http://schemas.openxmlformats.org/drawingml/2006/main" noGrp="1"/>
          </p:cNvSpPr>
          <p:nvPr/>
        </p:nvSpPr>
        <p:spPr>
          <a:xfrm xmlns:a="http://schemas.openxmlformats.org/drawingml/2006/main">
            <a:off x="781050" y="47339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033"/>
                </a:solidFill>
              </a:defRPr>
            </a:pPr>
            <a:r>
              <a:rPr sz="1425" b="1">
                <a:solidFill>
                  <a:srgbClr val="172033"/>
                </a:solidFill>
              </a:rPr>
              <a:t>Akuntansi</a:t>
            </a:r>
          </a:p>
        </p:txBody>
      </p:sp>
      <p:sp>
        <p:nvSpPr>
          <p:cNvPr id="26" name="">
            <a:extLst xmlns:a="http://schemas.openxmlformats.org/drawingml/2006/main">
              <a:ext uri="{FF2B5EF4-FFF2-40B4-BE49-F238E27FC236}">
                <a16:creationId xmlns:a16="http://schemas.microsoft.com/office/drawing/2014/main" id="{F74D05B6-B01D-4E59-9A27-58B6227779EE}"/>
              </a:ext>
            </a:extLst>
          </p:cNvPr>
          <p:cNvSpPr>
            <a:spLocks xmlns:a="http://schemas.openxmlformats.org/drawingml/2006/main" noGrp="1"/>
          </p:cNvSpPr>
          <p:nvPr/>
        </p:nvSpPr>
        <p:spPr>
          <a:xfrm xmlns:a="http://schemas.openxmlformats.org/drawingml/2006/main">
            <a:off x="4514850" y="47339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75985"/>
                </a:solidFill>
              </a:defRPr>
            </a:pPr>
            <a:r>
              <a:rPr sz="1425" b="1">
                <a:solidFill>
                  <a:srgbClr val="075985"/>
                </a:solidFill>
              </a:rPr>
              <a:t>100 posted</a:t>
            </a:r>
          </a:p>
        </p:txBody>
      </p:sp>
      <p:sp>
        <p:nvSpPr>
          <p:cNvPr id="27" name="">
            <a:extLst xmlns:a="http://schemas.openxmlformats.org/drawingml/2006/main">
              <a:ext uri="{FF2B5EF4-FFF2-40B4-BE49-F238E27FC236}">
                <a16:creationId xmlns:a16="http://schemas.microsoft.com/office/drawing/2014/main" id="{6C7ECB51-44C5-494C-9D2C-3B0C867B5DAA}"/>
              </a:ext>
            </a:extLst>
          </p:cNvPr>
          <p:cNvSpPr>
            <a:spLocks xmlns:a="http://schemas.openxmlformats.org/drawingml/2006/main" noGrp="1"/>
          </p:cNvSpPr>
          <p:nvPr/>
        </p:nvSpPr>
        <p:spPr>
          <a:xfrm xmlns:a="http://schemas.openxmlformats.org/drawingml/2006/main">
            <a:off x="7219950" y="47339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5803D"/>
                </a:solidFill>
              </a:defRPr>
            </a:pPr>
            <a:r>
              <a:rPr sz="1425" b="1">
                <a:solidFill>
                  <a:srgbClr val="15803D"/>
                </a:solidFill>
              </a:rPr>
              <a:t>PASS vendor</a:t>
            </a:r>
          </a:p>
        </p:txBody>
      </p:sp>
      <p:sp>
        <p:nvSpPr>
          <p:cNvPr id="28" name="">
            <a:extLst xmlns:a="http://schemas.openxmlformats.org/drawingml/2006/main">
              <a:ext uri="{FF2B5EF4-FFF2-40B4-BE49-F238E27FC236}">
                <a16:creationId xmlns:a16="http://schemas.microsoft.com/office/drawing/2014/main" id="{88006E19-038C-4782-B6F8-4519BBCFEC67}"/>
              </a:ext>
            </a:extLst>
          </p:cNvPr>
          <p:cNvSpPr>
            <a:spLocks xmlns:a="http://schemas.openxmlformats.org/drawingml/2006/main" noGrp="1"/>
          </p:cNvSpPr>
          <p:nvPr/>
        </p:nvSpPr>
        <p:spPr>
          <a:xfrm xmlns:a="http://schemas.openxmlformats.org/drawingml/2006/main">
            <a:off x="609600" y="5276850"/>
            <a:ext cx="10591800" cy="552450"/>
          </a:xfrm>
          <a:prstGeom xmlns:a="http://schemas.openxmlformats.org/drawingml/2006/main" prst="roundRect">
            <a:avLst>
              <a:gd name="adj" fmla="val 13793"/>
            </a:avLst>
          </a:prstGeom>
          <a:solidFill xmlns:a="http://schemas.openxmlformats.org/drawingml/2006/main">
            <a:srgbClr val="F8FAFC"/>
          </a:solidFill>
          <a:ln xmlns:a="http://schemas.openxmlformats.org/drawingml/2006/main" w="9525">
            <a:solidFill>
              <a:srgbClr val="D9E5EC"/>
            </a:solidFill>
            <a:prstDash val="solid"/>
          </a:ln>
        </p:spPr>
      </p:sp>
      <p:sp>
        <p:nvSpPr>
          <p:cNvPr id="29" name="">
            <a:extLst xmlns:a="http://schemas.openxmlformats.org/drawingml/2006/main">
              <a:ext uri="{FF2B5EF4-FFF2-40B4-BE49-F238E27FC236}">
                <a16:creationId xmlns:a16="http://schemas.microsoft.com/office/drawing/2014/main" id="{BB3892E8-E57B-4EE3-8357-6C233B12D4AB}"/>
              </a:ext>
            </a:extLst>
          </p:cNvPr>
          <p:cNvSpPr>
            <a:spLocks xmlns:a="http://schemas.openxmlformats.org/drawingml/2006/main" noGrp="1"/>
          </p:cNvSpPr>
          <p:nvPr/>
        </p:nvSpPr>
        <p:spPr>
          <a:xfrm xmlns:a="http://schemas.openxmlformats.org/drawingml/2006/main">
            <a:off x="781050" y="5419725"/>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033"/>
                </a:solidFill>
              </a:defRPr>
            </a:pPr>
            <a:r>
              <a:rPr sz="1425" b="1">
                <a:solidFill>
                  <a:srgbClr val="172033"/>
                </a:solidFill>
              </a:rPr>
              <a:t>Laporan</a:t>
            </a:r>
          </a:p>
        </p:txBody>
      </p:sp>
      <p:sp>
        <p:nvSpPr>
          <p:cNvPr id="30" name="">
            <a:extLst xmlns:a="http://schemas.openxmlformats.org/drawingml/2006/main">
              <a:ext uri="{FF2B5EF4-FFF2-40B4-BE49-F238E27FC236}">
                <a16:creationId xmlns:a16="http://schemas.microsoft.com/office/drawing/2014/main" id="{00AC10FC-C550-4E24-A311-03F6093AFAD8}"/>
              </a:ext>
            </a:extLst>
          </p:cNvPr>
          <p:cNvSpPr>
            <a:spLocks xmlns:a="http://schemas.openxmlformats.org/drawingml/2006/main" noGrp="1"/>
          </p:cNvSpPr>
          <p:nvPr/>
        </p:nvSpPr>
        <p:spPr>
          <a:xfrm xmlns:a="http://schemas.openxmlformats.org/drawingml/2006/main">
            <a:off x="4514850" y="54197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75985"/>
                </a:solidFill>
              </a:defRPr>
            </a:pPr>
            <a:r>
              <a:rPr sz="1425" b="1">
                <a:solidFill>
                  <a:srgbClr val="075985"/>
                </a:solidFill>
              </a:rPr>
              <a:t>6 render</a:t>
            </a:r>
          </a:p>
        </p:txBody>
      </p:sp>
      <p:sp>
        <p:nvSpPr>
          <p:cNvPr id="31" name="">
            <a:extLst xmlns:a="http://schemas.openxmlformats.org/drawingml/2006/main">
              <a:ext uri="{FF2B5EF4-FFF2-40B4-BE49-F238E27FC236}">
                <a16:creationId xmlns:a16="http://schemas.microsoft.com/office/drawing/2014/main" id="{612F9D3F-6F46-46BE-B3F1-DECF5FC0F30F}"/>
              </a:ext>
            </a:extLst>
          </p:cNvPr>
          <p:cNvSpPr>
            <a:spLocks xmlns:a="http://schemas.openxmlformats.org/drawingml/2006/main" noGrp="1"/>
          </p:cNvSpPr>
          <p:nvPr/>
        </p:nvSpPr>
        <p:spPr>
          <a:xfrm xmlns:a="http://schemas.openxmlformats.org/drawingml/2006/main">
            <a:off x="7219950" y="54197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B45309"/>
                </a:solidFill>
              </a:defRPr>
            </a:pPr>
            <a:r>
              <a:rPr sz="1425" b="1">
                <a:solidFill>
                  <a:srgbClr val="B45309"/>
                </a:solidFill>
              </a:rPr>
              <a:t>BLOCKED angka</a:t>
            </a:r>
          </a:p>
        </p:txBody>
      </p:sp>
    </p:spTree>
    <p:extLst>
      <p:ext uri="{BB962C8B-B14F-4D97-AF65-F5344CB8AC3E}">
        <p14:creationId xmlns:p14="http://schemas.microsoft.com/office/powerpoint/2010/main" val="537726079"/>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1F8ABC7-F2EF-4F09-9FC3-78D4E1809C94}"/>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BUKTI 1</a:t>
            </a:r>
          </a:p>
        </p:txBody>
      </p:sp>
      <p:sp>
        <p:nvSpPr>
          <p:cNvPr id="2" name="">
            <a:extLst xmlns:a="http://schemas.openxmlformats.org/drawingml/2006/main">
              <a:ext uri="{FF2B5EF4-FFF2-40B4-BE49-F238E27FC236}">
                <a16:creationId xmlns:a16="http://schemas.microsoft.com/office/drawing/2014/main" id="{2995F124-DE20-4953-93A8-6EF94C36032A}"/>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Penjualan Obat Jadi</a:t>
            </a:r>
          </a:p>
        </p:txBody>
      </p:sp>
      <p:sp>
        <p:nvSpPr>
          <p:cNvPr id="3" name="">
            <a:extLst xmlns:a="http://schemas.openxmlformats.org/drawingml/2006/main">
              <a:ext uri="{FF2B5EF4-FFF2-40B4-BE49-F238E27FC236}">
                <a16:creationId xmlns:a16="http://schemas.microsoft.com/office/drawing/2014/main" id="{DAA2BDF1-E248-4EB2-9C6B-A47F4B4E5EF1}"/>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04</a:t>
            </a:r>
          </a:p>
        </p:txBody>
      </p:sp>
      <p:sp>
        <p:nvSpPr>
          <p:cNvPr id="4" name="">
            <a:extLst xmlns:a="http://schemas.openxmlformats.org/drawingml/2006/main">
              <a:ext uri="{FF2B5EF4-FFF2-40B4-BE49-F238E27FC236}">
                <a16:creationId xmlns:a16="http://schemas.microsoft.com/office/drawing/2014/main" id="{4DD7B867-06DC-44C1-8EB4-3EF6CEB4154D}"/>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4</a:t>
            </a:r>
          </a:p>
        </p:txBody>
      </p:sp>
      <p:sp>
        <p:nvSpPr>
          <p:cNvPr id="5" name="">
            <a:extLst xmlns:a="http://schemas.openxmlformats.org/drawingml/2006/main">
              <a:ext uri="{FF2B5EF4-FFF2-40B4-BE49-F238E27FC236}">
                <a16:creationId xmlns:a16="http://schemas.microsoft.com/office/drawing/2014/main" id="{0481E9AD-4A7A-482C-8834-BC3D29939D31}"/>
              </a:ext>
            </a:extLst>
          </p:cNvPr>
          <p:cNvSpPr>
            <a:spLocks xmlns:a="http://schemas.openxmlformats.org/drawingml/2006/main" noGrp="1"/>
          </p:cNvSpPr>
          <p:nvPr/>
        </p:nvSpPr>
        <p:spPr>
          <a:xfrm xmlns:a="http://schemas.openxmlformats.org/drawingml/2006/main">
            <a:off x="609600" y="1352550"/>
            <a:ext cx="7239000" cy="4286250"/>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9E5EC"/>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2b586d081264f98"/>
          <a:stretch xmlns:a="http://schemas.openxmlformats.org/drawingml/2006/main"/>
        </p:blipFill>
        <p:spPr>
          <a:xfrm xmlns:a="http://schemas.openxmlformats.org/drawingml/2006/main">
            <a:off x="742950" y="1534716"/>
            <a:ext cx="6972300" cy="3921919"/>
          </a:xfrm>
          <a:prstGeom xmlns:a="http://schemas.openxmlformats.org/drawingml/2006/main" prst="roundRect">
            <a:avLst>
              <a:gd name="adj" fmla="val 2844"/>
            </a:avLst>
          </a:prstGeom>
        </p:spPr>
      </p:pic>
      <p:sp>
        <p:nvSpPr>
          <p:cNvPr id="7" name="">
            <a:extLst xmlns:a="http://schemas.openxmlformats.org/drawingml/2006/main">
              <a:ext uri="{FF2B5EF4-FFF2-40B4-BE49-F238E27FC236}">
                <a16:creationId xmlns:a16="http://schemas.microsoft.com/office/drawing/2014/main" id="{0530C103-F012-4309-B35B-A0A27932DA85}"/>
              </a:ext>
            </a:extLst>
          </p:cNvPr>
          <p:cNvSpPr>
            <a:spLocks xmlns:a="http://schemas.openxmlformats.org/drawingml/2006/main" noGrp="1"/>
          </p:cNvSpPr>
          <p:nvPr/>
        </p:nvSpPr>
        <p:spPr>
          <a:xfrm xmlns:a="http://schemas.openxmlformats.org/drawingml/2006/main">
            <a:off x="8096250" y="1352550"/>
            <a:ext cx="3105150" cy="990600"/>
          </a:xfrm>
          <a:prstGeom xmlns:a="http://schemas.openxmlformats.org/drawingml/2006/main" prst="roundRect">
            <a:avLst>
              <a:gd name="adj" fmla="val 11538"/>
            </a:avLst>
          </a:prstGeom>
          <a:solidFill xmlns:a="http://schemas.openxmlformats.org/drawingml/2006/main">
            <a:srgbClr val="FFF7ED"/>
          </a:solidFill>
          <a:ln xmlns:a="http://schemas.openxmlformats.org/drawingml/2006/main" w="9525">
            <a:solidFill>
              <a:srgbClr val="B45309"/>
            </a:solidFill>
            <a:prstDash val="solid"/>
          </a:ln>
        </p:spPr>
      </p:sp>
      <p:sp>
        <p:nvSpPr>
          <p:cNvPr id="8" name="">
            <a:extLst xmlns:a="http://schemas.openxmlformats.org/drawingml/2006/main">
              <a:ext uri="{FF2B5EF4-FFF2-40B4-BE49-F238E27FC236}">
                <a16:creationId xmlns:a16="http://schemas.microsoft.com/office/drawing/2014/main" id="{26655487-55EA-498E-99B0-E35B56109D91}"/>
              </a:ext>
            </a:extLst>
          </p:cNvPr>
          <p:cNvSpPr>
            <a:spLocks xmlns:a="http://schemas.openxmlformats.org/drawingml/2006/main" noGrp="1"/>
          </p:cNvSpPr>
          <p:nvPr/>
        </p:nvSpPr>
        <p:spPr>
          <a:xfrm xmlns:a="http://schemas.openxmlformats.org/drawingml/2006/main">
            <a:off x="8305800" y="15049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B45309"/>
                </a:solidFill>
              </a:defRPr>
            </a:pPr>
            <a:r>
              <a:rPr sz="975" b="1">
                <a:solidFill>
                  <a:srgbClr val="B45309"/>
                </a:solidFill>
              </a:rPr>
              <a:t>STATUS</a:t>
            </a:r>
          </a:p>
        </p:txBody>
      </p:sp>
      <p:sp>
        <p:nvSpPr>
          <p:cNvPr id="9" name="">
            <a:extLst xmlns:a="http://schemas.openxmlformats.org/drawingml/2006/main">
              <a:ext uri="{FF2B5EF4-FFF2-40B4-BE49-F238E27FC236}">
                <a16:creationId xmlns:a16="http://schemas.microsoft.com/office/drawing/2014/main" id="{BFDB74A6-51FF-454E-9460-136EEDD3F67F}"/>
              </a:ext>
            </a:extLst>
          </p:cNvPr>
          <p:cNvSpPr>
            <a:spLocks xmlns:a="http://schemas.openxmlformats.org/drawingml/2006/main" noGrp="1"/>
          </p:cNvSpPr>
          <p:nvPr/>
        </p:nvSpPr>
        <p:spPr>
          <a:xfrm xmlns:a="http://schemas.openxmlformats.org/drawingml/2006/main">
            <a:off x="8305800" y="17526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45309"/>
                </a:solidFill>
              </a:defRPr>
            </a:pPr>
            <a:r>
              <a:rPr sz="1200" b="1">
                <a:solidFill>
                  <a:srgbClr val="B45309"/>
                </a:solidFill>
              </a:rPr>
              <a:t>PASS transaksi / BLOCKED volume katalog</a:t>
            </a:r>
          </a:p>
        </p:txBody>
      </p:sp>
      <p:sp>
        <p:nvSpPr>
          <p:cNvPr id="10" name="">
            <a:extLst xmlns:a="http://schemas.openxmlformats.org/drawingml/2006/main">
              <a:ext uri="{FF2B5EF4-FFF2-40B4-BE49-F238E27FC236}">
                <a16:creationId xmlns:a16="http://schemas.microsoft.com/office/drawing/2014/main" id="{3BF2B594-2667-4F22-800B-9AF83605E2B2}"/>
              </a:ext>
            </a:extLst>
          </p:cNvPr>
          <p:cNvSpPr>
            <a:spLocks xmlns:a="http://schemas.openxmlformats.org/drawingml/2006/main" noGrp="1"/>
          </p:cNvSpPr>
          <p:nvPr/>
        </p:nvSpPr>
        <p:spPr>
          <a:xfrm xmlns:a="http://schemas.openxmlformats.org/drawingml/2006/main">
            <a:off x="8096250" y="2476500"/>
            <a:ext cx="3105150" cy="3162300"/>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D9E5EC"/>
            </a:solidFill>
            <a:prstDash val="solid"/>
          </a:ln>
        </p:spPr>
      </p:sp>
      <p:sp>
        <p:nvSpPr>
          <p:cNvPr id="11" name="">
            <a:extLst xmlns:a="http://schemas.openxmlformats.org/drawingml/2006/main">
              <a:ext uri="{FF2B5EF4-FFF2-40B4-BE49-F238E27FC236}">
                <a16:creationId xmlns:a16="http://schemas.microsoft.com/office/drawing/2014/main" id="{06E08AC3-7063-4EE1-9DBA-259EAACE3295}"/>
              </a:ext>
            </a:extLst>
          </p:cNvPr>
          <p:cNvSpPr>
            <a:spLocks xmlns:a="http://schemas.openxmlformats.org/drawingml/2006/main" noGrp="1"/>
          </p:cNvSpPr>
          <p:nvPr/>
        </p:nvSpPr>
        <p:spPr>
          <a:xfrm xmlns:a="http://schemas.openxmlformats.org/drawingml/2006/main">
            <a:off x="8305800" y="26860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F766E"/>
                </a:solidFill>
              </a:defRPr>
            </a:pPr>
            <a:r>
              <a:rPr sz="1050" b="1">
                <a:solidFill>
                  <a:srgbClr val="0F766E"/>
                </a:solidFill>
              </a:rPr>
              <a:t>HASIL AKTUAL</a:t>
            </a:r>
          </a:p>
        </p:txBody>
      </p:sp>
      <p:sp>
        <p:nvSpPr>
          <p:cNvPr id="12" name="">
            <a:extLst xmlns:a="http://schemas.openxmlformats.org/drawingml/2006/main">
              <a:ext uri="{FF2B5EF4-FFF2-40B4-BE49-F238E27FC236}">
                <a16:creationId xmlns:a16="http://schemas.microsoft.com/office/drawing/2014/main" id="{A99445D0-9BEB-40D9-972A-55FE6024A554}"/>
              </a:ext>
            </a:extLst>
          </p:cNvPr>
          <p:cNvSpPr>
            <a:spLocks xmlns:a="http://schemas.openxmlformats.org/drawingml/2006/main" noGrp="1"/>
          </p:cNvSpPr>
          <p:nvPr/>
        </p:nvSpPr>
        <p:spPr>
          <a:xfrm xmlns:a="http://schemas.openxmlformats.org/drawingml/2006/main">
            <a:off x="8305800" y="3028950"/>
            <a:ext cx="26098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100 dari 100 transaksi obat jadi dengan kode UAT v1.34.23 berhasil dan pemeriksaan idempotensi lulus. Katalog deploy hanya memuat dua item, sehingga keberhasilan transaksi volume tidak berarti katalog 100 item telah tersedia</a:t>
            </a:r>
          </a:p>
        </p:txBody>
      </p:sp>
      <p:sp>
        <p:nvSpPr>
          <p:cNvPr id="13" name="">
            <a:extLst xmlns:a="http://schemas.openxmlformats.org/drawingml/2006/main">
              <a:ext uri="{FF2B5EF4-FFF2-40B4-BE49-F238E27FC236}">
                <a16:creationId xmlns:a16="http://schemas.microsoft.com/office/drawing/2014/main" id="{7D6A7FDB-FC15-4AA0-BE19-A8A0E45E9D9F}"/>
              </a:ext>
            </a:extLst>
          </p:cNvPr>
          <p:cNvSpPr>
            <a:spLocks xmlns:a="http://schemas.openxmlformats.org/drawingml/2006/main" noGrp="1"/>
          </p:cNvSpPr>
          <p:nvPr/>
        </p:nvSpPr>
        <p:spPr>
          <a:xfrm xmlns:a="http://schemas.openxmlformats.org/drawingml/2006/main">
            <a:off x="8305800" y="523875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26273"/>
                </a:solidFill>
              </a:defRPr>
            </a:pPr>
            <a:r>
              <a:rPr sz="1050" b="1">
                <a:solidFill>
                  <a:srgbClr val="526273"/>
                </a:solidFill>
              </a:rPr>
              <a:t>Narasi lengkap: 969 kata</a:t>
            </a:r>
          </a:p>
        </p:txBody>
      </p:sp>
    </p:spTree>
    <p:extLst>
      <p:ext uri="{BB962C8B-B14F-4D97-AF65-F5344CB8AC3E}">
        <p14:creationId xmlns:p14="http://schemas.microsoft.com/office/powerpoint/2010/main" val="434062128"/>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65642BEF-B800-497F-BDD7-97F7B84E8276}"/>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DIAGRAM 1</a:t>
            </a:r>
          </a:p>
        </p:txBody>
      </p:sp>
      <p:sp>
        <p:nvSpPr>
          <p:cNvPr id="2" name="">
            <a:extLst xmlns:a="http://schemas.openxmlformats.org/drawingml/2006/main">
              <a:ext uri="{FF2B5EF4-FFF2-40B4-BE49-F238E27FC236}">
                <a16:creationId xmlns:a16="http://schemas.microsoft.com/office/drawing/2014/main" id="{5EDD76ED-EA7B-4EA6-B75A-792DA962779B}"/>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Penjualan Obat Jadi: peran, alur, dan data</a:t>
            </a:r>
          </a:p>
        </p:txBody>
      </p:sp>
      <p:sp>
        <p:nvSpPr>
          <p:cNvPr id="3" name="">
            <a:extLst xmlns:a="http://schemas.openxmlformats.org/drawingml/2006/main">
              <a:ext uri="{FF2B5EF4-FFF2-40B4-BE49-F238E27FC236}">
                <a16:creationId xmlns:a16="http://schemas.microsoft.com/office/drawing/2014/main" id="{20077DE2-3440-47E8-ABBA-42B3562B2330}"/>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05</a:t>
            </a:r>
          </a:p>
        </p:txBody>
      </p:sp>
      <p:sp>
        <p:nvSpPr>
          <p:cNvPr id="4" name="">
            <a:extLst xmlns:a="http://schemas.openxmlformats.org/drawingml/2006/main">
              <a:ext uri="{FF2B5EF4-FFF2-40B4-BE49-F238E27FC236}">
                <a16:creationId xmlns:a16="http://schemas.microsoft.com/office/drawing/2014/main" id="{7AB047BE-45CC-4B8A-8218-FD9F715A4055}"/>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5</a:t>
            </a:r>
          </a:p>
        </p:txBody>
      </p:sp>
      <p:sp>
        <p:nvSpPr>
          <p:cNvPr id="5" name="">
            <a:extLst xmlns:a="http://schemas.openxmlformats.org/drawingml/2006/main">
              <a:ext uri="{FF2B5EF4-FFF2-40B4-BE49-F238E27FC236}">
                <a16:creationId xmlns:a16="http://schemas.microsoft.com/office/drawing/2014/main" id="{5A32904E-8267-4F1F-A875-9506F470CDFA}"/>
              </a:ext>
            </a:extLst>
          </p:cNvPr>
          <p:cNvSpPr>
            <a:spLocks xmlns:a="http://schemas.openxmlformats.org/drawingml/2006/main" noGrp="1"/>
          </p:cNvSpPr>
          <p:nvPr/>
        </p:nvSpPr>
        <p:spPr>
          <a:xfrm xmlns:a="http://schemas.openxmlformats.org/drawingml/2006/main">
            <a:off x="6096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6" name="">
            <a:extLst xmlns:a="http://schemas.openxmlformats.org/drawingml/2006/main">
              <a:ext uri="{FF2B5EF4-FFF2-40B4-BE49-F238E27FC236}">
                <a16:creationId xmlns:a16="http://schemas.microsoft.com/office/drawing/2014/main" id="{9E9AF8B1-B56C-4192-AAFD-CE5BAE9CEDCC}"/>
              </a:ext>
            </a:extLst>
          </p:cNvPr>
          <p:cNvSpPr>
            <a:spLocks xmlns:a="http://schemas.openxmlformats.org/drawingml/2006/main" noGrp="1"/>
          </p:cNvSpPr>
          <p:nvPr/>
        </p:nvSpPr>
        <p:spPr>
          <a:xfrm xmlns:a="http://schemas.openxmlformats.org/drawingml/2006/main">
            <a:off x="41910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7" name="">
            <a:extLst xmlns:a="http://schemas.openxmlformats.org/drawingml/2006/main">
              <a:ext uri="{FF2B5EF4-FFF2-40B4-BE49-F238E27FC236}">
                <a16:creationId xmlns:a16="http://schemas.microsoft.com/office/drawing/2014/main" id="{FCAA05B5-4E6B-45CD-B5E9-CC82540117D3}"/>
              </a:ext>
            </a:extLst>
          </p:cNvPr>
          <p:cNvSpPr>
            <a:spLocks xmlns:a="http://schemas.openxmlformats.org/drawingml/2006/main" noGrp="1"/>
          </p:cNvSpPr>
          <p:nvPr/>
        </p:nvSpPr>
        <p:spPr>
          <a:xfrm xmlns:a="http://schemas.openxmlformats.org/drawingml/2006/main">
            <a:off x="77724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8" name="">
            <a:extLst xmlns:a="http://schemas.openxmlformats.org/drawingml/2006/main">
              <a:ext uri="{FF2B5EF4-FFF2-40B4-BE49-F238E27FC236}">
                <a16:creationId xmlns:a16="http://schemas.microsoft.com/office/drawing/2014/main" id="{02EEAD66-212D-47FA-AC5F-EE14529A1614}"/>
              </a:ext>
            </a:extLst>
          </p:cNvPr>
          <p:cNvSpPr>
            <a:spLocks xmlns:a="http://schemas.openxmlformats.org/drawingml/2006/main" noGrp="1"/>
          </p:cNvSpPr>
          <p:nvPr/>
        </p:nvSpPr>
        <p:spPr>
          <a:xfrm xmlns:a="http://schemas.openxmlformats.org/drawingml/2006/main">
            <a:off x="8191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75985"/>
                </a:solidFill>
              </a:defRPr>
            </a:pPr>
            <a:r>
              <a:rPr sz="1275" b="1">
                <a:solidFill>
                  <a:srgbClr val="075985"/>
                </a:solidFill>
              </a:rPr>
              <a:t>USE CASE</a:t>
            </a:r>
          </a:p>
        </p:txBody>
      </p:sp>
      <p:sp>
        <p:nvSpPr>
          <p:cNvPr id="9" name="">
            <a:extLst xmlns:a="http://schemas.openxmlformats.org/drawingml/2006/main">
              <a:ext uri="{FF2B5EF4-FFF2-40B4-BE49-F238E27FC236}">
                <a16:creationId xmlns:a16="http://schemas.microsoft.com/office/drawing/2014/main" id="{17FE0668-C935-4D1B-B71F-6514A244557C}"/>
              </a:ext>
            </a:extLst>
          </p:cNvPr>
          <p:cNvSpPr>
            <a:spLocks xmlns:a="http://schemas.openxmlformats.org/drawingml/2006/main" noGrp="1"/>
          </p:cNvSpPr>
          <p:nvPr/>
        </p:nvSpPr>
        <p:spPr>
          <a:xfrm xmlns:a="http://schemas.openxmlformats.org/drawingml/2006/main">
            <a:off x="819150" y="2047875"/>
            <a:ext cx="2819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Pasien / keluarga → Identifikasi pembeli dan permintaan</a:t>
            </a:r>
          </a:p>
          <a:p xmlns:a="http://schemas.openxmlformats.org/drawingml/2006/main">
            <a:pPr algn="l">
              <a:defRPr sz="1200" b="0">
                <a:solidFill>
                  <a:srgbClr val="172033"/>
                </a:solidFill>
              </a:defRPr>
            </a:pPr>
            <a:r>
              <a:rPr sz="1200" b="0">
                <a:solidFill>
                  <a:srgbClr val="172033"/>
                </a:solidFill>
              </a:rPr>
              <a:t>Kasir → Cari obat serta validasi hak jual</a:t>
            </a:r>
          </a:p>
          <a:p xmlns:a="http://schemas.openxmlformats.org/drawingml/2006/main">
            <a:pPr algn="l">
              <a:defRPr sz="1200" b="0">
                <a:solidFill>
                  <a:srgbClr val="172033"/>
                </a:solidFill>
              </a:defRPr>
            </a:pPr>
            <a:r>
              <a:rPr sz="1200" b="0">
                <a:solidFill>
                  <a:srgbClr val="172033"/>
                </a:solidFill>
              </a:rPr>
              <a:t>Apoteker → Pilih batch FEFO dan proses pembayaran</a:t>
            </a:r>
          </a:p>
          <a:p xmlns:a="http://schemas.openxmlformats.org/drawingml/2006/main">
            <a:pPr algn="l">
              <a:defRPr sz="1200" b="0">
                <a:solidFill>
                  <a:srgbClr val="172033"/>
                </a:solidFill>
              </a:defRPr>
            </a:pPr>
            <a:r>
              <a:rPr sz="1200" b="0">
                <a:solidFill>
                  <a:srgbClr val="172033"/>
                </a:solidFill>
              </a:rPr>
              <a:t>Supervisor → Edukasi, serah terima, dan audit</a:t>
            </a:r>
          </a:p>
        </p:txBody>
      </p:sp>
      <p:sp>
        <p:nvSpPr>
          <p:cNvPr id="10" name="">
            <a:extLst xmlns:a="http://schemas.openxmlformats.org/drawingml/2006/main">
              <a:ext uri="{FF2B5EF4-FFF2-40B4-BE49-F238E27FC236}">
                <a16:creationId xmlns:a16="http://schemas.microsoft.com/office/drawing/2014/main" id="{3054B56C-8316-45EF-B9D8-4A5528A3E288}"/>
              </a:ext>
            </a:extLst>
          </p:cNvPr>
          <p:cNvSpPr>
            <a:spLocks xmlns:a="http://schemas.openxmlformats.org/drawingml/2006/main" noGrp="1"/>
          </p:cNvSpPr>
          <p:nvPr/>
        </p:nvSpPr>
        <p:spPr>
          <a:xfrm xmlns:a="http://schemas.openxmlformats.org/drawingml/2006/main">
            <a:off x="838200" y="4991100"/>
            <a:ext cx="2819400" cy="742950"/>
          </a:xfrm>
          <a:prstGeom xmlns:a="http://schemas.openxmlformats.org/drawingml/2006/main" prst="roundRect">
            <a:avLst>
              <a:gd name="adj" fmla="val 10256"/>
            </a:avLst>
          </a:prstGeom>
          <a:solidFill xmlns:a="http://schemas.openxmlformats.org/drawingml/2006/main">
            <a:srgbClr val="EAF3F8"/>
          </a:solidFill>
          <a:ln xmlns:a="http://schemas.openxmlformats.org/drawingml/2006/main" w="9525">
            <a:solidFill>
              <a:srgbClr val="075985"/>
            </a:solidFill>
            <a:prstDash val="solid"/>
          </a:ln>
        </p:spPr>
      </p:sp>
      <p:sp>
        <p:nvSpPr>
          <p:cNvPr id="11" name="">
            <a:extLst xmlns:a="http://schemas.openxmlformats.org/drawingml/2006/main">
              <a:ext uri="{FF2B5EF4-FFF2-40B4-BE49-F238E27FC236}">
                <a16:creationId xmlns:a16="http://schemas.microsoft.com/office/drawing/2014/main" id="{CE8D7B0E-8D0D-4114-AFCA-6DE1EE6324BF}"/>
              </a:ext>
            </a:extLst>
          </p:cNvPr>
          <p:cNvSpPr>
            <a:spLocks xmlns:a="http://schemas.openxmlformats.org/drawingml/2006/main" noGrp="1"/>
          </p:cNvSpPr>
          <p:nvPr/>
        </p:nvSpPr>
        <p:spPr>
          <a:xfrm xmlns:a="http://schemas.openxmlformats.org/drawingml/2006/main">
            <a:off x="990600" y="521970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75985"/>
                </a:solidFill>
              </a:defRPr>
            </a:pPr>
            <a:r>
              <a:rPr sz="1275" b="1">
                <a:solidFill>
                  <a:srgbClr val="075985"/>
                </a:solidFill>
              </a:rPr>
              <a:t>RBAC + segregasi tugas</a:t>
            </a:r>
          </a:p>
        </p:txBody>
      </p:sp>
      <p:sp>
        <p:nvSpPr>
          <p:cNvPr id="12" name="">
            <a:extLst xmlns:a="http://schemas.openxmlformats.org/drawingml/2006/main">
              <a:ext uri="{FF2B5EF4-FFF2-40B4-BE49-F238E27FC236}">
                <a16:creationId xmlns:a16="http://schemas.microsoft.com/office/drawing/2014/main" id="{9D873829-446C-4F5C-A467-EA6484BB8746}"/>
              </a:ext>
            </a:extLst>
          </p:cNvPr>
          <p:cNvSpPr>
            <a:spLocks xmlns:a="http://schemas.openxmlformats.org/drawingml/2006/main" noGrp="1"/>
          </p:cNvSpPr>
          <p:nvPr/>
        </p:nvSpPr>
        <p:spPr>
          <a:xfrm xmlns:a="http://schemas.openxmlformats.org/drawingml/2006/main">
            <a:off x="44005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F766E"/>
                </a:solidFill>
              </a:defRPr>
            </a:pPr>
            <a:r>
              <a:rPr sz="1275" b="1">
                <a:solidFill>
                  <a:srgbClr val="0F766E"/>
                </a:solidFill>
              </a:rPr>
              <a:t>FLOWCHART</a:t>
            </a:r>
          </a:p>
        </p:txBody>
      </p:sp>
      <p:sp>
        <p:nvSpPr>
          <p:cNvPr id="13" name="">
            <a:extLst xmlns:a="http://schemas.openxmlformats.org/drawingml/2006/main">
              <a:ext uri="{FF2B5EF4-FFF2-40B4-BE49-F238E27FC236}">
                <a16:creationId xmlns:a16="http://schemas.microsoft.com/office/drawing/2014/main" id="{7C21AFDF-917B-432F-8813-0DA99B350178}"/>
              </a:ext>
            </a:extLst>
          </p:cNvPr>
          <p:cNvSpPr>
            <a:spLocks xmlns:a="http://schemas.openxmlformats.org/drawingml/2006/main" noGrp="1"/>
          </p:cNvSpPr>
          <p:nvPr/>
        </p:nvSpPr>
        <p:spPr>
          <a:xfrm xmlns:a="http://schemas.openxmlformats.org/drawingml/2006/main">
            <a:off x="4400550" y="2009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413375D1-CE5B-4F71-973C-58D2ACD89176}"/>
              </a:ext>
            </a:extLst>
          </p:cNvPr>
          <p:cNvSpPr>
            <a:spLocks xmlns:a="http://schemas.openxmlformats.org/drawingml/2006/main" noGrp="1"/>
          </p:cNvSpPr>
          <p:nvPr/>
        </p:nvSpPr>
        <p:spPr>
          <a:xfrm xmlns:a="http://schemas.openxmlformats.org/drawingml/2006/main">
            <a:off x="4533900" y="2114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1. Identifikasi pasien</a:t>
            </a:r>
          </a:p>
        </p:txBody>
      </p:sp>
      <p:sp>
        <p:nvSpPr>
          <p:cNvPr id="15" name="">
            <a:extLst xmlns:a="http://schemas.openxmlformats.org/drawingml/2006/main">
              <a:ext uri="{FF2B5EF4-FFF2-40B4-BE49-F238E27FC236}">
                <a16:creationId xmlns:a16="http://schemas.microsoft.com/office/drawing/2014/main" id="{56852B1E-0A7D-43F6-9634-B2B90CA4847A}"/>
              </a:ext>
            </a:extLst>
          </p:cNvPr>
          <p:cNvSpPr>
            <a:spLocks xmlns:a="http://schemas.openxmlformats.org/drawingml/2006/main" noGrp="1"/>
          </p:cNvSpPr>
          <p:nvPr/>
        </p:nvSpPr>
        <p:spPr>
          <a:xfrm xmlns:a="http://schemas.openxmlformats.org/drawingml/2006/main">
            <a:off x="5676900" y="2409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6" name="">
            <a:extLst xmlns:a="http://schemas.openxmlformats.org/drawingml/2006/main">
              <a:ext uri="{FF2B5EF4-FFF2-40B4-BE49-F238E27FC236}">
                <a16:creationId xmlns:a16="http://schemas.microsoft.com/office/drawing/2014/main" id="{1EFD9FA5-580E-443A-A3D7-5C9E1AEF185B}"/>
              </a:ext>
            </a:extLst>
          </p:cNvPr>
          <p:cNvSpPr>
            <a:spLocks xmlns:a="http://schemas.openxmlformats.org/drawingml/2006/main" noGrp="1"/>
          </p:cNvSpPr>
          <p:nvPr/>
        </p:nvSpPr>
        <p:spPr>
          <a:xfrm xmlns:a="http://schemas.openxmlformats.org/drawingml/2006/main">
            <a:off x="4400550" y="2581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7" name="">
            <a:extLst xmlns:a="http://schemas.openxmlformats.org/drawingml/2006/main">
              <a:ext uri="{FF2B5EF4-FFF2-40B4-BE49-F238E27FC236}">
                <a16:creationId xmlns:a16="http://schemas.microsoft.com/office/drawing/2014/main" id="{5080F6EF-989F-465F-A8CB-5838127FD172}"/>
              </a:ext>
            </a:extLst>
          </p:cNvPr>
          <p:cNvSpPr>
            <a:spLocks xmlns:a="http://schemas.openxmlformats.org/drawingml/2006/main" noGrp="1"/>
          </p:cNvSpPr>
          <p:nvPr/>
        </p:nvSpPr>
        <p:spPr>
          <a:xfrm xmlns:a="http://schemas.openxmlformats.org/drawingml/2006/main">
            <a:off x="4533900" y="2686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2. Cari/pindai obat</a:t>
            </a:r>
          </a:p>
        </p:txBody>
      </p:sp>
      <p:sp>
        <p:nvSpPr>
          <p:cNvPr id="18" name="">
            <a:extLst xmlns:a="http://schemas.openxmlformats.org/drawingml/2006/main">
              <a:ext uri="{FF2B5EF4-FFF2-40B4-BE49-F238E27FC236}">
                <a16:creationId xmlns:a16="http://schemas.microsoft.com/office/drawing/2014/main" id="{12AC7D59-8E6C-41AE-993B-02171F0EFD5D}"/>
              </a:ext>
            </a:extLst>
          </p:cNvPr>
          <p:cNvSpPr>
            <a:spLocks xmlns:a="http://schemas.openxmlformats.org/drawingml/2006/main" noGrp="1"/>
          </p:cNvSpPr>
          <p:nvPr/>
        </p:nvSpPr>
        <p:spPr>
          <a:xfrm xmlns:a="http://schemas.openxmlformats.org/drawingml/2006/main">
            <a:off x="5676900" y="2981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9" name="">
            <a:extLst xmlns:a="http://schemas.openxmlformats.org/drawingml/2006/main">
              <a:ext uri="{FF2B5EF4-FFF2-40B4-BE49-F238E27FC236}">
                <a16:creationId xmlns:a16="http://schemas.microsoft.com/office/drawing/2014/main" id="{2D6237B3-7EED-49CA-A50A-2BE3B703C11E}"/>
              </a:ext>
            </a:extLst>
          </p:cNvPr>
          <p:cNvSpPr>
            <a:spLocks xmlns:a="http://schemas.openxmlformats.org/drawingml/2006/main" noGrp="1"/>
          </p:cNvSpPr>
          <p:nvPr/>
        </p:nvSpPr>
        <p:spPr>
          <a:xfrm xmlns:a="http://schemas.openxmlformats.org/drawingml/2006/main">
            <a:off x="4400550" y="3152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0" name="">
            <a:extLst xmlns:a="http://schemas.openxmlformats.org/drawingml/2006/main">
              <a:ext uri="{FF2B5EF4-FFF2-40B4-BE49-F238E27FC236}">
                <a16:creationId xmlns:a16="http://schemas.microsoft.com/office/drawing/2014/main" id="{ABB10BBE-535A-42C5-8B92-63EEBA708F1B}"/>
              </a:ext>
            </a:extLst>
          </p:cNvPr>
          <p:cNvSpPr>
            <a:spLocks xmlns:a="http://schemas.openxmlformats.org/drawingml/2006/main" noGrp="1"/>
          </p:cNvSpPr>
          <p:nvPr/>
        </p:nvSpPr>
        <p:spPr>
          <a:xfrm xmlns:a="http://schemas.openxmlformats.org/drawingml/2006/main">
            <a:off x="4533900" y="3257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3. Validasi stok &amp; golongan</a:t>
            </a:r>
          </a:p>
        </p:txBody>
      </p:sp>
      <p:sp>
        <p:nvSpPr>
          <p:cNvPr id="21" name="">
            <a:extLst xmlns:a="http://schemas.openxmlformats.org/drawingml/2006/main">
              <a:ext uri="{FF2B5EF4-FFF2-40B4-BE49-F238E27FC236}">
                <a16:creationId xmlns:a16="http://schemas.microsoft.com/office/drawing/2014/main" id="{EA84E268-98CD-4711-AE79-3765A8E81D7B}"/>
              </a:ext>
            </a:extLst>
          </p:cNvPr>
          <p:cNvSpPr>
            <a:spLocks xmlns:a="http://schemas.openxmlformats.org/drawingml/2006/main" noGrp="1"/>
          </p:cNvSpPr>
          <p:nvPr/>
        </p:nvSpPr>
        <p:spPr>
          <a:xfrm xmlns:a="http://schemas.openxmlformats.org/drawingml/2006/main">
            <a:off x="5676900" y="3552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2" name="">
            <a:extLst xmlns:a="http://schemas.openxmlformats.org/drawingml/2006/main">
              <a:ext uri="{FF2B5EF4-FFF2-40B4-BE49-F238E27FC236}">
                <a16:creationId xmlns:a16="http://schemas.microsoft.com/office/drawing/2014/main" id="{93DE96AE-F0AE-4FF9-8469-C723E787AA63}"/>
              </a:ext>
            </a:extLst>
          </p:cNvPr>
          <p:cNvSpPr>
            <a:spLocks xmlns:a="http://schemas.openxmlformats.org/drawingml/2006/main" noGrp="1"/>
          </p:cNvSpPr>
          <p:nvPr/>
        </p:nvSpPr>
        <p:spPr>
          <a:xfrm xmlns:a="http://schemas.openxmlformats.org/drawingml/2006/main">
            <a:off x="4400550" y="3724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3" name="">
            <a:extLst xmlns:a="http://schemas.openxmlformats.org/drawingml/2006/main">
              <a:ext uri="{FF2B5EF4-FFF2-40B4-BE49-F238E27FC236}">
                <a16:creationId xmlns:a16="http://schemas.microsoft.com/office/drawing/2014/main" id="{FF1065AA-C595-4891-8BB7-DE58C3EF65B0}"/>
              </a:ext>
            </a:extLst>
          </p:cNvPr>
          <p:cNvSpPr>
            <a:spLocks xmlns:a="http://schemas.openxmlformats.org/drawingml/2006/main" noGrp="1"/>
          </p:cNvSpPr>
          <p:nvPr/>
        </p:nvSpPr>
        <p:spPr>
          <a:xfrm xmlns:a="http://schemas.openxmlformats.org/drawingml/2006/main">
            <a:off x="4533900" y="3829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4. Pilih batch FEFO</a:t>
            </a:r>
          </a:p>
        </p:txBody>
      </p:sp>
      <p:sp>
        <p:nvSpPr>
          <p:cNvPr id="24" name="">
            <a:extLst xmlns:a="http://schemas.openxmlformats.org/drawingml/2006/main">
              <a:ext uri="{FF2B5EF4-FFF2-40B4-BE49-F238E27FC236}">
                <a16:creationId xmlns:a16="http://schemas.microsoft.com/office/drawing/2014/main" id="{350A53EA-42A8-4C2E-A56C-D0DD9FF54DAA}"/>
              </a:ext>
            </a:extLst>
          </p:cNvPr>
          <p:cNvSpPr>
            <a:spLocks xmlns:a="http://schemas.openxmlformats.org/drawingml/2006/main" noGrp="1"/>
          </p:cNvSpPr>
          <p:nvPr/>
        </p:nvSpPr>
        <p:spPr>
          <a:xfrm xmlns:a="http://schemas.openxmlformats.org/drawingml/2006/main">
            <a:off x="5676900" y="4124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5" name="">
            <a:extLst xmlns:a="http://schemas.openxmlformats.org/drawingml/2006/main">
              <a:ext uri="{FF2B5EF4-FFF2-40B4-BE49-F238E27FC236}">
                <a16:creationId xmlns:a16="http://schemas.microsoft.com/office/drawing/2014/main" id="{D65AD264-759B-4B88-A172-E1D46AE05F86}"/>
              </a:ext>
            </a:extLst>
          </p:cNvPr>
          <p:cNvSpPr>
            <a:spLocks xmlns:a="http://schemas.openxmlformats.org/drawingml/2006/main" noGrp="1"/>
          </p:cNvSpPr>
          <p:nvPr/>
        </p:nvSpPr>
        <p:spPr>
          <a:xfrm xmlns:a="http://schemas.openxmlformats.org/drawingml/2006/main">
            <a:off x="4400550" y="4295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6" name="">
            <a:extLst xmlns:a="http://schemas.openxmlformats.org/drawingml/2006/main">
              <a:ext uri="{FF2B5EF4-FFF2-40B4-BE49-F238E27FC236}">
                <a16:creationId xmlns:a16="http://schemas.microsoft.com/office/drawing/2014/main" id="{5ACE745A-C35B-44B7-998B-DD3E1A41A5B0}"/>
              </a:ext>
            </a:extLst>
          </p:cNvPr>
          <p:cNvSpPr>
            <a:spLocks xmlns:a="http://schemas.openxmlformats.org/drawingml/2006/main" noGrp="1"/>
          </p:cNvSpPr>
          <p:nvPr/>
        </p:nvSpPr>
        <p:spPr>
          <a:xfrm xmlns:a="http://schemas.openxmlformats.org/drawingml/2006/main">
            <a:off x="4533900" y="4400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5. Bayar &amp; simpan</a:t>
            </a:r>
          </a:p>
        </p:txBody>
      </p:sp>
      <p:sp>
        <p:nvSpPr>
          <p:cNvPr id="27" name="">
            <a:extLst xmlns:a="http://schemas.openxmlformats.org/drawingml/2006/main">
              <a:ext uri="{FF2B5EF4-FFF2-40B4-BE49-F238E27FC236}">
                <a16:creationId xmlns:a16="http://schemas.microsoft.com/office/drawing/2014/main" id="{F4A4B792-9EF2-4775-9DB0-7B365AB0A00C}"/>
              </a:ext>
            </a:extLst>
          </p:cNvPr>
          <p:cNvSpPr>
            <a:spLocks xmlns:a="http://schemas.openxmlformats.org/drawingml/2006/main" noGrp="1"/>
          </p:cNvSpPr>
          <p:nvPr/>
        </p:nvSpPr>
        <p:spPr>
          <a:xfrm xmlns:a="http://schemas.openxmlformats.org/drawingml/2006/main">
            <a:off x="5676900" y="4695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8" name="">
            <a:extLst xmlns:a="http://schemas.openxmlformats.org/drawingml/2006/main">
              <a:ext uri="{FF2B5EF4-FFF2-40B4-BE49-F238E27FC236}">
                <a16:creationId xmlns:a16="http://schemas.microsoft.com/office/drawing/2014/main" id="{26441EBB-E795-4020-A37C-A317222E41BB}"/>
              </a:ext>
            </a:extLst>
          </p:cNvPr>
          <p:cNvSpPr>
            <a:spLocks xmlns:a="http://schemas.openxmlformats.org/drawingml/2006/main" noGrp="1"/>
          </p:cNvSpPr>
          <p:nvPr/>
        </p:nvSpPr>
        <p:spPr>
          <a:xfrm xmlns:a="http://schemas.openxmlformats.org/drawingml/2006/main">
            <a:off x="4400550" y="4867275"/>
            <a:ext cx="2857500" cy="409575"/>
          </a:xfrm>
          <a:prstGeom xmlns:a="http://schemas.openxmlformats.org/drawingml/2006/main" prst="roundRect">
            <a:avLst>
              <a:gd name="adj" fmla="val 18605"/>
            </a:avLst>
          </a:prstGeom>
          <a:solidFill xmlns:a="http://schemas.openxmlformats.org/drawingml/2006/main">
            <a:srgbClr val="DCFCE7"/>
          </a:solidFill>
          <a:ln xmlns:a="http://schemas.openxmlformats.org/drawingml/2006/main" w="9525">
            <a:solidFill>
              <a:srgbClr val="15803D"/>
            </a:solidFill>
            <a:prstDash val="solid"/>
          </a:ln>
        </p:spPr>
      </p:sp>
      <p:sp>
        <p:nvSpPr>
          <p:cNvPr id="29" name="">
            <a:extLst xmlns:a="http://schemas.openxmlformats.org/drawingml/2006/main">
              <a:ext uri="{FF2B5EF4-FFF2-40B4-BE49-F238E27FC236}">
                <a16:creationId xmlns:a16="http://schemas.microsoft.com/office/drawing/2014/main" id="{BCC1A9B1-F2E2-4046-9293-F3FB96E6559F}"/>
              </a:ext>
            </a:extLst>
          </p:cNvPr>
          <p:cNvSpPr>
            <a:spLocks xmlns:a="http://schemas.openxmlformats.org/drawingml/2006/main" noGrp="1"/>
          </p:cNvSpPr>
          <p:nvPr/>
        </p:nvSpPr>
        <p:spPr>
          <a:xfrm xmlns:a="http://schemas.openxmlformats.org/drawingml/2006/main">
            <a:off x="4533900" y="4972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2033"/>
                </a:solidFill>
              </a:defRPr>
            </a:pPr>
            <a:r>
              <a:rPr sz="1200" b="1">
                <a:solidFill>
                  <a:srgbClr val="172033"/>
                </a:solidFill>
              </a:rPr>
              <a:t>6. Etiket dan serah terima</a:t>
            </a:r>
          </a:p>
        </p:txBody>
      </p:sp>
      <p:sp>
        <p:nvSpPr>
          <p:cNvPr id="30" name="">
            <a:extLst xmlns:a="http://schemas.openxmlformats.org/drawingml/2006/main">
              <a:ext uri="{FF2B5EF4-FFF2-40B4-BE49-F238E27FC236}">
                <a16:creationId xmlns:a16="http://schemas.microsoft.com/office/drawing/2014/main" id="{AEB20E34-F9CE-4AAD-A46E-B049A13B98B0}"/>
              </a:ext>
            </a:extLst>
          </p:cNvPr>
          <p:cNvSpPr>
            <a:spLocks xmlns:a="http://schemas.openxmlformats.org/drawingml/2006/main" noGrp="1"/>
          </p:cNvSpPr>
          <p:nvPr/>
        </p:nvSpPr>
        <p:spPr>
          <a:xfrm xmlns:a="http://schemas.openxmlformats.org/drawingml/2006/main">
            <a:off x="79819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7C3AED"/>
                </a:solidFill>
              </a:defRPr>
            </a:pPr>
            <a:r>
              <a:rPr sz="1275" b="1">
                <a:solidFill>
                  <a:srgbClr val="7C3AED"/>
                </a:solidFill>
              </a:rPr>
              <a:t>ERD / DATA FLOW</a:t>
            </a:r>
          </a:p>
        </p:txBody>
      </p:sp>
      <p:sp>
        <p:nvSpPr>
          <p:cNvPr id="31" name="">
            <a:extLst xmlns:a="http://schemas.openxmlformats.org/drawingml/2006/main">
              <a:ext uri="{FF2B5EF4-FFF2-40B4-BE49-F238E27FC236}">
                <a16:creationId xmlns:a16="http://schemas.microsoft.com/office/drawing/2014/main" id="{BFAC7DA3-EDF4-40F6-B303-36A4A7237076}"/>
              </a:ext>
            </a:extLst>
          </p:cNvPr>
          <p:cNvSpPr>
            <a:spLocks xmlns:a="http://schemas.openxmlformats.org/drawingml/2006/main" noGrp="1"/>
          </p:cNvSpPr>
          <p:nvPr/>
        </p:nvSpPr>
        <p:spPr>
          <a:xfrm xmlns:a="http://schemas.openxmlformats.org/drawingml/2006/main">
            <a:off x="7981950" y="2009775"/>
            <a:ext cx="2857500" cy="476250"/>
          </a:xfrm>
          <a:prstGeom xmlns:a="http://schemas.openxmlformats.org/drawingml/2006/main" prst="roundRect">
            <a:avLst>
              <a:gd name="adj" fmla="val 16000"/>
            </a:avLst>
          </a:prstGeom>
          <a:solidFill xmlns:a="http://schemas.openxmlformats.org/drawingml/2006/main">
            <a:srgbClr val="EDE9FE"/>
          </a:solidFill>
          <a:ln xmlns:a="http://schemas.openxmlformats.org/drawingml/2006/main" w="9525">
            <a:solidFill>
              <a:srgbClr val="7C3AED"/>
            </a:solidFill>
            <a:prstDash val="solid"/>
          </a:ln>
        </p:spPr>
      </p:sp>
      <p:sp>
        <p:nvSpPr>
          <p:cNvPr id="32" name="">
            <a:extLst xmlns:a="http://schemas.openxmlformats.org/drawingml/2006/main">
              <a:ext uri="{FF2B5EF4-FFF2-40B4-BE49-F238E27FC236}">
                <a16:creationId xmlns:a16="http://schemas.microsoft.com/office/drawing/2014/main" id="{9DA54F57-AAAC-4209-9191-CD9A509B16B5}"/>
              </a:ext>
            </a:extLst>
          </p:cNvPr>
          <p:cNvSpPr>
            <a:spLocks xmlns:a="http://schemas.openxmlformats.org/drawingml/2006/main" noGrp="1"/>
          </p:cNvSpPr>
          <p:nvPr/>
        </p:nvSpPr>
        <p:spPr>
          <a:xfrm xmlns:a="http://schemas.openxmlformats.org/drawingml/2006/main">
            <a:off x="8115300" y="21336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72033"/>
                </a:solidFill>
              </a:defRPr>
            </a:pPr>
            <a:r>
              <a:rPr sz="1200" b="1">
                <a:solidFill>
                  <a:srgbClr val="172033"/>
                </a:solidFill>
              </a:rPr>
              <a:t>PASIEN • id, identitas</a:t>
            </a:r>
          </a:p>
        </p:txBody>
      </p:sp>
      <p:sp>
        <p:nvSpPr>
          <p:cNvPr id="33" name="">
            <a:extLst xmlns:a="http://schemas.openxmlformats.org/drawingml/2006/main">
              <a:ext uri="{FF2B5EF4-FFF2-40B4-BE49-F238E27FC236}">
                <a16:creationId xmlns:a16="http://schemas.microsoft.com/office/drawing/2014/main" id="{D8B566B1-ECED-4AAC-B162-EAF8D613E972}"/>
              </a:ext>
            </a:extLst>
          </p:cNvPr>
          <p:cNvSpPr>
            <a:spLocks xmlns:a="http://schemas.openxmlformats.org/drawingml/2006/main" noGrp="1"/>
          </p:cNvSpPr>
          <p:nvPr/>
        </p:nvSpPr>
        <p:spPr>
          <a:xfrm xmlns:a="http://schemas.openxmlformats.org/drawingml/2006/main">
            <a:off x="8991600" y="24669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4" name="">
            <a:extLst xmlns:a="http://schemas.openxmlformats.org/drawingml/2006/main">
              <a:ext uri="{FF2B5EF4-FFF2-40B4-BE49-F238E27FC236}">
                <a16:creationId xmlns:a16="http://schemas.microsoft.com/office/drawing/2014/main" id="{F05ECAC8-65AC-4BEE-B298-EFB6F796A477}"/>
              </a:ext>
            </a:extLst>
          </p:cNvPr>
          <p:cNvSpPr>
            <a:spLocks xmlns:a="http://schemas.openxmlformats.org/drawingml/2006/main" noGrp="1"/>
          </p:cNvSpPr>
          <p:nvPr/>
        </p:nvSpPr>
        <p:spPr>
          <a:xfrm xmlns:a="http://schemas.openxmlformats.org/drawingml/2006/main">
            <a:off x="7981950" y="266700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5" name="">
            <a:extLst xmlns:a="http://schemas.openxmlformats.org/drawingml/2006/main">
              <a:ext uri="{FF2B5EF4-FFF2-40B4-BE49-F238E27FC236}">
                <a16:creationId xmlns:a16="http://schemas.microsoft.com/office/drawing/2014/main" id="{8B96773C-7611-4AEA-894C-4B7BA5FE8D96}"/>
              </a:ext>
            </a:extLst>
          </p:cNvPr>
          <p:cNvSpPr>
            <a:spLocks xmlns:a="http://schemas.openxmlformats.org/drawingml/2006/main" noGrp="1"/>
          </p:cNvSpPr>
          <p:nvPr/>
        </p:nvSpPr>
        <p:spPr>
          <a:xfrm xmlns:a="http://schemas.openxmlformats.org/drawingml/2006/main">
            <a:off x="8115300" y="279082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PENJUALAN • kode, tanggal</a:t>
            </a:r>
          </a:p>
        </p:txBody>
      </p:sp>
      <p:sp>
        <p:nvSpPr>
          <p:cNvPr id="36" name="">
            <a:extLst xmlns:a="http://schemas.openxmlformats.org/drawingml/2006/main">
              <a:ext uri="{FF2B5EF4-FFF2-40B4-BE49-F238E27FC236}">
                <a16:creationId xmlns:a16="http://schemas.microsoft.com/office/drawing/2014/main" id="{6126A16D-FCD1-4B79-B138-DACACACFB290}"/>
              </a:ext>
            </a:extLst>
          </p:cNvPr>
          <p:cNvSpPr>
            <a:spLocks xmlns:a="http://schemas.openxmlformats.org/drawingml/2006/main" noGrp="1"/>
          </p:cNvSpPr>
          <p:nvPr/>
        </p:nvSpPr>
        <p:spPr>
          <a:xfrm xmlns:a="http://schemas.openxmlformats.org/drawingml/2006/main">
            <a:off x="8991600" y="31242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7" name="">
            <a:extLst xmlns:a="http://schemas.openxmlformats.org/drawingml/2006/main">
              <a:ext uri="{FF2B5EF4-FFF2-40B4-BE49-F238E27FC236}">
                <a16:creationId xmlns:a16="http://schemas.microsoft.com/office/drawing/2014/main" id="{076610B4-E413-4BB7-8FD0-BA026607CEF7}"/>
              </a:ext>
            </a:extLst>
          </p:cNvPr>
          <p:cNvSpPr>
            <a:spLocks xmlns:a="http://schemas.openxmlformats.org/drawingml/2006/main" noGrp="1"/>
          </p:cNvSpPr>
          <p:nvPr/>
        </p:nvSpPr>
        <p:spPr>
          <a:xfrm xmlns:a="http://schemas.openxmlformats.org/drawingml/2006/main">
            <a:off x="7981950" y="332422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8" name="">
            <a:extLst xmlns:a="http://schemas.openxmlformats.org/drawingml/2006/main">
              <a:ext uri="{FF2B5EF4-FFF2-40B4-BE49-F238E27FC236}">
                <a16:creationId xmlns:a16="http://schemas.microsoft.com/office/drawing/2014/main" id="{56AEA896-CFE2-41EA-B309-ADEEA1147695}"/>
              </a:ext>
            </a:extLst>
          </p:cNvPr>
          <p:cNvSpPr>
            <a:spLocks xmlns:a="http://schemas.openxmlformats.org/drawingml/2006/main" noGrp="1"/>
          </p:cNvSpPr>
          <p:nvPr/>
        </p:nvSpPr>
        <p:spPr>
          <a:xfrm xmlns:a="http://schemas.openxmlformats.org/drawingml/2006/main">
            <a:off x="8115300" y="344805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DETAIL OBAT • qty, harga</a:t>
            </a:r>
          </a:p>
        </p:txBody>
      </p:sp>
      <p:sp>
        <p:nvSpPr>
          <p:cNvPr id="39" name="">
            <a:extLst xmlns:a="http://schemas.openxmlformats.org/drawingml/2006/main">
              <a:ext uri="{FF2B5EF4-FFF2-40B4-BE49-F238E27FC236}">
                <a16:creationId xmlns:a16="http://schemas.microsoft.com/office/drawing/2014/main" id="{7086A975-4BEA-43A7-9CEC-AA8CC0505C37}"/>
              </a:ext>
            </a:extLst>
          </p:cNvPr>
          <p:cNvSpPr>
            <a:spLocks xmlns:a="http://schemas.openxmlformats.org/drawingml/2006/main" noGrp="1"/>
          </p:cNvSpPr>
          <p:nvPr/>
        </p:nvSpPr>
        <p:spPr>
          <a:xfrm xmlns:a="http://schemas.openxmlformats.org/drawingml/2006/main">
            <a:off x="8991600" y="378142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0" name="">
            <a:extLst xmlns:a="http://schemas.openxmlformats.org/drawingml/2006/main">
              <a:ext uri="{FF2B5EF4-FFF2-40B4-BE49-F238E27FC236}">
                <a16:creationId xmlns:a16="http://schemas.microsoft.com/office/drawing/2014/main" id="{20828BD9-8599-4CDB-BD23-5C95736D8276}"/>
              </a:ext>
            </a:extLst>
          </p:cNvPr>
          <p:cNvSpPr>
            <a:spLocks xmlns:a="http://schemas.openxmlformats.org/drawingml/2006/main" noGrp="1"/>
          </p:cNvSpPr>
          <p:nvPr/>
        </p:nvSpPr>
        <p:spPr>
          <a:xfrm xmlns:a="http://schemas.openxmlformats.org/drawingml/2006/main">
            <a:off x="7981950" y="398145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1" name="">
            <a:extLst xmlns:a="http://schemas.openxmlformats.org/drawingml/2006/main">
              <a:ext uri="{FF2B5EF4-FFF2-40B4-BE49-F238E27FC236}">
                <a16:creationId xmlns:a16="http://schemas.microsoft.com/office/drawing/2014/main" id="{519C7718-2EB1-4A4F-A3E5-13D754BF9759}"/>
              </a:ext>
            </a:extLst>
          </p:cNvPr>
          <p:cNvSpPr>
            <a:spLocks xmlns:a="http://schemas.openxmlformats.org/drawingml/2006/main" noGrp="1"/>
          </p:cNvSpPr>
          <p:nvPr/>
        </p:nvSpPr>
        <p:spPr>
          <a:xfrm xmlns:a="http://schemas.openxmlformats.org/drawingml/2006/main">
            <a:off x="8115300" y="410527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BATCH • ED, sisa</a:t>
            </a:r>
          </a:p>
        </p:txBody>
      </p:sp>
      <p:sp>
        <p:nvSpPr>
          <p:cNvPr id="42" name="">
            <a:extLst xmlns:a="http://schemas.openxmlformats.org/drawingml/2006/main">
              <a:ext uri="{FF2B5EF4-FFF2-40B4-BE49-F238E27FC236}">
                <a16:creationId xmlns:a16="http://schemas.microsoft.com/office/drawing/2014/main" id="{ABFDC8E1-8E43-4148-B8BA-129CA78A1143}"/>
              </a:ext>
            </a:extLst>
          </p:cNvPr>
          <p:cNvSpPr>
            <a:spLocks xmlns:a="http://schemas.openxmlformats.org/drawingml/2006/main" noGrp="1"/>
          </p:cNvSpPr>
          <p:nvPr/>
        </p:nvSpPr>
        <p:spPr>
          <a:xfrm xmlns:a="http://schemas.openxmlformats.org/drawingml/2006/main">
            <a:off x="8991600" y="44386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3" name="">
            <a:extLst xmlns:a="http://schemas.openxmlformats.org/drawingml/2006/main">
              <a:ext uri="{FF2B5EF4-FFF2-40B4-BE49-F238E27FC236}">
                <a16:creationId xmlns:a16="http://schemas.microsoft.com/office/drawing/2014/main" id="{5B250F57-27F3-4B67-8CD0-1F15AB14A430}"/>
              </a:ext>
            </a:extLst>
          </p:cNvPr>
          <p:cNvSpPr>
            <a:spLocks xmlns:a="http://schemas.openxmlformats.org/drawingml/2006/main" noGrp="1"/>
          </p:cNvSpPr>
          <p:nvPr/>
        </p:nvSpPr>
        <p:spPr>
          <a:xfrm xmlns:a="http://schemas.openxmlformats.org/drawingml/2006/main">
            <a:off x="7981950" y="463867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4" name="">
            <a:extLst xmlns:a="http://schemas.openxmlformats.org/drawingml/2006/main">
              <a:ext uri="{FF2B5EF4-FFF2-40B4-BE49-F238E27FC236}">
                <a16:creationId xmlns:a16="http://schemas.microsoft.com/office/drawing/2014/main" id="{A9A7F6B1-E0F4-43A0-9625-9596CF805332}"/>
              </a:ext>
            </a:extLst>
          </p:cNvPr>
          <p:cNvSpPr>
            <a:spLocks xmlns:a="http://schemas.openxmlformats.org/drawingml/2006/main" noGrp="1"/>
          </p:cNvSpPr>
          <p:nvPr/>
        </p:nvSpPr>
        <p:spPr>
          <a:xfrm xmlns:a="http://schemas.openxmlformats.org/drawingml/2006/main">
            <a:off x="8115300" y="47625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JURNAL/AUDIT • referensi</a:t>
            </a:r>
          </a:p>
        </p:txBody>
      </p:sp>
      <p:sp>
        <p:nvSpPr>
          <p:cNvPr id="45" name="">
            <a:extLst xmlns:a="http://schemas.openxmlformats.org/drawingml/2006/main">
              <a:ext uri="{FF2B5EF4-FFF2-40B4-BE49-F238E27FC236}">
                <a16:creationId xmlns:a16="http://schemas.microsoft.com/office/drawing/2014/main" id="{FAB5C08B-DD7B-46C7-A0CE-131DE870B983}"/>
              </a:ext>
            </a:extLst>
          </p:cNvPr>
          <p:cNvSpPr>
            <a:spLocks xmlns:a="http://schemas.openxmlformats.org/drawingml/2006/main" noGrp="1"/>
          </p:cNvSpPr>
          <p:nvPr/>
        </p:nvSpPr>
        <p:spPr>
          <a:xfrm xmlns:a="http://schemas.openxmlformats.org/drawingml/2006/main">
            <a:off x="7981950" y="5391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obat belum kedaluwarsa, jumlah cukup, otorisasi sesuai, kode transaksi idempoten.</a:t>
            </a:r>
          </a:p>
        </p:txBody>
      </p:sp>
    </p:spTree>
    <p:extLst>
      <p:ext uri="{BB962C8B-B14F-4D97-AF65-F5344CB8AC3E}">
        <p14:creationId xmlns:p14="http://schemas.microsoft.com/office/powerpoint/2010/main" val="1676030387"/>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8A067D0-F364-4AF5-B278-ABBABD29134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BUKTI 2</a:t>
            </a:r>
          </a:p>
        </p:txBody>
      </p:sp>
      <p:sp>
        <p:nvSpPr>
          <p:cNvPr id="2" name="">
            <a:extLst xmlns:a="http://schemas.openxmlformats.org/drawingml/2006/main">
              <a:ext uri="{FF2B5EF4-FFF2-40B4-BE49-F238E27FC236}">
                <a16:creationId xmlns:a16="http://schemas.microsoft.com/office/drawing/2014/main" id="{88D05903-7BF1-4DD7-8860-575D47478724}"/>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Penjualan Obat Racik</a:t>
            </a:r>
          </a:p>
        </p:txBody>
      </p:sp>
      <p:sp>
        <p:nvSpPr>
          <p:cNvPr id="3" name="">
            <a:extLst xmlns:a="http://schemas.openxmlformats.org/drawingml/2006/main">
              <a:ext uri="{FF2B5EF4-FFF2-40B4-BE49-F238E27FC236}">
                <a16:creationId xmlns:a16="http://schemas.microsoft.com/office/drawing/2014/main" id="{8B76DEC6-113D-46D5-BC58-1DC0200C8A96}"/>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06</a:t>
            </a:r>
          </a:p>
        </p:txBody>
      </p:sp>
      <p:sp>
        <p:nvSpPr>
          <p:cNvPr id="4" name="">
            <a:extLst xmlns:a="http://schemas.openxmlformats.org/drawingml/2006/main">
              <a:ext uri="{FF2B5EF4-FFF2-40B4-BE49-F238E27FC236}">
                <a16:creationId xmlns:a16="http://schemas.microsoft.com/office/drawing/2014/main" id="{CD50326B-6FF4-4307-9218-87A1BD653E2E}"/>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6</a:t>
            </a:r>
          </a:p>
        </p:txBody>
      </p:sp>
      <p:sp>
        <p:nvSpPr>
          <p:cNvPr id="5" name="">
            <a:extLst xmlns:a="http://schemas.openxmlformats.org/drawingml/2006/main">
              <a:ext uri="{FF2B5EF4-FFF2-40B4-BE49-F238E27FC236}">
                <a16:creationId xmlns:a16="http://schemas.microsoft.com/office/drawing/2014/main" id="{231775FB-0D95-4B1F-A6D1-789D7A618D8F}"/>
              </a:ext>
            </a:extLst>
          </p:cNvPr>
          <p:cNvSpPr>
            <a:spLocks xmlns:a="http://schemas.openxmlformats.org/drawingml/2006/main" noGrp="1"/>
          </p:cNvSpPr>
          <p:nvPr/>
        </p:nvSpPr>
        <p:spPr>
          <a:xfrm xmlns:a="http://schemas.openxmlformats.org/drawingml/2006/main">
            <a:off x="609600" y="1352550"/>
            <a:ext cx="7239000" cy="4286250"/>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9E5EC"/>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63e76fdaff54157"/>
          <a:stretch xmlns:a="http://schemas.openxmlformats.org/drawingml/2006/main"/>
        </p:blipFill>
        <p:spPr>
          <a:xfrm xmlns:a="http://schemas.openxmlformats.org/drawingml/2006/main">
            <a:off x="742950" y="1534716"/>
            <a:ext cx="6972300" cy="3921919"/>
          </a:xfrm>
          <a:prstGeom xmlns:a="http://schemas.openxmlformats.org/drawingml/2006/main" prst="roundRect">
            <a:avLst>
              <a:gd name="adj" fmla="val 2844"/>
            </a:avLst>
          </a:prstGeom>
        </p:spPr>
      </p:pic>
      <p:sp>
        <p:nvSpPr>
          <p:cNvPr id="7" name="">
            <a:extLst xmlns:a="http://schemas.openxmlformats.org/drawingml/2006/main">
              <a:ext uri="{FF2B5EF4-FFF2-40B4-BE49-F238E27FC236}">
                <a16:creationId xmlns:a16="http://schemas.microsoft.com/office/drawing/2014/main" id="{6078D1A4-02ED-4E12-A299-245ED95CCE9C}"/>
              </a:ext>
            </a:extLst>
          </p:cNvPr>
          <p:cNvSpPr>
            <a:spLocks xmlns:a="http://schemas.openxmlformats.org/drawingml/2006/main" noGrp="1"/>
          </p:cNvSpPr>
          <p:nvPr/>
        </p:nvSpPr>
        <p:spPr>
          <a:xfrm xmlns:a="http://schemas.openxmlformats.org/drawingml/2006/main">
            <a:off x="8096250" y="1352550"/>
            <a:ext cx="3105150" cy="990600"/>
          </a:xfrm>
          <a:prstGeom xmlns:a="http://schemas.openxmlformats.org/drawingml/2006/main" prst="roundRect">
            <a:avLst>
              <a:gd name="adj" fmla="val 11538"/>
            </a:avLst>
          </a:prstGeom>
          <a:solidFill xmlns:a="http://schemas.openxmlformats.org/drawingml/2006/main">
            <a:srgbClr val="DCFCE7"/>
          </a:solidFill>
          <a:ln xmlns:a="http://schemas.openxmlformats.org/drawingml/2006/main" w="9525">
            <a:solidFill>
              <a:srgbClr val="15803D"/>
            </a:solidFill>
            <a:prstDash val="solid"/>
          </a:ln>
        </p:spPr>
      </p:sp>
      <p:sp>
        <p:nvSpPr>
          <p:cNvPr id="8" name="">
            <a:extLst xmlns:a="http://schemas.openxmlformats.org/drawingml/2006/main">
              <a:ext uri="{FF2B5EF4-FFF2-40B4-BE49-F238E27FC236}">
                <a16:creationId xmlns:a16="http://schemas.microsoft.com/office/drawing/2014/main" id="{CB6D782C-A9CB-4432-9530-8D79EEF218A8}"/>
              </a:ext>
            </a:extLst>
          </p:cNvPr>
          <p:cNvSpPr>
            <a:spLocks xmlns:a="http://schemas.openxmlformats.org/drawingml/2006/main" noGrp="1"/>
          </p:cNvSpPr>
          <p:nvPr/>
        </p:nvSpPr>
        <p:spPr>
          <a:xfrm xmlns:a="http://schemas.openxmlformats.org/drawingml/2006/main">
            <a:off x="8305800" y="15049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5803D"/>
                </a:solidFill>
              </a:defRPr>
            </a:pPr>
            <a:r>
              <a:rPr sz="975" b="1">
                <a:solidFill>
                  <a:srgbClr val="15803D"/>
                </a:solidFill>
              </a:rPr>
              <a:t>STATUS</a:t>
            </a:r>
          </a:p>
        </p:txBody>
      </p:sp>
      <p:sp>
        <p:nvSpPr>
          <p:cNvPr id="9" name="">
            <a:extLst xmlns:a="http://schemas.openxmlformats.org/drawingml/2006/main">
              <a:ext uri="{FF2B5EF4-FFF2-40B4-BE49-F238E27FC236}">
                <a16:creationId xmlns:a16="http://schemas.microsoft.com/office/drawing/2014/main" id="{003DF806-9127-4C12-B0EF-8CA21D93E814}"/>
              </a:ext>
            </a:extLst>
          </p:cNvPr>
          <p:cNvSpPr>
            <a:spLocks xmlns:a="http://schemas.openxmlformats.org/drawingml/2006/main" noGrp="1"/>
          </p:cNvSpPr>
          <p:nvPr/>
        </p:nvSpPr>
        <p:spPr>
          <a:xfrm xmlns:a="http://schemas.openxmlformats.org/drawingml/2006/main">
            <a:off x="8305800" y="17526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5803D"/>
                </a:solidFill>
              </a:defRPr>
            </a:pPr>
            <a:r>
              <a:rPr sz="1200" b="1">
                <a:solidFill>
                  <a:srgbClr val="15803D"/>
                </a:solidFill>
              </a:rPr>
              <a:t>PASS transaksi racikan</a:t>
            </a:r>
          </a:p>
        </p:txBody>
      </p:sp>
      <p:sp>
        <p:nvSpPr>
          <p:cNvPr id="10" name="">
            <a:extLst xmlns:a="http://schemas.openxmlformats.org/drawingml/2006/main">
              <a:ext uri="{FF2B5EF4-FFF2-40B4-BE49-F238E27FC236}">
                <a16:creationId xmlns:a16="http://schemas.microsoft.com/office/drawing/2014/main" id="{4D8C2D5B-0AB7-4924-B0FF-0E8313288F09}"/>
              </a:ext>
            </a:extLst>
          </p:cNvPr>
          <p:cNvSpPr>
            <a:spLocks xmlns:a="http://schemas.openxmlformats.org/drawingml/2006/main" noGrp="1"/>
          </p:cNvSpPr>
          <p:nvPr/>
        </p:nvSpPr>
        <p:spPr>
          <a:xfrm xmlns:a="http://schemas.openxmlformats.org/drawingml/2006/main">
            <a:off x="8096250" y="2476500"/>
            <a:ext cx="3105150" cy="3162300"/>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D9E5EC"/>
            </a:solidFill>
            <a:prstDash val="solid"/>
          </a:ln>
        </p:spPr>
      </p:sp>
      <p:sp>
        <p:nvSpPr>
          <p:cNvPr id="11" name="">
            <a:extLst xmlns:a="http://schemas.openxmlformats.org/drawingml/2006/main">
              <a:ext uri="{FF2B5EF4-FFF2-40B4-BE49-F238E27FC236}">
                <a16:creationId xmlns:a16="http://schemas.microsoft.com/office/drawing/2014/main" id="{AE7BA0F4-55A3-4838-8216-B548887B818E}"/>
              </a:ext>
            </a:extLst>
          </p:cNvPr>
          <p:cNvSpPr>
            <a:spLocks xmlns:a="http://schemas.openxmlformats.org/drawingml/2006/main" noGrp="1"/>
          </p:cNvSpPr>
          <p:nvPr/>
        </p:nvSpPr>
        <p:spPr>
          <a:xfrm xmlns:a="http://schemas.openxmlformats.org/drawingml/2006/main">
            <a:off x="8305800" y="26860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F766E"/>
                </a:solidFill>
              </a:defRPr>
            </a:pPr>
            <a:r>
              <a:rPr sz="1050" b="1">
                <a:solidFill>
                  <a:srgbClr val="0F766E"/>
                </a:solidFill>
              </a:rPr>
              <a:t>HASIL AKTUAL</a:t>
            </a:r>
          </a:p>
        </p:txBody>
      </p:sp>
      <p:sp>
        <p:nvSpPr>
          <p:cNvPr id="12" name="">
            <a:extLst xmlns:a="http://schemas.openxmlformats.org/drawingml/2006/main">
              <a:ext uri="{FF2B5EF4-FFF2-40B4-BE49-F238E27FC236}">
                <a16:creationId xmlns:a16="http://schemas.microsoft.com/office/drawing/2014/main" id="{E5934B67-A626-4DB6-8A8A-3F402EEC11B2}"/>
              </a:ext>
            </a:extLst>
          </p:cNvPr>
          <p:cNvSpPr>
            <a:spLocks xmlns:a="http://schemas.openxmlformats.org/drawingml/2006/main" noGrp="1"/>
          </p:cNvSpPr>
          <p:nvPr/>
        </p:nvSpPr>
        <p:spPr>
          <a:xfrm xmlns:a="http://schemas.openxmlformats.org/drawingml/2006/main">
            <a:off x="8305800" y="3028950"/>
            <a:ext cx="26098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100 dari 100 transaksi racikan berhasil; endpoint daftar mengembalikan 100 resep pada halaman uji dan ringkasan provision server menyatakan total 5.000 resep demo tersedia</a:t>
            </a:r>
          </a:p>
        </p:txBody>
      </p:sp>
      <p:sp>
        <p:nvSpPr>
          <p:cNvPr id="13" name="">
            <a:extLst xmlns:a="http://schemas.openxmlformats.org/drawingml/2006/main">
              <a:ext uri="{FF2B5EF4-FFF2-40B4-BE49-F238E27FC236}">
                <a16:creationId xmlns:a16="http://schemas.microsoft.com/office/drawing/2014/main" id="{827702CD-4EAE-42D7-BCE0-0CE4F0C69EF2}"/>
              </a:ext>
            </a:extLst>
          </p:cNvPr>
          <p:cNvSpPr>
            <a:spLocks xmlns:a="http://schemas.openxmlformats.org/drawingml/2006/main" noGrp="1"/>
          </p:cNvSpPr>
          <p:nvPr/>
        </p:nvSpPr>
        <p:spPr>
          <a:xfrm xmlns:a="http://schemas.openxmlformats.org/drawingml/2006/main">
            <a:off x="8305800" y="523875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26273"/>
                </a:solidFill>
              </a:defRPr>
            </a:pPr>
            <a:r>
              <a:rPr sz="1050" b="1">
                <a:solidFill>
                  <a:srgbClr val="526273"/>
                </a:solidFill>
              </a:rPr>
              <a:t>Narasi lengkap: 953 kata</a:t>
            </a:r>
          </a:p>
        </p:txBody>
      </p:sp>
    </p:spTree>
    <p:extLst>
      <p:ext uri="{BB962C8B-B14F-4D97-AF65-F5344CB8AC3E}">
        <p14:creationId xmlns:p14="http://schemas.microsoft.com/office/powerpoint/2010/main" val="731357091"/>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CEFBD6FD-EF47-49B7-8CC6-16AB79FB4398}"/>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DIAGRAM 2</a:t>
            </a:r>
          </a:p>
        </p:txBody>
      </p:sp>
      <p:sp>
        <p:nvSpPr>
          <p:cNvPr id="2" name="">
            <a:extLst xmlns:a="http://schemas.openxmlformats.org/drawingml/2006/main">
              <a:ext uri="{FF2B5EF4-FFF2-40B4-BE49-F238E27FC236}">
                <a16:creationId xmlns:a16="http://schemas.microsoft.com/office/drawing/2014/main" id="{E415277C-A7C2-41E1-B9B5-D66441FFF5C6}"/>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Penjualan Obat Racik: peran, alur, dan data</a:t>
            </a:r>
          </a:p>
        </p:txBody>
      </p:sp>
      <p:sp>
        <p:nvSpPr>
          <p:cNvPr id="3" name="">
            <a:extLst xmlns:a="http://schemas.openxmlformats.org/drawingml/2006/main">
              <a:ext uri="{FF2B5EF4-FFF2-40B4-BE49-F238E27FC236}">
                <a16:creationId xmlns:a16="http://schemas.microsoft.com/office/drawing/2014/main" id="{30401F56-6A3D-4439-B796-1FAC061D0A3D}"/>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07</a:t>
            </a:r>
          </a:p>
        </p:txBody>
      </p:sp>
      <p:sp>
        <p:nvSpPr>
          <p:cNvPr id="4" name="">
            <a:extLst xmlns:a="http://schemas.openxmlformats.org/drawingml/2006/main">
              <a:ext uri="{FF2B5EF4-FFF2-40B4-BE49-F238E27FC236}">
                <a16:creationId xmlns:a16="http://schemas.microsoft.com/office/drawing/2014/main" id="{35031190-C32F-4BC2-A0AB-52751543EA0E}"/>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7</a:t>
            </a:r>
          </a:p>
        </p:txBody>
      </p:sp>
      <p:sp>
        <p:nvSpPr>
          <p:cNvPr id="5" name="">
            <a:extLst xmlns:a="http://schemas.openxmlformats.org/drawingml/2006/main">
              <a:ext uri="{FF2B5EF4-FFF2-40B4-BE49-F238E27FC236}">
                <a16:creationId xmlns:a16="http://schemas.microsoft.com/office/drawing/2014/main" id="{A72725B7-956F-42C6-866B-3643F9F45E27}"/>
              </a:ext>
            </a:extLst>
          </p:cNvPr>
          <p:cNvSpPr>
            <a:spLocks xmlns:a="http://schemas.openxmlformats.org/drawingml/2006/main" noGrp="1"/>
          </p:cNvSpPr>
          <p:nvPr/>
        </p:nvSpPr>
        <p:spPr>
          <a:xfrm xmlns:a="http://schemas.openxmlformats.org/drawingml/2006/main">
            <a:off x="6096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6" name="">
            <a:extLst xmlns:a="http://schemas.openxmlformats.org/drawingml/2006/main">
              <a:ext uri="{FF2B5EF4-FFF2-40B4-BE49-F238E27FC236}">
                <a16:creationId xmlns:a16="http://schemas.microsoft.com/office/drawing/2014/main" id="{C91F3AA1-866A-49C6-B37C-238048EDF81C}"/>
              </a:ext>
            </a:extLst>
          </p:cNvPr>
          <p:cNvSpPr>
            <a:spLocks xmlns:a="http://schemas.openxmlformats.org/drawingml/2006/main" noGrp="1"/>
          </p:cNvSpPr>
          <p:nvPr/>
        </p:nvSpPr>
        <p:spPr>
          <a:xfrm xmlns:a="http://schemas.openxmlformats.org/drawingml/2006/main">
            <a:off x="41910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7" name="">
            <a:extLst xmlns:a="http://schemas.openxmlformats.org/drawingml/2006/main">
              <a:ext uri="{FF2B5EF4-FFF2-40B4-BE49-F238E27FC236}">
                <a16:creationId xmlns:a16="http://schemas.microsoft.com/office/drawing/2014/main" id="{9536246E-350F-4A80-A15A-FC9369CB8F12}"/>
              </a:ext>
            </a:extLst>
          </p:cNvPr>
          <p:cNvSpPr>
            <a:spLocks xmlns:a="http://schemas.openxmlformats.org/drawingml/2006/main" noGrp="1"/>
          </p:cNvSpPr>
          <p:nvPr/>
        </p:nvSpPr>
        <p:spPr>
          <a:xfrm xmlns:a="http://schemas.openxmlformats.org/drawingml/2006/main">
            <a:off x="77724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8" name="">
            <a:extLst xmlns:a="http://schemas.openxmlformats.org/drawingml/2006/main">
              <a:ext uri="{FF2B5EF4-FFF2-40B4-BE49-F238E27FC236}">
                <a16:creationId xmlns:a16="http://schemas.microsoft.com/office/drawing/2014/main" id="{530482A1-6D56-4326-B2E0-2C699C47087F}"/>
              </a:ext>
            </a:extLst>
          </p:cNvPr>
          <p:cNvSpPr>
            <a:spLocks xmlns:a="http://schemas.openxmlformats.org/drawingml/2006/main" noGrp="1"/>
          </p:cNvSpPr>
          <p:nvPr/>
        </p:nvSpPr>
        <p:spPr>
          <a:xfrm xmlns:a="http://schemas.openxmlformats.org/drawingml/2006/main">
            <a:off x="8191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75985"/>
                </a:solidFill>
              </a:defRPr>
            </a:pPr>
            <a:r>
              <a:rPr sz="1275" b="1">
                <a:solidFill>
                  <a:srgbClr val="075985"/>
                </a:solidFill>
              </a:rPr>
              <a:t>USE CASE</a:t>
            </a:r>
          </a:p>
        </p:txBody>
      </p:sp>
      <p:sp>
        <p:nvSpPr>
          <p:cNvPr id="9" name="">
            <a:extLst xmlns:a="http://schemas.openxmlformats.org/drawingml/2006/main">
              <a:ext uri="{FF2B5EF4-FFF2-40B4-BE49-F238E27FC236}">
                <a16:creationId xmlns:a16="http://schemas.microsoft.com/office/drawing/2014/main" id="{A7A938EE-7760-4215-AD88-BBA32DC8E05B}"/>
              </a:ext>
            </a:extLst>
          </p:cNvPr>
          <p:cNvSpPr>
            <a:spLocks xmlns:a="http://schemas.openxmlformats.org/drawingml/2006/main" noGrp="1"/>
          </p:cNvSpPr>
          <p:nvPr/>
        </p:nvSpPr>
        <p:spPr>
          <a:xfrm xmlns:a="http://schemas.openxmlformats.org/drawingml/2006/main">
            <a:off x="819150" y="2047875"/>
            <a:ext cx="2819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Dokter / resep → Terima dan telaah resep</a:t>
            </a:r>
          </a:p>
          <a:p xmlns:a="http://schemas.openxmlformats.org/drawingml/2006/main">
            <a:pPr algn="l">
              <a:defRPr sz="1200" b="0">
                <a:solidFill>
                  <a:srgbClr val="172033"/>
                </a:solidFill>
              </a:defRPr>
            </a:pPr>
            <a:r>
              <a:rPr sz="1200" b="0">
                <a:solidFill>
                  <a:srgbClr val="172033"/>
                </a:solidFill>
              </a:rPr>
              <a:t>Apoteker → Hitung serta pilih bahan</a:t>
            </a:r>
          </a:p>
          <a:p xmlns:a="http://schemas.openxmlformats.org/drawingml/2006/main">
            <a:pPr algn="l">
              <a:defRPr sz="1200" b="0">
                <a:solidFill>
                  <a:srgbClr val="172033"/>
                </a:solidFill>
              </a:defRPr>
            </a:pPr>
            <a:r>
              <a:rPr sz="1200" b="0">
                <a:solidFill>
                  <a:srgbClr val="172033"/>
                </a:solidFill>
              </a:rPr>
              <a:t>Tenaga teknis → Racik, kemas, dan periksa akhir</a:t>
            </a:r>
          </a:p>
          <a:p xmlns:a="http://schemas.openxmlformats.org/drawingml/2006/main">
            <a:pPr algn="l">
              <a:defRPr sz="1200" b="0">
                <a:solidFill>
                  <a:srgbClr val="172033"/>
                </a:solidFill>
              </a:defRPr>
            </a:pPr>
            <a:r>
              <a:rPr sz="1200" b="0">
                <a:solidFill>
                  <a:srgbClr val="172033"/>
                </a:solidFill>
              </a:rPr>
              <a:t>Pasien → Edukasi serta ubah status antrean</a:t>
            </a:r>
          </a:p>
        </p:txBody>
      </p:sp>
      <p:sp>
        <p:nvSpPr>
          <p:cNvPr id="10" name="">
            <a:extLst xmlns:a="http://schemas.openxmlformats.org/drawingml/2006/main">
              <a:ext uri="{FF2B5EF4-FFF2-40B4-BE49-F238E27FC236}">
                <a16:creationId xmlns:a16="http://schemas.microsoft.com/office/drawing/2014/main" id="{B6AA2DF8-9AFE-4093-BA71-6E6CE20F6D92}"/>
              </a:ext>
            </a:extLst>
          </p:cNvPr>
          <p:cNvSpPr>
            <a:spLocks xmlns:a="http://schemas.openxmlformats.org/drawingml/2006/main" noGrp="1"/>
          </p:cNvSpPr>
          <p:nvPr/>
        </p:nvSpPr>
        <p:spPr>
          <a:xfrm xmlns:a="http://schemas.openxmlformats.org/drawingml/2006/main">
            <a:off x="838200" y="4991100"/>
            <a:ext cx="2819400" cy="742950"/>
          </a:xfrm>
          <a:prstGeom xmlns:a="http://schemas.openxmlformats.org/drawingml/2006/main" prst="roundRect">
            <a:avLst>
              <a:gd name="adj" fmla="val 10256"/>
            </a:avLst>
          </a:prstGeom>
          <a:solidFill xmlns:a="http://schemas.openxmlformats.org/drawingml/2006/main">
            <a:srgbClr val="EAF3F8"/>
          </a:solidFill>
          <a:ln xmlns:a="http://schemas.openxmlformats.org/drawingml/2006/main" w="9525">
            <a:solidFill>
              <a:srgbClr val="075985"/>
            </a:solidFill>
            <a:prstDash val="solid"/>
          </a:ln>
        </p:spPr>
      </p:sp>
      <p:sp>
        <p:nvSpPr>
          <p:cNvPr id="11" name="">
            <a:extLst xmlns:a="http://schemas.openxmlformats.org/drawingml/2006/main">
              <a:ext uri="{FF2B5EF4-FFF2-40B4-BE49-F238E27FC236}">
                <a16:creationId xmlns:a16="http://schemas.microsoft.com/office/drawing/2014/main" id="{D0957517-8AA3-408B-A241-59DCDE13AAA0}"/>
              </a:ext>
            </a:extLst>
          </p:cNvPr>
          <p:cNvSpPr>
            <a:spLocks xmlns:a="http://schemas.openxmlformats.org/drawingml/2006/main" noGrp="1"/>
          </p:cNvSpPr>
          <p:nvPr/>
        </p:nvSpPr>
        <p:spPr>
          <a:xfrm xmlns:a="http://schemas.openxmlformats.org/drawingml/2006/main">
            <a:off x="990600" y="521970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75985"/>
                </a:solidFill>
              </a:defRPr>
            </a:pPr>
            <a:r>
              <a:rPr sz="1275" b="1">
                <a:solidFill>
                  <a:srgbClr val="075985"/>
                </a:solidFill>
              </a:rPr>
              <a:t>RBAC + segregasi tugas</a:t>
            </a:r>
          </a:p>
        </p:txBody>
      </p:sp>
      <p:sp>
        <p:nvSpPr>
          <p:cNvPr id="12" name="">
            <a:extLst xmlns:a="http://schemas.openxmlformats.org/drawingml/2006/main">
              <a:ext uri="{FF2B5EF4-FFF2-40B4-BE49-F238E27FC236}">
                <a16:creationId xmlns:a16="http://schemas.microsoft.com/office/drawing/2014/main" id="{BFC729CA-B41A-41F6-942A-97A61A1A830B}"/>
              </a:ext>
            </a:extLst>
          </p:cNvPr>
          <p:cNvSpPr>
            <a:spLocks xmlns:a="http://schemas.openxmlformats.org/drawingml/2006/main" noGrp="1"/>
          </p:cNvSpPr>
          <p:nvPr/>
        </p:nvSpPr>
        <p:spPr>
          <a:xfrm xmlns:a="http://schemas.openxmlformats.org/drawingml/2006/main">
            <a:off x="44005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F766E"/>
                </a:solidFill>
              </a:defRPr>
            </a:pPr>
            <a:r>
              <a:rPr sz="1275" b="1">
                <a:solidFill>
                  <a:srgbClr val="0F766E"/>
                </a:solidFill>
              </a:rPr>
              <a:t>FLOWCHART</a:t>
            </a:r>
          </a:p>
        </p:txBody>
      </p:sp>
      <p:sp>
        <p:nvSpPr>
          <p:cNvPr id="13" name="">
            <a:extLst xmlns:a="http://schemas.openxmlformats.org/drawingml/2006/main">
              <a:ext uri="{FF2B5EF4-FFF2-40B4-BE49-F238E27FC236}">
                <a16:creationId xmlns:a16="http://schemas.microsoft.com/office/drawing/2014/main" id="{DDB847CE-3C07-4ACA-A5C2-547F006DEECC}"/>
              </a:ext>
            </a:extLst>
          </p:cNvPr>
          <p:cNvSpPr>
            <a:spLocks xmlns:a="http://schemas.openxmlformats.org/drawingml/2006/main" noGrp="1"/>
          </p:cNvSpPr>
          <p:nvPr/>
        </p:nvSpPr>
        <p:spPr>
          <a:xfrm xmlns:a="http://schemas.openxmlformats.org/drawingml/2006/main">
            <a:off x="4400550" y="2009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BCC24579-BC09-499F-B5B3-6FD2434CA0CD}"/>
              </a:ext>
            </a:extLst>
          </p:cNvPr>
          <p:cNvSpPr>
            <a:spLocks xmlns:a="http://schemas.openxmlformats.org/drawingml/2006/main" noGrp="1"/>
          </p:cNvSpPr>
          <p:nvPr/>
        </p:nvSpPr>
        <p:spPr>
          <a:xfrm xmlns:a="http://schemas.openxmlformats.org/drawingml/2006/main">
            <a:off x="4533900" y="2114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1. Resep diterima</a:t>
            </a:r>
          </a:p>
        </p:txBody>
      </p:sp>
      <p:sp>
        <p:nvSpPr>
          <p:cNvPr id="15" name="">
            <a:extLst xmlns:a="http://schemas.openxmlformats.org/drawingml/2006/main">
              <a:ext uri="{FF2B5EF4-FFF2-40B4-BE49-F238E27FC236}">
                <a16:creationId xmlns:a16="http://schemas.microsoft.com/office/drawing/2014/main" id="{3A231E35-BA7B-451A-866F-9F42E0A8408C}"/>
              </a:ext>
            </a:extLst>
          </p:cNvPr>
          <p:cNvSpPr>
            <a:spLocks xmlns:a="http://schemas.openxmlformats.org/drawingml/2006/main" noGrp="1"/>
          </p:cNvSpPr>
          <p:nvPr/>
        </p:nvSpPr>
        <p:spPr>
          <a:xfrm xmlns:a="http://schemas.openxmlformats.org/drawingml/2006/main">
            <a:off x="5676900" y="2409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6" name="">
            <a:extLst xmlns:a="http://schemas.openxmlformats.org/drawingml/2006/main">
              <a:ext uri="{FF2B5EF4-FFF2-40B4-BE49-F238E27FC236}">
                <a16:creationId xmlns:a16="http://schemas.microsoft.com/office/drawing/2014/main" id="{8B5FE909-3229-4F78-8475-75F64AE59FE7}"/>
              </a:ext>
            </a:extLst>
          </p:cNvPr>
          <p:cNvSpPr>
            <a:spLocks xmlns:a="http://schemas.openxmlformats.org/drawingml/2006/main" noGrp="1"/>
          </p:cNvSpPr>
          <p:nvPr/>
        </p:nvSpPr>
        <p:spPr>
          <a:xfrm xmlns:a="http://schemas.openxmlformats.org/drawingml/2006/main">
            <a:off x="4400550" y="2581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7" name="">
            <a:extLst xmlns:a="http://schemas.openxmlformats.org/drawingml/2006/main">
              <a:ext uri="{FF2B5EF4-FFF2-40B4-BE49-F238E27FC236}">
                <a16:creationId xmlns:a16="http://schemas.microsoft.com/office/drawing/2014/main" id="{DF170C8F-9E03-4F66-9363-0C058C73DF5C}"/>
              </a:ext>
            </a:extLst>
          </p:cNvPr>
          <p:cNvSpPr>
            <a:spLocks xmlns:a="http://schemas.openxmlformats.org/drawingml/2006/main" noGrp="1"/>
          </p:cNvSpPr>
          <p:nvPr/>
        </p:nvSpPr>
        <p:spPr>
          <a:xfrm xmlns:a="http://schemas.openxmlformats.org/drawingml/2006/main">
            <a:off x="4533900" y="2686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2. Telaah klinis/farmasetik</a:t>
            </a:r>
          </a:p>
        </p:txBody>
      </p:sp>
      <p:sp>
        <p:nvSpPr>
          <p:cNvPr id="18" name="">
            <a:extLst xmlns:a="http://schemas.openxmlformats.org/drawingml/2006/main">
              <a:ext uri="{FF2B5EF4-FFF2-40B4-BE49-F238E27FC236}">
                <a16:creationId xmlns:a16="http://schemas.microsoft.com/office/drawing/2014/main" id="{D25D17A3-4900-4676-8687-7A1ADC755D39}"/>
              </a:ext>
            </a:extLst>
          </p:cNvPr>
          <p:cNvSpPr>
            <a:spLocks xmlns:a="http://schemas.openxmlformats.org/drawingml/2006/main" noGrp="1"/>
          </p:cNvSpPr>
          <p:nvPr/>
        </p:nvSpPr>
        <p:spPr>
          <a:xfrm xmlns:a="http://schemas.openxmlformats.org/drawingml/2006/main">
            <a:off x="5676900" y="2981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9" name="">
            <a:extLst xmlns:a="http://schemas.openxmlformats.org/drawingml/2006/main">
              <a:ext uri="{FF2B5EF4-FFF2-40B4-BE49-F238E27FC236}">
                <a16:creationId xmlns:a16="http://schemas.microsoft.com/office/drawing/2014/main" id="{F49668EA-92F4-42BB-9331-EA38714ACC31}"/>
              </a:ext>
            </a:extLst>
          </p:cNvPr>
          <p:cNvSpPr>
            <a:spLocks xmlns:a="http://schemas.openxmlformats.org/drawingml/2006/main" noGrp="1"/>
          </p:cNvSpPr>
          <p:nvPr/>
        </p:nvSpPr>
        <p:spPr>
          <a:xfrm xmlns:a="http://schemas.openxmlformats.org/drawingml/2006/main">
            <a:off x="4400550" y="3152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0" name="">
            <a:extLst xmlns:a="http://schemas.openxmlformats.org/drawingml/2006/main">
              <a:ext uri="{FF2B5EF4-FFF2-40B4-BE49-F238E27FC236}">
                <a16:creationId xmlns:a16="http://schemas.microsoft.com/office/drawing/2014/main" id="{840C59A5-1B9A-4132-AD38-9BCB431BFE44}"/>
              </a:ext>
            </a:extLst>
          </p:cNvPr>
          <p:cNvSpPr>
            <a:spLocks xmlns:a="http://schemas.openxmlformats.org/drawingml/2006/main" noGrp="1"/>
          </p:cNvSpPr>
          <p:nvPr/>
        </p:nvSpPr>
        <p:spPr>
          <a:xfrm xmlns:a="http://schemas.openxmlformats.org/drawingml/2006/main">
            <a:off x="4533900" y="3257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3. Hitung bahan</a:t>
            </a:r>
          </a:p>
        </p:txBody>
      </p:sp>
      <p:sp>
        <p:nvSpPr>
          <p:cNvPr id="21" name="">
            <a:extLst xmlns:a="http://schemas.openxmlformats.org/drawingml/2006/main">
              <a:ext uri="{FF2B5EF4-FFF2-40B4-BE49-F238E27FC236}">
                <a16:creationId xmlns:a16="http://schemas.microsoft.com/office/drawing/2014/main" id="{DC3D7AA3-F06C-4DB9-B092-A22B88CF3225}"/>
              </a:ext>
            </a:extLst>
          </p:cNvPr>
          <p:cNvSpPr>
            <a:spLocks xmlns:a="http://schemas.openxmlformats.org/drawingml/2006/main" noGrp="1"/>
          </p:cNvSpPr>
          <p:nvPr/>
        </p:nvSpPr>
        <p:spPr>
          <a:xfrm xmlns:a="http://schemas.openxmlformats.org/drawingml/2006/main">
            <a:off x="5676900" y="3552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2" name="">
            <a:extLst xmlns:a="http://schemas.openxmlformats.org/drawingml/2006/main">
              <a:ext uri="{FF2B5EF4-FFF2-40B4-BE49-F238E27FC236}">
                <a16:creationId xmlns:a16="http://schemas.microsoft.com/office/drawing/2014/main" id="{0B760BDF-01EA-4B4C-BC00-01F2F16CBA1C}"/>
              </a:ext>
            </a:extLst>
          </p:cNvPr>
          <p:cNvSpPr>
            <a:spLocks xmlns:a="http://schemas.openxmlformats.org/drawingml/2006/main" noGrp="1"/>
          </p:cNvSpPr>
          <p:nvPr/>
        </p:nvSpPr>
        <p:spPr>
          <a:xfrm xmlns:a="http://schemas.openxmlformats.org/drawingml/2006/main">
            <a:off x="4400550" y="3724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3" name="">
            <a:extLst xmlns:a="http://schemas.openxmlformats.org/drawingml/2006/main">
              <a:ext uri="{FF2B5EF4-FFF2-40B4-BE49-F238E27FC236}">
                <a16:creationId xmlns:a16="http://schemas.microsoft.com/office/drawing/2014/main" id="{0FF702A3-FDAC-4EB5-97DF-B24F91CB8935}"/>
              </a:ext>
            </a:extLst>
          </p:cNvPr>
          <p:cNvSpPr>
            <a:spLocks xmlns:a="http://schemas.openxmlformats.org/drawingml/2006/main" noGrp="1"/>
          </p:cNvSpPr>
          <p:nvPr/>
        </p:nvSpPr>
        <p:spPr>
          <a:xfrm xmlns:a="http://schemas.openxmlformats.org/drawingml/2006/main">
            <a:off x="4533900" y="3829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4. Racik &amp; kemas</a:t>
            </a:r>
          </a:p>
        </p:txBody>
      </p:sp>
      <p:sp>
        <p:nvSpPr>
          <p:cNvPr id="24" name="">
            <a:extLst xmlns:a="http://schemas.openxmlformats.org/drawingml/2006/main">
              <a:ext uri="{FF2B5EF4-FFF2-40B4-BE49-F238E27FC236}">
                <a16:creationId xmlns:a16="http://schemas.microsoft.com/office/drawing/2014/main" id="{C6FF96D6-487E-4492-A56D-FC43AA441D22}"/>
              </a:ext>
            </a:extLst>
          </p:cNvPr>
          <p:cNvSpPr>
            <a:spLocks xmlns:a="http://schemas.openxmlformats.org/drawingml/2006/main" noGrp="1"/>
          </p:cNvSpPr>
          <p:nvPr/>
        </p:nvSpPr>
        <p:spPr>
          <a:xfrm xmlns:a="http://schemas.openxmlformats.org/drawingml/2006/main">
            <a:off x="5676900" y="4124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5" name="">
            <a:extLst xmlns:a="http://schemas.openxmlformats.org/drawingml/2006/main">
              <a:ext uri="{FF2B5EF4-FFF2-40B4-BE49-F238E27FC236}">
                <a16:creationId xmlns:a16="http://schemas.microsoft.com/office/drawing/2014/main" id="{BF4F8E96-3ED5-45CA-A1AB-0F5DA4C5A874}"/>
              </a:ext>
            </a:extLst>
          </p:cNvPr>
          <p:cNvSpPr>
            <a:spLocks xmlns:a="http://schemas.openxmlformats.org/drawingml/2006/main" noGrp="1"/>
          </p:cNvSpPr>
          <p:nvPr/>
        </p:nvSpPr>
        <p:spPr>
          <a:xfrm xmlns:a="http://schemas.openxmlformats.org/drawingml/2006/main">
            <a:off x="4400550" y="4295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6" name="">
            <a:extLst xmlns:a="http://schemas.openxmlformats.org/drawingml/2006/main">
              <a:ext uri="{FF2B5EF4-FFF2-40B4-BE49-F238E27FC236}">
                <a16:creationId xmlns:a16="http://schemas.microsoft.com/office/drawing/2014/main" id="{91FEFD8B-038D-4E4E-B0F9-E600295C6DAD}"/>
              </a:ext>
            </a:extLst>
          </p:cNvPr>
          <p:cNvSpPr>
            <a:spLocks xmlns:a="http://schemas.openxmlformats.org/drawingml/2006/main" noGrp="1"/>
          </p:cNvSpPr>
          <p:nvPr/>
        </p:nvSpPr>
        <p:spPr>
          <a:xfrm xmlns:a="http://schemas.openxmlformats.org/drawingml/2006/main">
            <a:off x="4533900" y="4400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5. Pemeriksaan akhir</a:t>
            </a:r>
          </a:p>
        </p:txBody>
      </p:sp>
      <p:sp>
        <p:nvSpPr>
          <p:cNvPr id="27" name="">
            <a:extLst xmlns:a="http://schemas.openxmlformats.org/drawingml/2006/main">
              <a:ext uri="{FF2B5EF4-FFF2-40B4-BE49-F238E27FC236}">
                <a16:creationId xmlns:a16="http://schemas.microsoft.com/office/drawing/2014/main" id="{128199C3-ABA8-4FD2-9CC9-1FE38A44C3B2}"/>
              </a:ext>
            </a:extLst>
          </p:cNvPr>
          <p:cNvSpPr>
            <a:spLocks xmlns:a="http://schemas.openxmlformats.org/drawingml/2006/main" noGrp="1"/>
          </p:cNvSpPr>
          <p:nvPr/>
        </p:nvSpPr>
        <p:spPr>
          <a:xfrm xmlns:a="http://schemas.openxmlformats.org/drawingml/2006/main">
            <a:off x="5676900" y="4695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8" name="">
            <a:extLst xmlns:a="http://schemas.openxmlformats.org/drawingml/2006/main">
              <a:ext uri="{FF2B5EF4-FFF2-40B4-BE49-F238E27FC236}">
                <a16:creationId xmlns:a16="http://schemas.microsoft.com/office/drawing/2014/main" id="{B62B0FB4-5051-4E09-8FC2-A5E1944FF41C}"/>
              </a:ext>
            </a:extLst>
          </p:cNvPr>
          <p:cNvSpPr>
            <a:spLocks xmlns:a="http://schemas.openxmlformats.org/drawingml/2006/main" noGrp="1"/>
          </p:cNvSpPr>
          <p:nvPr/>
        </p:nvSpPr>
        <p:spPr>
          <a:xfrm xmlns:a="http://schemas.openxmlformats.org/drawingml/2006/main">
            <a:off x="4400550" y="4867275"/>
            <a:ext cx="2857500" cy="409575"/>
          </a:xfrm>
          <a:prstGeom xmlns:a="http://schemas.openxmlformats.org/drawingml/2006/main" prst="roundRect">
            <a:avLst>
              <a:gd name="adj" fmla="val 18605"/>
            </a:avLst>
          </a:prstGeom>
          <a:solidFill xmlns:a="http://schemas.openxmlformats.org/drawingml/2006/main">
            <a:srgbClr val="DCFCE7"/>
          </a:solidFill>
          <a:ln xmlns:a="http://schemas.openxmlformats.org/drawingml/2006/main" w="9525">
            <a:solidFill>
              <a:srgbClr val="15803D"/>
            </a:solidFill>
            <a:prstDash val="solid"/>
          </a:ln>
        </p:spPr>
      </p:sp>
      <p:sp>
        <p:nvSpPr>
          <p:cNvPr id="29" name="">
            <a:extLst xmlns:a="http://schemas.openxmlformats.org/drawingml/2006/main">
              <a:ext uri="{FF2B5EF4-FFF2-40B4-BE49-F238E27FC236}">
                <a16:creationId xmlns:a16="http://schemas.microsoft.com/office/drawing/2014/main" id="{A9DFAA48-6687-400C-8DCF-6007AB0217DE}"/>
              </a:ext>
            </a:extLst>
          </p:cNvPr>
          <p:cNvSpPr>
            <a:spLocks xmlns:a="http://schemas.openxmlformats.org/drawingml/2006/main" noGrp="1"/>
          </p:cNvSpPr>
          <p:nvPr/>
        </p:nvSpPr>
        <p:spPr>
          <a:xfrm xmlns:a="http://schemas.openxmlformats.org/drawingml/2006/main">
            <a:off x="4533900" y="4972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2033"/>
                </a:solidFill>
              </a:defRPr>
            </a:pPr>
            <a:r>
              <a:rPr sz="1200" b="1">
                <a:solidFill>
                  <a:srgbClr val="172033"/>
                </a:solidFill>
              </a:rPr>
              <a:t>6. Serahkan &amp; edukasi</a:t>
            </a:r>
          </a:p>
        </p:txBody>
      </p:sp>
      <p:sp>
        <p:nvSpPr>
          <p:cNvPr id="30" name="">
            <a:extLst xmlns:a="http://schemas.openxmlformats.org/drawingml/2006/main">
              <a:ext uri="{FF2B5EF4-FFF2-40B4-BE49-F238E27FC236}">
                <a16:creationId xmlns:a16="http://schemas.microsoft.com/office/drawing/2014/main" id="{93E3EAD8-7FC2-4E85-86CF-69DA37FCD721}"/>
              </a:ext>
            </a:extLst>
          </p:cNvPr>
          <p:cNvSpPr>
            <a:spLocks xmlns:a="http://schemas.openxmlformats.org/drawingml/2006/main" noGrp="1"/>
          </p:cNvSpPr>
          <p:nvPr/>
        </p:nvSpPr>
        <p:spPr>
          <a:xfrm xmlns:a="http://schemas.openxmlformats.org/drawingml/2006/main">
            <a:off x="79819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7C3AED"/>
                </a:solidFill>
              </a:defRPr>
            </a:pPr>
            <a:r>
              <a:rPr sz="1275" b="1">
                <a:solidFill>
                  <a:srgbClr val="7C3AED"/>
                </a:solidFill>
              </a:rPr>
              <a:t>ERD / DATA FLOW</a:t>
            </a:r>
          </a:p>
        </p:txBody>
      </p:sp>
      <p:sp>
        <p:nvSpPr>
          <p:cNvPr id="31" name="">
            <a:extLst xmlns:a="http://schemas.openxmlformats.org/drawingml/2006/main">
              <a:ext uri="{FF2B5EF4-FFF2-40B4-BE49-F238E27FC236}">
                <a16:creationId xmlns:a16="http://schemas.microsoft.com/office/drawing/2014/main" id="{780B9D42-0384-4C56-80F3-5BFBD27C4182}"/>
              </a:ext>
            </a:extLst>
          </p:cNvPr>
          <p:cNvSpPr>
            <a:spLocks xmlns:a="http://schemas.openxmlformats.org/drawingml/2006/main" noGrp="1"/>
          </p:cNvSpPr>
          <p:nvPr/>
        </p:nvSpPr>
        <p:spPr>
          <a:xfrm xmlns:a="http://schemas.openxmlformats.org/drawingml/2006/main">
            <a:off x="7981950" y="2009775"/>
            <a:ext cx="2857500" cy="476250"/>
          </a:xfrm>
          <a:prstGeom xmlns:a="http://schemas.openxmlformats.org/drawingml/2006/main" prst="roundRect">
            <a:avLst>
              <a:gd name="adj" fmla="val 16000"/>
            </a:avLst>
          </a:prstGeom>
          <a:solidFill xmlns:a="http://schemas.openxmlformats.org/drawingml/2006/main">
            <a:srgbClr val="EDE9FE"/>
          </a:solidFill>
          <a:ln xmlns:a="http://schemas.openxmlformats.org/drawingml/2006/main" w="9525">
            <a:solidFill>
              <a:srgbClr val="7C3AED"/>
            </a:solidFill>
            <a:prstDash val="solid"/>
          </a:ln>
        </p:spPr>
      </p:sp>
      <p:sp>
        <p:nvSpPr>
          <p:cNvPr id="32" name="">
            <a:extLst xmlns:a="http://schemas.openxmlformats.org/drawingml/2006/main">
              <a:ext uri="{FF2B5EF4-FFF2-40B4-BE49-F238E27FC236}">
                <a16:creationId xmlns:a16="http://schemas.microsoft.com/office/drawing/2014/main" id="{A08B3084-55BF-497D-B942-BA8872F2B6B7}"/>
              </a:ext>
            </a:extLst>
          </p:cNvPr>
          <p:cNvSpPr>
            <a:spLocks xmlns:a="http://schemas.openxmlformats.org/drawingml/2006/main" noGrp="1"/>
          </p:cNvSpPr>
          <p:nvPr/>
        </p:nvSpPr>
        <p:spPr>
          <a:xfrm xmlns:a="http://schemas.openxmlformats.org/drawingml/2006/main">
            <a:off x="8115300" y="21336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72033"/>
                </a:solidFill>
              </a:defRPr>
            </a:pPr>
            <a:r>
              <a:rPr sz="1200" b="1">
                <a:solidFill>
                  <a:srgbClr val="172033"/>
                </a:solidFill>
              </a:rPr>
              <a:t>RESEP • id, pasien</a:t>
            </a:r>
          </a:p>
        </p:txBody>
      </p:sp>
      <p:sp>
        <p:nvSpPr>
          <p:cNvPr id="33" name="">
            <a:extLst xmlns:a="http://schemas.openxmlformats.org/drawingml/2006/main">
              <a:ext uri="{FF2B5EF4-FFF2-40B4-BE49-F238E27FC236}">
                <a16:creationId xmlns:a16="http://schemas.microsoft.com/office/drawing/2014/main" id="{8578B351-2D84-4D34-B2D3-F37C085711C6}"/>
              </a:ext>
            </a:extLst>
          </p:cNvPr>
          <p:cNvSpPr>
            <a:spLocks xmlns:a="http://schemas.openxmlformats.org/drawingml/2006/main" noGrp="1"/>
          </p:cNvSpPr>
          <p:nvPr/>
        </p:nvSpPr>
        <p:spPr>
          <a:xfrm xmlns:a="http://schemas.openxmlformats.org/drawingml/2006/main">
            <a:off x="8991600" y="24669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4" name="">
            <a:extLst xmlns:a="http://schemas.openxmlformats.org/drawingml/2006/main">
              <a:ext uri="{FF2B5EF4-FFF2-40B4-BE49-F238E27FC236}">
                <a16:creationId xmlns:a16="http://schemas.microsoft.com/office/drawing/2014/main" id="{09B3BC36-54F1-43E8-BF38-99787EE8F7A1}"/>
              </a:ext>
            </a:extLst>
          </p:cNvPr>
          <p:cNvSpPr>
            <a:spLocks xmlns:a="http://schemas.openxmlformats.org/drawingml/2006/main" noGrp="1"/>
          </p:cNvSpPr>
          <p:nvPr/>
        </p:nvSpPr>
        <p:spPr>
          <a:xfrm xmlns:a="http://schemas.openxmlformats.org/drawingml/2006/main">
            <a:off x="7981950" y="266700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5" name="">
            <a:extLst xmlns:a="http://schemas.openxmlformats.org/drawingml/2006/main">
              <a:ext uri="{FF2B5EF4-FFF2-40B4-BE49-F238E27FC236}">
                <a16:creationId xmlns:a16="http://schemas.microsoft.com/office/drawing/2014/main" id="{36017279-9730-416D-9A48-13BF7CC77CE6}"/>
              </a:ext>
            </a:extLst>
          </p:cNvPr>
          <p:cNvSpPr>
            <a:spLocks xmlns:a="http://schemas.openxmlformats.org/drawingml/2006/main" noGrp="1"/>
          </p:cNvSpPr>
          <p:nvPr/>
        </p:nvSpPr>
        <p:spPr>
          <a:xfrm xmlns:a="http://schemas.openxmlformats.org/drawingml/2006/main">
            <a:off x="8115300" y="279082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RACIKAN • formula, dosis</a:t>
            </a:r>
          </a:p>
        </p:txBody>
      </p:sp>
      <p:sp>
        <p:nvSpPr>
          <p:cNvPr id="36" name="">
            <a:extLst xmlns:a="http://schemas.openxmlformats.org/drawingml/2006/main">
              <a:ext uri="{FF2B5EF4-FFF2-40B4-BE49-F238E27FC236}">
                <a16:creationId xmlns:a16="http://schemas.microsoft.com/office/drawing/2014/main" id="{EFB8DCD7-8D87-494A-A344-DC60A19CC5CA}"/>
              </a:ext>
            </a:extLst>
          </p:cNvPr>
          <p:cNvSpPr>
            <a:spLocks xmlns:a="http://schemas.openxmlformats.org/drawingml/2006/main" noGrp="1"/>
          </p:cNvSpPr>
          <p:nvPr/>
        </p:nvSpPr>
        <p:spPr>
          <a:xfrm xmlns:a="http://schemas.openxmlformats.org/drawingml/2006/main">
            <a:off x="8991600" y="31242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7" name="">
            <a:extLst xmlns:a="http://schemas.openxmlformats.org/drawingml/2006/main">
              <a:ext uri="{FF2B5EF4-FFF2-40B4-BE49-F238E27FC236}">
                <a16:creationId xmlns:a16="http://schemas.microsoft.com/office/drawing/2014/main" id="{9A49B416-CBED-47BE-B7AE-B51750F89CAB}"/>
              </a:ext>
            </a:extLst>
          </p:cNvPr>
          <p:cNvSpPr>
            <a:spLocks xmlns:a="http://schemas.openxmlformats.org/drawingml/2006/main" noGrp="1"/>
          </p:cNvSpPr>
          <p:nvPr/>
        </p:nvSpPr>
        <p:spPr>
          <a:xfrm xmlns:a="http://schemas.openxmlformats.org/drawingml/2006/main">
            <a:off x="7981950" y="332422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8" name="">
            <a:extLst xmlns:a="http://schemas.openxmlformats.org/drawingml/2006/main">
              <a:ext uri="{FF2B5EF4-FFF2-40B4-BE49-F238E27FC236}">
                <a16:creationId xmlns:a16="http://schemas.microsoft.com/office/drawing/2014/main" id="{9C82CCA6-844C-42CB-B377-4FE0117340B8}"/>
              </a:ext>
            </a:extLst>
          </p:cNvPr>
          <p:cNvSpPr>
            <a:spLocks xmlns:a="http://schemas.openxmlformats.org/drawingml/2006/main" noGrp="1"/>
          </p:cNvSpPr>
          <p:nvPr/>
        </p:nvSpPr>
        <p:spPr>
          <a:xfrm xmlns:a="http://schemas.openxmlformats.org/drawingml/2006/main">
            <a:off x="8115300" y="344805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BAHAN • item, qty</a:t>
            </a:r>
          </a:p>
        </p:txBody>
      </p:sp>
      <p:sp>
        <p:nvSpPr>
          <p:cNvPr id="39" name="">
            <a:extLst xmlns:a="http://schemas.openxmlformats.org/drawingml/2006/main">
              <a:ext uri="{FF2B5EF4-FFF2-40B4-BE49-F238E27FC236}">
                <a16:creationId xmlns:a16="http://schemas.microsoft.com/office/drawing/2014/main" id="{46268FA3-5650-4101-BB26-0D7333978C08}"/>
              </a:ext>
            </a:extLst>
          </p:cNvPr>
          <p:cNvSpPr>
            <a:spLocks xmlns:a="http://schemas.openxmlformats.org/drawingml/2006/main" noGrp="1"/>
          </p:cNvSpPr>
          <p:nvPr/>
        </p:nvSpPr>
        <p:spPr>
          <a:xfrm xmlns:a="http://schemas.openxmlformats.org/drawingml/2006/main">
            <a:off x="8991600" y="378142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0" name="">
            <a:extLst xmlns:a="http://schemas.openxmlformats.org/drawingml/2006/main">
              <a:ext uri="{FF2B5EF4-FFF2-40B4-BE49-F238E27FC236}">
                <a16:creationId xmlns:a16="http://schemas.microsoft.com/office/drawing/2014/main" id="{6B4CB9C3-42A7-4E78-AE0B-63EB4E6A5264}"/>
              </a:ext>
            </a:extLst>
          </p:cNvPr>
          <p:cNvSpPr>
            <a:spLocks xmlns:a="http://schemas.openxmlformats.org/drawingml/2006/main" noGrp="1"/>
          </p:cNvSpPr>
          <p:nvPr/>
        </p:nvSpPr>
        <p:spPr>
          <a:xfrm xmlns:a="http://schemas.openxmlformats.org/drawingml/2006/main">
            <a:off x="7981950" y="398145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1" name="">
            <a:extLst xmlns:a="http://schemas.openxmlformats.org/drawingml/2006/main">
              <a:ext uri="{FF2B5EF4-FFF2-40B4-BE49-F238E27FC236}">
                <a16:creationId xmlns:a16="http://schemas.microsoft.com/office/drawing/2014/main" id="{E126656C-0369-44F4-9880-E4B89966DAA3}"/>
              </a:ext>
            </a:extLst>
          </p:cNvPr>
          <p:cNvSpPr>
            <a:spLocks xmlns:a="http://schemas.openxmlformats.org/drawingml/2006/main" noGrp="1"/>
          </p:cNvSpPr>
          <p:nvPr/>
        </p:nvSpPr>
        <p:spPr>
          <a:xfrm xmlns:a="http://schemas.openxmlformats.org/drawingml/2006/main">
            <a:off x="8115300" y="410527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BATCH BAHAN • ED, sisa</a:t>
            </a:r>
          </a:p>
        </p:txBody>
      </p:sp>
      <p:sp>
        <p:nvSpPr>
          <p:cNvPr id="42" name="">
            <a:extLst xmlns:a="http://schemas.openxmlformats.org/drawingml/2006/main">
              <a:ext uri="{FF2B5EF4-FFF2-40B4-BE49-F238E27FC236}">
                <a16:creationId xmlns:a16="http://schemas.microsoft.com/office/drawing/2014/main" id="{C7CC8D72-1EA4-4A8E-A6BB-ED877E617D7B}"/>
              </a:ext>
            </a:extLst>
          </p:cNvPr>
          <p:cNvSpPr>
            <a:spLocks xmlns:a="http://schemas.openxmlformats.org/drawingml/2006/main" noGrp="1"/>
          </p:cNvSpPr>
          <p:nvPr/>
        </p:nvSpPr>
        <p:spPr>
          <a:xfrm xmlns:a="http://schemas.openxmlformats.org/drawingml/2006/main">
            <a:off x="8991600" y="44386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3" name="">
            <a:extLst xmlns:a="http://schemas.openxmlformats.org/drawingml/2006/main">
              <a:ext uri="{FF2B5EF4-FFF2-40B4-BE49-F238E27FC236}">
                <a16:creationId xmlns:a16="http://schemas.microsoft.com/office/drawing/2014/main" id="{A394087C-4F91-4B41-8FD1-FACD03C0EB4D}"/>
              </a:ext>
            </a:extLst>
          </p:cNvPr>
          <p:cNvSpPr>
            <a:spLocks xmlns:a="http://schemas.openxmlformats.org/drawingml/2006/main" noGrp="1"/>
          </p:cNvSpPr>
          <p:nvPr/>
        </p:nvSpPr>
        <p:spPr>
          <a:xfrm xmlns:a="http://schemas.openxmlformats.org/drawingml/2006/main">
            <a:off x="7981950" y="463867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4" name="">
            <a:extLst xmlns:a="http://schemas.openxmlformats.org/drawingml/2006/main">
              <a:ext uri="{FF2B5EF4-FFF2-40B4-BE49-F238E27FC236}">
                <a16:creationId xmlns:a16="http://schemas.microsoft.com/office/drawing/2014/main" id="{969ADFB4-E72E-4717-9FC2-D1A7649F9407}"/>
              </a:ext>
            </a:extLst>
          </p:cNvPr>
          <p:cNvSpPr>
            <a:spLocks xmlns:a="http://schemas.openxmlformats.org/drawingml/2006/main" noGrp="1"/>
          </p:cNvSpPr>
          <p:nvPr/>
        </p:nvSpPr>
        <p:spPr>
          <a:xfrm xmlns:a="http://schemas.openxmlformats.org/drawingml/2006/main">
            <a:off x="8115300" y="47625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PENYERAHAN • status, edukasi</a:t>
            </a:r>
          </a:p>
        </p:txBody>
      </p:sp>
      <p:sp>
        <p:nvSpPr>
          <p:cNvPr id="45" name="">
            <a:extLst xmlns:a="http://schemas.openxmlformats.org/drawingml/2006/main">
              <a:ext uri="{FF2B5EF4-FFF2-40B4-BE49-F238E27FC236}">
                <a16:creationId xmlns:a16="http://schemas.microsoft.com/office/drawing/2014/main" id="{91E9BB66-4B7B-4072-8977-10F8E7ECABC0}"/>
              </a:ext>
            </a:extLst>
          </p:cNvPr>
          <p:cNvSpPr>
            <a:spLocks xmlns:a="http://schemas.openxmlformats.org/drawingml/2006/main" noGrp="1"/>
          </p:cNvSpPr>
          <p:nvPr/>
        </p:nvSpPr>
        <p:spPr>
          <a:xfrm xmlns:a="http://schemas.openxmlformats.org/drawingml/2006/main">
            <a:off x="7981950" y="5391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resep terbaca, bahan tersedia, kalkulasi dan etiket diverifikasi petugas berwenang.</a:t>
            </a:r>
          </a:p>
        </p:txBody>
      </p:sp>
    </p:spTree>
    <p:extLst>
      <p:ext uri="{BB962C8B-B14F-4D97-AF65-F5344CB8AC3E}">
        <p14:creationId xmlns:p14="http://schemas.microsoft.com/office/powerpoint/2010/main" val="171693730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5365C07-B232-40EF-BA9C-8811BCF751C9}"/>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BUKTI 3</a:t>
            </a:r>
          </a:p>
        </p:txBody>
      </p:sp>
      <p:sp>
        <p:nvSpPr>
          <p:cNvPr id="2" name="">
            <a:extLst xmlns:a="http://schemas.openxmlformats.org/drawingml/2006/main">
              <a:ext uri="{FF2B5EF4-FFF2-40B4-BE49-F238E27FC236}">
                <a16:creationId xmlns:a16="http://schemas.microsoft.com/office/drawing/2014/main" id="{4411D4D1-B1C7-4002-B447-918D794DD791}"/>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Penjualan Gabungan dan Layar Pasien</a:t>
            </a:r>
          </a:p>
        </p:txBody>
      </p:sp>
      <p:sp>
        <p:nvSpPr>
          <p:cNvPr id="3" name="">
            <a:extLst xmlns:a="http://schemas.openxmlformats.org/drawingml/2006/main">
              <a:ext uri="{FF2B5EF4-FFF2-40B4-BE49-F238E27FC236}">
                <a16:creationId xmlns:a16="http://schemas.microsoft.com/office/drawing/2014/main" id="{7656A39F-6290-4A6C-A391-0594DF01B544}"/>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08</a:t>
            </a:r>
          </a:p>
        </p:txBody>
      </p:sp>
      <p:sp>
        <p:nvSpPr>
          <p:cNvPr id="4" name="">
            <a:extLst xmlns:a="http://schemas.openxmlformats.org/drawingml/2006/main">
              <a:ext uri="{FF2B5EF4-FFF2-40B4-BE49-F238E27FC236}">
                <a16:creationId xmlns:a16="http://schemas.microsoft.com/office/drawing/2014/main" id="{869351C9-CBE3-4CBD-B6DB-6139E6A131EE}"/>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8</a:t>
            </a:r>
          </a:p>
        </p:txBody>
      </p:sp>
      <p:sp>
        <p:nvSpPr>
          <p:cNvPr id="5" name="">
            <a:extLst xmlns:a="http://schemas.openxmlformats.org/drawingml/2006/main">
              <a:ext uri="{FF2B5EF4-FFF2-40B4-BE49-F238E27FC236}">
                <a16:creationId xmlns:a16="http://schemas.microsoft.com/office/drawing/2014/main" id="{C58E02D8-0147-49DC-8357-77B38BE03CE4}"/>
              </a:ext>
            </a:extLst>
          </p:cNvPr>
          <p:cNvSpPr>
            <a:spLocks xmlns:a="http://schemas.openxmlformats.org/drawingml/2006/main" noGrp="1"/>
          </p:cNvSpPr>
          <p:nvPr/>
        </p:nvSpPr>
        <p:spPr>
          <a:xfrm xmlns:a="http://schemas.openxmlformats.org/drawingml/2006/main">
            <a:off x="609600" y="1352550"/>
            <a:ext cx="7239000" cy="4286250"/>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9E5EC"/>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f3ea058894c44f2"/>
          <a:stretch xmlns:a="http://schemas.openxmlformats.org/drawingml/2006/main"/>
        </p:blipFill>
        <p:spPr>
          <a:xfrm xmlns:a="http://schemas.openxmlformats.org/drawingml/2006/main">
            <a:off x="742950" y="1534716"/>
            <a:ext cx="6972300" cy="3921919"/>
          </a:xfrm>
          <a:prstGeom xmlns:a="http://schemas.openxmlformats.org/drawingml/2006/main" prst="roundRect">
            <a:avLst>
              <a:gd name="adj" fmla="val 2844"/>
            </a:avLst>
          </a:prstGeom>
        </p:spPr>
      </p:pic>
      <p:sp>
        <p:nvSpPr>
          <p:cNvPr id="7" name="">
            <a:extLst xmlns:a="http://schemas.openxmlformats.org/drawingml/2006/main">
              <a:ext uri="{FF2B5EF4-FFF2-40B4-BE49-F238E27FC236}">
                <a16:creationId xmlns:a16="http://schemas.microsoft.com/office/drawing/2014/main" id="{C1A127D8-A78D-4A4F-8DDF-ED068F17A815}"/>
              </a:ext>
            </a:extLst>
          </p:cNvPr>
          <p:cNvSpPr>
            <a:spLocks xmlns:a="http://schemas.openxmlformats.org/drawingml/2006/main" noGrp="1"/>
          </p:cNvSpPr>
          <p:nvPr/>
        </p:nvSpPr>
        <p:spPr>
          <a:xfrm xmlns:a="http://schemas.openxmlformats.org/drawingml/2006/main">
            <a:off x="8096250" y="1352550"/>
            <a:ext cx="3105150" cy="990600"/>
          </a:xfrm>
          <a:prstGeom xmlns:a="http://schemas.openxmlformats.org/drawingml/2006/main" prst="roundRect">
            <a:avLst>
              <a:gd name="adj" fmla="val 11538"/>
            </a:avLst>
          </a:prstGeom>
          <a:solidFill xmlns:a="http://schemas.openxmlformats.org/drawingml/2006/main">
            <a:srgbClr val="FFF7ED"/>
          </a:solidFill>
          <a:ln xmlns:a="http://schemas.openxmlformats.org/drawingml/2006/main" w="9525">
            <a:solidFill>
              <a:srgbClr val="B45309"/>
            </a:solidFill>
            <a:prstDash val="solid"/>
          </a:ln>
        </p:spPr>
      </p:sp>
      <p:sp>
        <p:nvSpPr>
          <p:cNvPr id="8" name="">
            <a:extLst xmlns:a="http://schemas.openxmlformats.org/drawingml/2006/main">
              <a:ext uri="{FF2B5EF4-FFF2-40B4-BE49-F238E27FC236}">
                <a16:creationId xmlns:a16="http://schemas.microsoft.com/office/drawing/2014/main" id="{BC5CFCA1-94AE-4011-9FDF-1951480171C1}"/>
              </a:ext>
            </a:extLst>
          </p:cNvPr>
          <p:cNvSpPr>
            <a:spLocks xmlns:a="http://schemas.openxmlformats.org/drawingml/2006/main" noGrp="1"/>
          </p:cNvSpPr>
          <p:nvPr/>
        </p:nvSpPr>
        <p:spPr>
          <a:xfrm xmlns:a="http://schemas.openxmlformats.org/drawingml/2006/main">
            <a:off x="8305800" y="15049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B45309"/>
                </a:solidFill>
              </a:defRPr>
            </a:pPr>
            <a:r>
              <a:rPr sz="975" b="1">
                <a:solidFill>
                  <a:srgbClr val="B45309"/>
                </a:solidFill>
              </a:rPr>
              <a:t>STATUS</a:t>
            </a:r>
          </a:p>
        </p:txBody>
      </p:sp>
      <p:sp>
        <p:nvSpPr>
          <p:cNvPr id="9" name="">
            <a:extLst xmlns:a="http://schemas.openxmlformats.org/drawingml/2006/main">
              <a:ext uri="{FF2B5EF4-FFF2-40B4-BE49-F238E27FC236}">
                <a16:creationId xmlns:a16="http://schemas.microsoft.com/office/drawing/2014/main" id="{4F44B3E3-3DA2-45D9-B6B0-51323F069642}"/>
              </a:ext>
            </a:extLst>
          </p:cNvPr>
          <p:cNvSpPr>
            <a:spLocks xmlns:a="http://schemas.openxmlformats.org/drawingml/2006/main" noGrp="1"/>
          </p:cNvSpPr>
          <p:nvPr/>
        </p:nvSpPr>
        <p:spPr>
          <a:xfrm xmlns:a="http://schemas.openxmlformats.org/drawingml/2006/main">
            <a:off x="8305800" y="17526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45309"/>
                </a:solidFill>
              </a:defRPr>
            </a:pPr>
            <a:r>
              <a:rPr sz="1200" b="1">
                <a:solidFill>
                  <a:srgbClr val="B45309"/>
                </a:solidFill>
              </a:rPr>
              <a:t>PASS transaksi / PASS komponen / BLOCKED integrasi antrean</a:t>
            </a:r>
          </a:p>
        </p:txBody>
      </p:sp>
      <p:sp>
        <p:nvSpPr>
          <p:cNvPr id="10" name="">
            <a:extLst xmlns:a="http://schemas.openxmlformats.org/drawingml/2006/main">
              <a:ext uri="{FF2B5EF4-FFF2-40B4-BE49-F238E27FC236}">
                <a16:creationId xmlns:a16="http://schemas.microsoft.com/office/drawing/2014/main" id="{BD3C0D6F-877B-42ED-9592-075E344D19F2}"/>
              </a:ext>
            </a:extLst>
          </p:cNvPr>
          <p:cNvSpPr>
            <a:spLocks xmlns:a="http://schemas.openxmlformats.org/drawingml/2006/main" noGrp="1"/>
          </p:cNvSpPr>
          <p:nvPr/>
        </p:nvSpPr>
        <p:spPr>
          <a:xfrm xmlns:a="http://schemas.openxmlformats.org/drawingml/2006/main">
            <a:off x="8096250" y="2476500"/>
            <a:ext cx="3105150" cy="3162300"/>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D9E5EC"/>
            </a:solidFill>
            <a:prstDash val="solid"/>
          </a:ln>
        </p:spPr>
      </p:sp>
      <p:sp>
        <p:nvSpPr>
          <p:cNvPr id="11" name="">
            <a:extLst xmlns:a="http://schemas.openxmlformats.org/drawingml/2006/main">
              <a:ext uri="{FF2B5EF4-FFF2-40B4-BE49-F238E27FC236}">
                <a16:creationId xmlns:a16="http://schemas.microsoft.com/office/drawing/2014/main" id="{A3F8CBF7-6386-476E-9D14-2DC2B3F50397}"/>
              </a:ext>
            </a:extLst>
          </p:cNvPr>
          <p:cNvSpPr>
            <a:spLocks xmlns:a="http://schemas.openxmlformats.org/drawingml/2006/main" noGrp="1"/>
          </p:cNvSpPr>
          <p:nvPr/>
        </p:nvSpPr>
        <p:spPr>
          <a:xfrm xmlns:a="http://schemas.openxmlformats.org/drawingml/2006/main">
            <a:off x="8305800" y="26860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F766E"/>
                </a:solidFill>
              </a:defRPr>
            </a:pPr>
            <a:r>
              <a:rPr sz="1050" b="1">
                <a:solidFill>
                  <a:srgbClr val="0F766E"/>
                </a:solidFill>
              </a:rPr>
              <a:t>HASIL AKTUAL</a:t>
            </a:r>
          </a:p>
        </p:txBody>
      </p:sp>
      <p:sp>
        <p:nvSpPr>
          <p:cNvPr id="12" name="">
            <a:extLst xmlns:a="http://schemas.openxmlformats.org/drawingml/2006/main">
              <a:ext uri="{FF2B5EF4-FFF2-40B4-BE49-F238E27FC236}">
                <a16:creationId xmlns:a16="http://schemas.microsoft.com/office/drawing/2014/main" id="{E0EAC16A-E0EC-4F12-8347-2AC99B987B5A}"/>
              </a:ext>
            </a:extLst>
          </p:cNvPr>
          <p:cNvSpPr>
            <a:spLocks xmlns:a="http://schemas.openxmlformats.org/drawingml/2006/main" noGrp="1"/>
          </p:cNvSpPr>
          <p:nvPr/>
        </p:nvSpPr>
        <p:spPr>
          <a:xfrm xmlns:a="http://schemas.openxmlformats.org/drawingml/2006/main">
            <a:off x="8305800" y="3028950"/>
            <a:ext cx="26098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100 dari 100 transaksi gabungan yang masing-masing berisi lini obat jadi dan racikan berhasil. Komponen layar gabungan, khusus obat jadi, dan khusus racikan dapat dirender, tetapi endpoint antrean farmasi pada server demo mengembalikan aksi belum tersedia; screenshot ini memakai data pratinjau terkontrol</a:t>
            </a:r>
          </a:p>
        </p:txBody>
      </p:sp>
      <p:sp>
        <p:nvSpPr>
          <p:cNvPr id="13" name="">
            <a:extLst xmlns:a="http://schemas.openxmlformats.org/drawingml/2006/main">
              <a:ext uri="{FF2B5EF4-FFF2-40B4-BE49-F238E27FC236}">
                <a16:creationId xmlns:a16="http://schemas.microsoft.com/office/drawing/2014/main" id="{8DA32707-CC43-4155-9C7A-D31982D0C2A2}"/>
              </a:ext>
            </a:extLst>
          </p:cNvPr>
          <p:cNvSpPr>
            <a:spLocks xmlns:a="http://schemas.openxmlformats.org/drawingml/2006/main" noGrp="1"/>
          </p:cNvSpPr>
          <p:nvPr/>
        </p:nvSpPr>
        <p:spPr>
          <a:xfrm xmlns:a="http://schemas.openxmlformats.org/drawingml/2006/main">
            <a:off x="8305800" y="523875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26273"/>
                </a:solidFill>
              </a:defRPr>
            </a:pPr>
            <a:r>
              <a:rPr sz="1050" b="1">
                <a:solidFill>
                  <a:srgbClr val="526273"/>
                </a:solidFill>
              </a:rPr>
              <a:t>Narasi lengkap: 990 kata</a:t>
            </a:r>
          </a:p>
        </p:txBody>
      </p:sp>
    </p:spTree>
    <p:extLst>
      <p:ext uri="{BB962C8B-B14F-4D97-AF65-F5344CB8AC3E}">
        <p14:creationId xmlns:p14="http://schemas.microsoft.com/office/powerpoint/2010/main" val="188092045"/>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055FA059-4508-43E6-863F-7063504DEF5A}"/>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DIAGRAM 3</a:t>
            </a:r>
          </a:p>
        </p:txBody>
      </p:sp>
      <p:sp>
        <p:nvSpPr>
          <p:cNvPr id="2" name="">
            <a:extLst xmlns:a="http://schemas.openxmlformats.org/drawingml/2006/main">
              <a:ext uri="{FF2B5EF4-FFF2-40B4-BE49-F238E27FC236}">
                <a16:creationId xmlns:a16="http://schemas.microsoft.com/office/drawing/2014/main" id="{C6E18600-832A-4FA3-BF97-0F974C584D72}"/>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Penjualan Gabungan dan Layar Pasien: peran, alur, dan data</a:t>
            </a:r>
          </a:p>
        </p:txBody>
      </p:sp>
      <p:sp>
        <p:nvSpPr>
          <p:cNvPr id="3" name="">
            <a:extLst xmlns:a="http://schemas.openxmlformats.org/drawingml/2006/main">
              <a:ext uri="{FF2B5EF4-FFF2-40B4-BE49-F238E27FC236}">
                <a16:creationId xmlns:a16="http://schemas.microsoft.com/office/drawing/2014/main" id="{F5517E09-E231-4DB7-9C0D-998775C4792B}"/>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09</a:t>
            </a:r>
          </a:p>
        </p:txBody>
      </p:sp>
      <p:sp>
        <p:nvSpPr>
          <p:cNvPr id="4" name="">
            <a:extLst xmlns:a="http://schemas.openxmlformats.org/drawingml/2006/main">
              <a:ext uri="{FF2B5EF4-FFF2-40B4-BE49-F238E27FC236}">
                <a16:creationId xmlns:a16="http://schemas.microsoft.com/office/drawing/2014/main" id="{77EDDC0C-EE9E-4D8B-80C7-9ECD4A8A998D}"/>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9</a:t>
            </a:r>
          </a:p>
        </p:txBody>
      </p:sp>
      <p:sp>
        <p:nvSpPr>
          <p:cNvPr id="5" name="">
            <a:extLst xmlns:a="http://schemas.openxmlformats.org/drawingml/2006/main">
              <a:ext uri="{FF2B5EF4-FFF2-40B4-BE49-F238E27FC236}">
                <a16:creationId xmlns:a16="http://schemas.microsoft.com/office/drawing/2014/main" id="{C57DCFD5-FD05-47EB-B39B-D9B3612EBBAF}"/>
              </a:ext>
            </a:extLst>
          </p:cNvPr>
          <p:cNvSpPr>
            <a:spLocks xmlns:a="http://schemas.openxmlformats.org/drawingml/2006/main" noGrp="1"/>
          </p:cNvSpPr>
          <p:nvPr/>
        </p:nvSpPr>
        <p:spPr>
          <a:xfrm xmlns:a="http://schemas.openxmlformats.org/drawingml/2006/main">
            <a:off x="6096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6" name="">
            <a:extLst xmlns:a="http://schemas.openxmlformats.org/drawingml/2006/main">
              <a:ext uri="{FF2B5EF4-FFF2-40B4-BE49-F238E27FC236}">
                <a16:creationId xmlns:a16="http://schemas.microsoft.com/office/drawing/2014/main" id="{2E761C57-D58D-4A65-9415-7B7227B5DDFD}"/>
              </a:ext>
            </a:extLst>
          </p:cNvPr>
          <p:cNvSpPr>
            <a:spLocks xmlns:a="http://schemas.openxmlformats.org/drawingml/2006/main" noGrp="1"/>
          </p:cNvSpPr>
          <p:nvPr/>
        </p:nvSpPr>
        <p:spPr>
          <a:xfrm xmlns:a="http://schemas.openxmlformats.org/drawingml/2006/main">
            <a:off x="41910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7" name="">
            <a:extLst xmlns:a="http://schemas.openxmlformats.org/drawingml/2006/main">
              <a:ext uri="{FF2B5EF4-FFF2-40B4-BE49-F238E27FC236}">
                <a16:creationId xmlns:a16="http://schemas.microsoft.com/office/drawing/2014/main" id="{1D7477DE-A485-4828-B583-2646596C14DF}"/>
              </a:ext>
            </a:extLst>
          </p:cNvPr>
          <p:cNvSpPr>
            <a:spLocks xmlns:a="http://schemas.openxmlformats.org/drawingml/2006/main" noGrp="1"/>
          </p:cNvSpPr>
          <p:nvPr/>
        </p:nvSpPr>
        <p:spPr>
          <a:xfrm xmlns:a="http://schemas.openxmlformats.org/drawingml/2006/main">
            <a:off x="77724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8" name="">
            <a:extLst xmlns:a="http://schemas.openxmlformats.org/drawingml/2006/main">
              <a:ext uri="{FF2B5EF4-FFF2-40B4-BE49-F238E27FC236}">
                <a16:creationId xmlns:a16="http://schemas.microsoft.com/office/drawing/2014/main" id="{EA0F0051-4FEF-42A5-9E7A-66B871B7A690}"/>
              </a:ext>
            </a:extLst>
          </p:cNvPr>
          <p:cNvSpPr>
            <a:spLocks xmlns:a="http://schemas.openxmlformats.org/drawingml/2006/main" noGrp="1"/>
          </p:cNvSpPr>
          <p:nvPr/>
        </p:nvSpPr>
        <p:spPr>
          <a:xfrm xmlns:a="http://schemas.openxmlformats.org/drawingml/2006/main">
            <a:off x="8191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75985"/>
                </a:solidFill>
              </a:defRPr>
            </a:pPr>
            <a:r>
              <a:rPr sz="1275" b="1">
                <a:solidFill>
                  <a:srgbClr val="075985"/>
                </a:solidFill>
              </a:rPr>
              <a:t>USE CASE</a:t>
            </a:r>
          </a:p>
        </p:txBody>
      </p:sp>
      <p:sp>
        <p:nvSpPr>
          <p:cNvPr id="9" name="">
            <a:extLst xmlns:a="http://schemas.openxmlformats.org/drawingml/2006/main">
              <a:ext uri="{FF2B5EF4-FFF2-40B4-BE49-F238E27FC236}">
                <a16:creationId xmlns:a16="http://schemas.microsoft.com/office/drawing/2014/main" id="{8CF8609C-F27E-4F53-BE8C-59D77C072EE4}"/>
              </a:ext>
            </a:extLst>
          </p:cNvPr>
          <p:cNvSpPr>
            <a:spLocks xmlns:a="http://schemas.openxmlformats.org/drawingml/2006/main" noGrp="1"/>
          </p:cNvSpPr>
          <p:nvPr/>
        </p:nvSpPr>
        <p:spPr>
          <a:xfrm xmlns:a="http://schemas.openxmlformats.org/drawingml/2006/main">
            <a:off x="819150" y="2047875"/>
            <a:ext cx="2819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Kasir → Gabungkan obat jadi dan racikan</a:t>
            </a:r>
          </a:p>
          <a:p xmlns:a="http://schemas.openxmlformats.org/drawingml/2006/main">
            <a:pPr algn="l">
              <a:defRPr sz="1200" b="0">
                <a:solidFill>
                  <a:srgbClr val="172033"/>
                </a:solidFill>
              </a:defRPr>
            </a:pPr>
            <a:r>
              <a:rPr sz="1200" b="0">
                <a:solidFill>
                  <a:srgbClr val="172033"/>
                </a:solidFill>
              </a:rPr>
              <a:t>Apoteker → Bayar dalam satu transaksi</a:t>
            </a:r>
          </a:p>
          <a:p xmlns:a="http://schemas.openxmlformats.org/drawingml/2006/main">
            <a:pPr algn="l">
              <a:defRPr sz="1200" b="0">
                <a:solidFill>
                  <a:srgbClr val="172033"/>
                </a:solidFill>
              </a:defRPr>
            </a:pPr>
            <a:r>
              <a:rPr sz="1200" b="0">
                <a:solidFill>
                  <a:srgbClr val="172033"/>
                </a:solidFill>
              </a:rPr>
              <a:t>Pasien / keluarga → Perbarui status penyiapan</a:t>
            </a:r>
          </a:p>
          <a:p xmlns:a="http://schemas.openxmlformats.org/drawingml/2006/main">
            <a:pPr algn="l">
              <a:defRPr sz="1200" b="0">
                <a:solidFill>
                  <a:srgbClr val="172033"/>
                </a:solidFill>
              </a:defRPr>
            </a:pPr>
            <a:r>
              <a:rPr sz="1200" b="0">
                <a:solidFill>
                  <a:srgbClr val="172033"/>
                </a:solidFill>
              </a:rPr>
              <a:t>Layar publik → Tampilkan antrean tersamar</a:t>
            </a:r>
          </a:p>
        </p:txBody>
      </p:sp>
      <p:sp>
        <p:nvSpPr>
          <p:cNvPr id="10" name="">
            <a:extLst xmlns:a="http://schemas.openxmlformats.org/drawingml/2006/main">
              <a:ext uri="{FF2B5EF4-FFF2-40B4-BE49-F238E27FC236}">
                <a16:creationId xmlns:a16="http://schemas.microsoft.com/office/drawing/2014/main" id="{20A62258-912F-418D-9F85-AFEF37FAB262}"/>
              </a:ext>
            </a:extLst>
          </p:cNvPr>
          <p:cNvSpPr>
            <a:spLocks xmlns:a="http://schemas.openxmlformats.org/drawingml/2006/main" noGrp="1"/>
          </p:cNvSpPr>
          <p:nvPr/>
        </p:nvSpPr>
        <p:spPr>
          <a:xfrm xmlns:a="http://schemas.openxmlformats.org/drawingml/2006/main">
            <a:off x="838200" y="4991100"/>
            <a:ext cx="2819400" cy="742950"/>
          </a:xfrm>
          <a:prstGeom xmlns:a="http://schemas.openxmlformats.org/drawingml/2006/main" prst="roundRect">
            <a:avLst>
              <a:gd name="adj" fmla="val 10256"/>
            </a:avLst>
          </a:prstGeom>
          <a:solidFill xmlns:a="http://schemas.openxmlformats.org/drawingml/2006/main">
            <a:srgbClr val="EAF3F8"/>
          </a:solidFill>
          <a:ln xmlns:a="http://schemas.openxmlformats.org/drawingml/2006/main" w="9525">
            <a:solidFill>
              <a:srgbClr val="075985"/>
            </a:solidFill>
            <a:prstDash val="solid"/>
          </a:ln>
        </p:spPr>
      </p:sp>
      <p:sp>
        <p:nvSpPr>
          <p:cNvPr id="11" name="">
            <a:extLst xmlns:a="http://schemas.openxmlformats.org/drawingml/2006/main">
              <a:ext uri="{FF2B5EF4-FFF2-40B4-BE49-F238E27FC236}">
                <a16:creationId xmlns:a16="http://schemas.microsoft.com/office/drawing/2014/main" id="{E568C395-FCC6-4508-9FF8-BCB1D735A826}"/>
              </a:ext>
            </a:extLst>
          </p:cNvPr>
          <p:cNvSpPr>
            <a:spLocks xmlns:a="http://schemas.openxmlformats.org/drawingml/2006/main" noGrp="1"/>
          </p:cNvSpPr>
          <p:nvPr/>
        </p:nvSpPr>
        <p:spPr>
          <a:xfrm xmlns:a="http://schemas.openxmlformats.org/drawingml/2006/main">
            <a:off x="990600" y="521970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75985"/>
                </a:solidFill>
              </a:defRPr>
            </a:pPr>
            <a:r>
              <a:rPr sz="1275" b="1">
                <a:solidFill>
                  <a:srgbClr val="075985"/>
                </a:solidFill>
              </a:rPr>
              <a:t>RBAC + segregasi tugas</a:t>
            </a:r>
          </a:p>
        </p:txBody>
      </p:sp>
      <p:sp>
        <p:nvSpPr>
          <p:cNvPr id="12" name="">
            <a:extLst xmlns:a="http://schemas.openxmlformats.org/drawingml/2006/main">
              <a:ext uri="{FF2B5EF4-FFF2-40B4-BE49-F238E27FC236}">
                <a16:creationId xmlns:a16="http://schemas.microsoft.com/office/drawing/2014/main" id="{C26E17D7-D1AB-4A2D-81E0-F0F39A3726BE}"/>
              </a:ext>
            </a:extLst>
          </p:cNvPr>
          <p:cNvSpPr>
            <a:spLocks xmlns:a="http://schemas.openxmlformats.org/drawingml/2006/main" noGrp="1"/>
          </p:cNvSpPr>
          <p:nvPr/>
        </p:nvSpPr>
        <p:spPr>
          <a:xfrm xmlns:a="http://schemas.openxmlformats.org/drawingml/2006/main">
            <a:off x="44005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F766E"/>
                </a:solidFill>
              </a:defRPr>
            </a:pPr>
            <a:r>
              <a:rPr sz="1275" b="1">
                <a:solidFill>
                  <a:srgbClr val="0F766E"/>
                </a:solidFill>
              </a:rPr>
              <a:t>FLOWCHART</a:t>
            </a:r>
          </a:p>
        </p:txBody>
      </p:sp>
      <p:sp>
        <p:nvSpPr>
          <p:cNvPr id="13" name="">
            <a:extLst xmlns:a="http://schemas.openxmlformats.org/drawingml/2006/main">
              <a:ext uri="{FF2B5EF4-FFF2-40B4-BE49-F238E27FC236}">
                <a16:creationId xmlns:a16="http://schemas.microsoft.com/office/drawing/2014/main" id="{FC494199-36B0-4E3F-81A6-1F42869003C9}"/>
              </a:ext>
            </a:extLst>
          </p:cNvPr>
          <p:cNvSpPr>
            <a:spLocks xmlns:a="http://schemas.openxmlformats.org/drawingml/2006/main" noGrp="1"/>
          </p:cNvSpPr>
          <p:nvPr/>
        </p:nvSpPr>
        <p:spPr>
          <a:xfrm xmlns:a="http://schemas.openxmlformats.org/drawingml/2006/main">
            <a:off x="4400550" y="2009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962E5468-FFFB-4B18-97BA-1DEDB0965FA2}"/>
              </a:ext>
            </a:extLst>
          </p:cNvPr>
          <p:cNvSpPr>
            <a:spLocks xmlns:a="http://schemas.openxmlformats.org/drawingml/2006/main" noGrp="1"/>
          </p:cNvSpPr>
          <p:nvPr/>
        </p:nvSpPr>
        <p:spPr>
          <a:xfrm xmlns:a="http://schemas.openxmlformats.org/drawingml/2006/main">
            <a:off x="4533900" y="2114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1. Pilih item jadi</a:t>
            </a:r>
          </a:p>
        </p:txBody>
      </p:sp>
      <p:sp>
        <p:nvSpPr>
          <p:cNvPr id="15" name="">
            <a:extLst xmlns:a="http://schemas.openxmlformats.org/drawingml/2006/main">
              <a:ext uri="{FF2B5EF4-FFF2-40B4-BE49-F238E27FC236}">
                <a16:creationId xmlns:a16="http://schemas.microsoft.com/office/drawing/2014/main" id="{88A18522-6DB2-4E91-B220-E6BD4490AA61}"/>
              </a:ext>
            </a:extLst>
          </p:cNvPr>
          <p:cNvSpPr>
            <a:spLocks xmlns:a="http://schemas.openxmlformats.org/drawingml/2006/main" noGrp="1"/>
          </p:cNvSpPr>
          <p:nvPr/>
        </p:nvSpPr>
        <p:spPr>
          <a:xfrm xmlns:a="http://schemas.openxmlformats.org/drawingml/2006/main">
            <a:off x="5676900" y="2409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6" name="">
            <a:extLst xmlns:a="http://schemas.openxmlformats.org/drawingml/2006/main">
              <a:ext uri="{FF2B5EF4-FFF2-40B4-BE49-F238E27FC236}">
                <a16:creationId xmlns:a16="http://schemas.microsoft.com/office/drawing/2014/main" id="{9BFE4BFF-D676-4793-91A3-9C137CAFC76D}"/>
              </a:ext>
            </a:extLst>
          </p:cNvPr>
          <p:cNvSpPr>
            <a:spLocks xmlns:a="http://schemas.openxmlformats.org/drawingml/2006/main" noGrp="1"/>
          </p:cNvSpPr>
          <p:nvPr/>
        </p:nvSpPr>
        <p:spPr>
          <a:xfrm xmlns:a="http://schemas.openxmlformats.org/drawingml/2006/main">
            <a:off x="4400550" y="2581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7" name="">
            <a:extLst xmlns:a="http://schemas.openxmlformats.org/drawingml/2006/main">
              <a:ext uri="{FF2B5EF4-FFF2-40B4-BE49-F238E27FC236}">
                <a16:creationId xmlns:a16="http://schemas.microsoft.com/office/drawing/2014/main" id="{00FD3EAA-E29F-41DC-83F0-B80729F0CB16}"/>
              </a:ext>
            </a:extLst>
          </p:cNvPr>
          <p:cNvSpPr>
            <a:spLocks xmlns:a="http://schemas.openxmlformats.org/drawingml/2006/main" noGrp="1"/>
          </p:cNvSpPr>
          <p:nvPr/>
        </p:nvSpPr>
        <p:spPr>
          <a:xfrm xmlns:a="http://schemas.openxmlformats.org/drawingml/2006/main">
            <a:off x="4533900" y="2686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2. Pilih resep racikan</a:t>
            </a:r>
          </a:p>
        </p:txBody>
      </p:sp>
      <p:sp>
        <p:nvSpPr>
          <p:cNvPr id="18" name="">
            <a:extLst xmlns:a="http://schemas.openxmlformats.org/drawingml/2006/main">
              <a:ext uri="{FF2B5EF4-FFF2-40B4-BE49-F238E27FC236}">
                <a16:creationId xmlns:a16="http://schemas.microsoft.com/office/drawing/2014/main" id="{FBFBF72A-871E-4D2A-ADF4-CEDE6457FACF}"/>
              </a:ext>
            </a:extLst>
          </p:cNvPr>
          <p:cNvSpPr>
            <a:spLocks xmlns:a="http://schemas.openxmlformats.org/drawingml/2006/main" noGrp="1"/>
          </p:cNvSpPr>
          <p:nvPr/>
        </p:nvSpPr>
        <p:spPr>
          <a:xfrm xmlns:a="http://schemas.openxmlformats.org/drawingml/2006/main">
            <a:off x="5676900" y="2981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9" name="">
            <a:extLst xmlns:a="http://schemas.openxmlformats.org/drawingml/2006/main">
              <a:ext uri="{FF2B5EF4-FFF2-40B4-BE49-F238E27FC236}">
                <a16:creationId xmlns:a16="http://schemas.microsoft.com/office/drawing/2014/main" id="{2D733374-F11A-476C-9021-2033E980B380}"/>
              </a:ext>
            </a:extLst>
          </p:cNvPr>
          <p:cNvSpPr>
            <a:spLocks xmlns:a="http://schemas.openxmlformats.org/drawingml/2006/main" noGrp="1"/>
          </p:cNvSpPr>
          <p:nvPr/>
        </p:nvSpPr>
        <p:spPr>
          <a:xfrm xmlns:a="http://schemas.openxmlformats.org/drawingml/2006/main">
            <a:off x="4400550" y="3152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0" name="">
            <a:extLst xmlns:a="http://schemas.openxmlformats.org/drawingml/2006/main">
              <a:ext uri="{FF2B5EF4-FFF2-40B4-BE49-F238E27FC236}">
                <a16:creationId xmlns:a16="http://schemas.microsoft.com/office/drawing/2014/main" id="{B63FE5DE-406C-4755-9C80-711B6E713CAE}"/>
              </a:ext>
            </a:extLst>
          </p:cNvPr>
          <p:cNvSpPr>
            <a:spLocks xmlns:a="http://schemas.openxmlformats.org/drawingml/2006/main" noGrp="1"/>
          </p:cNvSpPr>
          <p:nvPr/>
        </p:nvSpPr>
        <p:spPr>
          <a:xfrm xmlns:a="http://schemas.openxmlformats.org/drawingml/2006/main">
            <a:off x="4533900" y="3257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3. Validasi dua lini</a:t>
            </a:r>
          </a:p>
        </p:txBody>
      </p:sp>
      <p:sp>
        <p:nvSpPr>
          <p:cNvPr id="21" name="">
            <a:extLst xmlns:a="http://schemas.openxmlformats.org/drawingml/2006/main">
              <a:ext uri="{FF2B5EF4-FFF2-40B4-BE49-F238E27FC236}">
                <a16:creationId xmlns:a16="http://schemas.microsoft.com/office/drawing/2014/main" id="{FA4A2166-C97D-460C-A0C5-9BA1344CADAB}"/>
              </a:ext>
            </a:extLst>
          </p:cNvPr>
          <p:cNvSpPr>
            <a:spLocks xmlns:a="http://schemas.openxmlformats.org/drawingml/2006/main" noGrp="1"/>
          </p:cNvSpPr>
          <p:nvPr/>
        </p:nvSpPr>
        <p:spPr>
          <a:xfrm xmlns:a="http://schemas.openxmlformats.org/drawingml/2006/main">
            <a:off x="5676900" y="3552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2" name="">
            <a:extLst xmlns:a="http://schemas.openxmlformats.org/drawingml/2006/main">
              <a:ext uri="{FF2B5EF4-FFF2-40B4-BE49-F238E27FC236}">
                <a16:creationId xmlns:a16="http://schemas.microsoft.com/office/drawing/2014/main" id="{A7B5C3D0-64BB-468F-BFC2-A75BF02D77CE}"/>
              </a:ext>
            </a:extLst>
          </p:cNvPr>
          <p:cNvSpPr>
            <a:spLocks xmlns:a="http://schemas.openxmlformats.org/drawingml/2006/main" noGrp="1"/>
          </p:cNvSpPr>
          <p:nvPr/>
        </p:nvSpPr>
        <p:spPr>
          <a:xfrm xmlns:a="http://schemas.openxmlformats.org/drawingml/2006/main">
            <a:off x="4400550" y="3724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3" name="">
            <a:extLst xmlns:a="http://schemas.openxmlformats.org/drawingml/2006/main">
              <a:ext uri="{FF2B5EF4-FFF2-40B4-BE49-F238E27FC236}">
                <a16:creationId xmlns:a16="http://schemas.microsoft.com/office/drawing/2014/main" id="{54CDA5AA-72AD-45B9-A9DE-C3A5BC8F08D8}"/>
              </a:ext>
            </a:extLst>
          </p:cNvPr>
          <p:cNvSpPr>
            <a:spLocks xmlns:a="http://schemas.openxmlformats.org/drawingml/2006/main" noGrp="1"/>
          </p:cNvSpPr>
          <p:nvPr/>
        </p:nvSpPr>
        <p:spPr>
          <a:xfrm xmlns:a="http://schemas.openxmlformats.org/drawingml/2006/main">
            <a:off x="4533900" y="3829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4. Bayar gabungan</a:t>
            </a:r>
          </a:p>
        </p:txBody>
      </p:sp>
      <p:sp>
        <p:nvSpPr>
          <p:cNvPr id="24" name="">
            <a:extLst xmlns:a="http://schemas.openxmlformats.org/drawingml/2006/main">
              <a:ext uri="{FF2B5EF4-FFF2-40B4-BE49-F238E27FC236}">
                <a16:creationId xmlns:a16="http://schemas.microsoft.com/office/drawing/2014/main" id="{6FFEF9A2-764A-4E03-A9FC-6297A2956D4A}"/>
              </a:ext>
            </a:extLst>
          </p:cNvPr>
          <p:cNvSpPr>
            <a:spLocks xmlns:a="http://schemas.openxmlformats.org/drawingml/2006/main" noGrp="1"/>
          </p:cNvSpPr>
          <p:nvPr/>
        </p:nvSpPr>
        <p:spPr>
          <a:xfrm xmlns:a="http://schemas.openxmlformats.org/drawingml/2006/main">
            <a:off x="5676900" y="4124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5" name="">
            <a:extLst xmlns:a="http://schemas.openxmlformats.org/drawingml/2006/main">
              <a:ext uri="{FF2B5EF4-FFF2-40B4-BE49-F238E27FC236}">
                <a16:creationId xmlns:a16="http://schemas.microsoft.com/office/drawing/2014/main" id="{92CD56CE-3FCE-4A2B-B534-B8D7A7DC40CB}"/>
              </a:ext>
            </a:extLst>
          </p:cNvPr>
          <p:cNvSpPr>
            <a:spLocks xmlns:a="http://schemas.openxmlformats.org/drawingml/2006/main" noGrp="1"/>
          </p:cNvSpPr>
          <p:nvPr/>
        </p:nvSpPr>
        <p:spPr>
          <a:xfrm xmlns:a="http://schemas.openxmlformats.org/drawingml/2006/main">
            <a:off x="4400550" y="4295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6" name="">
            <a:extLst xmlns:a="http://schemas.openxmlformats.org/drawingml/2006/main">
              <a:ext uri="{FF2B5EF4-FFF2-40B4-BE49-F238E27FC236}">
                <a16:creationId xmlns:a16="http://schemas.microsoft.com/office/drawing/2014/main" id="{A1D13BF6-C74F-4B39-84C9-7D47AC1814C0}"/>
              </a:ext>
            </a:extLst>
          </p:cNvPr>
          <p:cNvSpPr>
            <a:spLocks xmlns:a="http://schemas.openxmlformats.org/drawingml/2006/main" noGrp="1"/>
          </p:cNvSpPr>
          <p:nvPr/>
        </p:nvSpPr>
        <p:spPr>
          <a:xfrm xmlns:a="http://schemas.openxmlformats.org/drawingml/2006/main">
            <a:off x="4533900" y="4400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5. Siapkan obat</a:t>
            </a:r>
          </a:p>
        </p:txBody>
      </p:sp>
      <p:sp>
        <p:nvSpPr>
          <p:cNvPr id="27" name="">
            <a:extLst xmlns:a="http://schemas.openxmlformats.org/drawingml/2006/main">
              <a:ext uri="{FF2B5EF4-FFF2-40B4-BE49-F238E27FC236}">
                <a16:creationId xmlns:a16="http://schemas.microsoft.com/office/drawing/2014/main" id="{83CCB0F0-09BD-41F4-A194-0E32FAC277E9}"/>
              </a:ext>
            </a:extLst>
          </p:cNvPr>
          <p:cNvSpPr>
            <a:spLocks xmlns:a="http://schemas.openxmlformats.org/drawingml/2006/main" noGrp="1"/>
          </p:cNvSpPr>
          <p:nvPr/>
        </p:nvSpPr>
        <p:spPr>
          <a:xfrm xmlns:a="http://schemas.openxmlformats.org/drawingml/2006/main">
            <a:off x="5676900" y="4695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8" name="">
            <a:extLst xmlns:a="http://schemas.openxmlformats.org/drawingml/2006/main">
              <a:ext uri="{FF2B5EF4-FFF2-40B4-BE49-F238E27FC236}">
                <a16:creationId xmlns:a16="http://schemas.microsoft.com/office/drawing/2014/main" id="{586DDF27-9EA1-4C12-8D76-16CBF7FB853C}"/>
              </a:ext>
            </a:extLst>
          </p:cNvPr>
          <p:cNvSpPr>
            <a:spLocks xmlns:a="http://schemas.openxmlformats.org/drawingml/2006/main" noGrp="1"/>
          </p:cNvSpPr>
          <p:nvPr/>
        </p:nvSpPr>
        <p:spPr>
          <a:xfrm xmlns:a="http://schemas.openxmlformats.org/drawingml/2006/main">
            <a:off x="4400550" y="4867275"/>
            <a:ext cx="2857500" cy="409575"/>
          </a:xfrm>
          <a:prstGeom xmlns:a="http://schemas.openxmlformats.org/drawingml/2006/main" prst="roundRect">
            <a:avLst>
              <a:gd name="adj" fmla="val 18605"/>
            </a:avLst>
          </a:prstGeom>
          <a:solidFill xmlns:a="http://schemas.openxmlformats.org/drawingml/2006/main">
            <a:srgbClr val="DCFCE7"/>
          </a:solidFill>
          <a:ln xmlns:a="http://schemas.openxmlformats.org/drawingml/2006/main" w="9525">
            <a:solidFill>
              <a:srgbClr val="15803D"/>
            </a:solidFill>
            <a:prstDash val="solid"/>
          </a:ln>
        </p:spPr>
      </p:sp>
      <p:sp>
        <p:nvSpPr>
          <p:cNvPr id="29" name="">
            <a:extLst xmlns:a="http://schemas.openxmlformats.org/drawingml/2006/main">
              <a:ext uri="{FF2B5EF4-FFF2-40B4-BE49-F238E27FC236}">
                <a16:creationId xmlns:a16="http://schemas.microsoft.com/office/drawing/2014/main" id="{35D34164-9E1F-4A53-ADBA-615137F920B9}"/>
              </a:ext>
            </a:extLst>
          </p:cNvPr>
          <p:cNvSpPr>
            <a:spLocks xmlns:a="http://schemas.openxmlformats.org/drawingml/2006/main" noGrp="1"/>
          </p:cNvSpPr>
          <p:nvPr/>
        </p:nvSpPr>
        <p:spPr>
          <a:xfrm xmlns:a="http://schemas.openxmlformats.org/drawingml/2006/main">
            <a:off x="4533900" y="4972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2033"/>
                </a:solidFill>
              </a:defRPr>
            </a:pPr>
            <a:r>
              <a:rPr sz="1200" b="1">
                <a:solidFill>
                  <a:srgbClr val="172033"/>
                </a:solidFill>
              </a:rPr>
              <a:t>6. Panggil pada layar</a:t>
            </a:r>
          </a:p>
        </p:txBody>
      </p:sp>
      <p:sp>
        <p:nvSpPr>
          <p:cNvPr id="30" name="">
            <a:extLst xmlns:a="http://schemas.openxmlformats.org/drawingml/2006/main">
              <a:ext uri="{FF2B5EF4-FFF2-40B4-BE49-F238E27FC236}">
                <a16:creationId xmlns:a16="http://schemas.microsoft.com/office/drawing/2014/main" id="{0DBFDB08-ADB6-44AD-819E-411FFC1AFF53}"/>
              </a:ext>
            </a:extLst>
          </p:cNvPr>
          <p:cNvSpPr>
            <a:spLocks xmlns:a="http://schemas.openxmlformats.org/drawingml/2006/main" noGrp="1"/>
          </p:cNvSpPr>
          <p:nvPr/>
        </p:nvSpPr>
        <p:spPr>
          <a:xfrm xmlns:a="http://schemas.openxmlformats.org/drawingml/2006/main">
            <a:off x="79819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7C3AED"/>
                </a:solidFill>
              </a:defRPr>
            </a:pPr>
            <a:r>
              <a:rPr sz="1275" b="1">
                <a:solidFill>
                  <a:srgbClr val="7C3AED"/>
                </a:solidFill>
              </a:rPr>
              <a:t>ERD / DATA FLOW</a:t>
            </a:r>
          </a:p>
        </p:txBody>
      </p:sp>
      <p:sp>
        <p:nvSpPr>
          <p:cNvPr id="31" name="">
            <a:extLst xmlns:a="http://schemas.openxmlformats.org/drawingml/2006/main">
              <a:ext uri="{FF2B5EF4-FFF2-40B4-BE49-F238E27FC236}">
                <a16:creationId xmlns:a16="http://schemas.microsoft.com/office/drawing/2014/main" id="{9B470F99-52AD-4CAB-AB57-42BA775ECC70}"/>
              </a:ext>
            </a:extLst>
          </p:cNvPr>
          <p:cNvSpPr>
            <a:spLocks xmlns:a="http://schemas.openxmlformats.org/drawingml/2006/main" noGrp="1"/>
          </p:cNvSpPr>
          <p:nvPr/>
        </p:nvSpPr>
        <p:spPr>
          <a:xfrm xmlns:a="http://schemas.openxmlformats.org/drawingml/2006/main">
            <a:off x="7981950" y="2009775"/>
            <a:ext cx="2857500" cy="476250"/>
          </a:xfrm>
          <a:prstGeom xmlns:a="http://schemas.openxmlformats.org/drawingml/2006/main" prst="roundRect">
            <a:avLst>
              <a:gd name="adj" fmla="val 16000"/>
            </a:avLst>
          </a:prstGeom>
          <a:solidFill xmlns:a="http://schemas.openxmlformats.org/drawingml/2006/main">
            <a:srgbClr val="EDE9FE"/>
          </a:solidFill>
          <a:ln xmlns:a="http://schemas.openxmlformats.org/drawingml/2006/main" w="9525">
            <a:solidFill>
              <a:srgbClr val="7C3AED"/>
            </a:solidFill>
            <a:prstDash val="solid"/>
          </a:ln>
        </p:spPr>
      </p:sp>
      <p:sp>
        <p:nvSpPr>
          <p:cNvPr id="32" name="">
            <a:extLst xmlns:a="http://schemas.openxmlformats.org/drawingml/2006/main">
              <a:ext uri="{FF2B5EF4-FFF2-40B4-BE49-F238E27FC236}">
                <a16:creationId xmlns:a16="http://schemas.microsoft.com/office/drawing/2014/main" id="{024E19E6-8BC2-48B4-BB75-EA7E8EF5DBB4}"/>
              </a:ext>
            </a:extLst>
          </p:cNvPr>
          <p:cNvSpPr>
            <a:spLocks xmlns:a="http://schemas.openxmlformats.org/drawingml/2006/main" noGrp="1"/>
          </p:cNvSpPr>
          <p:nvPr/>
        </p:nvSpPr>
        <p:spPr>
          <a:xfrm xmlns:a="http://schemas.openxmlformats.org/drawingml/2006/main">
            <a:off x="8115300" y="21336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72033"/>
                </a:solidFill>
              </a:defRPr>
            </a:pPr>
            <a:r>
              <a:rPr sz="1200" b="1">
                <a:solidFill>
                  <a:srgbClr val="172033"/>
                </a:solidFill>
              </a:rPr>
              <a:t>PENJUALAN • kode gabungan</a:t>
            </a:r>
          </a:p>
        </p:txBody>
      </p:sp>
      <p:sp>
        <p:nvSpPr>
          <p:cNvPr id="33" name="">
            <a:extLst xmlns:a="http://schemas.openxmlformats.org/drawingml/2006/main">
              <a:ext uri="{FF2B5EF4-FFF2-40B4-BE49-F238E27FC236}">
                <a16:creationId xmlns:a16="http://schemas.microsoft.com/office/drawing/2014/main" id="{DB94133B-AC7E-4915-9A97-841155707E31}"/>
              </a:ext>
            </a:extLst>
          </p:cNvPr>
          <p:cNvSpPr>
            <a:spLocks xmlns:a="http://schemas.openxmlformats.org/drawingml/2006/main" noGrp="1"/>
          </p:cNvSpPr>
          <p:nvPr/>
        </p:nvSpPr>
        <p:spPr>
          <a:xfrm xmlns:a="http://schemas.openxmlformats.org/drawingml/2006/main">
            <a:off x="8991600" y="24669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4" name="">
            <a:extLst xmlns:a="http://schemas.openxmlformats.org/drawingml/2006/main">
              <a:ext uri="{FF2B5EF4-FFF2-40B4-BE49-F238E27FC236}">
                <a16:creationId xmlns:a16="http://schemas.microsoft.com/office/drawing/2014/main" id="{1CE78D1B-AABF-4BE3-93A9-B1C35DD9ADF9}"/>
              </a:ext>
            </a:extLst>
          </p:cNvPr>
          <p:cNvSpPr>
            <a:spLocks xmlns:a="http://schemas.openxmlformats.org/drawingml/2006/main" noGrp="1"/>
          </p:cNvSpPr>
          <p:nvPr/>
        </p:nvSpPr>
        <p:spPr>
          <a:xfrm xmlns:a="http://schemas.openxmlformats.org/drawingml/2006/main">
            <a:off x="7981950" y="266700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5" name="">
            <a:extLst xmlns:a="http://schemas.openxmlformats.org/drawingml/2006/main">
              <a:ext uri="{FF2B5EF4-FFF2-40B4-BE49-F238E27FC236}">
                <a16:creationId xmlns:a16="http://schemas.microsoft.com/office/drawing/2014/main" id="{0074EEAF-94CF-453D-946B-9049B291C766}"/>
              </a:ext>
            </a:extLst>
          </p:cNvPr>
          <p:cNvSpPr>
            <a:spLocks xmlns:a="http://schemas.openxmlformats.org/drawingml/2006/main" noGrp="1"/>
          </p:cNvSpPr>
          <p:nvPr/>
        </p:nvSpPr>
        <p:spPr>
          <a:xfrm xmlns:a="http://schemas.openxmlformats.org/drawingml/2006/main">
            <a:off x="8115300" y="279082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DETAIL JADI • item, batch</a:t>
            </a:r>
          </a:p>
        </p:txBody>
      </p:sp>
      <p:sp>
        <p:nvSpPr>
          <p:cNvPr id="36" name="">
            <a:extLst xmlns:a="http://schemas.openxmlformats.org/drawingml/2006/main">
              <a:ext uri="{FF2B5EF4-FFF2-40B4-BE49-F238E27FC236}">
                <a16:creationId xmlns:a16="http://schemas.microsoft.com/office/drawing/2014/main" id="{74FA9FBC-24E7-47E0-9DA5-B768D7C992A7}"/>
              </a:ext>
            </a:extLst>
          </p:cNvPr>
          <p:cNvSpPr>
            <a:spLocks xmlns:a="http://schemas.openxmlformats.org/drawingml/2006/main" noGrp="1"/>
          </p:cNvSpPr>
          <p:nvPr/>
        </p:nvSpPr>
        <p:spPr>
          <a:xfrm xmlns:a="http://schemas.openxmlformats.org/drawingml/2006/main">
            <a:off x="8991600" y="31242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7" name="">
            <a:extLst xmlns:a="http://schemas.openxmlformats.org/drawingml/2006/main">
              <a:ext uri="{FF2B5EF4-FFF2-40B4-BE49-F238E27FC236}">
                <a16:creationId xmlns:a16="http://schemas.microsoft.com/office/drawing/2014/main" id="{DCEEFF95-4A3A-4707-91D7-B031F48B9AE5}"/>
              </a:ext>
            </a:extLst>
          </p:cNvPr>
          <p:cNvSpPr>
            <a:spLocks xmlns:a="http://schemas.openxmlformats.org/drawingml/2006/main" noGrp="1"/>
          </p:cNvSpPr>
          <p:nvPr/>
        </p:nvSpPr>
        <p:spPr>
          <a:xfrm xmlns:a="http://schemas.openxmlformats.org/drawingml/2006/main">
            <a:off x="7981950" y="332422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8" name="">
            <a:extLst xmlns:a="http://schemas.openxmlformats.org/drawingml/2006/main">
              <a:ext uri="{FF2B5EF4-FFF2-40B4-BE49-F238E27FC236}">
                <a16:creationId xmlns:a16="http://schemas.microsoft.com/office/drawing/2014/main" id="{0368D254-2B76-4894-9457-6CED8F285D20}"/>
              </a:ext>
            </a:extLst>
          </p:cNvPr>
          <p:cNvSpPr>
            <a:spLocks xmlns:a="http://schemas.openxmlformats.org/drawingml/2006/main" noGrp="1"/>
          </p:cNvSpPr>
          <p:nvPr/>
        </p:nvSpPr>
        <p:spPr>
          <a:xfrm xmlns:a="http://schemas.openxmlformats.org/drawingml/2006/main">
            <a:off x="8115300" y="344805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DETAIL RACIK • resep, bahan</a:t>
            </a:r>
          </a:p>
        </p:txBody>
      </p:sp>
      <p:sp>
        <p:nvSpPr>
          <p:cNvPr id="39" name="">
            <a:extLst xmlns:a="http://schemas.openxmlformats.org/drawingml/2006/main">
              <a:ext uri="{FF2B5EF4-FFF2-40B4-BE49-F238E27FC236}">
                <a16:creationId xmlns:a16="http://schemas.microsoft.com/office/drawing/2014/main" id="{BC49328C-8109-40D9-A3A5-9A18A7793030}"/>
              </a:ext>
            </a:extLst>
          </p:cNvPr>
          <p:cNvSpPr>
            <a:spLocks xmlns:a="http://schemas.openxmlformats.org/drawingml/2006/main" noGrp="1"/>
          </p:cNvSpPr>
          <p:nvPr/>
        </p:nvSpPr>
        <p:spPr>
          <a:xfrm xmlns:a="http://schemas.openxmlformats.org/drawingml/2006/main">
            <a:off x="8991600" y="378142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0" name="">
            <a:extLst xmlns:a="http://schemas.openxmlformats.org/drawingml/2006/main">
              <a:ext uri="{FF2B5EF4-FFF2-40B4-BE49-F238E27FC236}">
                <a16:creationId xmlns:a16="http://schemas.microsoft.com/office/drawing/2014/main" id="{FC6FCAF0-40B9-47B3-93B6-0F573DA03317}"/>
              </a:ext>
            </a:extLst>
          </p:cNvPr>
          <p:cNvSpPr>
            <a:spLocks xmlns:a="http://schemas.openxmlformats.org/drawingml/2006/main" noGrp="1"/>
          </p:cNvSpPr>
          <p:nvPr/>
        </p:nvSpPr>
        <p:spPr>
          <a:xfrm xmlns:a="http://schemas.openxmlformats.org/drawingml/2006/main">
            <a:off x="7981950" y="398145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1" name="">
            <a:extLst xmlns:a="http://schemas.openxmlformats.org/drawingml/2006/main">
              <a:ext uri="{FF2B5EF4-FFF2-40B4-BE49-F238E27FC236}">
                <a16:creationId xmlns:a16="http://schemas.microsoft.com/office/drawing/2014/main" id="{B3742479-9C5D-4804-9007-82009C84CF8F}"/>
              </a:ext>
            </a:extLst>
          </p:cNvPr>
          <p:cNvSpPr>
            <a:spLocks xmlns:a="http://schemas.openxmlformats.org/drawingml/2006/main" noGrp="1"/>
          </p:cNvSpPr>
          <p:nvPr/>
        </p:nvSpPr>
        <p:spPr>
          <a:xfrm xmlns:a="http://schemas.openxmlformats.org/drawingml/2006/main">
            <a:off x="8115300" y="410527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ANTREAN • nomor, status</a:t>
            </a:r>
          </a:p>
        </p:txBody>
      </p:sp>
      <p:sp>
        <p:nvSpPr>
          <p:cNvPr id="42" name="">
            <a:extLst xmlns:a="http://schemas.openxmlformats.org/drawingml/2006/main">
              <a:ext uri="{FF2B5EF4-FFF2-40B4-BE49-F238E27FC236}">
                <a16:creationId xmlns:a16="http://schemas.microsoft.com/office/drawing/2014/main" id="{8A7EB9C4-A849-472E-9669-25BBDEA928FF}"/>
              </a:ext>
            </a:extLst>
          </p:cNvPr>
          <p:cNvSpPr>
            <a:spLocks xmlns:a="http://schemas.openxmlformats.org/drawingml/2006/main" noGrp="1"/>
          </p:cNvSpPr>
          <p:nvPr/>
        </p:nvSpPr>
        <p:spPr>
          <a:xfrm xmlns:a="http://schemas.openxmlformats.org/drawingml/2006/main">
            <a:off x="8991600" y="44386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3" name="">
            <a:extLst xmlns:a="http://schemas.openxmlformats.org/drawingml/2006/main">
              <a:ext uri="{FF2B5EF4-FFF2-40B4-BE49-F238E27FC236}">
                <a16:creationId xmlns:a16="http://schemas.microsoft.com/office/drawing/2014/main" id="{8254CB4E-2511-47A4-B840-D220EE87808D}"/>
              </a:ext>
            </a:extLst>
          </p:cNvPr>
          <p:cNvSpPr>
            <a:spLocks xmlns:a="http://schemas.openxmlformats.org/drawingml/2006/main" noGrp="1"/>
          </p:cNvSpPr>
          <p:nvPr/>
        </p:nvSpPr>
        <p:spPr>
          <a:xfrm xmlns:a="http://schemas.openxmlformats.org/drawingml/2006/main">
            <a:off x="7981950" y="463867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4" name="">
            <a:extLst xmlns:a="http://schemas.openxmlformats.org/drawingml/2006/main">
              <a:ext uri="{FF2B5EF4-FFF2-40B4-BE49-F238E27FC236}">
                <a16:creationId xmlns:a16="http://schemas.microsoft.com/office/drawing/2014/main" id="{DEE69552-4E74-4B2C-8B38-9A2F3DA42F48}"/>
              </a:ext>
            </a:extLst>
          </p:cNvPr>
          <p:cNvSpPr>
            <a:spLocks xmlns:a="http://schemas.openxmlformats.org/drawingml/2006/main" noGrp="1"/>
          </p:cNvSpPr>
          <p:nvPr/>
        </p:nvSpPr>
        <p:spPr>
          <a:xfrm xmlns:a="http://schemas.openxmlformats.org/drawingml/2006/main">
            <a:off x="8115300" y="47625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LAYAR PUBLIK • view tersamar</a:t>
            </a:r>
          </a:p>
        </p:txBody>
      </p:sp>
      <p:sp>
        <p:nvSpPr>
          <p:cNvPr id="45" name="">
            <a:extLst xmlns:a="http://schemas.openxmlformats.org/drawingml/2006/main">
              <a:ext uri="{FF2B5EF4-FFF2-40B4-BE49-F238E27FC236}">
                <a16:creationId xmlns:a16="http://schemas.microsoft.com/office/drawing/2014/main" id="{0BB47C3B-CCEC-4ECA-A2EA-7758587CF082}"/>
              </a:ext>
            </a:extLst>
          </p:cNvPr>
          <p:cNvSpPr>
            <a:spLocks xmlns:a="http://schemas.openxmlformats.org/drawingml/2006/main" noGrp="1"/>
          </p:cNvSpPr>
          <p:nvPr/>
        </p:nvSpPr>
        <p:spPr>
          <a:xfrm xmlns:a="http://schemas.openxmlformats.org/drawingml/2006/main">
            <a:off x="7981950" y="5391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seluruh lini sah; layar publik hanya menerima nomor antrean, status, loket, dan identitas tersamar.</a:t>
            </a:r>
          </a:p>
        </p:txBody>
      </p:sp>
    </p:spTree>
    <p:extLst>
      <p:ext uri="{BB962C8B-B14F-4D97-AF65-F5344CB8AC3E}">
        <p14:creationId xmlns:p14="http://schemas.microsoft.com/office/powerpoint/2010/main" val="627588751"/>
      </p:ext>
    </p:extLst>
  </p:cSld>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93FEEFB-F455-4D39-B788-615BF8928593}"/>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BUKTI 4</a:t>
            </a:r>
          </a:p>
        </p:txBody>
      </p:sp>
      <p:sp>
        <p:nvSpPr>
          <p:cNvPr id="2" name="">
            <a:extLst xmlns:a="http://schemas.openxmlformats.org/drawingml/2006/main">
              <a:ext uri="{FF2B5EF4-FFF2-40B4-BE49-F238E27FC236}">
                <a16:creationId xmlns:a16="http://schemas.microsoft.com/office/drawing/2014/main" id="{F249A33C-1BF4-47B4-BC37-70E8033CDA6E}"/>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Kulakan: PR, PO, BAST, Tagihan, dan Pembayaran</a:t>
            </a:r>
          </a:p>
        </p:txBody>
      </p:sp>
      <p:sp>
        <p:nvSpPr>
          <p:cNvPr id="3" name="">
            <a:extLst xmlns:a="http://schemas.openxmlformats.org/drawingml/2006/main">
              <a:ext uri="{FF2B5EF4-FFF2-40B4-BE49-F238E27FC236}">
                <a16:creationId xmlns:a16="http://schemas.microsoft.com/office/drawing/2014/main" id="{6EC21393-81BF-42DE-A29E-0780A290ECA8}"/>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10</a:t>
            </a:r>
          </a:p>
        </p:txBody>
      </p:sp>
      <p:sp>
        <p:nvSpPr>
          <p:cNvPr id="4" name="">
            <a:extLst xmlns:a="http://schemas.openxmlformats.org/drawingml/2006/main">
              <a:ext uri="{FF2B5EF4-FFF2-40B4-BE49-F238E27FC236}">
                <a16:creationId xmlns:a16="http://schemas.microsoft.com/office/drawing/2014/main" id="{2F6D1F7C-D097-4DA2-940A-51ED31837F38}"/>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10</a:t>
            </a:r>
          </a:p>
        </p:txBody>
      </p:sp>
      <p:sp>
        <p:nvSpPr>
          <p:cNvPr id="5" name="">
            <a:extLst xmlns:a="http://schemas.openxmlformats.org/drawingml/2006/main">
              <a:ext uri="{FF2B5EF4-FFF2-40B4-BE49-F238E27FC236}">
                <a16:creationId xmlns:a16="http://schemas.microsoft.com/office/drawing/2014/main" id="{1AAE538D-62F1-4A71-AFBF-651D505DED84}"/>
              </a:ext>
            </a:extLst>
          </p:cNvPr>
          <p:cNvSpPr>
            <a:spLocks xmlns:a="http://schemas.openxmlformats.org/drawingml/2006/main" noGrp="1"/>
          </p:cNvSpPr>
          <p:nvPr/>
        </p:nvSpPr>
        <p:spPr>
          <a:xfrm xmlns:a="http://schemas.openxmlformats.org/drawingml/2006/main">
            <a:off x="609600" y="1352550"/>
            <a:ext cx="7239000" cy="4286250"/>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9E5EC"/>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e609d58bf174275"/>
          <a:stretch xmlns:a="http://schemas.openxmlformats.org/drawingml/2006/main"/>
        </p:blipFill>
        <p:spPr>
          <a:xfrm xmlns:a="http://schemas.openxmlformats.org/drawingml/2006/main">
            <a:off x="742950" y="1617457"/>
            <a:ext cx="6972300" cy="3756437"/>
          </a:xfrm>
          <a:prstGeom xmlns:a="http://schemas.openxmlformats.org/drawingml/2006/main" prst="roundRect">
            <a:avLst>
              <a:gd name="adj" fmla="val 2844"/>
            </a:avLst>
          </a:prstGeom>
        </p:spPr>
      </p:pic>
      <p:sp>
        <p:nvSpPr>
          <p:cNvPr id="7" name="">
            <a:extLst xmlns:a="http://schemas.openxmlformats.org/drawingml/2006/main">
              <a:ext uri="{FF2B5EF4-FFF2-40B4-BE49-F238E27FC236}">
                <a16:creationId xmlns:a16="http://schemas.microsoft.com/office/drawing/2014/main" id="{3C0A742B-CC7F-43AE-90BC-DBA53627553A}"/>
              </a:ext>
            </a:extLst>
          </p:cNvPr>
          <p:cNvSpPr>
            <a:spLocks xmlns:a="http://schemas.openxmlformats.org/drawingml/2006/main" noGrp="1"/>
          </p:cNvSpPr>
          <p:nvPr/>
        </p:nvSpPr>
        <p:spPr>
          <a:xfrm xmlns:a="http://schemas.openxmlformats.org/drawingml/2006/main">
            <a:off x="8096250" y="1352550"/>
            <a:ext cx="3105150" cy="990600"/>
          </a:xfrm>
          <a:prstGeom xmlns:a="http://schemas.openxmlformats.org/drawingml/2006/main" prst="roundRect">
            <a:avLst>
              <a:gd name="adj" fmla="val 11538"/>
            </a:avLst>
          </a:prstGeom>
          <a:solidFill xmlns:a="http://schemas.openxmlformats.org/drawingml/2006/main">
            <a:srgbClr val="FFF7ED"/>
          </a:solidFill>
          <a:ln xmlns:a="http://schemas.openxmlformats.org/drawingml/2006/main" w="9525">
            <a:solidFill>
              <a:srgbClr val="B45309"/>
            </a:solidFill>
            <a:prstDash val="solid"/>
          </a:ln>
        </p:spPr>
      </p:sp>
      <p:sp>
        <p:nvSpPr>
          <p:cNvPr id="8" name="">
            <a:extLst xmlns:a="http://schemas.openxmlformats.org/drawingml/2006/main">
              <a:ext uri="{FF2B5EF4-FFF2-40B4-BE49-F238E27FC236}">
                <a16:creationId xmlns:a16="http://schemas.microsoft.com/office/drawing/2014/main" id="{810265CB-0646-4498-9DEC-442F5684A8B6}"/>
              </a:ext>
            </a:extLst>
          </p:cNvPr>
          <p:cNvSpPr>
            <a:spLocks xmlns:a="http://schemas.openxmlformats.org/drawingml/2006/main" noGrp="1"/>
          </p:cNvSpPr>
          <p:nvPr/>
        </p:nvSpPr>
        <p:spPr>
          <a:xfrm xmlns:a="http://schemas.openxmlformats.org/drawingml/2006/main">
            <a:off x="8305800" y="15049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B45309"/>
                </a:solidFill>
              </a:defRPr>
            </a:pPr>
            <a:r>
              <a:rPr sz="975" b="1">
                <a:solidFill>
                  <a:srgbClr val="B45309"/>
                </a:solidFill>
              </a:rPr>
              <a:t>STATUS</a:t>
            </a:r>
          </a:p>
        </p:txBody>
      </p:sp>
      <p:sp>
        <p:nvSpPr>
          <p:cNvPr id="9" name="">
            <a:extLst xmlns:a="http://schemas.openxmlformats.org/drawingml/2006/main">
              <a:ext uri="{FF2B5EF4-FFF2-40B4-BE49-F238E27FC236}">
                <a16:creationId xmlns:a16="http://schemas.microsoft.com/office/drawing/2014/main" id="{3CEFCBBB-A3AD-46FB-B244-F6483A5AB6AF}"/>
              </a:ext>
            </a:extLst>
          </p:cNvPr>
          <p:cNvSpPr>
            <a:spLocks xmlns:a="http://schemas.openxmlformats.org/drawingml/2006/main" noGrp="1"/>
          </p:cNvSpPr>
          <p:nvPr/>
        </p:nvSpPr>
        <p:spPr>
          <a:xfrm xmlns:a="http://schemas.openxmlformats.org/drawingml/2006/main">
            <a:off x="8305800" y="17526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45309"/>
                </a:solidFill>
              </a:defRPr>
            </a:pPr>
            <a:r>
              <a:rPr sz="1200" b="1">
                <a:solidFill>
                  <a:srgbClr val="B45309"/>
                </a:solidFill>
              </a:rPr>
              <a:t>PASS alur P2P / defect filter daftar pembayaran</a:t>
            </a:r>
          </a:p>
        </p:txBody>
      </p:sp>
      <p:sp>
        <p:nvSpPr>
          <p:cNvPr id="10" name="">
            <a:extLst xmlns:a="http://schemas.openxmlformats.org/drawingml/2006/main">
              <a:ext uri="{FF2B5EF4-FFF2-40B4-BE49-F238E27FC236}">
                <a16:creationId xmlns:a16="http://schemas.microsoft.com/office/drawing/2014/main" id="{F7508283-DB95-45C5-92A1-F8F980167350}"/>
              </a:ext>
            </a:extLst>
          </p:cNvPr>
          <p:cNvSpPr>
            <a:spLocks xmlns:a="http://schemas.openxmlformats.org/drawingml/2006/main" noGrp="1"/>
          </p:cNvSpPr>
          <p:nvPr/>
        </p:nvSpPr>
        <p:spPr>
          <a:xfrm xmlns:a="http://schemas.openxmlformats.org/drawingml/2006/main">
            <a:off x="8096250" y="2476500"/>
            <a:ext cx="3105150" cy="3162300"/>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D9E5EC"/>
            </a:solidFill>
            <a:prstDash val="solid"/>
          </a:ln>
        </p:spPr>
      </p:sp>
      <p:sp>
        <p:nvSpPr>
          <p:cNvPr id="11" name="">
            <a:extLst xmlns:a="http://schemas.openxmlformats.org/drawingml/2006/main">
              <a:ext uri="{FF2B5EF4-FFF2-40B4-BE49-F238E27FC236}">
                <a16:creationId xmlns:a16="http://schemas.microsoft.com/office/drawing/2014/main" id="{309ABC2A-F9D5-4554-9199-D2798976B698}"/>
              </a:ext>
            </a:extLst>
          </p:cNvPr>
          <p:cNvSpPr>
            <a:spLocks xmlns:a="http://schemas.openxmlformats.org/drawingml/2006/main" noGrp="1"/>
          </p:cNvSpPr>
          <p:nvPr/>
        </p:nvSpPr>
        <p:spPr>
          <a:xfrm xmlns:a="http://schemas.openxmlformats.org/drawingml/2006/main">
            <a:off x="8305800" y="26860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F766E"/>
                </a:solidFill>
              </a:defRPr>
            </a:pPr>
            <a:r>
              <a:rPr sz="1050" b="1">
                <a:solidFill>
                  <a:srgbClr val="0F766E"/>
                </a:solidFill>
              </a:rPr>
              <a:t>HASIL AKTUAL</a:t>
            </a:r>
          </a:p>
        </p:txBody>
      </p:sp>
      <p:sp>
        <p:nvSpPr>
          <p:cNvPr id="12" name="">
            <a:extLst xmlns:a="http://schemas.openxmlformats.org/drawingml/2006/main">
              <a:ext uri="{FF2B5EF4-FFF2-40B4-BE49-F238E27FC236}">
                <a16:creationId xmlns:a16="http://schemas.microsoft.com/office/drawing/2014/main" id="{7F39B81B-4644-4FAF-A7A4-FB182BF46BAE}"/>
              </a:ext>
            </a:extLst>
          </p:cNvPr>
          <p:cNvSpPr>
            <a:spLocks xmlns:a="http://schemas.openxmlformats.org/drawingml/2006/main" noGrp="1"/>
          </p:cNvSpPr>
          <p:nvPr/>
        </p:nvSpPr>
        <p:spPr>
          <a:xfrm xmlns:a="http://schemas.openxmlformats.org/drawingml/2006/main">
            <a:off x="8305800" y="3028950"/>
            <a:ext cx="26098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100 PR, 100 PO, 100 BAST, dan 100 tagihan dengan prefix rilis berhasil dibaca. Seratus pembayaran berhasil disetujui dan dijadikan sumber jurnal, namun filter daftar pembayaran memakai marker yang sama mengembalikan nol sehingga query/filter tersebut dicatat sebagai defect. Dashboard bersama menampilkan total lebih besar dari run ini</a:t>
            </a:r>
          </a:p>
        </p:txBody>
      </p:sp>
      <p:sp>
        <p:nvSpPr>
          <p:cNvPr id="13" name="">
            <a:extLst xmlns:a="http://schemas.openxmlformats.org/drawingml/2006/main">
              <a:ext uri="{FF2B5EF4-FFF2-40B4-BE49-F238E27FC236}">
                <a16:creationId xmlns:a16="http://schemas.microsoft.com/office/drawing/2014/main" id="{E1AEA58B-A4C9-4171-975C-DC68B99E80EA}"/>
              </a:ext>
            </a:extLst>
          </p:cNvPr>
          <p:cNvSpPr>
            <a:spLocks xmlns:a="http://schemas.openxmlformats.org/drawingml/2006/main" noGrp="1"/>
          </p:cNvSpPr>
          <p:nvPr/>
        </p:nvSpPr>
        <p:spPr>
          <a:xfrm xmlns:a="http://schemas.openxmlformats.org/drawingml/2006/main">
            <a:off x="8305800" y="523875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26273"/>
                </a:solidFill>
              </a:defRPr>
            </a:pPr>
            <a:r>
              <a:rPr sz="1050" b="1">
                <a:solidFill>
                  <a:srgbClr val="526273"/>
                </a:solidFill>
              </a:rPr>
              <a:t>Narasi lengkap: 989 kata</a:t>
            </a:r>
          </a:p>
        </p:txBody>
      </p:sp>
    </p:spTree>
    <p:extLst>
      <p:ext uri="{BB962C8B-B14F-4D97-AF65-F5344CB8AC3E}">
        <p14:creationId xmlns:p14="http://schemas.microsoft.com/office/powerpoint/2010/main" val="271630204"/>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DD7F568E-D197-4AC6-B04C-BB5CA25F9042}"/>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DIAGRAM 4</a:t>
            </a:r>
          </a:p>
        </p:txBody>
      </p:sp>
      <p:sp>
        <p:nvSpPr>
          <p:cNvPr id="2" name="">
            <a:extLst xmlns:a="http://schemas.openxmlformats.org/drawingml/2006/main">
              <a:ext uri="{FF2B5EF4-FFF2-40B4-BE49-F238E27FC236}">
                <a16:creationId xmlns:a16="http://schemas.microsoft.com/office/drawing/2014/main" id="{ABC91F75-8269-4AD8-95AD-713355CE674F}"/>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Kulakan: PR, PO, BAST, Tagihan, dan Pembayaran: peran, alur, dan data</a:t>
            </a:r>
          </a:p>
        </p:txBody>
      </p:sp>
      <p:sp>
        <p:nvSpPr>
          <p:cNvPr id="3" name="">
            <a:extLst xmlns:a="http://schemas.openxmlformats.org/drawingml/2006/main">
              <a:ext uri="{FF2B5EF4-FFF2-40B4-BE49-F238E27FC236}">
                <a16:creationId xmlns:a16="http://schemas.microsoft.com/office/drawing/2014/main" id="{C5D4B0FF-E2D9-405C-9726-341D74FFC5E7}"/>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11</a:t>
            </a:r>
          </a:p>
        </p:txBody>
      </p:sp>
      <p:sp>
        <p:nvSpPr>
          <p:cNvPr id="4" name="">
            <a:extLst xmlns:a="http://schemas.openxmlformats.org/drawingml/2006/main">
              <a:ext uri="{FF2B5EF4-FFF2-40B4-BE49-F238E27FC236}">
                <a16:creationId xmlns:a16="http://schemas.microsoft.com/office/drawing/2014/main" id="{3B21DE36-3C49-479D-B410-A0ABF73A259D}"/>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11</a:t>
            </a:r>
          </a:p>
        </p:txBody>
      </p:sp>
      <p:sp>
        <p:nvSpPr>
          <p:cNvPr id="5" name="">
            <a:extLst xmlns:a="http://schemas.openxmlformats.org/drawingml/2006/main">
              <a:ext uri="{FF2B5EF4-FFF2-40B4-BE49-F238E27FC236}">
                <a16:creationId xmlns:a16="http://schemas.microsoft.com/office/drawing/2014/main" id="{935FBC88-FEFC-426B-B721-08C27D9B829B}"/>
              </a:ext>
            </a:extLst>
          </p:cNvPr>
          <p:cNvSpPr>
            <a:spLocks xmlns:a="http://schemas.openxmlformats.org/drawingml/2006/main" noGrp="1"/>
          </p:cNvSpPr>
          <p:nvPr/>
        </p:nvSpPr>
        <p:spPr>
          <a:xfrm xmlns:a="http://schemas.openxmlformats.org/drawingml/2006/main">
            <a:off x="6096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6" name="">
            <a:extLst xmlns:a="http://schemas.openxmlformats.org/drawingml/2006/main">
              <a:ext uri="{FF2B5EF4-FFF2-40B4-BE49-F238E27FC236}">
                <a16:creationId xmlns:a16="http://schemas.microsoft.com/office/drawing/2014/main" id="{D2C79C19-01DD-4761-AD69-81B3C313A0AE}"/>
              </a:ext>
            </a:extLst>
          </p:cNvPr>
          <p:cNvSpPr>
            <a:spLocks xmlns:a="http://schemas.openxmlformats.org/drawingml/2006/main" noGrp="1"/>
          </p:cNvSpPr>
          <p:nvPr/>
        </p:nvSpPr>
        <p:spPr>
          <a:xfrm xmlns:a="http://schemas.openxmlformats.org/drawingml/2006/main">
            <a:off x="41910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7" name="">
            <a:extLst xmlns:a="http://schemas.openxmlformats.org/drawingml/2006/main">
              <a:ext uri="{FF2B5EF4-FFF2-40B4-BE49-F238E27FC236}">
                <a16:creationId xmlns:a16="http://schemas.microsoft.com/office/drawing/2014/main" id="{E9C506CD-BECB-408F-84E0-564516CC87E9}"/>
              </a:ext>
            </a:extLst>
          </p:cNvPr>
          <p:cNvSpPr>
            <a:spLocks xmlns:a="http://schemas.openxmlformats.org/drawingml/2006/main" noGrp="1"/>
          </p:cNvSpPr>
          <p:nvPr/>
        </p:nvSpPr>
        <p:spPr>
          <a:xfrm xmlns:a="http://schemas.openxmlformats.org/drawingml/2006/main">
            <a:off x="77724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8" name="">
            <a:extLst xmlns:a="http://schemas.openxmlformats.org/drawingml/2006/main">
              <a:ext uri="{FF2B5EF4-FFF2-40B4-BE49-F238E27FC236}">
                <a16:creationId xmlns:a16="http://schemas.microsoft.com/office/drawing/2014/main" id="{02F0D160-3613-43A3-B345-211C0F7CFDD5}"/>
              </a:ext>
            </a:extLst>
          </p:cNvPr>
          <p:cNvSpPr>
            <a:spLocks xmlns:a="http://schemas.openxmlformats.org/drawingml/2006/main" noGrp="1"/>
          </p:cNvSpPr>
          <p:nvPr/>
        </p:nvSpPr>
        <p:spPr>
          <a:xfrm xmlns:a="http://schemas.openxmlformats.org/drawingml/2006/main">
            <a:off x="8191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75985"/>
                </a:solidFill>
              </a:defRPr>
            </a:pPr>
            <a:r>
              <a:rPr sz="1275" b="1">
                <a:solidFill>
                  <a:srgbClr val="075985"/>
                </a:solidFill>
              </a:rPr>
              <a:t>USE CASE</a:t>
            </a:r>
          </a:p>
        </p:txBody>
      </p:sp>
      <p:sp>
        <p:nvSpPr>
          <p:cNvPr id="9" name="">
            <a:extLst xmlns:a="http://schemas.openxmlformats.org/drawingml/2006/main">
              <a:ext uri="{FF2B5EF4-FFF2-40B4-BE49-F238E27FC236}">
                <a16:creationId xmlns:a16="http://schemas.microsoft.com/office/drawing/2014/main" id="{C3376690-0099-4080-91B1-0D7C45F8EE6E}"/>
              </a:ext>
            </a:extLst>
          </p:cNvPr>
          <p:cNvSpPr>
            <a:spLocks xmlns:a="http://schemas.openxmlformats.org/drawingml/2006/main" noGrp="1"/>
          </p:cNvSpPr>
          <p:nvPr/>
        </p:nvSpPr>
        <p:spPr>
          <a:xfrm xmlns:a="http://schemas.openxmlformats.org/drawingml/2006/main">
            <a:off x="819150" y="2047875"/>
            <a:ext cx="2819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Peminta → Ajukan kebutuhan melalui PR</a:t>
            </a:r>
          </a:p>
          <a:p xmlns:a="http://schemas.openxmlformats.org/drawingml/2006/main">
            <a:pPr algn="l">
              <a:defRPr sz="1200" b="0">
                <a:solidFill>
                  <a:srgbClr val="172033"/>
                </a:solidFill>
              </a:defRPr>
            </a:pPr>
            <a:r>
              <a:rPr sz="1200" b="0">
                <a:solidFill>
                  <a:srgbClr val="172033"/>
                </a:solidFill>
              </a:rPr>
              <a:t>Approver → Terbitkan PO dan terima barang</a:t>
            </a:r>
          </a:p>
          <a:p xmlns:a="http://schemas.openxmlformats.org/drawingml/2006/main">
            <a:pPr algn="l">
              <a:defRPr sz="1200" b="0">
                <a:solidFill>
                  <a:srgbClr val="172033"/>
                </a:solidFill>
              </a:defRPr>
            </a:pPr>
            <a:r>
              <a:rPr sz="1200" b="0">
                <a:solidFill>
                  <a:srgbClr val="172033"/>
                </a:solidFill>
              </a:rPr>
              <a:t>Gudang → Cocokkan BAST dengan tagihan</a:t>
            </a:r>
          </a:p>
          <a:p xmlns:a="http://schemas.openxmlformats.org/drawingml/2006/main">
            <a:pPr algn="l">
              <a:defRPr sz="1200" b="0">
                <a:solidFill>
                  <a:srgbClr val="172033"/>
                </a:solidFill>
              </a:defRPr>
            </a:pPr>
            <a:r>
              <a:rPr sz="1200" b="0">
                <a:solidFill>
                  <a:srgbClr val="172033"/>
                </a:solidFill>
              </a:rPr>
              <a:t>Keuangan → Bayar vendor dan buat audit trail</a:t>
            </a:r>
          </a:p>
        </p:txBody>
      </p:sp>
      <p:sp>
        <p:nvSpPr>
          <p:cNvPr id="10" name="">
            <a:extLst xmlns:a="http://schemas.openxmlformats.org/drawingml/2006/main">
              <a:ext uri="{FF2B5EF4-FFF2-40B4-BE49-F238E27FC236}">
                <a16:creationId xmlns:a16="http://schemas.microsoft.com/office/drawing/2014/main" id="{03201120-35AB-45CD-9C47-BD902B8E4501}"/>
              </a:ext>
            </a:extLst>
          </p:cNvPr>
          <p:cNvSpPr>
            <a:spLocks xmlns:a="http://schemas.openxmlformats.org/drawingml/2006/main" noGrp="1"/>
          </p:cNvSpPr>
          <p:nvPr/>
        </p:nvSpPr>
        <p:spPr>
          <a:xfrm xmlns:a="http://schemas.openxmlformats.org/drawingml/2006/main">
            <a:off x="838200" y="4991100"/>
            <a:ext cx="2819400" cy="742950"/>
          </a:xfrm>
          <a:prstGeom xmlns:a="http://schemas.openxmlformats.org/drawingml/2006/main" prst="roundRect">
            <a:avLst>
              <a:gd name="adj" fmla="val 10256"/>
            </a:avLst>
          </a:prstGeom>
          <a:solidFill xmlns:a="http://schemas.openxmlformats.org/drawingml/2006/main">
            <a:srgbClr val="EAF3F8"/>
          </a:solidFill>
          <a:ln xmlns:a="http://schemas.openxmlformats.org/drawingml/2006/main" w="9525">
            <a:solidFill>
              <a:srgbClr val="075985"/>
            </a:solidFill>
            <a:prstDash val="solid"/>
          </a:ln>
        </p:spPr>
      </p:sp>
      <p:sp>
        <p:nvSpPr>
          <p:cNvPr id="11" name="">
            <a:extLst xmlns:a="http://schemas.openxmlformats.org/drawingml/2006/main">
              <a:ext uri="{FF2B5EF4-FFF2-40B4-BE49-F238E27FC236}">
                <a16:creationId xmlns:a16="http://schemas.microsoft.com/office/drawing/2014/main" id="{CAF0957A-C578-49D9-A362-410D6277DC05}"/>
              </a:ext>
            </a:extLst>
          </p:cNvPr>
          <p:cNvSpPr>
            <a:spLocks xmlns:a="http://schemas.openxmlformats.org/drawingml/2006/main" noGrp="1"/>
          </p:cNvSpPr>
          <p:nvPr/>
        </p:nvSpPr>
        <p:spPr>
          <a:xfrm xmlns:a="http://schemas.openxmlformats.org/drawingml/2006/main">
            <a:off x="990600" y="521970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75985"/>
                </a:solidFill>
              </a:defRPr>
            </a:pPr>
            <a:r>
              <a:rPr sz="1275" b="1">
                <a:solidFill>
                  <a:srgbClr val="075985"/>
                </a:solidFill>
              </a:rPr>
              <a:t>RBAC + segregasi tugas</a:t>
            </a:r>
          </a:p>
        </p:txBody>
      </p:sp>
      <p:sp>
        <p:nvSpPr>
          <p:cNvPr id="12" name="">
            <a:extLst xmlns:a="http://schemas.openxmlformats.org/drawingml/2006/main">
              <a:ext uri="{FF2B5EF4-FFF2-40B4-BE49-F238E27FC236}">
                <a16:creationId xmlns:a16="http://schemas.microsoft.com/office/drawing/2014/main" id="{656EEFD6-3D9B-46A6-84D7-9AE5C1436B72}"/>
              </a:ext>
            </a:extLst>
          </p:cNvPr>
          <p:cNvSpPr>
            <a:spLocks xmlns:a="http://schemas.openxmlformats.org/drawingml/2006/main" noGrp="1"/>
          </p:cNvSpPr>
          <p:nvPr/>
        </p:nvSpPr>
        <p:spPr>
          <a:xfrm xmlns:a="http://schemas.openxmlformats.org/drawingml/2006/main">
            <a:off x="44005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F766E"/>
                </a:solidFill>
              </a:defRPr>
            </a:pPr>
            <a:r>
              <a:rPr sz="1275" b="1">
                <a:solidFill>
                  <a:srgbClr val="0F766E"/>
                </a:solidFill>
              </a:rPr>
              <a:t>FLOWCHART</a:t>
            </a:r>
          </a:p>
        </p:txBody>
      </p:sp>
      <p:sp>
        <p:nvSpPr>
          <p:cNvPr id="13" name="">
            <a:extLst xmlns:a="http://schemas.openxmlformats.org/drawingml/2006/main">
              <a:ext uri="{FF2B5EF4-FFF2-40B4-BE49-F238E27FC236}">
                <a16:creationId xmlns:a16="http://schemas.microsoft.com/office/drawing/2014/main" id="{48284988-F1E7-4DF8-82FC-0C7A893CD9DA}"/>
              </a:ext>
            </a:extLst>
          </p:cNvPr>
          <p:cNvSpPr>
            <a:spLocks xmlns:a="http://schemas.openxmlformats.org/drawingml/2006/main" noGrp="1"/>
          </p:cNvSpPr>
          <p:nvPr/>
        </p:nvSpPr>
        <p:spPr>
          <a:xfrm xmlns:a="http://schemas.openxmlformats.org/drawingml/2006/main">
            <a:off x="4400550" y="2009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63B1344E-AE46-452C-9B4C-A5F8D8D9601D}"/>
              </a:ext>
            </a:extLst>
          </p:cNvPr>
          <p:cNvSpPr>
            <a:spLocks xmlns:a="http://schemas.openxmlformats.org/drawingml/2006/main" noGrp="1"/>
          </p:cNvSpPr>
          <p:nvPr/>
        </p:nvSpPr>
        <p:spPr>
          <a:xfrm xmlns:a="http://schemas.openxmlformats.org/drawingml/2006/main">
            <a:off x="4533900" y="2114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1. PR + justifikasi</a:t>
            </a:r>
          </a:p>
        </p:txBody>
      </p:sp>
      <p:sp>
        <p:nvSpPr>
          <p:cNvPr id="15" name="">
            <a:extLst xmlns:a="http://schemas.openxmlformats.org/drawingml/2006/main">
              <a:ext uri="{FF2B5EF4-FFF2-40B4-BE49-F238E27FC236}">
                <a16:creationId xmlns:a16="http://schemas.microsoft.com/office/drawing/2014/main" id="{DD452CF8-0882-4036-97AD-B81F6343FD7C}"/>
              </a:ext>
            </a:extLst>
          </p:cNvPr>
          <p:cNvSpPr>
            <a:spLocks xmlns:a="http://schemas.openxmlformats.org/drawingml/2006/main" noGrp="1"/>
          </p:cNvSpPr>
          <p:nvPr/>
        </p:nvSpPr>
        <p:spPr>
          <a:xfrm xmlns:a="http://schemas.openxmlformats.org/drawingml/2006/main">
            <a:off x="5676900" y="2409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6" name="">
            <a:extLst xmlns:a="http://schemas.openxmlformats.org/drawingml/2006/main">
              <a:ext uri="{FF2B5EF4-FFF2-40B4-BE49-F238E27FC236}">
                <a16:creationId xmlns:a16="http://schemas.microsoft.com/office/drawing/2014/main" id="{5224731E-EE25-42F7-8F0B-07D5C57C2D94}"/>
              </a:ext>
            </a:extLst>
          </p:cNvPr>
          <p:cNvSpPr>
            <a:spLocks xmlns:a="http://schemas.openxmlformats.org/drawingml/2006/main" noGrp="1"/>
          </p:cNvSpPr>
          <p:nvPr/>
        </p:nvSpPr>
        <p:spPr>
          <a:xfrm xmlns:a="http://schemas.openxmlformats.org/drawingml/2006/main">
            <a:off x="4400550" y="2581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7" name="">
            <a:extLst xmlns:a="http://schemas.openxmlformats.org/drawingml/2006/main">
              <a:ext uri="{FF2B5EF4-FFF2-40B4-BE49-F238E27FC236}">
                <a16:creationId xmlns:a16="http://schemas.microsoft.com/office/drawing/2014/main" id="{D550B584-A65F-4CC7-B603-92A29EC7E320}"/>
              </a:ext>
            </a:extLst>
          </p:cNvPr>
          <p:cNvSpPr>
            <a:spLocks xmlns:a="http://schemas.openxmlformats.org/drawingml/2006/main" noGrp="1"/>
          </p:cNvSpPr>
          <p:nvPr/>
        </p:nvSpPr>
        <p:spPr>
          <a:xfrm xmlns:a="http://schemas.openxmlformats.org/drawingml/2006/main">
            <a:off x="4533900" y="2686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2. Persetujuan</a:t>
            </a:r>
          </a:p>
        </p:txBody>
      </p:sp>
      <p:sp>
        <p:nvSpPr>
          <p:cNvPr id="18" name="">
            <a:extLst xmlns:a="http://schemas.openxmlformats.org/drawingml/2006/main">
              <a:ext uri="{FF2B5EF4-FFF2-40B4-BE49-F238E27FC236}">
                <a16:creationId xmlns:a16="http://schemas.microsoft.com/office/drawing/2014/main" id="{CD2749BF-23D1-44F7-A340-BF13BA89F6B0}"/>
              </a:ext>
            </a:extLst>
          </p:cNvPr>
          <p:cNvSpPr>
            <a:spLocks xmlns:a="http://schemas.openxmlformats.org/drawingml/2006/main" noGrp="1"/>
          </p:cNvSpPr>
          <p:nvPr/>
        </p:nvSpPr>
        <p:spPr>
          <a:xfrm xmlns:a="http://schemas.openxmlformats.org/drawingml/2006/main">
            <a:off x="5676900" y="2981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9" name="">
            <a:extLst xmlns:a="http://schemas.openxmlformats.org/drawingml/2006/main">
              <a:ext uri="{FF2B5EF4-FFF2-40B4-BE49-F238E27FC236}">
                <a16:creationId xmlns:a16="http://schemas.microsoft.com/office/drawing/2014/main" id="{5D58366E-59A1-4543-9901-8897CF9A3912}"/>
              </a:ext>
            </a:extLst>
          </p:cNvPr>
          <p:cNvSpPr>
            <a:spLocks xmlns:a="http://schemas.openxmlformats.org/drawingml/2006/main" noGrp="1"/>
          </p:cNvSpPr>
          <p:nvPr/>
        </p:nvSpPr>
        <p:spPr>
          <a:xfrm xmlns:a="http://schemas.openxmlformats.org/drawingml/2006/main">
            <a:off x="4400550" y="3152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0" name="">
            <a:extLst xmlns:a="http://schemas.openxmlformats.org/drawingml/2006/main">
              <a:ext uri="{FF2B5EF4-FFF2-40B4-BE49-F238E27FC236}">
                <a16:creationId xmlns:a16="http://schemas.microsoft.com/office/drawing/2014/main" id="{EB06E6DA-986E-4E90-87FE-FADCC000F806}"/>
              </a:ext>
            </a:extLst>
          </p:cNvPr>
          <p:cNvSpPr>
            <a:spLocks xmlns:a="http://schemas.openxmlformats.org/drawingml/2006/main" noGrp="1"/>
          </p:cNvSpPr>
          <p:nvPr/>
        </p:nvSpPr>
        <p:spPr>
          <a:xfrm xmlns:a="http://schemas.openxmlformats.org/drawingml/2006/main">
            <a:off x="4533900" y="3257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3. PO ke vendor</a:t>
            </a:r>
          </a:p>
        </p:txBody>
      </p:sp>
      <p:sp>
        <p:nvSpPr>
          <p:cNvPr id="21" name="">
            <a:extLst xmlns:a="http://schemas.openxmlformats.org/drawingml/2006/main">
              <a:ext uri="{FF2B5EF4-FFF2-40B4-BE49-F238E27FC236}">
                <a16:creationId xmlns:a16="http://schemas.microsoft.com/office/drawing/2014/main" id="{C95AB6EA-E1BB-476F-9AEF-B80A03618FC3}"/>
              </a:ext>
            </a:extLst>
          </p:cNvPr>
          <p:cNvSpPr>
            <a:spLocks xmlns:a="http://schemas.openxmlformats.org/drawingml/2006/main" noGrp="1"/>
          </p:cNvSpPr>
          <p:nvPr/>
        </p:nvSpPr>
        <p:spPr>
          <a:xfrm xmlns:a="http://schemas.openxmlformats.org/drawingml/2006/main">
            <a:off x="5676900" y="3552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2" name="">
            <a:extLst xmlns:a="http://schemas.openxmlformats.org/drawingml/2006/main">
              <a:ext uri="{FF2B5EF4-FFF2-40B4-BE49-F238E27FC236}">
                <a16:creationId xmlns:a16="http://schemas.microsoft.com/office/drawing/2014/main" id="{26ADF130-960B-4FA1-AC08-E51D6DB3B691}"/>
              </a:ext>
            </a:extLst>
          </p:cNvPr>
          <p:cNvSpPr>
            <a:spLocks xmlns:a="http://schemas.openxmlformats.org/drawingml/2006/main" noGrp="1"/>
          </p:cNvSpPr>
          <p:nvPr/>
        </p:nvSpPr>
        <p:spPr>
          <a:xfrm xmlns:a="http://schemas.openxmlformats.org/drawingml/2006/main">
            <a:off x="4400550" y="3724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3" name="">
            <a:extLst xmlns:a="http://schemas.openxmlformats.org/drawingml/2006/main">
              <a:ext uri="{FF2B5EF4-FFF2-40B4-BE49-F238E27FC236}">
                <a16:creationId xmlns:a16="http://schemas.microsoft.com/office/drawing/2014/main" id="{D25E3B65-ECE5-4AC7-B301-AA3FE5BF5A2E}"/>
              </a:ext>
            </a:extLst>
          </p:cNvPr>
          <p:cNvSpPr>
            <a:spLocks xmlns:a="http://schemas.openxmlformats.org/drawingml/2006/main" noGrp="1"/>
          </p:cNvSpPr>
          <p:nvPr/>
        </p:nvSpPr>
        <p:spPr>
          <a:xfrm xmlns:a="http://schemas.openxmlformats.org/drawingml/2006/main">
            <a:off x="4533900" y="3829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4. BAST &amp; batch</a:t>
            </a:r>
          </a:p>
        </p:txBody>
      </p:sp>
      <p:sp>
        <p:nvSpPr>
          <p:cNvPr id="24" name="">
            <a:extLst xmlns:a="http://schemas.openxmlformats.org/drawingml/2006/main">
              <a:ext uri="{FF2B5EF4-FFF2-40B4-BE49-F238E27FC236}">
                <a16:creationId xmlns:a16="http://schemas.microsoft.com/office/drawing/2014/main" id="{EA04352D-C4E8-4625-B7AD-C8CD06C1C5CF}"/>
              </a:ext>
            </a:extLst>
          </p:cNvPr>
          <p:cNvSpPr>
            <a:spLocks xmlns:a="http://schemas.openxmlformats.org/drawingml/2006/main" noGrp="1"/>
          </p:cNvSpPr>
          <p:nvPr/>
        </p:nvSpPr>
        <p:spPr>
          <a:xfrm xmlns:a="http://schemas.openxmlformats.org/drawingml/2006/main">
            <a:off x="5676900" y="4124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5" name="">
            <a:extLst xmlns:a="http://schemas.openxmlformats.org/drawingml/2006/main">
              <a:ext uri="{FF2B5EF4-FFF2-40B4-BE49-F238E27FC236}">
                <a16:creationId xmlns:a16="http://schemas.microsoft.com/office/drawing/2014/main" id="{637D90C0-1D2D-4DB0-BB28-82A1B3565EEF}"/>
              </a:ext>
            </a:extLst>
          </p:cNvPr>
          <p:cNvSpPr>
            <a:spLocks xmlns:a="http://schemas.openxmlformats.org/drawingml/2006/main" noGrp="1"/>
          </p:cNvSpPr>
          <p:nvPr/>
        </p:nvSpPr>
        <p:spPr>
          <a:xfrm xmlns:a="http://schemas.openxmlformats.org/drawingml/2006/main">
            <a:off x="4400550" y="4295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6" name="">
            <a:extLst xmlns:a="http://schemas.openxmlformats.org/drawingml/2006/main">
              <a:ext uri="{FF2B5EF4-FFF2-40B4-BE49-F238E27FC236}">
                <a16:creationId xmlns:a16="http://schemas.microsoft.com/office/drawing/2014/main" id="{A3F9611F-3797-47DD-83C5-D8A3B8D387F1}"/>
              </a:ext>
            </a:extLst>
          </p:cNvPr>
          <p:cNvSpPr>
            <a:spLocks xmlns:a="http://schemas.openxmlformats.org/drawingml/2006/main" noGrp="1"/>
          </p:cNvSpPr>
          <p:nvPr/>
        </p:nvSpPr>
        <p:spPr>
          <a:xfrm xmlns:a="http://schemas.openxmlformats.org/drawingml/2006/main">
            <a:off x="4533900" y="4400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5. Terima tagihan</a:t>
            </a:r>
          </a:p>
        </p:txBody>
      </p:sp>
      <p:sp>
        <p:nvSpPr>
          <p:cNvPr id="27" name="">
            <a:extLst xmlns:a="http://schemas.openxmlformats.org/drawingml/2006/main">
              <a:ext uri="{FF2B5EF4-FFF2-40B4-BE49-F238E27FC236}">
                <a16:creationId xmlns:a16="http://schemas.microsoft.com/office/drawing/2014/main" id="{F1682DF2-3D70-427D-BE14-D7AFC54C66AA}"/>
              </a:ext>
            </a:extLst>
          </p:cNvPr>
          <p:cNvSpPr>
            <a:spLocks xmlns:a="http://schemas.openxmlformats.org/drawingml/2006/main" noGrp="1"/>
          </p:cNvSpPr>
          <p:nvPr/>
        </p:nvSpPr>
        <p:spPr>
          <a:xfrm xmlns:a="http://schemas.openxmlformats.org/drawingml/2006/main">
            <a:off x="5676900" y="4695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8" name="">
            <a:extLst xmlns:a="http://schemas.openxmlformats.org/drawingml/2006/main">
              <a:ext uri="{FF2B5EF4-FFF2-40B4-BE49-F238E27FC236}">
                <a16:creationId xmlns:a16="http://schemas.microsoft.com/office/drawing/2014/main" id="{63FBA372-52F2-478D-BF9F-A0BAC197B201}"/>
              </a:ext>
            </a:extLst>
          </p:cNvPr>
          <p:cNvSpPr>
            <a:spLocks xmlns:a="http://schemas.openxmlformats.org/drawingml/2006/main" noGrp="1"/>
          </p:cNvSpPr>
          <p:nvPr/>
        </p:nvSpPr>
        <p:spPr>
          <a:xfrm xmlns:a="http://schemas.openxmlformats.org/drawingml/2006/main">
            <a:off x="4400550" y="4867275"/>
            <a:ext cx="2857500" cy="409575"/>
          </a:xfrm>
          <a:prstGeom xmlns:a="http://schemas.openxmlformats.org/drawingml/2006/main" prst="roundRect">
            <a:avLst>
              <a:gd name="adj" fmla="val 18605"/>
            </a:avLst>
          </a:prstGeom>
          <a:solidFill xmlns:a="http://schemas.openxmlformats.org/drawingml/2006/main">
            <a:srgbClr val="DCFCE7"/>
          </a:solidFill>
          <a:ln xmlns:a="http://schemas.openxmlformats.org/drawingml/2006/main" w="9525">
            <a:solidFill>
              <a:srgbClr val="15803D"/>
            </a:solidFill>
            <a:prstDash val="solid"/>
          </a:ln>
        </p:spPr>
      </p:sp>
      <p:sp>
        <p:nvSpPr>
          <p:cNvPr id="29" name="">
            <a:extLst xmlns:a="http://schemas.openxmlformats.org/drawingml/2006/main">
              <a:ext uri="{FF2B5EF4-FFF2-40B4-BE49-F238E27FC236}">
                <a16:creationId xmlns:a16="http://schemas.microsoft.com/office/drawing/2014/main" id="{E17D6C98-F96D-457F-B9EA-90FCF536F84A}"/>
              </a:ext>
            </a:extLst>
          </p:cNvPr>
          <p:cNvSpPr>
            <a:spLocks xmlns:a="http://schemas.openxmlformats.org/drawingml/2006/main" noGrp="1"/>
          </p:cNvSpPr>
          <p:nvPr/>
        </p:nvSpPr>
        <p:spPr>
          <a:xfrm xmlns:a="http://schemas.openxmlformats.org/drawingml/2006/main">
            <a:off x="4533900" y="4972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2033"/>
                </a:solidFill>
              </a:defRPr>
            </a:pPr>
            <a:r>
              <a:rPr sz="1200" b="1">
                <a:solidFill>
                  <a:srgbClr val="172033"/>
                </a:solidFill>
              </a:rPr>
              <a:t>6. Bayar vendor</a:t>
            </a:r>
          </a:p>
        </p:txBody>
      </p:sp>
      <p:sp>
        <p:nvSpPr>
          <p:cNvPr id="30" name="">
            <a:extLst xmlns:a="http://schemas.openxmlformats.org/drawingml/2006/main">
              <a:ext uri="{FF2B5EF4-FFF2-40B4-BE49-F238E27FC236}">
                <a16:creationId xmlns:a16="http://schemas.microsoft.com/office/drawing/2014/main" id="{B27BA6AD-2E4A-4738-871E-DBCFCEBD7C32}"/>
              </a:ext>
            </a:extLst>
          </p:cNvPr>
          <p:cNvSpPr>
            <a:spLocks xmlns:a="http://schemas.openxmlformats.org/drawingml/2006/main" noGrp="1"/>
          </p:cNvSpPr>
          <p:nvPr/>
        </p:nvSpPr>
        <p:spPr>
          <a:xfrm xmlns:a="http://schemas.openxmlformats.org/drawingml/2006/main">
            <a:off x="79819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7C3AED"/>
                </a:solidFill>
              </a:defRPr>
            </a:pPr>
            <a:r>
              <a:rPr sz="1275" b="1">
                <a:solidFill>
                  <a:srgbClr val="7C3AED"/>
                </a:solidFill>
              </a:rPr>
              <a:t>ERD / DATA FLOW</a:t>
            </a:r>
          </a:p>
        </p:txBody>
      </p:sp>
      <p:sp>
        <p:nvSpPr>
          <p:cNvPr id="31" name="">
            <a:extLst xmlns:a="http://schemas.openxmlformats.org/drawingml/2006/main">
              <a:ext uri="{FF2B5EF4-FFF2-40B4-BE49-F238E27FC236}">
                <a16:creationId xmlns:a16="http://schemas.microsoft.com/office/drawing/2014/main" id="{1B564AFF-C2F0-494D-A213-7A4D40D5CCC2}"/>
              </a:ext>
            </a:extLst>
          </p:cNvPr>
          <p:cNvSpPr>
            <a:spLocks xmlns:a="http://schemas.openxmlformats.org/drawingml/2006/main" noGrp="1"/>
          </p:cNvSpPr>
          <p:nvPr/>
        </p:nvSpPr>
        <p:spPr>
          <a:xfrm xmlns:a="http://schemas.openxmlformats.org/drawingml/2006/main">
            <a:off x="7981950" y="2009775"/>
            <a:ext cx="2857500" cy="476250"/>
          </a:xfrm>
          <a:prstGeom xmlns:a="http://schemas.openxmlformats.org/drawingml/2006/main" prst="roundRect">
            <a:avLst>
              <a:gd name="adj" fmla="val 16000"/>
            </a:avLst>
          </a:prstGeom>
          <a:solidFill xmlns:a="http://schemas.openxmlformats.org/drawingml/2006/main">
            <a:srgbClr val="EDE9FE"/>
          </a:solidFill>
          <a:ln xmlns:a="http://schemas.openxmlformats.org/drawingml/2006/main" w="9525">
            <a:solidFill>
              <a:srgbClr val="7C3AED"/>
            </a:solidFill>
            <a:prstDash val="solid"/>
          </a:ln>
        </p:spPr>
      </p:sp>
      <p:sp>
        <p:nvSpPr>
          <p:cNvPr id="32" name="">
            <a:extLst xmlns:a="http://schemas.openxmlformats.org/drawingml/2006/main">
              <a:ext uri="{FF2B5EF4-FFF2-40B4-BE49-F238E27FC236}">
                <a16:creationId xmlns:a16="http://schemas.microsoft.com/office/drawing/2014/main" id="{B0351911-995D-467D-B121-112A918D9AFB}"/>
              </a:ext>
            </a:extLst>
          </p:cNvPr>
          <p:cNvSpPr>
            <a:spLocks xmlns:a="http://schemas.openxmlformats.org/drawingml/2006/main" noGrp="1"/>
          </p:cNvSpPr>
          <p:nvPr/>
        </p:nvSpPr>
        <p:spPr>
          <a:xfrm xmlns:a="http://schemas.openxmlformats.org/drawingml/2006/main">
            <a:off x="8115300" y="21336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72033"/>
                </a:solidFill>
              </a:defRPr>
            </a:pPr>
            <a:r>
              <a:rPr sz="1200" b="1">
                <a:solidFill>
                  <a:srgbClr val="172033"/>
                </a:solidFill>
              </a:rPr>
              <a:t>PR • kode, kebutuhan</a:t>
            </a:r>
          </a:p>
        </p:txBody>
      </p:sp>
      <p:sp>
        <p:nvSpPr>
          <p:cNvPr id="33" name="">
            <a:extLst xmlns:a="http://schemas.openxmlformats.org/drawingml/2006/main">
              <a:ext uri="{FF2B5EF4-FFF2-40B4-BE49-F238E27FC236}">
                <a16:creationId xmlns:a16="http://schemas.microsoft.com/office/drawing/2014/main" id="{4649C451-1A49-40B8-B59B-066730BE9E45}"/>
              </a:ext>
            </a:extLst>
          </p:cNvPr>
          <p:cNvSpPr>
            <a:spLocks xmlns:a="http://schemas.openxmlformats.org/drawingml/2006/main" noGrp="1"/>
          </p:cNvSpPr>
          <p:nvPr/>
        </p:nvSpPr>
        <p:spPr>
          <a:xfrm xmlns:a="http://schemas.openxmlformats.org/drawingml/2006/main">
            <a:off x="8991600" y="24669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4" name="">
            <a:extLst xmlns:a="http://schemas.openxmlformats.org/drawingml/2006/main">
              <a:ext uri="{FF2B5EF4-FFF2-40B4-BE49-F238E27FC236}">
                <a16:creationId xmlns:a16="http://schemas.microsoft.com/office/drawing/2014/main" id="{47C719BD-0C97-41A0-B35E-E41D24F853C2}"/>
              </a:ext>
            </a:extLst>
          </p:cNvPr>
          <p:cNvSpPr>
            <a:spLocks xmlns:a="http://schemas.openxmlformats.org/drawingml/2006/main" noGrp="1"/>
          </p:cNvSpPr>
          <p:nvPr/>
        </p:nvSpPr>
        <p:spPr>
          <a:xfrm xmlns:a="http://schemas.openxmlformats.org/drawingml/2006/main">
            <a:off x="7981950" y="266700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5" name="">
            <a:extLst xmlns:a="http://schemas.openxmlformats.org/drawingml/2006/main">
              <a:ext uri="{FF2B5EF4-FFF2-40B4-BE49-F238E27FC236}">
                <a16:creationId xmlns:a16="http://schemas.microsoft.com/office/drawing/2014/main" id="{E6FBD5C7-CB08-48BA-BAE9-49CD205935F2}"/>
              </a:ext>
            </a:extLst>
          </p:cNvPr>
          <p:cNvSpPr>
            <a:spLocks xmlns:a="http://schemas.openxmlformats.org/drawingml/2006/main" noGrp="1"/>
          </p:cNvSpPr>
          <p:nvPr/>
        </p:nvSpPr>
        <p:spPr>
          <a:xfrm xmlns:a="http://schemas.openxmlformats.org/drawingml/2006/main">
            <a:off x="8115300" y="279082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PO • vendor, termin</a:t>
            </a:r>
          </a:p>
        </p:txBody>
      </p:sp>
      <p:sp>
        <p:nvSpPr>
          <p:cNvPr id="36" name="">
            <a:extLst xmlns:a="http://schemas.openxmlformats.org/drawingml/2006/main">
              <a:ext uri="{FF2B5EF4-FFF2-40B4-BE49-F238E27FC236}">
                <a16:creationId xmlns:a16="http://schemas.microsoft.com/office/drawing/2014/main" id="{06A0B49C-4EE3-4F8C-B1FA-A6B63FF7ADD1}"/>
              </a:ext>
            </a:extLst>
          </p:cNvPr>
          <p:cNvSpPr>
            <a:spLocks xmlns:a="http://schemas.openxmlformats.org/drawingml/2006/main" noGrp="1"/>
          </p:cNvSpPr>
          <p:nvPr/>
        </p:nvSpPr>
        <p:spPr>
          <a:xfrm xmlns:a="http://schemas.openxmlformats.org/drawingml/2006/main">
            <a:off x="8991600" y="31242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7" name="">
            <a:extLst xmlns:a="http://schemas.openxmlformats.org/drawingml/2006/main">
              <a:ext uri="{FF2B5EF4-FFF2-40B4-BE49-F238E27FC236}">
                <a16:creationId xmlns:a16="http://schemas.microsoft.com/office/drawing/2014/main" id="{B77BD19E-D287-4080-B04D-AA9DA948842B}"/>
              </a:ext>
            </a:extLst>
          </p:cNvPr>
          <p:cNvSpPr>
            <a:spLocks xmlns:a="http://schemas.openxmlformats.org/drawingml/2006/main" noGrp="1"/>
          </p:cNvSpPr>
          <p:nvPr/>
        </p:nvSpPr>
        <p:spPr>
          <a:xfrm xmlns:a="http://schemas.openxmlformats.org/drawingml/2006/main">
            <a:off x="7981950" y="332422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8" name="">
            <a:extLst xmlns:a="http://schemas.openxmlformats.org/drawingml/2006/main">
              <a:ext uri="{FF2B5EF4-FFF2-40B4-BE49-F238E27FC236}">
                <a16:creationId xmlns:a16="http://schemas.microsoft.com/office/drawing/2014/main" id="{2FB20BE4-14E2-4761-B635-66DAA0F18B7C}"/>
              </a:ext>
            </a:extLst>
          </p:cNvPr>
          <p:cNvSpPr>
            <a:spLocks xmlns:a="http://schemas.openxmlformats.org/drawingml/2006/main" noGrp="1"/>
          </p:cNvSpPr>
          <p:nvPr/>
        </p:nvSpPr>
        <p:spPr>
          <a:xfrm xmlns:a="http://schemas.openxmlformats.org/drawingml/2006/main">
            <a:off x="8115300" y="344805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BAST • qty, mutu</a:t>
            </a:r>
          </a:p>
        </p:txBody>
      </p:sp>
      <p:sp>
        <p:nvSpPr>
          <p:cNvPr id="39" name="">
            <a:extLst xmlns:a="http://schemas.openxmlformats.org/drawingml/2006/main">
              <a:ext uri="{FF2B5EF4-FFF2-40B4-BE49-F238E27FC236}">
                <a16:creationId xmlns:a16="http://schemas.microsoft.com/office/drawing/2014/main" id="{77ACECDF-4D52-4C8C-8458-919DDC522DF1}"/>
              </a:ext>
            </a:extLst>
          </p:cNvPr>
          <p:cNvSpPr>
            <a:spLocks xmlns:a="http://schemas.openxmlformats.org/drawingml/2006/main" noGrp="1"/>
          </p:cNvSpPr>
          <p:nvPr/>
        </p:nvSpPr>
        <p:spPr>
          <a:xfrm xmlns:a="http://schemas.openxmlformats.org/drawingml/2006/main">
            <a:off x="8991600" y="378142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0" name="">
            <a:extLst xmlns:a="http://schemas.openxmlformats.org/drawingml/2006/main">
              <a:ext uri="{FF2B5EF4-FFF2-40B4-BE49-F238E27FC236}">
                <a16:creationId xmlns:a16="http://schemas.microsoft.com/office/drawing/2014/main" id="{425EDD28-F9AF-46C7-A245-FD8881043A18}"/>
              </a:ext>
            </a:extLst>
          </p:cNvPr>
          <p:cNvSpPr>
            <a:spLocks xmlns:a="http://schemas.openxmlformats.org/drawingml/2006/main" noGrp="1"/>
          </p:cNvSpPr>
          <p:nvPr/>
        </p:nvSpPr>
        <p:spPr>
          <a:xfrm xmlns:a="http://schemas.openxmlformats.org/drawingml/2006/main">
            <a:off x="7981950" y="398145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1" name="">
            <a:extLst xmlns:a="http://schemas.openxmlformats.org/drawingml/2006/main">
              <a:ext uri="{FF2B5EF4-FFF2-40B4-BE49-F238E27FC236}">
                <a16:creationId xmlns:a16="http://schemas.microsoft.com/office/drawing/2014/main" id="{78D7A578-FCFE-4CF5-A911-7D8B77809E53}"/>
              </a:ext>
            </a:extLst>
          </p:cNvPr>
          <p:cNvSpPr>
            <a:spLocks xmlns:a="http://schemas.openxmlformats.org/drawingml/2006/main" noGrp="1"/>
          </p:cNvSpPr>
          <p:nvPr/>
        </p:nvSpPr>
        <p:spPr>
          <a:xfrm xmlns:a="http://schemas.openxmlformats.org/drawingml/2006/main">
            <a:off x="8115300" y="410527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TAGIHAN • nomor, nilai</a:t>
            </a:r>
          </a:p>
        </p:txBody>
      </p:sp>
      <p:sp>
        <p:nvSpPr>
          <p:cNvPr id="42" name="">
            <a:extLst xmlns:a="http://schemas.openxmlformats.org/drawingml/2006/main">
              <a:ext uri="{FF2B5EF4-FFF2-40B4-BE49-F238E27FC236}">
                <a16:creationId xmlns:a16="http://schemas.microsoft.com/office/drawing/2014/main" id="{407D216D-F6CB-45D8-8158-AA43145F772E}"/>
              </a:ext>
            </a:extLst>
          </p:cNvPr>
          <p:cNvSpPr>
            <a:spLocks xmlns:a="http://schemas.openxmlformats.org/drawingml/2006/main" noGrp="1"/>
          </p:cNvSpPr>
          <p:nvPr/>
        </p:nvSpPr>
        <p:spPr>
          <a:xfrm xmlns:a="http://schemas.openxmlformats.org/drawingml/2006/main">
            <a:off x="8991600" y="44386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3" name="">
            <a:extLst xmlns:a="http://schemas.openxmlformats.org/drawingml/2006/main">
              <a:ext uri="{FF2B5EF4-FFF2-40B4-BE49-F238E27FC236}">
                <a16:creationId xmlns:a16="http://schemas.microsoft.com/office/drawing/2014/main" id="{7091ECF3-43FB-418F-85A7-AF3602012B76}"/>
              </a:ext>
            </a:extLst>
          </p:cNvPr>
          <p:cNvSpPr>
            <a:spLocks xmlns:a="http://schemas.openxmlformats.org/drawingml/2006/main" noGrp="1"/>
          </p:cNvSpPr>
          <p:nvPr/>
        </p:nvSpPr>
        <p:spPr>
          <a:xfrm xmlns:a="http://schemas.openxmlformats.org/drawingml/2006/main">
            <a:off x="7981950" y="463867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4" name="">
            <a:extLst xmlns:a="http://schemas.openxmlformats.org/drawingml/2006/main">
              <a:ext uri="{FF2B5EF4-FFF2-40B4-BE49-F238E27FC236}">
                <a16:creationId xmlns:a16="http://schemas.microsoft.com/office/drawing/2014/main" id="{59337822-9969-4B09-B486-A6D75F49D1AC}"/>
              </a:ext>
            </a:extLst>
          </p:cNvPr>
          <p:cNvSpPr>
            <a:spLocks xmlns:a="http://schemas.openxmlformats.org/drawingml/2006/main" noGrp="1"/>
          </p:cNvSpPr>
          <p:nvPr/>
        </p:nvSpPr>
        <p:spPr>
          <a:xfrm xmlns:a="http://schemas.openxmlformats.org/drawingml/2006/main">
            <a:off x="8115300" y="47625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PEMBAYARAN • bukti, jurnal</a:t>
            </a:r>
          </a:p>
        </p:txBody>
      </p:sp>
      <p:sp>
        <p:nvSpPr>
          <p:cNvPr id="45" name="">
            <a:extLst xmlns:a="http://schemas.openxmlformats.org/drawingml/2006/main">
              <a:ext uri="{FF2B5EF4-FFF2-40B4-BE49-F238E27FC236}">
                <a16:creationId xmlns:a16="http://schemas.microsoft.com/office/drawing/2014/main" id="{DDB82C25-A7AC-4604-BF74-BBEC0150B626}"/>
              </a:ext>
            </a:extLst>
          </p:cNvPr>
          <p:cNvSpPr>
            <a:spLocks xmlns:a="http://schemas.openxmlformats.org/drawingml/2006/main" noGrp="1"/>
          </p:cNvSpPr>
          <p:nvPr/>
        </p:nvSpPr>
        <p:spPr>
          <a:xfrm xmlns:a="http://schemas.openxmlformats.org/drawingml/2006/main">
            <a:off x="7981950" y="5391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otorisasi dan three-way match PR/PO/BAST/tagihan konsisten sebelum pembayaran.</a:t>
            </a:r>
          </a:p>
        </p:txBody>
      </p:sp>
    </p:spTree>
    <p:extLst>
      <p:ext uri="{BB962C8B-B14F-4D97-AF65-F5344CB8AC3E}">
        <p14:creationId xmlns:p14="http://schemas.microsoft.com/office/powerpoint/2010/main" val="725614907"/>
      </p:ext>
    </p:extLst>
  </p:cSld>
</p:sld>
</file>

<file path=ppt/slides/slide1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09E6533-88EF-495E-8F10-BE3D6BF4E0DC}"/>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BUKTI 5</a:t>
            </a:r>
          </a:p>
        </p:txBody>
      </p:sp>
      <p:sp>
        <p:nvSpPr>
          <p:cNvPr id="2" name="">
            <a:extLst xmlns:a="http://schemas.openxmlformats.org/drawingml/2006/main">
              <a:ext uri="{FF2B5EF4-FFF2-40B4-BE49-F238E27FC236}">
                <a16:creationId xmlns:a16="http://schemas.microsoft.com/office/drawing/2014/main" id="{27423AB3-A0C0-4557-9EDF-5641DF9462C3}"/>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Pengelolaan Stok Semua Obat dan Alat Kesehatan</a:t>
            </a:r>
          </a:p>
        </p:txBody>
      </p:sp>
      <p:sp>
        <p:nvSpPr>
          <p:cNvPr id="3" name="">
            <a:extLst xmlns:a="http://schemas.openxmlformats.org/drawingml/2006/main">
              <a:ext uri="{FF2B5EF4-FFF2-40B4-BE49-F238E27FC236}">
                <a16:creationId xmlns:a16="http://schemas.microsoft.com/office/drawing/2014/main" id="{2C35EA6A-27F9-4FF2-ABBB-AE1DB0019305}"/>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12</a:t>
            </a:r>
          </a:p>
        </p:txBody>
      </p:sp>
      <p:sp>
        <p:nvSpPr>
          <p:cNvPr id="4" name="">
            <a:extLst xmlns:a="http://schemas.openxmlformats.org/drawingml/2006/main">
              <a:ext uri="{FF2B5EF4-FFF2-40B4-BE49-F238E27FC236}">
                <a16:creationId xmlns:a16="http://schemas.microsoft.com/office/drawing/2014/main" id="{E50A2883-7940-4A88-8948-CF4ADE6A3518}"/>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12</a:t>
            </a:r>
          </a:p>
        </p:txBody>
      </p:sp>
      <p:sp>
        <p:nvSpPr>
          <p:cNvPr id="5" name="">
            <a:extLst xmlns:a="http://schemas.openxmlformats.org/drawingml/2006/main">
              <a:ext uri="{FF2B5EF4-FFF2-40B4-BE49-F238E27FC236}">
                <a16:creationId xmlns:a16="http://schemas.microsoft.com/office/drawing/2014/main" id="{4D722D69-023F-4C0E-A896-09B033E18B2F}"/>
              </a:ext>
            </a:extLst>
          </p:cNvPr>
          <p:cNvSpPr>
            <a:spLocks xmlns:a="http://schemas.openxmlformats.org/drawingml/2006/main" noGrp="1"/>
          </p:cNvSpPr>
          <p:nvPr/>
        </p:nvSpPr>
        <p:spPr>
          <a:xfrm xmlns:a="http://schemas.openxmlformats.org/drawingml/2006/main">
            <a:off x="609600" y="1352550"/>
            <a:ext cx="7239000" cy="4286250"/>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9E5EC"/>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a1dd0a998534305"/>
          <a:stretch xmlns:a="http://schemas.openxmlformats.org/drawingml/2006/main"/>
        </p:blipFill>
        <p:spPr>
          <a:xfrm xmlns:a="http://schemas.openxmlformats.org/drawingml/2006/main">
            <a:off x="742950" y="1534716"/>
            <a:ext cx="6972300" cy="3921919"/>
          </a:xfrm>
          <a:prstGeom xmlns:a="http://schemas.openxmlformats.org/drawingml/2006/main" prst="roundRect">
            <a:avLst>
              <a:gd name="adj" fmla="val 2844"/>
            </a:avLst>
          </a:prstGeom>
        </p:spPr>
      </p:pic>
      <p:sp>
        <p:nvSpPr>
          <p:cNvPr id="7" name="">
            <a:extLst xmlns:a="http://schemas.openxmlformats.org/drawingml/2006/main">
              <a:ext uri="{FF2B5EF4-FFF2-40B4-BE49-F238E27FC236}">
                <a16:creationId xmlns:a16="http://schemas.microsoft.com/office/drawing/2014/main" id="{1ABF8EE7-602D-4047-8009-8BE480CCE793}"/>
              </a:ext>
            </a:extLst>
          </p:cNvPr>
          <p:cNvSpPr>
            <a:spLocks xmlns:a="http://schemas.openxmlformats.org/drawingml/2006/main" noGrp="1"/>
          </p:cNvSpPr>
          <p:nvPr/>
        </p:nvSpPr>
        <p:spPr>
          <a:xfrm xmlns:a="http://schemas.openxmlformats.org/drawingml/2006/main">
            <a:off x="8096250" y="1352550"/>
            <a:ext cx="3105150" cy="990600"/>
          </a:xfrm>
          <a:prstGeom xmlns:a="http://schemas.openxmlformats.org/drawingml/2006/main" prst="roundRect">
            <a:avLst>
              <a:gd name="adj" fmla="val 11538"/>
            </a:avLst>
          </a:prstGeom>
          <a:solidFill xmlns:a="http://schemas.openxmlformats.org/drawingml/2006/main">
            <a:srgbClr val="FEE2E2"/>
          </a:solidFill>
          <a:ln xmlns:a="http://schemas.openxmlformats.org/drawingml/2006/main" w="9525">
            <a:solidFill>
              <a:srgbClr val="B91C1C"/>
            </a:solidFill>
            <a:prstDash val="solid"/>
          </a:ln>
        </p:spPr>
      </p:sp>
      <p:sp>
        <p:nvSpPr>
          <p:cNvPr id="8" name="">
            <a:extLst xmlns:a="http://schemas.openxmlformats.org/drawingml/2006/main">
              <a:ext uri="{FF2B5EF4-FFF2-40B4-BE49-F238E27FC236}">
                <a16:creationId xmlns:a16="http://schemas.microsoft.com/office/drawing/2014/main" id="{8DB13382-8BC9-413B-94EF-0B13169E9C15}"/>
              </a:ext>
            </a:extLst>
          </p:cNvPr>
          <p:cNvSpPr>
            <a:spLocks xmlns:a="http://schemas.openxmlformats.org/drawingml/2006/main" noGrp="1"/>
          </p:cNvSpPr>
          <p:nvPr/>
        </p:nvSpPr>
        <p:spPr>
          <a:xfrm xmlns:a="http://schemas.openxmlformats.org/drawingml/2006/main">
            <a:off x="8305800" y="15049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B91C1C"/>
                </a:solidFill>
              </a:defRPr>
            </a:pPr>
            <a:r>
              <a:rPr sz="975" b="1">
                <a:solidFill>
                  <a:srgbClr val="B91C1C"/>
                </a:solidFill>
              </a:rPr>
              <a:t>STATUS</a:t>
            </a:r>
          </a:p>
        </p:txBody>
      </p:sp>
      <p:sp>
        <p:nvSpPr>
          <p:cNvPr id="9" name="">
            <a:extLst xmlns:a="http://schemas.openxmlformats.org/drawingml/2006/main">
              <a:ext uri="{FF2B5EF4-FFF2-40B4-BE49-F238E27FC236}">
                <a16:creationId xmlns:a16="http://schemas.microsoft.com/office/drawing/2014/main" id="{D52B88B4-7DBC-454F-83FB-21AE9B089243}"/>
              </a:ext>
            </a:extLst>
          </p:cNvPr>
          <p:cNvSpPr>
            <a:spLocks xmlns:a="http://schemas.openxmlformats.org/drawingml/2006/main" noGrp="1"/>
          </p:cNvSpPr>
          <p:nvPr/>
        </p:nvSpPr>
        <p:spPr>
          <a:xfrm xmlns:a="http://schemas.openxmlformats.org/drawingml/2006/main">
            <a:off x="8305800" y="17526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91C1C"/>
                </a:solidFill>
              </a:defRPr>
            </a:pPr>
            <a:r>
              <a:rPr sz="1200" b="1">
                <a:solidFill>
                  <a:srgbClr val="B91C1C"/>
                </a:solidFill>
              </a:rPr>
              <a:t>BLOCKED data master volume / PASS fungsi stok yang terpakai</a:t>
            </a:r>
          </a:p>
        </p:txBody>
      </p:sp>
      <p:sp>
        <p:nvSpPr>
          <p:cNvPr id="10" name="">
            <a:extLst xmlns:a="http://schemas.openxmlformats.org/drawingml/2006/main">
              <a:ext uri="{FF2B5EF4-FFF2-40B4-BE49-F238E27FC236}">
                <a16:creationId xmlns:a16="http://schemas.microsoft.com/office/drawing/2014/main" id="{CBD91ECB-6BC5-49F7-9E98-E2B5F89C3F60}"/>
              </a:ext>
            </a:extLst>
          </p:cNvPr>
          <p:cNvSpPr>
            <a:spLocks xmlns:a="http://schemas.openxmlformats.org/drawingml/2006/main" noGrp="1"/>
          </p:cNvSpPr>
          <p:nvPr/>
        </p:nvSpPr>
        <p:spPr>
          <a:xfrm xmlns:a="http://schemas.openxmlformats.org/drawingml/2006/main">
            <a:off x="8096250" y="2476500"/>
            <a:ext cx="3105150" cy="3162300"/>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D9E5EC"/>
            </a:solidFill>
            <a:prstDash val="solid"/>
          </a:ln>
        </p:spPr>
      </p:sp>
      <p:sp>
        <p:nvSpPr>
          <p:cNvPr id="11" name="">
            <a:extLst xmlns:a="http://schemas.openxmlformats.org/drawingml/2006/main">
              <a:ext uri="{FF2B5EF4-FFF2-40B4-BE49-F238E27FC236}">
                <a16:creationId xmlns:a16="http://schemas.microsoft.com/office/drawing/2014/main" id="{103546EC-515C-4E91-A0B6-8FAC406FA618}"/>
              </a:ext>
            </a:extLst>
          </p:cNvPr>
          <p:cNvSpPr>
            <a:spLocks xmlns:a="http://schemas.openxmlformats.org/drawingml/2006/main" noGrp="1"/>
          </p:cNvSpPr>
          <p:nvPr/>
        </p:nvSpPr>
        <p:spPr>
          <a:xfrm xmlns:a="http://schemas.openxmlformats.org/drawingml/2006/main">
            <a:off x="8305800" y="26860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F766E"/>
                </a:solidFill>
              </a:defRPr>
            </a:pPr>
            <a:r>
              <a:rPr sz="1050" b="1">
                <a:solidFill>
                  <a:srgbClr val="0F766E"/>
                </a:solidFill>
              </a:rPr>
              <a:t>HASIL AKTUAL</a:t>
            </a:r>
          </a:p>
        </p:txBody>
      </p:sp>
      <p:sp>
        <p:nvSpPr>
          <p:cNvPr id="12" name="">
            <a:extLst xmlns:a="http://schemas.openxmlformats.org/drawingml/2006/main">
              <a:ext uri="{FF2B5EF4-FFF2-40B4-BE49-F238E27FC236}">
                <a16:creationId xmlns:a16="http://schemas.microsoft.com/office/drawing/2014/main" id="{1686E957-CECE-4A86-8D33-AA13FAD1E941}"/>
              </a:ext>
            </a:extLst>
          </p:cNvPr>
          <p:cNvSpPr>
            <a:spLocks xmlns:a="http://schemas.openxmlformats.org/drawingml/2006/main" noGrp="1"/>
          </p:cNvSpPr>
          <p:nvPr/>
        </p:nvSpPr>
        <p:spPr>
          <a:xfrm xmlns:a="http://schemas.openxmlformats.org/drawingml/2006/main">
            <a:off x="8305800" y="3028950"/>
            <a:ext cx="26098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pencarian katalog pada deployment demo hanya mengembalikan dua item dan satu item non-terkendali yang layak dipakai untuk uji transaksi. Provision telah dijalankan, tetapi volume master obat yang diminta belum muncul di endpoint katalog. Uji 100 transaksi tetap dapat dilakukan melalui top-up batch idempoten</a:t>
            </a:r>
          </a:p>
        </p:txBody>
      </p:sp>
      <p:sp>
        <p:nvSpPr>
          <p:cNvPr id="13" name="">
            <a:extLst xmlns:a="http://schemas.openxmlformats.org/drawingml/2006/main">
              <a:ext uri="{FF2B5EF4-FFF2-40B4-BE49-F238E27FC236}">
                <a16:creationId xmlns:a16="http://schemas.microsoft.com/office/drawing/2014/main" id="{1E899298-D3C5-4734-9AAC-03C996C7D9B6}"/>
              </a:ext>
            </a:extLst>
          </p:cNvPr>
          <p:cNvSpPr>
            <a:spLocks xmlns:a="http://schemas.openxmlformats.org/drawingml/2006/main" noGrp="1"/>
          </p:cNvSpPr>
          <p:nvPr/>
        </p:nvSpPr>
        <p:spPr>
          <a:xfrm xmlns:a="http://schemas.openxmlformats.org/drawingml/2006/main">
            <a:off x="8305800" y="523875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26273"/>
                </a:solidFill>
              </a:defRPr>
            </a:pPr>
            <a:r>
              <a:rPr sz="1050" b="1">
                <a:solidFill>
                  <a:srgbClr val="526273"/>
                </a:solidFill>
              </a:rPr>
              <a:t>Narasi lengkap: 997 kata</a:t>
            </a:r>
          </a:p>
        </p:txBody>
      </p:sp>
    </p:spTree>
    <p:extLst>
      <p:ext uri="{BB962C8B-B14F-4D97-AF65-F5344CB8AC3E}">
        <p14:creationId xmlns:p14="http://schemas.microsoft.com/office/powerpoint/2010/main" val="64077169"/>
      </p:ext>
    </p:extLst>
  </p:cSld>
</p:sld>
</file>

<file path=ppt/slides/slide1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B3AA49FA-7767-420E-AF64-D8A9F4F60E9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DIAGRAM 5</a:t>
            </a:r>
          </a:p>
        </p:txBody>
      </p:sp>
      <p:sp>
        <p:nvSpPr>
          <p:cNvPr id="2" name="">
            <a:extLst xmlns:a="http://schemas.openxmlformats.org/drawingml/2006/main">
              <a:ext uri="{FF2B5EF4-FFF2-40B4-BE49-F238E27FC236}">
                <a16:creationId xmlns:a16="http://schemas.microsoft.com/office/drawing/2014/main" id="{BDBAAE6B-5E24-4511-881C-219F3F93ECD5}"/>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Pengelolaan Stok Semua Obat dan Alat Kesehatan: peran, alur, dan data</a:t>
            </a:r>
          </a:p>
        </p:txBody>
      </p:sp>
      <p:sp>
        <p:nvSpPr>
          <p:cNvPr id="3" name="">
            <a:extLst xmlns:a="http://schemas.openxmlformats.org/drawingml/2006/main">
              <a:ext uri="{FF2B5EF4-FFF2-40B4-BE49-F238E27FC236}">
                <a16:creationId xmlns:a16="http://schemas.microsoft.com/office/drawing/2014/main" id="{41AD485D-3713-4CD6-8BCF-38D6A5FF07DD}"/>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13</a:t>
            </a:r>
          </a:p>
        </p:txBody>
      </p:sp>
      <p:sp>
        <p:nvSpPr>
          <p:cNvPr id="4" name="">
            <a:extLst xmlns:a="http://schemas.openxmlformats.org/drawingml/2006/main">
              <a:ext uri="{FF2B5EF4-FFF2-40B4-BE49-F238E27FC236}">
                <a16:creationId xmlns:a16="http://schemas.microsoft.com/office/drawing/2014/main" id="{AA529A77-CAE5-4966-9951-562232053465}"/>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13</a:t>
            </a:r>
          </a:p>
        </p:txBody>
      </p:sp>
      <p:sp>
        <p:nvSpPr>
          <p:cNvPr id="5" name="">
            <a:extLst xmlns:a="http://schemas.openxmlformats.org/drawingml/2006/main">
              <a:ext uri="{FF2B5EF4-FFF2-40B4-BE49-F238E27FC236}">
                <a16:creationId xmlns:a16="http://schemas.microsoft.com/office/drawing/2014/main" id="{C68DEC55-76FE-4107-BE4A-06900CAC0771}"/>
              </a:ext>
            </a:extLst>
          </p:cNvPr>
          <p:cNvSpPr>
            <a:spLocks xmlns:a="http://schemas.openxmlformats.org/drawingml/2006/main" noGrp="1"/>
          </p:cNvSpPr>
          <p:nvPr/>
        </p:nvSpPr>
        <p:spPr>
          <a:xfrm xmlns:a="http://schemas.openxmlformats.org/drawingml/2006/main">
            <a:off x="6096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6" name="">
            <a:extLst xmlns:a="http://schemas.openxmlformats.org/drawingml/2006/main">
              <a:ext uri="{FF2B5EF4-FFF2-40B4-BE49-F238E27FC236}">
                <a16:creationId xmlns:a16="http://schemas.microsoft.com/office/drawing/2014/main" id="{E5A106C5-306A-440B-A65A-23341B713A4A}"/>
              </a:ext>
            </a:extLst>
          </p:cNvPr>
          <p:cNvSpPr>
            <a:spLocks xmlns:a="http://schemas.openxmlformats.org/drawingml/2006/main" noGrp="1"/>
          </p:cNvSpPr>
          <p:nvPr/>
        </p:nvSpPr>
        <p:spPr>
          <a:xfrm xmlns:a="http://schemas.openxmlformats.org/drawingml/2006/main">
            <a:off x="41910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7" name="">
            <a:extLst xmlns:a="http://schemas.openxmlformats.org/drawingml/2006/main">
              <a:ext uri="{FF2B5EF4-FFF2-40B4-BE49-F238E27FC236}">
                <a16:creationId xmlns:a16="http://schemas.microsoft.com/office/drawing/2014/main" id="{ACFE002F-77F6-47C2-8095-D91B0496AC65}"/>
              </a:ext>
            </a:extLst>
          </p:cNvPr>
          <p:cNvSpPr>
            <a:spLocks xmlns:a="http://schemas.openxmlformats.org/drawingml/2006/main" noGrp="1"/>
          </p:cNvSpPr>
          <p:nvPr/>
        </p:nvSpPr>
        <p:spPr>
          <a:xfrm xmlns:a="http://schemas.openxmlformats.org/drawingml/2006/main">
            <a:off x="77724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8" name="">
            <a:extLst xmlns:a="http://schemas.openxmlformats.org/drawingml/2006/main">
              <a:ext uri="{FF2B5EF4-FFF2-40B4-BE49-F238E27FC236}">
                <a16:creationId xmlns:a16="http://schemas.microsoft.com/office/drawing/2014/main" id="{09AA6195-6BF2-454F-9B79-10DA37A6AD0E}"/>
              </a:ext>
            </a:extLst>
          </p:cNvPr>
          <p:cNvSpPr>
            <a:spLocks xmlns:a="http://schemas.openxmlformats.org/drawingml/2006/main" noGrp="1"/>
          </p:cNvSpPr>
          <p:nvPr/>
        </p:nvSpPr>
        <p:spPr>
          <a:xfrm xmlns:a="http://schemas.openxmlformats.org/drawingml/2006/main">
            <a:off x="8191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75985"/>
                </a:solidFill>
              </a:defRPr>
            </a:pPr>
            <a:r>
              <a:rPr sz="1275" b="1">
                <a:solidFill>
                  <a:srgbClr val="075985"/>
                </a:solidFill>
              </a:rPr>
              <a:t>USE CASE</a:t>
            </a:r>
          </a:p>
        </p:txBody>
      </p:sp>
      <p:sp>
        <p:nvSpPr>
          <p:cNvPr id="9" name="">
            <a:extLst xmlns:a="http://schemas.openxmlformats.org/drawingml/2006/main">
              <a:ext uri="{FF2B5EF4-FFF2-40B4-BE49-F238E27FC236}">
                <a16:creationId xmlns:a16="http://schemas.microsoft.com/office/drawing/2014/main" id="{269F62C7-E84C-4429-91DD-10004102C0B8}"/>
              </a:ext>
            </a:extLst>
          </p:cNvPr>
          <p:cNvSpPr>
            <a:spLocks xmlns:a="http://schemas.openxmlformats.org/drawingml/2006/main" noGrp="1"/>
          </p:cNvSpPr>
          <p:nvPr/>
        </p:nvSpPr>
        <p:spPr>
          <a:xfrm xmlns:a="http://schemas.openxmlformats.org/drawingml/2006/main">
            <a:off x="819150" y="2047875"/>
            <a:ext cx="2819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Petugas gudang → Kelola master dan kategori</a:t>
            </a:r>
          </a:p>
          <a:p xmlns:a="http://schemas.openxmlformats.org/drawingml/2006/main">
            <a:pPr algn="l">
              <a:defRPr sz="1200" b="0">
                <a:solidFill>
                  <a:srgbClr val="172033"/>
                </a:solidFill>
              </a:defRPr>
            </a:pPr>
            <a:r>
              <a:rPr sz="1200" b="0">
                <a:solidFill>
                  <a:srgbClr val="172033"/>
                </a:solidFill>
              </a:rPr>
              <a:t>Apoteker → Terima batch serta mutasi</a:t>
            </a:r>
          </a:p>
          <a:p xmlns:a="http://schemas.openxmlformats.org/drawingml/2006/main">
            <a:pPr algn="l">
              <a:defRPr sz="1200" b="0">
                <a:solidFill>
                  <a:srgbClr val="172033"/>
                </a:solidFill>
              </a:defRPr>
            </a:pPr>
            <a:r>
              <a:rPr sz="1200" b="0">
                <a:solidFill>
                  <a:srgbClr val="172033"/>
                </a:solidFill>
              </a:rPr>
              <a:t>Kasir → Reservasi/pengeluaran FEFO</a:t>
            </a:r>
          </a:p>
          <a:p xmlns:a="http://schemas.openxmlformats.org/drawingml/2006/main">
            <a:pPr algn="l">
              <a:defRPr sz="1200" b="0">
                <a:solidFill>
                  <a:srgbClr val="172033"/>
                </a:solidFill>
              </a:defRPr>
            </a:pPr>
            <a:r>
              <a:rPr sz="1200" b="0">
                <a:solidFill>
                  <a:srgbClr val="172033"/>
                </a:solidFill>
              </a:rPr>
              <a:t>Auditor stok → Stock opname dan rekonsiliasi</a:t>
            </a:r>
          </a:p>
        </p:txBody>
      </p:sp>
      <p:sp>
        <p:nvSpPr>
          <p:cNvPr id="10" name="">
            <a:extLst xmlns:a="http://schemas.openxmlformats.org/drawingml/2006/main">
              <a:ext uri="{FF2B5EF4-FFF2-40B4-BE49-F238E27FC236}">
                <a16:creationId xmlns:a16="http://schemas.microsoft.com/office/drawing/2014/main" id="{8FDFD8CC-9022-4606-9DCB-DDDC95941CBA}"/>
              </a:ext>
            </a:extLst>
          </p:cNvPr>
          <p:cNvSpPr>
            <a:spLocks xmlns:a="http://schemas.openxmlformats.org/drawingml/2006/main" noGrp="1"/>
          </p:cNvSpPr>
          <p:nvPr/>
        </p:nvSpPr>
        <p:spPr>
          <a:xfrm xmlns:a="http://schemas.openxmlformats.org/drawingml/2006/main">
            <a:off x="838200" y="4991100"/>
            <a:ext cx="2819400" cy="742950"/>
          </a:xfrm>
          <a:prstGeom xmlns:a="http://schemas.openxmlformats.org/drawingml/2006/main" prst="roundRect">
            <a:avLst>
              <a:gd name="adj" fmla="val 10256"/>
            </a:avLst>
          </a:prstGeom>
          <a:solidFill xmlns:a="http://schemas.openxmlformats.org/drawingml/2006/main">
            <a:srgbClr val="EAF3F8"/>
          </a:solidFill>
          <a:ln xmlns:a="http://schemas.openxmlformats.org/drawingml/2006/main" w="9525">
            <a:solidFill>
              <a:srgbClr val="075985"/>
            </a:solidFill>
            <a:prstDash val="solid"/>
          </a:ln>
        </p:spPr>
      </p:sp>
      <p:sp>
        <p:nvSpPr>
          <p:cNvPr id="11" name="">
            <a:extLst xmlns:a="http://schemas.openxmlformats.org/drawingml/2006/main">
              <a:ext uri="{FF2B5EF4-FFF2-40B4-BE49-F238E27FC236}">
                <a16:creationId xmlns:a16="http://schemas.microsoft.com/office/drawing/2014/main" id="{B6A29B46-BCD6-4314-8460-8D303347619B}"/>
              </a:ext>
            </a:extLst>
          </p:cNvPr>
          <p:cNvSpPr>
            <a:spLocks xmlns:a="http://schemas.openxmlformats.org/drawingml/2006/main" noGrp="1"/>
          </p:cNvSpPr>
          <p:nvPr/>
        </p:nvSpPr>
        <p:spPr>
          <a:xfrm xmlns:a="http://schemas.openxmlformats.org/drawingml/2006/main">
            <a:off x="990600" y="521970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75985"/>
                </a:solidFill>
              </a:defRPr>
            </a:pPr>
            <a:r>
              <a:rPr sz="1275" b="1">
                <a:solidFill>
                  <a:srgbClr val="075985"/>
                </a:solidFill>
              </a:rPr>
              <a:t>RBAC + segregasi tugas</a:t>
            </a:r>
          </a:p>
        </p:txBody>
      </p:sp>
      <p:sp>
        <p:nvSpPr>
          <p:cNvPr id="12" name="">
            <a:extLst xmlns:a="http://schemas.openxmlformats.org/drawingml/2006/main">
              <a:ext uri="{FF2B5EF4-FFF2-40B4-BE49-F238E27FC236}">
                <a16:creationId xmlns:a16="http://schemas.microsoft.com/office/drawing/2014/main" id="{7F0439DF-EAE8-4135-99E6-46D668A3FF0A}"/>
              </a:ext>
            </a:extLst>
          </p:cNvPr>
          <p:cNvSpPr>
            <a:spLocks xmlns:a="http://schemas.openxmlformats.org/drawingml/2006/main" noGrp="1"/>
          </p:cNvSpPr>
          <p:nvPr/>
        </p:nvSpPr>
        <p:spPr>
          <a:xfrm xmlns:a="http://schemas.openxmlformats.org/drawingml/2006/main">
            <a:off x="44005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F766E"/>
                </a:solidFill>
              </a:defRPr>
            </a:pPr>
            <a:r>
              <a:rPr sz="1275" b="1">
                <a:solidFill>
                  <a:srgbClr val="0F766E"/>
                </a:solidFill>
              </a:rPr>
              <a:t>FLOWCHART</a:t>
            </a:r>
          </a:p>
        </p:txBody>
      </p:sp>
      <p:sp>
        <p:nvSpPr>
          <p:cNvPr id="13" name="">
            <a:extLst xmlns:a="http://schemas.openxmlformats.org/drawingml/2006/main">
              <a:ext uri="{FF2B5EF4-FFF2-40B4-BE49-F238E27FC236}">
                <a16:creationId xmlns:a16="http://schemas.microsoft.com/office/drawing/2014/main" id="{54E98DCE-1A68-45AC-9CD2-10313DEDB585}"/>
              </a:ext>
            </a:extLst>
          </p:cNvPr>
          <p:cNvSpPr>
            <a:spLocks xmlns:a="http://schemas.openxmlformats.org/drawingml/2006/main" noGrp="1"/>
          </p:cNvSpPr>
          <p:nvPr/>
        </p:nvSpPr>
        <p:spPr>
          <a:xfrm xmlns:a="http://schemas.openxmlformats.org/drawingml/2006/main">
            <a:off x="4400550" y="2009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75AFED86-F007-4442-9729-C37DD429DF8D}"/>
              </a:ext>
            </a:extLst>
          </p:cNvPr>
          <p:cNvSpPr>
            <a:spLocks xmlns:a="http://schemas.openxmlformats.org/drawingml/2006/main" noGrp="1"/>
          </p:cNvSpPr>
          <p:nvPr/>
        </p:nvSpPr>
        <p:spPr>
          <a:xfrm xmlns:a="http://schemas.openxmlformats.org/drawingml/2006/main">
            <a:off x="4533900" y="2114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1. Buat/validasi item</a:t>
            </a:r>
          </a:p>
        </p:txBody>
      </p:sp>
      <p:sp>
        <p:nvSpPr>
          <p:cNvPr id="15" name="">
            <a:extLst xmlns:a="http://schemas.openxmlformats.org/drawingml/2006/main">
              <a:ext uri="{FF2B5EF4-FFF2-40B4-BE49-F238E27FC236}">
                <a16:creationId xmlns:a16="http://schemas.microsoft.com/office/drawing/2014/main" id="{0B6F1DDD-4B91-4B1A-B2AE-F07101AFE205}"/>
              </a:ext>
            </a:extLst>
          </p:cNvPr>
          <p:cNvSpPr>
            <a:spLocks xmlns:a="http://schemas.openxmlformats.org/drawingml/2006/main" noGrp="1"/>
          </p:cNvSpPr>
          <p:nvPr/>
        </p:nvSpPr>
        <p:spPr>
          <a:xfrm xmlns:a="http://schemas.openxmlformats.org/drawingml/2006/main">
            <a:off x="5676900" y="2409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6" name="">
            <a:extLst xmlns:a="http://schemas.openxmlformats.org/drawingml/2006/main">
              <a:ext uri="{FF2B5EF4-FFF2-40B4-BE49-F238E27FC236}">
                <a16:creationId xmlns:a16="http://schemas.microsoft.com/office/drawing/2014/main" id="{D011A3C5-06C8-4267-AEDB-A38B46A0FE1B}"/>
              </a:ext>
            </a:extLst>
          </p:cNvPr>
          <p:cNvSpPr>
            <a:spLocks xmlns:a="http://schemas.openxmlformats.org/drawingml/2006/main" noGrp="1"/>
          </p:cNvSpPr>
          <p:nvPr/>
        </p:nvSpPr>
        <p:spPr>
          <a:xfrm xmlns:a="http://schemas.openxmlformats.org/drawingml/2006/main">
            <a:off x="4400550" y="2581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7" name="">
            <a:extLst xmlns:a="http://schemas.openxmlformats.org/drawingml/2006/main">
              <a:ext uri="{FF2B5EF4-FFF2-40B4-BE49-F238E27FC236}">
                <a16:creationId xmlns:a16="http://schemas.microsoft.com/office/drawing/2014/main" id="{EDC64881-8C44-445A-9775-02250105B6AD}"/>
              </a:ext>
            </a:extLst>
          </p:cNvPr>
          <p:cNvSpPr>
            <a:spLocks xmlns:a="http://schemas.openxmlformats.org/drawingml/2006/main" noGrp="1"/>
          </p:cNvSpPr>
          <p:nvPr/>
        </p:nvSpPr>
        <p:spPr>
          <a:xfrm xmlns:a="http://schemas.openxmlformats.org/drawingml/2006/main">
            <a:off x="4533900" y="2686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2. Kelompokkan kategori</a:t>
            </a:r>
          </a:p>
        </p:txBody>
      </p:sp>
      <p:sp>
        <p:nvSpPr>
          <p:cNvPr id="18" name="">
            <a:extLst xmlns:a="http://schemas.openxmlformats.org/drawingml/2006/main">
              <a:ext uri="{FF2B5EF4-FFF2-40B4-BE49-F238E27FC236}">
                <a16:creationId xmlns:a16="http://schemas.microsoft.com/office/drawing/2014/main" id="{CD95D3E2-48AA-469B-9D09-6B15BB28011D}"/>
              </a:ext>
            </a:extLst>
          </p:cNvPr>
          <p:cNvSpPr>
            <a:spLocks xmlns:a="http://schemas.openxmlformats.org/drawingml/2006/main" noGrp="1"/>
          </p:cNvSpPr>
          <p:nvPr/>
        </p:nvSpPr>
        <p:spPr>
          <a:xfrm xmlns:a="http://schemas.openxmlformats.org/drawingml/2006/main">
            <a:off x="5676900" y="2981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9" name="">
            <a:extLst xmlns:a="http://schemas.openxmlformats.org/drawingml/2006/main">
              <a:ext uri="{FF2B5EF4-FFF2-40B4-BE49-F238E27FC236}">
                <a16:creationId xmlns:a16="http://schemas.microsoft.com/office/drawing/2014/main" id="{66BDFA38-63F1-4E30-9776-1F7D8224A653}"/>
              </a:ext>
            </a:extLst>
          </p:cNvPr>
          <p:cNvSpPr>
            <a:spLocks xmlns:a="http://schemas.openxmlformats.org/drawingml/2006/main" noGrp="1"/>
          </p:cNvSpPr>
          <p:nvPr/>
        </p:nvSpPr>
        <p:spPr>
          <a:xfrm xmlns:a="http://schemas.openxmlformats.org/drawingml/2006/main">
            <a:off x="4400550" y="3152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0" name="">
            <a:extLst xmlns:a="http://schemas.openxmlformats.org/drawingml/2006/main">
              <a:ext uri="{FF2B5EF4-FFF2-40B4-BE49-F238E27FC236}">
                <a16:creationId xmlns:a16="http://schemas.microsoft.com/office/drawing/2014/main" id="{A11CD6F8-FDB6-4AA3-8B26-7E83AA32E4D9}"/>
              </a:ext>
            </a:extLst>
          </p:cNvPr>
          <p:cNvSpPr>
            <a:spLocks xmlns:a="http://schemas.openxmlformats.org/drawingml/2006/main" noGrp="1"/>
          </p:cNvSpPr>
          <p:nvPr/>
        </p:nvSpPr>
        <p:spPr>
          <a:xfrm xmlns:a="http://schemas.openxmlformats.org/drawingml/2006/main">
            <a:off x="4533900" y="3257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3. Terima batch</a:t>
            </a:r>
          </a:p>
        </p:txBody>
      </p:sp>
      <p:sp>
        <p:nvSpPr>
          <p:cNvPr id="21" name="">
            <a:extLst xmlns:a="http://schemas.openxmlformats.org/drawingml/2006/main">
              <a:ext uri="{FF2B5EF4-FFF2-40B4-BE49-F238E27FC236}">
                <a16:creationId xmlns:a16="http://schemas.microsoft.com/office/drawing/2014/main" id="{FE3A8D6B-FC62-4FEC-81AE-451D97C1BF8F}"/>
              </a:ext>
            </a:extLst>
          </p:cNvPr>
          <p:cNvSpPr>
            <a:spLocks xmlns:a="http://schemas.openxmlformats.org/drawingml/2006/main" noGrp="1"/>
          </p:cNvSpPr>
          <p:nvPr/>
        </p:nvSpPr>
        <p:spPr>
          <a:xfrm xmlns:a="http://schemas.openxmlformats.org/drawingml/2006/main">
            <a:off x="5676900" y="3552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2" name="">
            <a:extLst xmlns:a="http://schemas.openxmlformats.org/drawingml/2006/main">
              <a:ext uri="{FF2B5EF4-FFF2-40B4-BE49-F238E27FC236}">
                <a16:creationId xmlns:a16="http://schemas.microsoft.com/office/drawing/2014/main" id="{AF608145-5E55-4C3A-B0CE-216DA47263FB}"/>
              </a:ext>
            </a:extLst>
          </p:cNvPr>
          <p:cNvSpPr>
            <a:spLocks xmlns:a="http://schemas.openxmlformats.org/drawingml/2006/main" noGrp="1"/>
          </p:cNvSpPr>
          <p:nvPr/>
        </p:nvSpPr>
        <p:spPr>
          <a:xfrm xmlns:a="http://schemas.openxmlformats.org/drawingml/2006/main">
            <a:off x="4400550" y="3724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3" name="">
            <a:extLst xmlns:a="http://schemas.openxmlformats.org/drawingml/2006/main">
              <a:ext uri="{FF2B5EF4-FFF2-40B4-BE49-F238E27FC236}">
                <a16:creationId xmlns:a16="http://schemas.microsoft.com/office/drawing/2014/main" id="{2CCD4E32-24D2-4661-8FD1-DA228E9D10CB}"/>
              </a:ext>
            </a:extLst>
          </p:cNvPr>
          <p:cNvSpPr>
            <a:spLocks xmlns:a="http://schemas.openxmlformats.org/drawingml/2006/main" noGrp="1"/>
          </p:cNvSpPr>
          <p:nvPr/>
        </p:nvSpPr>
        <p:spPr>
          <a:xfrm xmlns:a="http://schemas.openxmlformats.org/drawingml/2006/main">
            <a:off x="4533900" y="3829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4. Mutasi/penjualan</a:t>
            </a:r>
          </a:p>
        </p:txBody>
      </p:sp>
      <p:sp>
        <p:nvSpPr>
          <p:cNvPr id="24" name="">
            <a:extLst xmlns:a="http://schemas.openxmlformats.org/drawingml/2006/main">
              <a:ext uri="{FF2B5EF4-FFF2-40B4-BE49-F238E27FC236}">
                <a16:creationId xmlns:a16="http://schemas.microsoft.com/office/drawing/2014/main" id="{6689ED35-01D3-4AC1-B695-E9ACC0F94B73}"/>
              </a:ext>
            </a:extLst>
          </p:cNvPr>
          <p:cNvSpPr>
            <a:spLocks xmlns:a="http://schemas.openxmlformats.org/drawingml/2006/main" noGrp="1"/>
          </p:cNvSpPr>
          <p:nvPr/>
        </p:nvSpPr>
        <p:spPr>
          <a:xfrm xmlns:a="http://schemas.openxmlformats.org/drawingml/2006/main">
            <a:off x="5676900" y="4124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5" name="">
            <a:extLst xmlns:a="http://schemas.openxmlformats.org/drawingml/2006/main">
              <a:ext uri="{FF2B5EF4-FFF2-40B4-BE49-F238E27FC236}">
                <a16:creationId xmlns:a16="http://schemas.microsoft.com/office/drawing/2014/main" id="{10198A12-863C-42D7-8059-1D5E74F303D9}"/>
              </a:ext>
            </a:extLst>
          </p:cNvPr>
          <p:cNvSpPr>
            <a:spLocks xmlns:a="http://schemas.openxmlformats.org/drawingml/2006/main" noGrp="1"/>
          </p:cNvSpPr>
          <p:nvPr/>
        </p:nvSpPr>
        <p:spPr>
          <a:xfrm xmlns:a="http://schemas.openxmlformats.org/drawingml/2006/main">
            <a:off x="4400550" y="4295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6" name="">
            <a:extLst xmlns:a="http://schemas.openxmlformats.org/drawingml/2006/main">
              <a:ext uri="{FF2B5EF4-FFF2-40B4-BE49-F238E27FC236}">
                <a16:creationId xmlns:a16="http://schemas.microsoft.com/office/drawing/2014/main" id="{64E3BFEA-B6CC-4D5D-AAF3-A8B6CB3A6A55}"/>
              </a:ext>
            </a:extLst>
          </p:cNvPr>
          <p:cNvSpPr>
            <a:spLocks xmlns:a="http://schemas.openxmlformats.org/drawingml/2006/main" noGrp="1"/>
          </p:cNvSpPr>
          <p:nvPr/>
        </p:nvSpPr>
        <p:spPr>
          <a:xfrm xmlns:a="http://schemas.openxmlformats.org/drawingml/2006/main">
            <a:off x="4533900" y="4400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5. Hitung fisik</a:t>
            </a:r>
          </a:p>
        </p:txBody>
      </p:sp>
      <p:sp>
        <p:nvSpPr>
          <p:cNvPr id="27" name="">
            <a:extLst xmlns:a="http://schemas.openxmlformats.org/drawingml/2006/main">
              <a:ext uri="{FF2B5EF4-FFF2-40B4-BE49-F238E27FC236}">
                <a16:creationId xmlns:a16="http://schemas.microsoft.com/office/drawing/2014/main" id="{27502278-93D7-40CE-8CDA-F8519B8A8D8F}"/>
              </a:ext>
            </a:extLst>
          </p:cNvPr>
          <p:cNvSpPr>
            <a:spLocks xmlns:a="http://schemas.openxmlformats.org/drawingml/2006/main" noGrp="1"/>
          </p:cNvSpPr>
          <p:nvPr/>
        </p:nvSpPr>
        <p:spPr>
          <a:xfrm xmlns:a="http://schemas.openxmlformats.org/drawingml/2006/main">
            <a:off x="5676900" y="4695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8" name="">
            <a:extLst xmlns:a="http://schemas.openxmlformats.org/drawingml/2006/main">
              <a:ext uri="{FF2B5EF4-FFF2-40B4-BE49-F238E27FC236}">
                <a16:creationId xmlns:a16="http://schemas.microsoft.com/office/drawing/2014/main" id="{8DE8F072-23BB-4E64-BD27-520FB62A9670}"/>
              </a:ext>
            </a:extLst>
          </p:cNvPr>
          <p:cNvSpPr>
            <a:spLocks xmlns:a="http://schemas.openxmlformats.org/drawingml/2006/main" noGrp="1"/>
          </p:cNvSpPr>
          <p:nvPr/>
        </p:nvSpPr>
        <p:spPr>
          <a:xfrm xmlns:a="http://schemas.openxmlformats.org/drawingml/2006/main">
            <a:off x="4400550" y="4867275"/>
            <a:ext cx="2857500" cy="409575"/>
          </a:xfrm>
          <a:prstGeom xmlns:a="http://schemas.openxmlformats.org/drawingml/2006/main" prst="roundRect">
            <a:avLst>
              <a:gd name="adj" fmla="val 18605"/>
            </a:avLst>
          </a:prstGeom>
          <a:solidFill xmlns:a="http://schemas.openxmlformats.org/drawingml/2006/main">
            <a:srgbClr val="DCFCE7"/>
          </a:solidFill>
          <a:ln xmlns:a="http://schemas.openxmlformats.org/drawingml/2006/main" w="9525">
            <a:solidFill>
              <a:srgbClr val="15803D"/>
            </a:solidFill>
            <a:prstDash val="solid"/>
          </a:ln>
        </p:spPr>
      </p:sp>
      <p:sp>
        <p:nvSpPr>
          <p:cNvPr id="29" name="">
            <a:extLst xmlns:a="http://schemas.openxmlformats.org/drawingml/2006/main">
              <a:ext uri="{FF2B5EF4-FFF2-40B4-BE49-F238E27FC236}">
                <a16:creationId xmlns:a16="http://schemas.microsoft.com/office/drawing/2014/main" id="{FC3F246F-37A2-48F6-8710-AB6B8DF10560}"/>
              </a:ext>
            </a:extLst>
          </p:cNvPr>
          <p:cNvSpPr>
            <a:spLocks xmlns:a="http://schemas.openxmlformats.org/drawingml/2006/main" noGrp="1"/>
          </p:cNvSpPr>
          <p:nvPr/>
        </p:nvSpPr>
        <p:spPr>
          <a:xfrm xmlns:a="http://schemas.openxmlformats.org/drawingml/2006/main">
            <a:off x="4533900" y="4972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2033"/>
                </a:solidFill>
              </a:defRPr>
            </a:pPr>
            <a:r>
              <a:rPr sz="1200" b="1">
                <a:solidFill>
                  <a:srgbClr val="172033"/>
                </a:solidFill>
              </a:rPr>
              <a:t>6. Rekonsiliasi selisih</a:t>
            </a:r>
          </a:p>
        </p:txBody>
      </p:sp>
      <p:sp>
        <p:nvSpPr>
          <p:cNvPr id="30" name="">
            <a:extLst xmlns:a="http://schemas.openxmlformats.org/drawingml/2006/main">
              <a:ext uri="{FF2B5EF4-FFF2-40B4-BE49-F238E27FC236}">
                <a16:creationId xmlns:a16="http://schemas.microsoft.com/office/drawing/2014/main" id="{B7CFE0FE-D20C-403D-B429-D60126F674E4}"/>
              </a:ext>
            </a:extLst>
          </p:cNvPr>
          <p:cNvSpPr>
            <a:spLocks xmlns:a="http://schemas.openxmlformats.org/drawingml/2006/main" noGrp="1"/>
          </p:cNvSpPr>
          <p:nvPr/>
        </p:nvSpPr>
        <p:spPr>
          <a:xfrm xmlns:a="http://schemas.openxmlformats.org/drawingml/2006/main">
            <a:off x="79819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7C3AED"/>
                </a:solidFill>
              </a:defRPr>
            </a:pPr>
            <a:r>
              <a:rPr sz="1275" b="1">
                <a:solidFill>
                  <a:srgbClr val="7C3AED"/>
                </a:solidFill>
              </a:rPr>
              <a:t>ERD / DATA FLOW</a:t>
            </a:r>
          </a:p>
        </p:txBody>
      </p:sp>
      <p:sp>
        <p:nvSpPr>
          <p:cNvPr id="31" name="">
            <a:extLst xmlns:a="http://schemas.openxmlformats.org/drawingml/2006/main">
              <a:ext uri="{FF2B5EF4-FFF2-40B4-BE49-F238E27FC236}">
                <a16:creationId xmlns:a16="http://schemas.microsoft.com/office/drawing/2014/main" id="{F10B8F44-23E8-48E9-B08C-23754B57BC4F}"/>
              </a:ext>
            </a:extLst>
          </p:cNvPr>
          <p:cNvSpPr>
            <a:spLocks xmlns:a="http://schemas.openxmlformats.org/drawingml/2006/main" noGrp="1"/>
          </p:cNvSpPr>
          <p:nvPr/>
        </p:nvSpPr>
        <p:spPr>
          <a:xfrm xmlns:a="http://schemas.openxmlformats.org/drawingml/2006/main">
            <a:off x="7981950" y="2009775"/>
            <a:ext cx="2857500" cy="476250"/>
          </a:xfrm>
          <a:prstGeom xmlns:a="http://schemas.openxmlformats.org/drawingml/2006/main" prst="roundRect">
            <a:avLst>
              <a:gd name="adj" fmla="val 16000"/>
            </a:avLst>
          </a:prstGeom>
          <a:solidFill xmlns:a="http://schemas.openxmlformats.org/drawingml/2006/main">
            <a:srgbClr val="EDE9FE"/>
          </a:solidFill>
          <a:ln xmlns:a="http://schemas.openxmlformats.org/drawingml/2006/main" w="9525">
            <a:solidFill>
              <a:srgbClr val="7C3AED"/>
            </a:solidFill>
            <a:prstDash val="solid"/>
          </a:ln>
        </p:spPr>
      </p:sp>
      <p:sp>
        <p:nvSpPr>
          <p:cNvPr id="32" name="">
            <a:extLst xmlns:a="http://schemas.openxmlformats.org/drawingml/2006/main">
              <a:ext uri="{FF2B5EF4-FFF2-40B4-BE49-F238E27FC236}">
                <a16:creationId xmlns:a16="http://schemas.microsoft.com/office/drawing/2014/main" id="{BADC7E96-B5CD-4157-98E6-108F8D1F47C3}"/>
              </a:ext>
            </a:extLst>
          </p:cNvPr>
          <p:cNvSpPr>
            <a:spLocks xmlns:a="http://schemas.openxmlformats.org/drawingml/2006/main" noGrp="1"/>
          </p:cNvSpPr>
          <p:nvPr/>
        </p:nvSpPr>
        <p:spPr>
          <a:xfrm xmlns:a="http://schemas.openxmlformats.org/drawingml/2006/main">
            <a:off x="8115300" y="21336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72033"/>
                </a:solidFill>
              </a:defRPr>
            </a:pPr>
            <a:r>
              <a:rPr sz="1200" b="1">
                <a:solidFill>
                  <a:srgbClr val="172033"/>
                </a:solidFill>
              </a:rPr>
              <a:t>ITEM • kode, kategori</a:t>
            </a:r>
          </a:p>
        </p:txBody>
      </p:sp>
      <p:sp>
        <p:nvSpPr>
          <p:cNvPr id="33" name="">
            <a:extLst xmlns:a="http://schemas.openxmlformats.org/drawingml/2006/main">
              <a:ext uri="{FF2B5EF4-FFF2-40B4-BE49-F238E27FC236}">
                <a16:creationId xmlns:a16="http://schemas.microsoft.com/office/drawing/2014/main" id="{246A22E6-B4E8-4820-9F5E-16AB40499A82}"/>
              </a:ext>
            </a:extLst>
          </p:cNvPr>
          <p:cNvSpPr>
            <a:spLocks xmlns:a="http://schemas.openxmlformats.org/drawingml/2006/main" noGrp="1"/>
          </p:cNvSpPr>
          <p:nvPr/>
        </p:nvSpPr>
        <p:spPr>
          <a:xfrm xmlns:a="http://schemas.openxmlformats.org/drawingml/2006/main">
            <a:off x="8991600" y="24669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4" name="">
            <a:extLst xmlns:a="http://schemas.openxmlformats.org/drawingml/2006/main">
              <a:ext uri="{FF2B5EF4-FFF2-40B4-BE49-F238E27FC236}">
                <a16:creationId xmlns:a16="http://schemas.microsoft.com/office/drawing/2014/main" id="{C0DB6E26-1751-4FA2-8BF4-12A43E5F0891}"/>
              </a:ext>
            </a:extLst>
          </p:cNvPr>
          <p:cNvSpPr>
            <a:spLocks xmlns:a="http://schemas.openxmlformats.org/drawingml/2006/main" noGrp="1"/>
          </p:cNvSpPr>
          <p:nvPr/>
        </p:nvSpPr>
        <p:spPr>
          <a:xfrm xmlns:a="http://schemas.openxmlformats.org/drawingml/2006/main">
            <a:off x="7981950" y="266700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5" name="">
            <a:extLst xmlns:a="http://schemas.openxmlformats.org/drawingml/2006/main">
              <a:ext uri="{FF2B5EF4-FFF2-40B4-BE49-F238E27FC236}">
                <a16:creationId xmlns:a16="http://schemas.microsoft.com/office/drawing/2014/main" id="{EC87D311-1D85-42BD-BB24-DFD8B0A1B06B}"/>
              </a:ext>
            </a:extLst>
          </p:cNvPr>
          <p:cNvSpPr>
            <a:spLocks xmlns:a="http://schemas.openxmlformats.org/drawingml/2006/main" noGrp="1"/>
          </p:cNvSpPr>
          <p:nvPr/>
        </p:nvSpPr>
        <p:spPr>
          <a:xfrm xmlns:a="http://schemas.openxmlformats.org/drawingml/2006/main">
            <a:off x="8115300" y="279082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BATCH • lot, ED</a:t>
            </a:r>
          </a:p>
        </p:txBody>
      </p:sp>
      <p:sp>
        <p:nvSpPr>
          <p:cNvPr id="36" name="">
            <a:extLst xmlns:a="http://schemas.openxmlformats.org/drawingml/2006/main">
              <a:ext uri="{FF2B5EF4-FFF2-40B4-BE49-F238E27FC236}">
                <a16:creationId xmlns:a16="http://schemas.microsoft.com/office/drawing/2014/main" id="{0C3C7C9C-C476-4E0C-9999-607DBF0BE2E1}"/>
              </a:ext>
            </a:extLst>
          </p:cNvPr>
          <p:cNvSpPr>
            <a:spLocks xmlns:a="http://schemas.openxmlformats.org/drawingml/2006/main" noGrp="1"/>
          </p:cNvSpPr>
          <p:nvPr/>
        </p:nvSpPr>
        <p:spPr>
          <a:xfrm xmlns:a="http://schemas.openxmlformats.org/drawingml/2006/main">
            <a:off x="8991600" y="31242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7" name="">
            <a:extLst xmlns:a="http://schemas.openxmlformats.org/drawingml/2006/main">
              <a:ext uri="{FF2B5EF4-FFF2-40B4-BE49-F238E27FC236}">
                <a16:creationId xmlns:a16="http://schemas.microsoft.com/office/drawing/2014/main" id="{D497B177-3213-421C-A944-549EFEB824C6}"/>
              </a:ext>
            </a:extLst>
          </p:cNvPr>
          <p:cNvSpPr>
            <a:spLocks xmlns:a="http://schemas.openxmlformats.org/drawingml/2006/main" noGrp="1"/>
          </p:cNvSpPr>
          <p:nvPr/>
        </p:nvSpPr>
        <p:spPr>
          <a:xfrm xmlns:a="http://schemas.openxmlformats.org/drawingml/2006/main">
            <a:off x="7981950" y="332422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8" name="">
            <a:extLst xmlns:a="http://schemas.openxmlformats.org/drawingml/2006/main">
              <a:ext uri="{FF2B5EF4-FFF2-40B4-BE49-F238E27FC236}">
                <a16:creationId xmlns:a16="http://schemas.microsoft.com/office/drawing/2014/main" id="{A84FFD3F-59F2-422F-B850-FA8F07E9B4F9}"/>
              </a:ext>
            </a:extLst>
          </p:cNvPr>
          <p:cNvSpPr>
            <a:spLocks xmlns:a="http://schemas.openxmlformats.org/drawingml/2006/main" noGrp="1"/>
          </p:cNvSpPr>
          <p:nvPr/>
        </p:nvSpPr>
        <p:spPr>
          <a:xfrm xmlns:a="http://schemas.openxmlformats.org/drawingml/2006/main">
            <a:off x="8115300" y="344805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MUTASI • masuk/keluar</a:t>
            </a:r>
          </a:p>
        </p:txBody>
      </p:sp>
      <p:sp>
        <p:nvSpPr>
          <p:cNvPr id="39" name="">
            <a:extLst xmlns:a="http://schemas.openxmlformats.org/drawingml/2006/main">
              <a:ext uri="{FF2B5EF4-FFF2-40B4-BE49-F238E27FC236}">
                <a16:creationId xmlns:a16="http://schemas.microsoft.com/office/drawing/2014/main" id="{00B16DF0-A293-465B-8DB9-F51E7F668588}"/>
              </a:ext>
            </a:extLst>
          </p:cNvPr>
          <p:cNvSpPr>
            <a:spLocks xmlns:a="http://schemas.openxmlformats.org/drawingml/2006/main" noGrp="1"/>
          </p:cNvSpPr>
          <p:nvPr/>
        </p:nvSpPr>
        <p:spPr>
          <a:xfrm xmlns:a="http://schemas.openxmlformats.org/drawingml/2006/main">
            <a:off x="8991600" y="378142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0" name="">
            <a:extLst xmlns:a="http://schemas.openxmlformats.org/drawingml/2006/main">
              <a:ext uri="{FF2B5EF4-FFF2-40B4-BE49-F238E27FC236}">
                <a16:creationId xmlns:a16="http://schemas.microsoft.com/office/drawing/2014/main" id="{E20E04B0-69A9-46A2-B50F-19DDE985F5BF}"/>
              </a:ext>
            </a:extLst>
          </p:cNvPr>
          <p:cNvSpPr>
            <a:spLocks xmlns:a="http://schemas.openxmlformats.org/drawingml/2006/main" noGrp="1"/>
          </p:cNvSpPr>
          <p:nvPr/>
        </p:nvSpPr>
        <p:spPr>
          <a:xfrm xmlns:a="http://schemas.openxmlformats.org/drawingml/2006/main">
            <a:off x="7981950" y="398145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1" name="">
            <a:extLst xmlns:a="http://schemas.openxmlformats.org/drawingml/2006/main">
              <a:ext uri="{FF2B5EF4-FFF2-40B4-BE49-F238E27FC236}">
                <a16:creationId xmlns:a16="http://schemas.microsoft.com/office/drawing/2014/main" id="{E0A4D264-D715-443B-B8DE-D2D79FDA6BAE}"/>
              </a:ext>
            </a:extLst>
          </p:cNvPr>
          <p:cNvSpPr>
            <a:spLocks xmlns:a="http://schemas.openxmlformats.org/drawingml/2006/main" noGrp="1"/>
          </p:cNvSpPr>
          <p:nvPr/>
        </p:nvSpPr>
        <p:spPr>
          <a:xfrm xmlns:a="http://schemas.openxmlformats.org/drawingml/2006/main">
            <a:off x="8115300" y="410527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LOKASI • rak, gudang</a:t>
            </a:r>
          </a:p>
        </p:txBody>
      </p:sp>
      <p:sp>
        <p:nvSpPr>
          <p:cNvPr id="42" name="">
            <a:extLst xmlns:a="http://schemas.openxmlformats.org/drawingml/2006/main">
              <a:ext uri="{FF2B5EF4-FFF2-40B4-BE49-F238E27FC236}">
                <a16:creationId xmlns:a16="http://schemas.microsoft.com/office/drawing/2014/main" id="{5B30613E-57E5-4EEB-AE69-ECBF7596885D}"/>
              </a:ext>
            </a:extLst>
          </p:cNvPr>
          <p:cNvSpPr>
            <a:spLocks xmlns:a="http://schemas.openxmlformats.org/drawingml/2006/main" noGrp="1"/>
          </p:cNvSpPr>
          <p:nvPr/>
        </p:nvSpPr>
        <p:spPr>
          <a:xfrm xmlns:a="http://schemas.openxmlformats.org/drawingml/2006/main">
            <a:off x="8991600" y="44386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3" name="">
            <a:extLst xmlns:a="http://schemas.openxmlformats.org/drawingml/2006/main">
              <a:ext uri="{FF2B5EF4-FFF2-40B4-BE49-F238E27FC236}">
                <a16:creationId xmlns:a16="http://schemas.microsoft.com/office/drawing/2014/main" id="{7E355FCD-434C-4920-9284-A2AC9EDB97D6}"/>
              </a:ext>
            </a:extLst>
          </p:cNvPr>
          <p:cNvSpPr>
            <a:spLocks xmlns:a="http://schemas.openxmlformats.org/drawingml/2006/main" noGrp="1"/>
          </p:cNvSpPr>
          <p:nvPr/>
        </p:nvSpPr>
        <p:spPr>
          <a:xfrm xmlns:a="http://schemas.openxmlformats.org/drawingml/2006/main">
            <a:off x="7981950" y="463867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4" name="">
            <a:extLst xmlns:a="http://schemas.openxmlformats.org/drawingml/2006/main">
              <a:ext uri="{FF2B5EF4-FFF2-40B4-BE49-F238E27FC236}">
                <a16:creationId xmlns:a16="http://schemas.microsoft.com/office/drawing/2014/main" id="{3EF5423C-5EAD-47D2-A2D1-394BA0422979}"/>
              </a:ext>
            </a:extLst>
          </p:cNvPr>
          <p:cNvSpPr>
            <a:spLocks xmlns:a="http://schemas.openxmlformats.org/drawingml/2006/main" noGrp="1"/>
          </p:cNvSpPr>
          <p:nvPr/>
        </p:nvSpPr>
        <p:spPr>
          <a:xfrm xmlns:a="http://schemas.openxmlformats.org/drawingml/2006/main">
            <a:off x="8115300" y="47625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OPNAME • fisik, selisih</a:t>
            </a:r>
          </a:p>
        </p:txBody>
      </p:sp>
      <p:sp>
        <p:nvSpPr>
          <p:cNvPr id="45" name="">
            <a:extLst xmlns:a="http://schemas.openxmlformats.org/drawingml/2006/main">
              <a:ext uri="{FF2B5EF4-FFF2-40B4-BE49-F238E27FC236}">
                <a16:creationId xmlns:a16="http://schemas.microsoft.com/office/drawing/2014/main" id="{7FF62EFD-116D-42FC-82D9-EAE5738C1C8F}"/>
              </a:ext>
            </a:extLst>
          </p:cNvPr>
          <p:cNvSpPr>
            <a:spLocks xmlns:a="http://schemas.openxmlformats.org/drawingml/2006/main" noGrp="1"/>
          </p:cNvSpPr>
          <p:nvPr/>
        </p:nvSpPr>
        <p:spPr>
          <a:xfrm xmlns:a="http://schemas.openxmlformats.org/drawingml/2006/main">
            <a:off x="7981950" y="5391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satuan, kategori, batch, lokasi, sisa, dan tanggal kedaluwarsa tervalidasi sebelum item aktif.</a:t>
            </a:r>
          </a:p>
        </p:txBody>
      </p:sp>
    </p:spTree>
    <p:extLst>
      <p:ext uri="{BB962C8B-B14F-4D97-AF65-F5344CB8AC3E}">
        <p14:creationId xmlns:p14="http://schemas.microsoft.com/office/powerpoint/2010/main" val="713685507"/>
      </p:ext>
    </p:extLst>
  </p:cSld>
</p:sld>
</file>

<file path=ppt/slides/slide1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4078773-72FF-4B1A-AA0E-F055581C8435}"/>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BUKTI 6</a:t>
            </a:r>
          </a:p>
        </p:txBody>
      </p:sp>
      <p:sp>
        <p:nvSpPr>
          <p:cNvPr id="2" name="">
            <a:extLst xmlns:a="http://schemas.openxmlformats.org/drawingml/2006/main">
              <a:ext uri="{FF2B5EF4-FFF2-40B4-BE49-F238E27FC236}">
                <a16:creationId xmlns:a16="http://schemas.microsoft.com/office/drawing/2014/main" id="{2AC50EB3-757B-40B2-AA64-0C1CC624F0FB}"/>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Pengelolaan Tanggal Kedaluwarsa</a:t>
            </a:r>
          </a:p>
        </p:txBody>
      </p:sp>
      <p:sp>
        <p:nvSpPr>
          <p:cNvPr id="3" name="">
            <a:extLst xmlns:a="http://schemas.openxmlformats.org/drawingml/2006/main">
              <a:ext uri="{FF2B5EF4-FFF2-40B4-BE49-F238E27FC236}">
                <a16:creationId xmlns:a16="http://schemas.microsoft.com/office/drawing/2014/main" id="{68E4516D-16D5-4972-8C44-167CA3C4F7BB}"/>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14</a:t>
            </a:r>
          </a:p>
        </p:txBody>
      </p:sp>
      <p:sp>
        <p:nvSpPr>
          <p:cNvPr id="4" name="">
            <a:extLst xmlns:a="http://schemas.openxmlformats.org/drawingml/2006/main">
              <a:ext uri="{FF2B5EF4-FFF2-40B4-BE49-F238E27FC236}">
                <a16:creationId xmlns:a16="http://schemas.microsoft.com/office/drawing/2014/main" id="{302A91A2-68FB-45E2-90C9-102BC6444013}"/>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14</a:t>
            </a:r>
          </a:p>
        </p:txBody>
      </p:sp>
      <p:sp>
        <p:nvSpPr>
          <p:cNvPr id="5" name="">
            <a:extLst xmlns:a="http://schemas.openxmlformats.org/drawingml/2006/main">
              <a:ext uri="{FF2B5EF4-FFF2-40B4-BE49-F238E27FC236}">
                <a16:creationId xmlns:a16="http://schemas.microsoft.com/office/drawing/2014/main" id="{522D28E2-D8F6-421F-951B-52EE9ECCA79B}"/>
              </a:ext>
            </a:extLst>
          </p:cNvPr>
          <p:cNvSpPr>
            <a:spLocks xmlns:a="http://schemas.openxmlformats.org/drawingml/2006/main" noGrp="1"/>
          </p:cNvSpPr>
          <p:nvPr/>
        </p:nvSpPr>
        <p:spPr>
          <a:xfrm xmlns:a="http://schemas.openxmlformats.org/drawingml/2006/main">
            <a:off x="609600" y="1352550"/>
            <a:ext cx="7239000" cy="4286250"/>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9E5EC"/>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d507f56cd954cff"/>
          <a:stretch xmlns:a="http://schemas.openxmlformats.org/drawingml/2006/main"/>
        </p:blipFill>
        <p:spPr>
          <a:xfrm xmlns:a="http://schemas.openxmlformats.org/drawingml/2006/main">
            <a:off x="742950" y="1534716"/>
            <a:ext cx="6972300" cy="3921919"/>
          </a:xfrm>
          <a:prstGeom xmlns:a="http://schemas.openxmlformats.org/drawingml/2006/main" prst="roundRect">
            <a:avLst>
              <a:gd name="adj" fmla="val 2844"/>
            </a:avLst>
          </a:prstGeom>
        </p:spPr>
      </p:pic>
      <p:sp>
        <p:nvSpPr>
          <p:cNvPr id="7" name="">
            <a:extLst xmlns:a="http://schemas.openxmlformats.org/drawingml/2006/main">
              <a:ext uri="{FF2B5EF4-FFF2-40B4-BE49-F238E27FC236}">
                <a16:creationId xmlns:a16="http://schemas.microsoft.com/office/drawing/2014/main" id="{20383D2E-DD9D-4241-9EEE-B4075DBBA3A0}"/>
              </a:ext>
            </a:extLst>
          </p:cNvPr>
          <p:cNvSpPr>
            <a:spLocks xmlns:a="http://schemas.openxmlformats.org/drawingml/2006/main" noGrp="1"/>
          </p:cNvSpPr>
          <p:nvPr/>
        </p:nvSpPr>
        <p:spPr>
          <a:xfrm xmlns:a="http://schemas.openxmlformats.org/drawingml/2006/main">
            <a:off x="8096250" y="1352550"/>
            <a:ext cx="3105150" cy="990600"/>
          </a:xfrm>
          <a:prstGeom xmlns:a="http://schemas.openxmlformats.org/drawingml/2006/main" prst="roundRect">
            <a:avLst>
              <a:gd name="adj" fmla="val 11538"/>
            </a:avLst>
          </a:prstGeom>
          <a:solidFill xmlns:a="http://schemas.openxmlformats.org/drawingml/2006/main">
            <a:srgbClr val="FFF7ED"/>
          </a:solidFill>
          <a:ln xmlns:a="http://schemas.openxmlformats.org/drawingml/2006/main" w="9525">
            <a:solidFill>
              <a:srgbClr val="B45309"/>
            </a:solidFill>
            <a:prstDash val="solid"/>
          </a:ln>
        </p:spPr>
      </p:sp>
      <p:sp>
        <p:nvSpPr>
          <p:cNvPr id="8" name="">
            <a:extLst xmlns:a="http://schemas.openxmlformats.org/drawingml/2006/main">
              <a:ext uri="{FF2B5EF4-FFF2-40B4-BE49-F238E27FC236}">
                <a16:creationId xmlns:a16="http://schemas.microsoft.com/office/drawing/2014/main" id="{95ED2E31-FBE9-4514-887B-4682E7A9A944}"/>
              </a:ext>
            </a:extLst>
          </p:cNvPr>
          <p:cNvSpPr>
            <a:spLocks xmlns:a="http://schemas.openxmlformats.org/drawingml/2006/main" noGrp="1"/>
          </p:cNvSpPr>
          <p:nvPr/>
        </p:nvSpPr>
        <p:spPr>
          <a:xfrm xmlns:a="http://schemas.openxmlformats.org/drawingml/2006/main">
            <a:off x="8305800" y="15049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B45309"/>
                </a:solidFill>
              </a:defRPr>
            </a:pPr>
            <a:r>
              <a:rPr sz="975" b="1">
                <a:solidFill>
                  <a:srgbClr val="B45309"/>
                </a:solidFill>
              </a:rPr>
              <a:t>STATUS</a:t>
            </a:r>
          </a:p>
        </p:txBody>
      </p:sp>
      <p:sp>
        <p:nvSpPr>
          <p:cNvPr id="9" name="">
            <a:extLst xmlns:a="http://schemas.openxmlformats.org/drawingml/2006/main">
              <a:ext uri="{FF2B5EF4-FFF2-40B4-BE49-F238E27FC236}">
                <a16:creationId xmlns:a16="http://schemas.microsoft.com/office/drawing/2014/main" id="{44982383-CCC6-481F-BFF2-086B4A1617D5}"/>
              </a:ext>
            </a:extLst>
          </p:cNvPr>
          <p:cNvSpPr>
            <a:spLocks xmlns:a="http://schemas.openxmlformats.org/drawingml/2006/main" noGrp="1"/>
          </p:cNvSpPr>
          <p:nvPr/>
        </p:nvSpPr>
        <p:spPr>
          <a:xfrm xmlns:a="http://schemas.openxmlformats.org/drawingml/2006/main">
            <a:off x="8305800" y="17526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45309"/>
                </a:solidFill>
              </a:defRPr>
            </a:pPr>
            <a:r>
              <a:rPr sz="1200" b="1">
                <a:solidFill>
                  <a:srgbClr val="B45309"/>
                </a:solidFill>
              </a:rPr>
              <a:t>PASS monitoring / perlu sign-off SOP disposisi</a:t>
            </a:r>
          </a:p>
        </p:txBody>
      </p:sp>
      <p:sp>
        <p:nvSpPr>
          <p:cNvPr id="10" name="">
            <a:extLst xmlns:a="http://schemas.openxmlformats.org/drawingml/2006/main">
              <a:ext uri="{FF2B5EF4-FFF2-40B4-BE49-F238E27FC236}">
                <a16:creationId xmlns:a16="http://schemas.microsoft.com/office/drawing/2014/main" id="{BAAC9370-5467-437E-A5F5-52A07F9715A1}"/>
              </a:ext>
            </a:extLst>
          </p:cNvPr>
          <p:cNvSpPr>
            <a:spLocks xmlns:a="http://schemas.openxmlformats.org/drawingml/2006/main" noGrp="1"/>
          </p:cNvSpPr>
          <p:nvPr/>
        </p:nvSpPr>
        <p:spPr>
          <a:xfrm xmlns:a="http://schemas.openxmlformats.org/drawingml/2006/main">
            <a:off x="8096250" y="2476500"/>
            <a:ext cx="3105150" cy="3162300"/>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D9E5EC"/>
            </a:solidFill>
            <a:prstDash val="solid"/>
          </a:ln>
        </p:spPr>
      </p:sp>
      <p:sp>
        <p:nvSpPr>
          <p:cNvPr id="11" name="">
            <a:extLst xmlns:a="http://schemas.openxmlformats.org/drawingml/2006/main">
              <a:ext uri="{FF2B5EF4-FFF2-40B4-BE49-F238E27FC236}">
                <a16:creationId xmlns:a16="http://schemas.microsoft.com/office/drawing/2014/main" id="{C6A55CCC-9520-417F-BF08-9701FC7C9DC9}"/>
              </a:ext>
            </a:extLst>
          </p:cNvPr>
          <p:cNvSpPr>
            <a:spLocks xmlns:a="http://schemas.openxmlformats.org/drawingml/2006/main" noGrp="1"/>
          </p:cNvSpPr>
          <p:nvPr/>
        </p:nvSpPr>
        <p:spPr>
          <a:xfrm xmlns:a="http://schemas.openxmlformats.org/drawingml/2006/main">
            <a:off x="8305800" y="26860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F766E"/>
                </a:solidFill>
              </a:defRPr>
            </a:pPr>
            <a:r>
              <a:rPr sz="1050" b="1">
                <a:solidFill>
                  <a:srgbClr val="0F766E"/>
                </a:solidFill>
              </a:rPr>
              <a:t>HASIL AKTUAL</a:t>
            </a:r>
          </a:p>
        </p:txBody>
      </p:sp>
      <p:sp>
        <p:nvSpPr>
          <p:cNvPr id="12" name="">
            <a:extLst xmlns:a="http://schemas.openxmlformats.org/drawingml/2006/main">
              <a:ext uri="{FF2B5EF4-FFF2-40B4-BE49-F238E27FC236}">
                <a16:creationId xmlns:a16="http://schemas.microsoft.com/office/drawing/2014/main" id="{17544340-610E-41E3-92B0-693AC27C425F}"/>
              </a:ext>
            </a:extLst>
          </p:cNvPr>
          <p:cNvSpPr>
            <a:spLocks xmlns:a="http://schemas.openxmlformats.org/drawingml/2006/main" noGrp="1"/>
          </p:cNvSpPr>
          <p:nvPr/>
        </p:nvSpPr>
        <p:spPr>
          <a:xfrm xmlns:a="http://schemas.openxmlformats.org/drawingml/2006/main">
            <a:off x="8305800" y="3028950"/>
            <a:ext cx="26098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monitor batch dan laporan kedaluwarsa berhasil diakses; run akhir mendeteksi setidaknya satu batch kedaluwarsa ketika memilih batch uji dan laporan API mengembalikan baris data. Algoritme kemudian memilih batch aktif dengan sisa tertinggi untuk mencegah false failure akibat batch FEFO yang hampir habis</a:t>
            </a:r>
          </a:p>
        </p:txBody>
      </p:sp>
      <p:sp>
        <p:nvSpPr>
          <p:cNvPr id="13" name="">
            <a:extLst xmlns:a="http://schemas.openxmlformats.org/drawingml/2006/main">
              <a:ext uri="{FF2B5EF4-FFF2-40B4-BE49-F238E27FC236}">
                <a16:creationId xmlns:a16="http://schemas.microsoft.com/office/drawing/2014/main" id="{61E1E866-1BE2-413F-952F-488FA8F27B12}"/>
              </a:ext>
            </a:extLst>
          </p:cNvPr>
          <p:cNvSpPr>
            <a:spLocks xmlns:a="http://schemas.openxmlformats.org/drawingml/2006/main" noGrp="1"/>
          </p:cNvSpPr>
          <p:nvPr/>
        </p:nvSpPr>
        <p:spPr>
          <a:xfrm xmlns:a="http://schemas.openxmlformats.org/drawingml/2006/main">
            <a:off x="8305800" y="523875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26273"/>
                </a:solidFill>
              </a:defRPr>
            </a:pPr>
            <a:r>
              <a:rPr sz="1050" b="1">
                <a:solidFill>
                  <a:srgbClr val="526273"/>
                </a:solidFill>
              </a:rPr>
              <a:t>Narasi lengkap: 976 kata</a:t>
            </a:r>
          </a:p>
        </p:txBody>
      </p:sp>
    </p:spTree>
    <p:extLst>
      <p:ext uri="{BB962C8B-B14F-4D97-AF65-F5344CB8AC3E}">
        <p14:creationId xmlns:p14="http://schemas.microsoft.com/office/powerpoint/2010/main" val="1591743726"/>
      </p:ext>
    </p:extLst>
  </p:cSld>
</p:sld>
</file>

<file path=ppt/slides/slide1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D751D534-409E-46DD-AD84-259B84DD1009}"/>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DIAGRAM 6</a:t>
            </a:r>
          </a:p>
        </p:txBody>
      </p:sp>
      <p:sp>
        <p:nvSpPr>
          <p:cNvPr id="2" name="">
            <a:extLst xmlns:a="http://schemas.openxmlformats.org/drawingml/2006/main">
              <a:ext uri="{FF2B5EF4-FFF2-40B4-BE49-F238E27FC236}">
                <a16:creationId xmlns:a16="http://schemas.microsoft.com/office/drawing/2014/main" id="{554DECAC-C31C-4149-8542-E4AE35500ACF}"/>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Pengelolaan Tanggal Kedaluwarsa: peran, alur, dan data</a:t>
            </a:r>
          </a:p>
        </p:txBody>
      </p:sp>
      <p:sp>
        <p:nvSpPr>
          <p:cNvPr id="3" name="">
            <a:extLst xmlns:a="http://schemas.openxmlformats.org/drawingml/2006/main">
              <a:ext uri="{FF2B5EF4-FFF2-40B4-BE49-F238E27FC236}">
                <a16:creationId xmlns:a16="http://schemas.microsoft.com/office/drawing/2014/main" id="{C65627D3-FF13-4F0A-8E5D-194E4B5BF1C0}"/>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15</a:t>
            </a:r>
          </a:p>
        </p:txBody>
      </p:sp>
      <p:sp>
        <p:nvSpPr>
          <p:cNvPr id="4" name="">
            <a:extLst xmlns:a="http://schemas.openxmlformats.org/drawingml/2006/main">
              <a:ext uri="{FF2B5EF4-FFF2-40B4-BE49-F238E27FC236}">
                <a16:creationId xmlns:a16="http://schemas.microsoft.com/office/drawing/2014/main" id="{4268DF90-24B1-4257-8D3E-3C6F9C669DC7}"/>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15</a:t>
            </a:r>
          </a:p>
        </p:txBody>
      </p:sp>
      <p:sp>
        <p:nvSpPr>
          <p:cNvPr id="5" name="">
            <a:extLst xmlns:a="http://schemas.openxmlformats.org/drawingml/2006/main">
              <a:ext uri="{FF2B5EF4-FFF2-40B4-BE49-F238E27FC236}">
                <a16:creationId xmlns:a16="http://schemas.microsoft.com/office/drawing/2014/main" id="{5012F7B9-26FD-4FE7-B381-6B6A2AD99401}"/>
              </a:ext>
            </a:extLst>
          </p:cNvPr>
          <p:cNvSpPr>
            <a:spLocks xmlns:a="http://schemas.openxmlformats.org/drawingml/2006/main" noGrp="1"/>
          </p:cNvSpPr>
          <p:nvPr/>
        </p:nvSpPr>
        <p:spPr>
          <a:xfrm xmlns:a="http://schemas.openxmlformats.org/drawingml/2006/main">
            <a:off x="6096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6" name="">
            <a:extLst xmlns:a="http://schemas.openxmlformats.org/drawingml/2006/main">
              <a:ext uri="{FF2B5EF4-FFF2-40B4-BE49-F238E27FC236}">
                <a16:creationId xmlns:a16="http://schemas.microsoft.com/office/drawing/2014/main" id="{5F6706F7-7C24-449F-A36B-25BF2CEAA582}"/>
              </a:ext>
            </a:extLst>
          </p:cNvPr>
          <p:cNvSpPr>
            <a:spLocks xmlns:a="http://schemas.openxmlformats.org/drawingml/2006/main" noGrp="1"/>
          </p:cNvSpPr>
          <p:nvPr/>
        </p:nvSpPr>
        <p:spPr>
          <a:xfrm xmlns:a="http://schemas.openxmlformats.org/drawingml/2006/main">
            <a:off x="41910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7" name="">
            <a:extLst xmlns:a="http://schemas.openxmlformats.org/drawingml/2006/main">
              <a:ext uri="{FF2B5EF4-FFF2-40B4-BE49-F238E27FC236}">
                <a16:creationId xmlns:a16="http://schemas.microsoft.com/office/drawing/2014/main" id="{63EE451B-0720-4DAE-8285-5BE985DDE83C}"/>
              </a:ext>
            </a:extLst>
          </p:cNvPr>
          <p:cNvSpPr>
            <a:spLocks xmlns:a="http://schemas.openxmlformats.org/drawingml/2006/main" noGrp="1"/>
          </p:cNvSpPr>
          <p:nvPr/>
        </p:nvSpPr>
        <p:spPr>
          <a:xfrm xmlns:a="http://schemas.openxmlformats.org/drawingml/2006/main">
            <a:off x="77724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8" name="">
            <a:extLst xmlns:a="http://schemas.openxmlformats.org/drawingml/2006/main">
              <a:ext uri="{FF2B5EF4-FFF2-40B4-BE49-F238E27FC236}">
                <a16:creationId xmlns:a16="http://schemas.microsoft.com/office/drawing/2014/main" id="{1E81AB09-D0EC-408A-BB85-43154CA4BE56}"/>
              </a:ext>
            </a:extLst>
          </p:cNvPr>
          <p:cNvSpPr>
            <a:spLocks xmlns:a="http://schemas.openxmlformats.org/drawingml/2006/main" noGrp="1"/>
          </p:cNvSpPr>
          <p:nvPr/>
        </p:nvSpPr>
        <p:spPr>
          <a:xfrm xmlns:a="http://schemas.openxmlformats.org/drawingml/2006/main">
            <a:off x="8191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75985"/>
                </a:solidFill>
              </a:defRPr>
            </a:pPr>
            <a:r>
              <a:rPr sz="1275" b="1">
                <a:solidFill>
                  <a:srgbClr val="075985"/>
                </a:solidFill>
              </a:rPr>
              <a:t>USE CASE</a:t>
            </a:r>
          </a:p>
        </p:txBody>
      </p:sp>
      <p:sp>
        <p:nvSpPr>
          <p:cNvPr id="9" name="">
            <a:extLst xmlns:a="http://schemas.openxmlformats.org/drawingml/2006/main">
              <a:ext uri="{FF2B5EF4-FFF2-40B4-BE49-F238E27FC236}">
                <a16:creationId xmlns:a16="http://schemas.microsoft.com/office/drawing/2014/main" id="{20D63366-DF07-4F44-AA3B-1676E5C7D2D7}"/>
              </a:ext>
            </a:extLst>
          </p:cNvPr>
          <p:cNvSpPr>
            <a:spLocks xmlns:a="http://schemas.openxmlformats.org/drawingml/2006/main" noGrp="1"/>
          </p:cNvSpPr>
          <p:nvPr/>
        </p:nvSpPr>
        <p:spPr>
          <a:xfrm xmlns:a="http://schemas.openxmlformats.org/drawingml/2006/main">
            <a:off x="819150" y="2047875"/>
            <a:ext cx="2819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Sistem → Catat lot dan tanggal ED</a:t>
            </a:r>
          </a:p>
          <a:p xmlns:a="http://schemas.openxmlformats.org/drawingml/2006/main">
            <a:pPr algn="l">
              <a:defRPr sz="1200" b="0">
                <a:solidFill>
                  <a:srgbClr val="172033"/>
                </a:solidFill>
              </a:defRPr>
            </a:pPr>
            <a:r>
              <a:rPr sz="1200" b="0">
                <a:solidFill>
                  <a:srgbClr val="172033"/>
                </a:solidFill>
              </a:rPr>
              <a:t>Gudang → Prioritaskan batch FEFO</a:t>
            </a:r>
          </a:p>
          <a:p xmlns:a="http://schemas.openxmlformats.org/drawingml/2006/main">
            <a:pPr algn="l">
              <a:defRPr sz="1200" b="0">
                <a:solidFill>
                  <a:srgbClr val="172033"/>
                </a:solidFill>
              </a:defRPr>
            </a:pPr>
            <a:r>
              <a:rPr sz="1200" b="0">
                <a:solidFill>
                  <a:srgbClr val="172033"/>
                </a:solidFill>
              </a:rPr>
              <a:t>Apoteker → Beri peringatan mendekati ED</a:t>
            </a:r>
          </a:p>
          <a:p xmlns:a="http://schemas.openxmlformats.org/drawingml/2006/main">
            <a:pPr algn="l">
              <a:defRPr sz="1200" b="0">
                <a:solidFill>
                  <a:srgbClr val="172033"/>
                </a:solidFill>
              </a:defRPr>
            </a:pPr>
            <a:r>
              <a:rPr sz="1200" b="0">
                <a:solidFill>
                  <a:srgbClr val="172033"/>
                </a:solidFill>
              </a:rPr>
              <a:t>Supervisor → Karantina/retur/musnahkan</a:t>
            </a:r>
          </a:p>
        </p:txBody>
      </p:sp>
      <p:sp>
        <p:nvSpPr>
          <p:cNvPr id="10" name="">
            <a:extLst xmlns:a="http://schemas.openxmlformats.org/drawingml/2006/main">
              <a:ext uri="{FF2B5EF4-FFF2-40B4-BE49-F238E27FC236}">
                <a16:creationId xmlns:a16="http://schemas.microsoft.com/office/drawing/2014/main" id="{E0864C8F-ACFF-4A8F-BB6E-F78088837143}"/>
              </a:ext>
            </a:extLst>
          </p:cNvPr>
          <p:cNvSpPr>
            <a:spLocks xmlns:a="http://schemas.openxmlformats.org/drawingml/2006/main" noGrp="1"/>
          </p:cNvSpPr>
          <p:nvPr/>
        </p:nvSpPr>
        <p:spPr>
          <a:xfrm xmlns:a="http://schemas.openxmlformats.org/drawingml/2006/main">
            <a:off x="838200" y="4991100"/>
            <a:ext cx="2819400" cy="742950"/>
          </a:xfrm>
          <a:prstGeom xmlns:a="http://schemas.openxmlformats.org/drawingml/2006/main" prst="roundRect">
            <a:avLst>
              <a:gd name="adj" fmla="val 10256"/>
            </a:avLst>
          </a:prstGeom>
          <a:solidFill xmlns:a="http://schemas.openxmlformats.org/drawingml/2006/main">
            <a:srgbClr val="EAF3F8"/>
          </a:solidFill>
          <a:ln xmlns:a="http://schemas.openxmlformats.org/drawingml/2006/main" w="9525">
            <a:solidFill>
              <a:srgbClr val="075985"/>
            </a:solidFill>
            <a:prstDash val="solid"/>
          </a:ln>
        </p:spPr>
      </p:sp>
      <p:sp>
        <p:nvSpPr>
          <p:cNvPr id="11" name="">
            <a:extLst xmlns:a="http://schemas.openxmlformats.org/drawingml/2006/main">
              <a:ext uri="{FF2B5EF4-FFF2-40B4-BE49-F238E27FC236}">
                <a16:creationId xmlns:a16="http://schemas.microsoft.com/office/drawing/2014/main" id="{0192DC8A-2A51-4C78-8422-78658AA6D745}"/>
              </a:ext>
            </a:extLst>
          </p:cNvPr>
          <p:cNvSpPr>
            <a:spLocks xmlns:a="http://schemas.openxmlformats.org/drawingml/2006/main" noGrp="1"/>
          </p:cNvSpPr>
          <p:nvPr/>
        </p:nvSpPr>
        <p:spPr>
          <a:xfrm xmlns:a="http://schemas.openxmlformats.org/drawingml/2006/main">
            <a:off x="990600" y="521970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75985"/>
                </a:solidFill>
              </a:defRPr>
            </a:pPr>
            <a:r>
              <a:rPr sz="1275" b="1">
                <a:solidFill>
                  <a:srgbClr val="075985"/>
                </a:solidFill>
              </a:rPr>
              <a:t>RBAC + segregasi tugas</a:t>
            </a:r>
          </a:p>
        </p:txBody>
      </p:sp>
      <p:sp>
        <p:nvSpPr>
          <p:cNvPr id="12" name="">
            <a:extLst xmlns:a="http://schemas.openxmlformats.org/drawingml/2006/main">
              <a:ext uri="{FF2B5EF4-FFF2-40B4-BE49-F238E27FC236}">
                <a16:creationId xmlns:a16="http://schemas.microsoft.com/office/drawing/2014/main" id="{1448BCB4-5C2A-4DD0-AC85-AD9FF71195E8}"/>
              </a:ext>
            </a:extLst>
          </p:cNvPr>
          <p:cNvSpPr>
            <a:spLocks xmlns:a="http://schemas.openxmlformats.org/drawingml/2006/main" noGrp="1"/>
          </p:cNvSpPr>
          <p:nvPr/>
        </p:nvSpPr>
        <p:spPr>
          <a:xfrm xmlns:a="http://schemas.openxmlformats.org/drawingml/2006/main">
            <a:off x="44005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F766E"/>
                </a:solidFill>
              </a:defRPr>
            </a:pPr>
            <a:r>
              <a:rPr sz="1275" b="1">
                <a:solidFill>
                  <a:srgbClr val="0F766E"/>
                </a:solidFill>
              </a:rPr>
              <a:t>FLOWCHART</a:t>
            </a:r>
          </a:p>
        </p:txBody>
      </p:sp>
      <p:sp>
        <p:nvSpPr>
          <p:cNvPr id="13" name="">
            <a:extLst xmlns:a="http://schemas.openxmlformats.org/drawingml/2006/main">
              <a:ext uri="{FF2B5EF4-FFF2-40B4-BE49-F238E27FC236}">
                <a16:creationId xmlns:a16="http://schemas.microsoft.com/office/drawing/2014/main" id="{9BB0480E-C2A7-4F18-A6C9-1EF66912E966}"/>
              </a:ext>
            </a:extLst>
          </p:cNvPr>
          <p:cNvSpPr>
            <a:spLocks xmlns:a="http://schemas.openxmlformats.org/drawingml/2006/main" noGrp="1"/>
          </p:cNvSpPr>
          <p:nvPr/>
        </p:nvSpPr>
        <p:spPr>
          <a:xfrm xmlns:a="http://schemas.openxmlformats.org/drawingml/2006/main">
            <a:off x="4400550" y="2009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A05996E4-28B1-4DB7-900A-FA4E84879D5D}"/>
              </a:ext>
            </a:extLst>
          </p:cNvPr>
          <p:cNvSpPr>
            <a:spLocks xmlns:a="http://schemas.openxmlformats.org/drawingml/2006/main" noGrp="1"/>
          </p:cNvSpPr>
          <p:nvPr/>
        </p:nvSpPr>
        <p:spPr>
          <a:xfrm xmlns:a="http://schemas.openxmlformats.org/drawingml/2006/main">
            <a:off x="4533900" y="2114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1. Terima lot</a:t>
            </a:r>
          </a:p>
        </p:txBody>
      </p:sp>
      <p:sp>
        <p:nvSpPr>
          <p:cNvPr id="15" name="">
            <a:extLst xmlns:a="http://schemas.openxmlformats.org/drawingml/2006/main">
              <a:ext uri="{FF2B5EF4-FFF2-40B4-BE49-F238E27FC236}">
                <a16:creationId xmlns:a16="http://schemas.microsoft.com/office/drawing/2014/main" id="{2509E9A6-465A-4B2F-85E2-611C5ED9C12B}"/>
              </a:ext>
            </a:extLst>
          </p:cNvPr>
          <p:cNvSpPr>
            <a:spLocks xmlns:a="http://schemas.openxmlformats.org/drawingml/2006/main" noGrp="1"/>
          </p:cNvSpPr>
          <p:nvPr/>
        </p:nvSpPr>
        <p:spPr>
          <a:xfrm xmlns:a="http://schemas.openxmlformats.org/drawingml/2006/main">
            <a:off x="5676900" y="2409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6" name="">
            <a:extLst xmlns:a="http://schemas.openxmlformats.org/drawingml/2006/main">
              <a:ext uri="{FF2B5EF4-FFF2-40B4-BE49-F238E27FC236}">
                <a16:creationId xmlns:a16="http://schemas.microsoft.com/office/drawing/2014/main" id="{0742D302-F052-4485-8985-C16900C66C65}"/>
              </a:ext>
            </a:extLst>
          </p:cNvPr>
          <p:cNvSpPr>
            <a:spLocks xmlns:a="http://schemas.openxmlformats.org/drawingml/2006/main" noGrp="1"/>
          </p:cNvSpPr>
          <p:nvPr/>
        </p:nvSpPr>
        <p:spPr>
          <a:xfrm xmlns:a="http://schemas.openxmlformats.org/drawingml/2006/main">
            <a:off x="4400550" y="2581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7" name="">
            <a:extLst xmlns:a="http://schemas.openxmlformats.org/drawingml/2006/main">
              <a:ext uri="{FF2B5EF4-FFF2-40B4-BE49-F238E27FC236}">
                <a16:creationId xmlns:a16="http://schemas.microsoft.com/office/drawing/2014/main" id="{FFA6CBF7-73F7-4988-9B58-8FB32343ADDF}"/>
              </a:ext>
            </a:extLst>
          </p:cNvPr>
          <p:cNvSpPr>
            <a:spLocks xmlns:a="http://schemas.openxmlformats.org/drawingml/2006/main" noGrp="1"/>
          </p:cNvSpPr>
          <p:nvPr/>
        </p:nvSpPr>
        <p:spPr>
          <a:xfrm xmlns:a="http://schemas.openxmlformats.org/drawingml/2006/main">
            <a:off x="4533900" y="2686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2. Validasi ED</a:t>
            </a:r>
          </a:p>
        </p:txBody>
      </p:sp>
      <p:sp>
        <p:nvSpPr>
          <p:cNvPr id="18" name="">
            <a:extLst xmlns:a="http://schemas.openxmlformats.org/drawingml/2006/main">
              <a:ext uri="{FF2B5EF4-FFF2-40B4-BE49-F238E27FC236}">
                <a16:creationId xmlns:a16="http://schemas.microsoft.com/office/drawing/2014/main" id="{D9285D14-E8AD-4089-B04B-9846B48C45E1}"/>
              </a:ext>
            </a:extLst>
          </p:cNvPr>
          <p:cNvSpPr>
            <a:spLocks xmlns:a="http://schemas.openxmlformats.org/drawingml/2006/main" noGrp="1"/>
          </p:cNvSpPr>
          <p:nvPr/>
        </p:nvSpPr>
        <p:spPr>
          <a:xfrm xmlns:a="http://schemas.openxmlformats.org/drawingml/2006/main">
            <a:off x="5676900" y="2981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9" name="">
            <a:extLst xmlns:a="http://schemas.openxmlformats.org/drawingml/2006/main">
              <a:ext uri="{FF2B5EF4-FFF2-40B4-BE49-F238E27FC236}">
                <a16:creationId xmlns:a16="http://schemas.microsoft.com/office/drawing/2014/main" id="{14BB7209-F7A9-4540-86FB-52689DAA4748}"/>
              </a:ext>
            </a:extLst>
          </p:cNvPr>
          <p:cNvSpPr>
            <a:spLocks xmlns:a="http://schemas.openxmlformats.org/drawingml/2006/main" noGrp="1"/>
          </p:cNvSpPr>
          <p:nvPr/>
        </p:nvSpPr>
        <p:spPr>
          <a:xfrm xmlns:a="http://schemas.openxmlformats.org/drawingml/2006/main">
            <a:off x="4400550" y="3152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0" name="">
            <a:extLst xmlns:a="http://schemas.openxmlformats.org/drawingml/2006/main">
              <a:ext uri="{FF2B5EF4-FFF2-40B4-BE49-F238E27FC236}">
                <a16:creationId xmlns:a16="http://schemas.microsoft.com/office/drawing/2014/main" id="{EEC05A66-9870-46BF-A191-45D8CC00C5F8}"/>
              </a:ext>
            </a:extLst>
          </p:cNvPr>
          <p:cNvSpPr>
            <a:spLocks xmlns:a="http://schemas.openxmlformats.org/drawingml/2006/main" noGrp="1"/>
          </p:cNvSpPr>
          <p:nvPr/>
        </p:nvSpPr>
        <p:spPr>
          <a:xfrm xmlns:a="http://schemas.openxmlformats.org/drawingml/2006/main">
            <a:off x="4533900" y="3257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3. Simpan batch</a:t>
            </a:r>
          </a:p>
        </p:txBody>
      </p:sp>
      <p:sp>
        <p:nvSpPr>
          <p:cNvPr id="21" name="">
            <a:extLst xmlns:a="http://schemas.openxmlformats.org/drawingml/2006/main">
              <a:ext uri="{FF2B5EF4-FFF2-40B4-BE49-F238E27FC236}">
                <a16:creationId xmlns:a16="http://schemas.microsoft.com/office/drawing/2014/main" id="{844FFB7E-5430-47A0-AC3B-DF2413D6845D}"/>
              </a:ext>
            </a:extLst>
          </p:cNvPr>
          <p:cNvSpPr>
            <a:spLocks xmlns:a="http://schemas.openxmlformats.org/drawingml/2006/main" noGrp="1"/>
          </p:cNvSpPr>
          <p:nvPr/>
        </p:nvSpPr>
        <p:spPr>
          <a:xfrm xmlns:a="http://schemas.openxmlformats.org/drawingml/2006/main">
            <a:off x="5676900" y="3552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2" name="">
            <a:extLst xmlns:a="http://schemas.openxmlformats.org/drawingml/2006/main">
              <a:ext uri="{FF2B5EF4-FFF2-40B4-BE49-F238E27FC236}">
                <a16:creationId xmlns:a16="http://schemas.microsoft.com/office/drawing/2014/main" id="{BEEB9328-0C98-4DDD-9F9C-B4C311DC7AA2}"/>
              </a:ext>
            </a:extLst>
          </p:cNvPr>
          <p:cNvSpPr>
            <a:spLocks xmlns:a="http://schemas.openxmlformats.org/drawingml/2006/main" noGrp="1"/>
          </p:cNvSpPr>
          <p:nvPr/>
        </p:nvSpPr>
        <p:spPr>
          <a:xfrm xmlns:a="http://schemas.openxmlformats.org/drawingml/2006/main">
            <a:off x="4400550" y="3724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3" name="">
            <a:extLst xmlns:a="http://schemas.openxmlformats.org/drawingml/2006/main">
              <a:ext uri="{FF2B5EF4-FFF2-40B4-BE49-F238E27FC236}">
                <a16:creationId xmlns:a16="http://schemas.microsoft.com/office/drawing/2014/main" id="{A9BA9E15-4375-405A-AE79-6F317E1FCE4F}"/>
              </a:ext>
            </a:extLst>
          </p:cNvPr>
          <p:cNvSpPr>
            <a:spLocks xmlns:a="http://schemas.openxmlformats.org/drawingml/2006/main" noGrp="1"/>
          </p:cNvSpPr>
          <p:nvPr/>
        </p:nvSpPr>
        <p:spPr>
          <a:xfrm xmlns:a="http://schemas.openxmlformats.org/drawingml/2006/main">
            <a:off x="4533900" y="3829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4. Pantau horizon</a:t>
            </a:r>
          </a:p>
        </p:txBody>
      </p:sp>
      <p:sp>
        <p:nvSpPr>
          <p:cNvPr id="24" name="">
            <a:extLst xmlns:a="http://schemas.openxmlformats.org/drawingml/2006/main">
              <a:ext uri="{FF2B5EF4-FFF2-40B4-BE49-F238E27FC236}">
                <a16:creationId xmlns:a16="http://schemas.microsoft.com/office/drawing/2014/main" id="{105B1608-B41D-4CEC-AC8F-BF16B97BC8B4}"/>
              </a:ext>
            </a:extLst>
          </p:cNvPr>
          <p:cNvSpPr>
            <a:spLocks xmlns:a="http://schemas.openxmlformats.org/drawingml/2006/main" noGrp="1"/>
          </p:cNvSpPr>
          <p:nvPr/>
        </p:nvSpPr>
        <p:spPr>
          <a:xfrm xmlns:a="http://schemas.openxmlformats.org/drawingml/2006/main">
            <a:off x="5676900" y="4124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5" name="">
            <a:extLst xmlns:a="http://schemas.openxmlformats.org/drawingml/2006/main">
              <a:ext uri="{FF2B5EF4-FFF2-40B4-BE49-F238E27FC236}">
                <a16:creationId xmlns:a16="http://schemas.microsoft.com/office/drawing/2014/main" id="{BD001C2D-6400-4194-84AF-33C97535B769}"/>
              </a:ext>
            </a:extLst>
          </p:cNvPr>
          <p:cNvSpPr>
            <a:spLocks xmlns:a="http://schemas.openxmlformats.org/drawingml/2006/main" noGrp="1"/>
          </p:cNvSpPr>
          <p:nvPr/>
        </p:nvSpPr>
        <p:spPr>
          <a:xfrm xmlns:a="http://schemas.openxmlformats.org/drawingml/2006/main">
            <a:off x="4400550" y="4295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6" name="">
            <a:extLst xmlns:a="http://schemas.openxmlformats.org/drawingml/2006/main">
              <a:ext uri="{FF2B5EF4-FFF2-40B4-BE49-F238E27FC236}">
                <a16:creationId xmlns:a16="http://schemas.microsoft.com/office/drawing/2014/main" id="{6890572D-5502-4E69-9DE5-71D3A7692007}"/>
              </a:ext>
            </a:extLst>
          </p:cNvPr>
          <p:cNvSpPr>
            <a:spLocks xmlns:a="http://schemas.openxmlformats.org/drawingml/2006/main" noGrp="1"/>
          </p:cNvSpPr>
          <p:nvPr/>
        </p:nvSpPr>
        <p:spPr>
          <a:xfrm xmlns:a="http://schemas.openxmlformats.org/drawingml/2006/main">
            <a:off x="4533900" y="4400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5. Karantina jika tidak layak</a:t>
            </a:r>
          </a:p>
        </p:txBody>
      </p:sp>
      <p:sp>
        <p:nvSpPr>
          <p:cNvPr id="27" name="">
            <a:extLst xmlns:a="http://schemas.openxmlformats.org/drawingml/2006/main">
              <a:ext uri="{FF2B5EF4-FFF2-40B4-BE49-F238E27FC236}">
                <a16:creationId xmlns:a16="http://schemas.microsoft.com/office/drawing/2014/main" id="{92828FAB-A803-4A17-9CED-5D5DB3B4FA5D}"/>
              </a:ext>
            </a:extLst>
          </p:cNvPr>
          <p:cNvSpPr>
            <a:spLocks xmlns:a="http://schemas.openxmlformats.org/drawingml/2006/main" noGrp="1"/>
          </p:cNvSpPr>
          <p:nvPr/>
        </p:nvSpPr>
        <p:spPr>
          <a:xfrm xmlns:a="http://schemas.openxmlformats.org/drawingml/2006/main">
            <a:off x="5676900" y="4695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8" name="">
            <a:extLst xmlns:a="http://schemas.openxmlformats.org/drawingml/2006/main">
              <a:ext uri="{FF2B5EF4-FFF2-40B4-BE49-F238E27FC236}">
                <a16:creationId xmlns:a16="http://schemas.microsoft.com/office/drawing/2014/main" id="{36BD27FE-8AA5-43C8-B9DC-47B29FD92668}"/>
              </a:ext>
            </a:extLst>
          </p:cNvPr>
          <p:cNvSpPr>
            <a:spLocks xmlns:a="http://schemas.openxmlformats.org/drawingml/2006/main" noGrp="1"/>
          </p:cNvSpPr>
          <p:nvPr/>
        </p:nvSpPr>
        <p:spPr>
          <a:xfrm xmlns:a="http://schemas.openxmlformats.org/drawingml/2006/main">
            <a:off x="4400550" y="4867275"/>
            <a:ext cx="2857500" cy="409575"/>
          </a:xfrm>
          <a:prstGeom xmlns:a="http://schemas.openxmlformats.org/drawingml/2006/main" prst="roundRect">
            <a:avLst>
              <a:gd name="adj" fmla="val 18605"/>
            </a:avLst>
          </a:prstGeom>
          <a:solidFill xmlns:a="http://schemas.openxmlformats.org/drawingml/2006/main">
            <a:srgbClr val="DCFCE7"/>
          </a:solidFill>
          <a:ln xmlns:a="http://schemas.openxmlformats.org/drawingml/2006/main" w="9525">
            <a:solidFill>
              <a:srgbClr val="15803D"/>
            </a:solidFill>
            <a:prstDash val="solid"/>
          </a:ln>
        </p:spPr>
      </p:sp>
      <p:sp>
        <p:nvSpPr>
          <p:cNvPr id="29" name="">
            <a:extLst xmlns:a="http://schemas.openxmlformats.org/drawingml/2006/main">
              <a:ext uri="{FF2B5EF4-FFF2-40B4-BE49-F238E27FC236}">
                <a16:creationId xmlns:a16="http://schemas.microsoft.com/office/drawing/2014/main" id="{A69721BA-F730-42F4-BD89-A381E0836ED4}"/>
              </a:ext>
            </a:extLst>
          </p:cNvPr>
          <p:cNvSpPr>
            <a:spLocks xmlns:a="http://schemas.openxmlformats.org/drawingml/2006/main" noGrp="1"/>
          </p:cNvSpPr>
          <p:nvPr/>
        </p:nvSpPr>
        <p:spPr>
          <a:xfrm xmlns:a="http://schemas.openxmlformats.org/drawingml/2006/main">
            <a:off x="4533900" y="4972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2033"/>
                </a:solidFill>
              </a:defRPr>
            </a:pPr>
            <a:r>
              <a:rPr sz="1200" b="1">
                <a:solidFill>
                  <a:srgbClr val="172033"/>
                </a:solidFill>
              </a:rPr>
              <a:t>6. Retur/musnahkan</a:t>
            </a:r>
          </a:p>
        </p:txBody>
      </p:sp>
      <p:sp>
        <p:nvSpPr>
          <p:cNvPr id="30" name="">
            <a:extLst xmlns:a="http://schemas.openxmlformats.org/drawingml/2006/main">
              <a:ext uri="{FF2B5EF4-FFF2-40B4-BE49-F238E27FC236}">
                <a16:creationId xmlns:a16="http://schemas.microsoft.com/office/drawing/2014/main" id="{899F9E45-7F7B-416B-846B-6C1A59289348}"/>
              </a:ext>
            </a:extLst>
          </p:cNvPr>
          <p:cNvSpPr>
            <a:spLocks xmlns:a="http://schemas.openxmlformats.org/drawingml/2006/main" noGrp="1"/>
          </p:cNvSpPr>
          <p:nvPr/>
        </p:nvSpPr>
        <p:spPr>
          <a:xfrm xmlns:a="http://schemas.openxmlformats.org/drawingml/2006/main">
            <a:off x="79819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7C3AED"/>
                </a:solidFill>
              </a:defRPr>
            </a:pPr>
            <a:r>
              <a:rPr sz="1275" b="1">
                <a:solidFill>
                  <a:srgbClr val="7C3AED"/>
                </a:solidFill>
              </a:rPr>
              <a:t>ERD / DATA FLOW</a:t>
            </a:r>
          </a:p>
        </p:txBody>
      </p:sp>
      <p:sp>
        <p:nvSpPr>
          <p:cNvPr id="31" name="">
            <a:extLst xmlns:a="http://schemas.openxmlformats.org/drawingml/2006/main">
              <a:ext uri="{FF2B5EF4-FFF2-40B4-BE49-F238E27FC236}">
                <a16:creationId xmlns:a16="http://schemas.microsoft.com/office/drawing/2014/main" id="{F5FD19CE-1AEC-4743-B09F-C27A479C81BA}"/>
              </a:ext>
            </a:extLst>
          </p:cNvPr>
          <p:cNvSpPr>
            <a:spLocks xmlns:a="http://schemas.openxmlformats.org/drawingml/2006/main" noGrp="1"/>
          </p:cNvSpPr>
          <p:nvPr/>
        </p:nvSpPr>
        <p:spPr>
          <a:xfrm xmlns:a="http://schemas.openxmlformats.org/drawingml/2006/main">
            <a:off x="7981950" y="2009775"/>
            <a:ext cx="2857500" cy="476250"/>
          </a:xfrm>
          <a:prstGeom xmlns:a="http://schemas.openxmlformats.org/drawingml/2006/main" prst="roundRect">
            <a:avLst>
              <a:gd name="adj" fmla="val 16000"/>
            </a:avLst>
          </a:prstGeom>
          <a:solidFill xmlns:a="http://schemas.openxmlformats.org/drawingml/2006/main">
            <a:srgbClr val="EDE9FE"/>
          </a:solidFill>
          <a:ln xmlns:a="http://schemas.openxmlformats.org/drawingml/2006/main" w="9525">
            <a:solidFill>
              <a:srgbClr val="7C3AED"/>
            </a:solidFill>
            <a:prstDash val="solid"/>
          </a:ln>
        </p:spPr>
      </p:sp>
      <p:sp>
        <p:nvSpPr>
          <p:cNvPr id="32" name="">
            <a:extLst xmlns:a="http://schemas.openxmlformats.org/drawingml/2006/main">
              <a:ext uri="{FF2B5EF4-FFF2-40B4-BE49-F238E27FC236}">
                <a16:creationId xmlns:a16="http://schemas.microsoft.com/office/drawing/2014/main" id="{FAE5C972-EE5E-4535-9C4E-8EE5395F1CC9}"/>
              </a:ext>
            </a:extLst>
          </p:cNvPr>
          <p:cNvSpPr>
            <a:spLocks xmlns:a="http://schemas.openxmlformats.org/drawingml/2006/main" noGrp="1"/>
          </p:cNvSpPr>
          <p:nvPr/>
        </p:nvSpPr>
        <p:spPr>
          <a:xfrm xmlns:a="http://schemas.openxmlformats.org/drawingml/2006/main">
            <a:off x="8115300" y="21336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72033"/>
                </a:solidFill>
              </a:defRPr>
            </a:pPr>
            <a:r>
              <a:rPr sz="1200" b="1">
                <a:solidFill>
                  <a:srgbClr val="172033"/>
                </a:solidFill>
              </a:rPr>
              <a:t>ITEM • kode</a:t>
            </a:r>
          </a:p>
        </p:txBody>
      </p:sp>
      <p:sp>
        <p:nvSpPr>
          <p:cNvPr id="33" name="">
            <a:extLst xmlns:a="http://schemas.openxmlformats.org/drawingml/2006/main">
              <a:ext uri="{FF2B5EF4-FFF2-40B4-BE49-F238E27FC236}">
                <a16:creationId xmlns:a16="http://schemas.microsoft.com/office/drawing/2014/main" id="{29A99B3D-B45F-45B5-B791-9FD1AA768C66}"/>
              </a:ext>
            </a:extLst>
          </p:cNvPr>
          <p:cNvSpPr>
            <a:spLocks xmlns:a="http://schemas.openxmlformats.org/drawingml/2006/main" noGrp="1"/>
          </p:cNvSpPr>
          <p:nvPr/>
        </p:nvSpPr>
        <p:spPr>
          <a:xfrm xmlns:a="http://schemas.openxmlformats.org/drawingml/2006/main">
            <a:off x="8991600" y="24669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4" name="">
            <a:extLst xmlns:a="http://schemas.openxmlformats.org/drawingml/2006/main">
              <a:ext uri="{FF2B5EF4-FFF2-40B4-BE49-F238E27FC236}">
                <a16:creationId xmlns:a16="http://schemas.microsoft.com/office/drawing/2014/main" id="{6F2FF5EE-9768-47A5-8C66-4AAFB8BA4E1D}"/>
              </a:ext>
            </a:extLst>
          </p:cNvPr>
          <p:cNvSpPr>
            <a:spLocks xmlns:a="http://schemas.openxmlformats.org/drawingml/2006/main" noGrp="1"/>
          </p:cNvSpPr>
          <p:nvPr/>
        </p:nvSpPr>
        <p:spPr>
          <a:xfrm xmlns:a="http://schemas.openxmlformats.org/drawingml/2006/main">
            <a:off x="7981950" y="266700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5" name="">
            <a:extLst xmlns:a="http://schemas.openxmlformats.org/drawingml/2006/main">
              <a:ext uri="{FF2B5EF4-FFF2-40B4-BE49-F238E27FC236}">
                <a16:creationId xmlns:a16="http://schemas.microsoft.com/office/drawing/2014/main" id="{567608A2-D52D-42A2-8E4C-5498680B6694}"/>
              </a:ext>
            </a:extLst>
          </p:cNvPr>
          <p:cNvSpPr>
            <a:spLocks xmlns:a="http://schemas.openxmlformats.org/drawingml/2006/main" noGrp="1"/>
          </p:cNvSpPr>
          <p:nvPr/>
        </p:nvSpPr>
        <p:spPr>
          <a:xfrm xmlns:a="http://schemas.openxmlformats.org/drawingml/2006/main">
            <a:off x="8115300" y="279082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BATCH • lot, ED</a:t>
            </a:r>
          </a:p>
        </p:txBody>
      </p:sp>
      <p:sp>
        <p:nvSpPr>
          <p:cNvPr id="36" name="">
            <a:extLst xmlns:a="http://schemas.openxmlformats.org/drawingml/2006/main">
              <a:ext uri="{FF2B5EF4-FFF2-40B4-BE49-F238E27FC236}">
                <a16:creationId xmlns:a16="http://schemas.microsoft.com/office/drawing/2014/main" id="{813AF681-EDC4-495E-B629-65A282CA28F4}"/>
              </a:ext>
            </a:extLst>
          </p:cNvPr>
          <p:cNvSpPr>
            <a:spLocks xmlns:a="http://schemas.openxmlformats.org/drawingml/2006/main" noGrp="1"/>
          </p:cNvSpPr>
          <p:nvPr/>
        </p:nvSpPr>
        <p:spPr>
          <a:xfrm xmlns:a="http://schemas.openxmlformats.org/drawingml/2006/main">
            <a:off x="8991600" y="31242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7" name="">
            <a:extLst xmlns:a="http://schemas.openxmlformats.org/drawingml/2006/main">
              <a:ext uri="{FF2B5EF4-FFF2-40B4-BE49-F238E27FC236}">
                <a16:creationId xmlns:a16="http://schemas.microsoft.com/office/drawing/2014/main" id="{97323A49-6487-4286-BE1A-CEFDB9E84803}"/>
              </a:ext>
            </a:extLst>
          </p:cNvPr>
          <p:cNvSpPr>
            <a:spLocks xmlns:a="http://schemas.openxmlformats.org/drawingml/2006/main" noGrp="1"/>
          </p:cNvSpPr>
          <p:nvPr/>
        </p:nvSpPr>
        <p:spPr>
          <a:xfrm xmlns:a="http://schemas.openxmlformats.org/drawingml/2006/main">
            <a:off x="7981950" y="332422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8" name="">
            <a:extLst xmlns:a="http://schemas.openxmlformats.org/drawingml/2006/main">
              <a:ext uri="{FF2B5EF4-FFF2-40B4-BE49-F238E27FC236}">
                <a16:creationId xmlns:a16="http://schemas.microsoft.com/office/drawing/2014/main" id="{53A223DA-885A-40F3-8318-69618719A872}"/>
              </a:ext>
            </a:extLst>
          </p:cNvPr>
          <p:cNvSpPr>
            <a:spLocks xmlns:a="http://schemas.openxmlformats.org/drawingml/2006/main" noGrp="1"/>
          </p:cNvSpPr>
          <p:nvPr/>
        </p:nvSpPr>
        <p:spPr>
          <a:xfrm xmlns:a="http://schemas.openxmlformats.org/drawingml/2006/main">
            <a:off x="8115300" y="344805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ALERT • horizon, status</a:t>
            </a:r>
          </a:p>
        </p:txBody>
      </p:sp>
      <p:sp>
        <p:nvSpPr>
          <p:cNvPr id="39" name="">
            <a:extLst xmlns:a="http://schemas.openxmlformats.org/drawingml/2006/main">
              <a:ext uri="{FF2B5EF4-FFF2-40B4-BE49-F238E27FC236}">
                <a16:creationId xmlns:a16="http://schemas.microsoft.com/office/drawing/2014/main" id="{CFD0501D-0E40-4D23-A7C5-7A0ED3898921}"/>
              </a:ext>
            </a:extLst>
          </p:cNvPr>
          <p:cNvSpPr>
            <a:spLocks xmlns:a="http://schemas.openxmlformats.org/drawingml/2006/main" noGrp="1"/>
          </p:cNvSpPr>
          <p:nvPr/>
        </p:nvSpPr>
        <p:spPr>
          <a:xfrm xmlns:a="http://schemas.openxmlformats.org/drawingml/2006/main">
            <a:off x="8991600" y="378142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0" name="">
            <a:extLst xmlns:a="http://schemas.openxmlformats.org/drawingml/2006/main">
              <a:ext uri="{FF2B5EF4-FFF2-40B4-BE49-F238E27FC236}">
                <a16:creationId xmlns:a16="http://schemas.microsoft.com/office/drawing/2014/main" id="{7F8E1526-9315-4E25-9F2D-B321F368E179}"/>
              </a:ext>
            </a:extLst>
          </p:cNvPr>
          <p:cNvSpPr>
            <a:spLocks xmlns:a="http://schemas.openxmlformats.org/drawingml/2006/main" noGrp="1"/>
          </p:cNvSpPr>
          <p:nvPr/>
        </p:nvSpPr>
        <p:spPr>
          <a:xfrm xmlns:a="http://schemas.openxmlformats.org/drawingml/2006/main">
            <a:off x="7981950" y="398145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1" name="">
            <a:extLst xmlns:a="http://schemas.openxmlformats.org/drawingml/2006/main">
              <a:ext uri="{FF2B5EF4-FFF2-40B4-BE49-F238E27FC236}">
                <a16:creationId xmlns:a16="http://schemas.microsoft.com/office/drawing/2014/main" id="{90160B60-B062-4524-BB7A-3BC92F654014}"/>
              </a:ext>
            </a:extLst>
          </p:cNvPr>
          <p:cNvSpPr>
            <a:spLocks xmlns:a="http://schemas.openxmlformats.org/drawingml/2006/main" noGrp="1"/>
          </p:cNvSpPr>
          <p:nvPr/>
        </p:nvSpPr>
        <p:spPr>
          <a:xfrm xmlns:a="http://schemas.openxmlformats.org/drawingml/2006/main">
            <a:off x="8115300" y="410527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KARANTINA • alasan</a:t>
            </a:r>
          </a:p>
        </p:txBody>
      </p:sp>
      <p:sp>
        <p:nvSpPr>
          <p:cNvPr id="42" name="">
            <a:extLst xmlns:a="http://schemas.openxmlformats.org/drawingml/2006/main">
              <a:ext uri="{FF2B5EF4-FFF2-40B4-BE49-F238E27FC236}">
                <a16:creationId xmlns:a16="http://schemas.microsoft.com/office/drawing/2014/main" id="{7A73F785-C9BA-46BE-A7E5-9AD199295191}"/>
              </a:ext>
            </a:extLst>
          </p:cNvPr>
          <p:cNvSpPr>
            <a:spLocks xmlns:a="http://schemas.openxmlformats.org/drawingml/2006/main" noGrp="1"/>
          </p:cNvSpPr>
          <p:nvPr/>
        </p:nvSpPr>
        <p:spPr>
          <a:xfrm xmlns:a="http://schemas.openxmlformats.org/drawingml/2006/main">
            <a:off x="8991600" y="44386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3" name="">
            <a:extLst xmlns:a="http://schemas.openxmlformats.org/drawingml/2006/main">
              <a:ext uri="{FF2B5EF4-FFF2-40B4-BE49-F238E27FC236}">
                <a16:creationId xmlns:a16="http://schemas.microsoft.com/office/drawing/2014/main" id="{D773D12C-7C42-4D48-933F-AE16B3E88D3A}"/>
              </a:ext>
            </a:extLst>
          </p:cNvPr>
          <p:cNvSpPr>
            <a:spLocks xmlns:a="http://schemas.openxmlformats.org/drawingml/2006/main" noGrp="1"/>
          </p:cNvSpPr>
          <p:nvPr/>
        </p:nvSpPr>
        <p:spPr>
          <a:xfrm xmlns:a="http://schemas.openxmlformats.org/drawingml/2006/main">
            <a:off x="7981950" y="463867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4" name="">
            <a:extLst xmlns:a="http://schemas.openxmlformats.org/drawingml/2006/main">
              <a:ext uri="{FF2B5EF4-FFF2-40B4-BE49-F238E27FC236}">
                <a16:creationId xmlns:a16="http://schemas.microsoft.com/office/drawing/2014/main" id="{C4B1BDC0-3A3E-439B-85CA-F7A19FBE7D54}"/>
              </a:ext>
            </a:extLst>
          </p:cNvPr>
          <p:cNvSpPr>
            <a:spLocks xmlns:a="http://schemas.openxmlformats.org/drawingml/2006/main" noGrp="1"/>
          </p:cNvSpPr>
          <p:nvPr/>
        </p:nvSpPr>
        <p:spPr>
          <a:xfrm xmlns:a="http://schemas.openxmlformats.org/drawingml/2006/main">
            <a:off x="8115300" y="47625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DISPOSISI • retur/musnah</a:t>
            </a:r>
          </a:p>
        </p:txBody>
      </p:sp>
      <p:sp>
        <p:nvSpPr>
          <p:cNvPr id="45" name="">
            <a:extLst xmlns:a="http://schemas.openxmlformats.org/drawingml/2006/main">
              <a:ext uri="{FF2B5EF4-FFF2-40B4-BE49-F238E27FC236}">
                <a16:creationId xmlns:a16="http://schemas.microsoft.com/office/drawing/2014/main" id="{B3A78530-70C3-4DB8-9788-E43DF31BF142}"/>
              </a:ext>
            </a:extLst>
          </p:cNvPr>
          <p:cNvSpPr>
            <a:spLocks xmlns:a="http://schemas.openxmlformats.org/drawingml/2006/main" noGrp="1"/>
          </p:cNvSpPr>
          <p:nvPr/>
        </p:nvSpPr>
        <p:spPr>
          <a:xfrm xmlns:a="http://schemas.openxmlformats.org/drawingml/2006/main">
            <a:off x="7981950" y="5391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batch kedaluwarsa tidak boleh dipilih untuk penjualan atau bahan racikan.</a:t>
            </a:r>
          </a:p>
        </p:txBody>
      </p:sp>
    </p:spTree>
    <p:extLst>
      <p:ext uri="{BB962C8B-B14F-4D97-AF65-F5344CB8AC3E}">
        <p14:creationId xmlns:p14="http://schemas.microsoft.com/office/powerpoint/2010/main" val="1110159724"/>
      </p:ext>
    </p:extLst>
  </p:cSld>
</p:sld>
</file>

<file path=ppt/slides/slide1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E919E35-C3AF-477A-8145-507EAB3180F4}"/>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BUKTI 7</a:t>
            </a:r>
          </a:p>
        </p:txBody>
      </p:sp>
      <p:sp>
        <p:nvSpPr>
          <p:cNvPr id="2" name="">
            <a:extLst xmlns:a="http://schemas.openxmlformats.org/drawingml/2006/main">
              <a:ext uri="{FF2B5EF4-FFF2-40B4-BE49-F238E27FC236}">
                <a16:creationId xmlns:a16="http://schemas.microsoft.com/office/drawing/2014/main" id="{3715276D-B48D-4059-BF08-4AF997CA0236}"/>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Akuntansi: Jurnal dan Posting</a:t>
            </a:r>
          </a:p>
        </p:txBody>
      </p:sp>
      <p:sp>
        <p:nvSpPr>
          <p:cNvPr id="3" name="">
            <a:extLst xmlns:a="http://schemas.openxmlformats.org/drawingml/2006/main">
              <a:ext uri="{FF2B5EF4-FFF2-40B4-BE49-F238E27FC236}">
                <a16:creationId xmlns:a16="http://schemas.microsoft.com/office/drawing/2014/main" id="{199BDBBF-4C24-4411-80AC-541574CBB210}"/>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16</a:t>
            </a:r>
          </a:p>
        </p:txBody>
      </p:sp>
      <p:sp>
        <p:nvSpPr>
          <p:cNvPr id="4" name="">
            <a:extLst xmlns:a="http://schemas.openxmlformats.org/drawingml/2006/main">
              <a:ext uri="{FF2B5EF4-FFF2-40B4-BE49-F238E27FC236}">
                <a16:creationId xmlns:a16="http://schemas.microsoft.com/office/drawing/2014/main" id="{96A6964A-E21F-412E-A999-E2B2D1707F7E}"/>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16</a:t>
            </a:r>
          </a:p>
        </p:txBody>
      </p:sp>
      <p:sp>
        <p:nvSpPr>
          <p:cNvPr id="5" name="">
            <a:extLst xmlns:a="http://schemas.openxmlformats.org/drawingml/2006/main">
              <a:ext uri="{FF2B5EF4-FFF2-40B4-BE49-F238E27FC236}">
                <a16:creationId xmlns:a16="http://schemas.microsoft.com/office/drawing/2014/main" id="{28CB472F-52FA-47AC-9FE2-93930C804981}"/>
              </a:ext>
            </a:extLst>
          </p:cNvPr>
          <p:cNvSpPr>
            <a:spLocks xmlns:a="http://schemas.openxmlformats.org/drawingml/2006/main" noGrp="1"/>
          </p:cNvSpPr>
          <p:nvPr/>
        </p:nvSpPr>
        <p:spPr>
          <a:xfrm xmlns:a="http://schemas.openxmlformats.org/drawingml/2006/main">
            <a:off x="609600" y="1352550"/>
            <a:ext cx="7239000" cy="4286250"/>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9E5EC"/>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ccdc93d7e7d47d0"/>
          <a:stretch xmlns:a="http://schemas.openxmlformats.org/drawingml/2006/main"/>
        </p:blipFill>
        <p:spPr>
          <a:xfrm xmlns:a="http://schemas.openxmlformats.org/drawingml/2006/main">
            <a:off x="742950" y="1534716"/>
            <a:ext cx="6972300" cy="3921919"/>
          </a:xfrm>
          <a:prstGeom xmlns:a="http://schemas.openxmlformats.org/drawingml/2006/main" prst="roundRect">
            <a:avLst>
              <a:gd name="adj" fmla="val 2844"/>
            </a:avLst>
          </a:prstGeom>
        </p:spPr>
      </p:pic>
      <p:sp>
        <p:nvSpPr>
          <p:cNvPr id="7" name="">
            <a:extLst xmlns:a="http://schemas.openxmlformats.org/drawingml/2006/main">
              <a:ext uri="{FF2B5EF4-FFF2-40B4-BE49-F238E27FC236}">
                <a16:creationId xmlns:a16="http://schemas.microsoft.com/office/drawing/2014/main" id="{C226F7D0-A6F3-4384-8F30-C9B4EE1C163E}"/>
              </a:ext>
            </a:extLst>
          </p:cNvPr>
          <p:cNvSpPr>
            <a:spLocks xmlns:a="http://schemas.openxmlformats.org/drawingml/2006/main" noGrp="1"/>
          </p:cNvSpPr>
          <p:nvPr/>
        </p:nvSpPr>
        <p:spPr>
          <a:xfrm xmlns:a="http://schemas.openxmlformats.org/drawingml/2006/main">
            <a:off x="8096250" y="1352550"/>
            <a:ext cx="3105150" cy="990600"/>
          </a:xfrm>
          <a:prstGeom xmlns:a="http://schemas.openxmlformats.org/drawingml/2006/main" prst="roundRect">
            <a:avLst>
              <a:gd name="adj" fmla="val 11538"/>
            </a:avLst>
          </a:prstGeom>
          <a:solidFill xmlns:a="http://schemas.openxmlformats.org/drawingml/2006/main">
            <a:srgbClr val="FFF7ED"/>
          </a:solidFill>
          <a:ln xmlns:a="http://schemas.openxmlformats.org/drawingml/2006/main" w="9525">
            <a:solidFill>
              <a:srgbClr val="B45309"/>
            </a:solidFill>
            <a:prstDash val="solid"/>
          </a:ln>
        </p:spPr>
      </p:sp>
      <p:sp>
        <p:nvSpPr>
          <p:cNvPr id="8" name="">
            <a:extLst xmlns:a="http://schemas.openxmlformats.org/drawingml/2006/main">
              <a:ext uri="{FF2B5EF4-FFF2-40B4-BE49-F238E27FC236}">
                <a16:creationId xmlns:a16="http://schemas.microsoft.com/office/drawing/2014/main" id="{5ECACE34-89CC-43A4-B1AF-E417D9E648C2}"/>
              </a:ext>
            </a:extLst>
          </p:cNvPr>
          <p:cNvSpPr>
            <a:spLocks xmlns:a="http://schemas.openxmlformats.org/drawingml/2006/main" noGrp="1"/>
          </p:cNvSpPr>
          <p:nvPr/>
        </p:nvSpPr>
        <p:spPr>
          <a:xfrm xmlns:a="http://schemas.openxmlformats.org/drawingml/2006/main">
            <a:off x="8305800" y="15049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B45309"/>
                </a:solidFill>
              </a:defRPr>
            </a:pPr>
            <a:r>
              <a:rPr sz="975" b="1">
                <a:solidFill>
                  <a:srgbClr val="B45309"/>
                </a:solidFill>
              </a:rPr>
              <a:t>STATUS</a:t>
            </a:r>
          </a:p>
        </p:txBody>
      </p:sp>
      <p:sp>
        <p:nvSpPr>
          <p:cNvPr id="9" name="">
            <a:extLst xmlns:a="http://schemas.openxmlformats.org/drawingml/2006/main">
              <a:ext uri="{FF2B5EF4-FFF2-40B4-BE49-F238E27FC236}">
                <a16:creationId xmlns:a16="http://schemas.microsoft.com/office/drawing/2014/main" id="{2191464D-5161-4396-ABCD-CE0C679862C9}"/>
              </a:ext>
            </a:extLst>
          </p:cNvPr>
          <p:cNvSpPr>
            <a:spLocks xmlns:a="http://schemas.openxmlformats.org/drawingml/2006/main" noGrp="1"/>
          </p:cNvSpPr>
          <p:nvPr/>
        </p:nvSpPr>
        <p:spPr>
          <a:xfrm xmlns:a="http://schemas.openxmlformats.org/drawingml/2006/main">
            <a:off x="8305800" y="17526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45309"/>
                </a:solidFill>
              </a:defRPr>
            </a:pPr>
            <a:r>
              <a:rPr sz="1200" b="1">
                <a:solidFill>
                  <a:srgbClr val="B45309"/>
                </a:solidFill>
              </a:rPr>
              <a:t>PASS jurnal vendor / BLOCKED posting otomatis tertentu</a:t>
            </a:r>
          </a:p>
        </p:txBody>
      </p:sp>
      <p:sp>
        <p:nvSpPr>
          <p:cNvPr id="10" name="">
            <a:extLst xmlns:a="http://schemas.openxmlformats.org/drawingml/2006/main">
              <a:ext uri="{FF2B5EF4-FFF2-40B4-BE49-F238E27FC236}">
                <a16:creationId xmlns:a16="http://schemas.microsoft.com/office/drawing/2014/main" id="{E28EE8B7-0195-4E13-AA77-5B628EC98B86}"/>
              </a:ext>
            </a:extLst>
          </p:cNvPr>
          <p:cNvSpPr>
            <a:spLocks xmlns:a="http://schemas.openxmlformats.org/drawingml/2006/main" noGrp="1"/>
          </p:cNvSpPr>
          <p:nvPr/>
        </p:nvSpPr>
        <p:spPr>
          <a:xfrm xmlns:a="http://schemas.openxmlformats.org/drawingml/2006/main">
            <a:off x="8096250" y="2476500"/>
            <a:ext cx="3105150" cy="3162300"/>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D9E5EC"/>
            </a:solidFill>
            <a:prstDash val="solid"/>
          </a:ln>
        </p:spPr>
      </p:sp>
      <p:sp>
        <p:nvSpPr>
          <p:cNvPr id="11" name="">
            <a:extLst xmlns:a="http://schemas.openxmlformats.org/drawingml/2006/main">
              <a:ext uri="{FF2B5EF4-FFF2-40B4-BE49-F238E27FC236}">
                <a16:creationId xmlns:a16="http://schemas.microsoft.com/office/drawing/2014/main" id="{7B8EDF99-A3B4-4B42-AD16-E8BF075ECD61}"/>
              </a:ext>
            </a:extLst>
          </p:cNvPr>
          <p:cNvSpPr>
            <a:spLocks xmlns:a="http://schemas.openxmlformats.org/drawingml/2006/main" noGrp="1"/>
          </p:cNvSpPr>
          <p:nvPr/>
        </p:nvSpPr>
        <p:spPr>
          <a:xfrm xmlns:a="http://schemas.openxmlformats.org/drawingml/2006/main">
            <a:off x="8305800" y="26860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F766E"/>
                </a:solidFill>
              </a:defRPr>
            </a:pPr>
            <a:r>
              <a:rPr sz="1050" b="1">
                <a:solidFill>
                  <a:srgbClr val="0F766E"/>
                </a:solidFill>
              </a:rPr>
              <a:t>HASIL AKTUAL</a:t>
            </a:r>
          </a:p>
        </p:txBody>
      </p:sp>
      <p:sp>
        <p:nvSpPr>
          <p:cNvPr id="12" name="">
            <a:extLst xmlns:a="http://schemas.openxmlformats.org/drawingml/2006/main">
              <a:ext uri="{FF2B5EF4-FFF2-40B4-BE49-F238E27FC236}">
                <a16:creationId xmlns:a16="http://schemas.microsoft.com/office/drawing/2014/main" id="{C6847B95-B55E-475C-97F0-097BADB1DDD2}"/>
              </a:ext>
            </a:extLst>
          </p:cNvPr>
          <p:cNvSpPr>
            <a:spLocks xmlns:a="http://schemas.openxmlformats.org/drawingml/2006/main" noGrp="1"/>
          </p:cNvSpPr>
          <p:nvPr/>
        </p:nvSpPr>
        <p:spPr>
          <a:xfrm xmlns:a="http://schemas.openxmlformats.org/drawingml/2006/main">
            <a:off x="8305800" y="3028950"/>
            <a:ext cx="26098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100 pembayaran vendor diperiksa, 100 jurnal dibuat, 100 diposting pada run, dan 100 diverifikasi terposting. Mapping UAT memakai debit 310.500 HUTANG VENDOR dan kredit 111.101 KAS YAYASAN. Dashboard tenant bersama kemudian menampilkan 777 draf, 151 posted, total 928; angka dashboard tidak semuanya berasal dari run ini</a:t>
            </a:r>
          </a:p>
        </p:txBody>
      </p:sp>
      <p:sp>
        <p:nvSpPr>
          <p:cNvPr id="13" name="">
            <a:extLst xmlns:a="http://schemas.openxmlformats.org/drawingml/2006/main">
              <a:ext uri="{FF2B5EF4-FFF2-40B4-BE49-F238E27FC236}">
                <a16:creationId xmlns:a16="http://schemas.microsoft.com/office/drawing/2014/main" id="{0F793043-E584-4D22-A121-C4CCE5A2DF7B}"/>
              </a:ext>
            </a:extLst>
          </p:cNvPr>
          <p:cNvSpPr>
            <a:spLocks xmlns:a="http://schemas.openxmlformats.org/drawingml/2006/main" noGrp="1"/>
          </p:cNvSpPr>
          <p:nvPr/>
        </p:nvSpPr>
        <p:spPr>
          <a:xfrm xmlns:a="http://schemas.openxmlformats.org/drawingml/2006/main">
            <a:off x="8305800" y="523875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26273"/>
                </a:solidFill>
              </a:defRPr>
            </a:pPr>
            <a:r>
              <a:rPr sz="1050" b="1">
                <a:solidFill>
                  <a:srgbClr val="526273"/>
                </a:solidFill>
              </a:rPr>
              <a:t>Narasi lengkap: 982 kata</a:t>
            </a:r>
          </a:p>
        </p:txBody>
      </p:sp>
    </p:spTree>
    <p:extLst>
      <p:ext uri="{BB962C8B-B14F-4D97-AF65-F5344CB8AC3E}">
        <p14:creationId xmlns:p14="http://schemas.microsoft.com/office/powerpoint/2010/main" val="1304096936"/>
      </p:ext>
    </p:extLst>
  </p:cSld>
</p:sld>
</file>

<file path=ppt/slides/slide1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5712DE15-AF2E-43CD-9705-1425A0B81B4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DIAGRAM 7</a:t>
            </a:r>
          </a:p>
        </p:txBody>
      </p:sp>
      <p:sp>
        <p:nvSpPr>
          <p:cNvPr id="2" name="">
            <a:extLst xmlns:a="http://schemas.openxmlformats.org/drawingml/2006/main">
              <a:ext uri="{FF2B5EF4-FFF2-40B4-BE49-F238E27FC236}">
                <a16:creationId xmlns:a16="http://schemas.microsoft.com/office/drawing/2014/main" id="{24278D13-F658-4CBB-BECD-B9A5BB8D5985}"/>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Akuntansi: Jurnal dan Posting: peran, alur, dan data</a:t>
            </a:r>
          </a:p>
        </p:txBody>
      </p:sp>
      <p:sp>
        <p:nvSpPr>
          <p:cNvPr id="3" name="">
            <a:extLst xmlns:a="http://schemas.openxmlformats.org/drawingml/2006/main">
              <a:ext uri="{FF2B5EF4-FFF2-40B4-BE49-F238E27FC236}">
                <a16:creationId xmlns:a16="http://schemas.microsoft.com/office/drawing/2014/main" id="{B1692D75-8D1B-45AA-BD46-9633ED3E8CDC}"/>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17</a:t>
            </a:r>
          </a:p>
        </p:txBody>
      </p:sp>
      <p:sp>
        <p:nvSpPr>
          <p:cNvPr id="4" name="">
            <a:extLst xmlns:a="http://schemas.openxmlformats.org/drawingml/2006/main">
              <a:ext uri="{FF2B5EF4-FFF2-40B4-BE49-F238E27FC236}">
                <a16:creationId xmlns:a16="http://schemas.microsoft.com/office/drawing/2014/main" id="{48F6F306-4BC1-4DC2-9BDC-020FCE8E5795}"/>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17</a:t>
            </a:r>
          </a:p>
        </p:txBody>
      </p:sp>
      <p:sp>
        <p:nvSpPr>
          <p:cNvPr id="5" name="">
            <a:extLst xmlns:a="http://schemas.openxmlformats.org/drawingml/2006/main">
              <a:ext uri="{FF2B5EF4-FFF2-40B4-BE49-F238E27FC236}">
                <a16:creationId xmlns:a16="http://schemas.microsoft.com/office/drawing/2014/main" id="{57D168C8-1605-473E-B2E9-9E94A4059DF7}"/>
              </a:ext>
            </a:extLst>
          </p:cNvPr>
          <p:cNvSpPr>
            <a:spLocks xmlns:a="http://schemas.openxmlformats.org/drawingml/2006/main" noGrp="1"/>
          </p:cNvSpPr>
          <p:nvPr/>
        </p:nvSpPr>
        <p:spPr>
          <a:xfrm xmlns:a="http://schemas.openxmlformats.org/drawingml/2006/main">
            <a:off x="6096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6" name="">
            <a:extLst xmlns:a="http://schemas.openxmlformats.org/drawingml/2006/main">
              <a:ext uri="{FF2B5EF4-FFF2-40B4-BE49-F238E27FC236}">
                <a16:creationId xmlns:a16="http://schemas.microsoft.com/office/drawing/2014/main" id="{CE1ED1FA-3F1D-464D-8A1E-60E4009F4517}"/>
              </a:ext>
            </a:extLst>
          </p:cNvPr>
          <p:cNvSpPr>
            <a:spLocks xmlns:a="http://schemas.openxmlformats.org/drawingml/2006/main" noGrp="1"/>
          </p:cNvSpPr>
          <p:nvPr/>
        </p:nvSpPr>
        <p:spPr>
          <a:xfrm xmlns:a="http://schemas.openxmlformats.org/drawingml/2006/main">
            <a:off x="41910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7" name="">
            <a:extLst xmlns:a="http://schemas.openxmlformats.org/drawingml/2006/main">
              <a:ext uri="{FF2B5EF4-FFF2-40B4-BE49-F238E27FC236}">
                <a16:creationId xmlns:a16="http://schemas.microsoft.com/office/drawing/2014/main" id="{9A887E12-36D2-42A5-977D-9666E732204A}"/>
              </a:ext>
            </a:extLst>
          </p:cNvPr>
          <p:cNvSpPr>
            <a:spLocks xmlns:a="http://schemas.openxmlformats.org/drawingml/2006/main" noGrp="1"/>
          </p:cNvSpPr>
          <p:nvPr/>
        </p:nvSpPr>
        <p:spPr>
          <a:xfrm xmlns:a="http://schemas.openxmlformats.org/drawingml/2006/main">
            <a:off x="77724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8" name="">
            <a:extLst xmlns:a="http://schemas.openxmlformats.org/drawingml/2006/main">
              <a:ext uri="{FF2B5EF4-FFF2-40B4-BE49-F238E27FC236}">
                <a16:creationId xmlns:a16="http://schemas.microsoft.com/office/drawing/2014/main" id="{EA583E48-7745-49C3-B084-DDF7CB1DE679}"/>
              </a:ext>
            </a:extLst>
          </p:cNvPr>
          <p:cNvSpPr>
            <a:spLocks xmlns:a="http://schemas.openxmlformats.org/drawingml/2006/main" noGrp="1"/>
          </p:cNvSpPr>
          <p:nvPr/>
        </p:nvSpPr>
        <p:spPr>
          <a:xfrm xmlns:a="http://schemas.openxmlformats.org/drawingml/2006/main">
            <a:off x="8191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75985"/>
                </a:solidFill>
              </a:defRPr>
            </a:pPr>
            <a:r>
              <a:rPr sz="1275" b="1">
                <a:solidFill>
                  <a:srgbClr val="075985"/>
                </a:solidFill>
              </a:rPr>
              <a:t>USE CASE</a:t>
            </a:r>
          </a:p>
        </p:txBody>
      </p:sp>
      <p:sp>
        <p:nvSpPr>
          <p:cNvPr id="9" name="">
            <a:extLst xmlns:a="http://schemas.openxmlformats.org/drawingml/2006/main">
              <a:ext uri="{FF2B5EF4-FFF2-40B4-BE49-F238E27FC236}">
                <a16:creationId xmlns:a16="http://schemas.microsoft.com/office/drawing/2014/main" id="{A7AE9C3A-F5F2-465B-9248-C65BB0BDE2F6}"/>
              </a:ext>
            </a:extLst>
          </p:cNvPr>
          <p:cNvSpPr>
            <a:spLocks xmlns:a="http://schemas.openxmlformats.org/drawingml/2006/main" noGrp="1"/>
          </p:cNvSpPr>
          <p:nvPr/>
        </p:nvSpPr>
        <p:spPr>
          <a:xfrm xmlns:a="http://schemas.openxmlformats.org/drawingml/2006/main">
            <a:off x="819150" y="2047875"/>
            <a:ext cx="2819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Keuangan → Bangkitkan/masukkan jurnal</a:t>
            </a:r>
          </a:p>
          <a:p xmlns:a="http://schemas.openxmlformats.org/drawingml/2006/main">
            <a:pPr algn="l">
              <a:defRPr sz="1200" b="0">
                <a:solidFill>
                  <a:srgbClr val="172033"/>
                </a:solidFill>
              </a:defRPr>
            </a:pPr>
            <a:r>
              <a:rPr sz="1200" b="0">
                <a:solidFill>
                  <a:srgbClr val="172033"/>
                </a:solidFill>
              </a:rPr>
              <a:t>Akuntan → Validasi debit dan kredit</a:t>
            </a:r>
          </a:p>
          <a:p xmlns:a="http://schemas.openxmlformats.org/drawingml/2006/main">
            <a:pPr algn="l">
              <a:defRPr sz="1200" b="0">
                <a:solidFill>
                  <a:srgbClr val="172033"/>
                </a:solidFill>
              </a:defRPr>
            </a:pPr>
            <a:r>
              <a:rPr sz="1200" b="0">
                <a:solidFill>
                  <a:srgbClr val="172033"/>
                </a:solidFill>
              </a:rPr>
              <a:t>Approver → Posting ke buku besar</a:t>
            </a:r>
          </a:p>
          <a:p xmlns:a="http://schemas.openxmlformats.org/drawingml/2006/main">
            <a:pPr algn="l">
              <a:defRPr sz="1200" b="0">
                <a:solidFill>
                  <a:srgbClr val="172033"/>
                </a:solidFill>
              </a:defRPr>
            </a:pPr>
            <a:r>
              <a:rPr sz="1200" b="0">
                <a:solidFill>
                  <a:srgbClr val="172033"/>
                </a:solidFill>
              </a:rPr>
              <a:t>Auditor → Rekonsiliasi dengan sumber</a:t>
            </a:r>
          </a:p>
        </p:txBody>
      </p:sp>
      <p:sp>
        <p:nvSpPr>
          <p:cNvPr id="10" name="">
            <a:extLst xmlns:a="http://schemas.openxmlformats.org/drawingml/2006/main">
              <a:ext uri="{FF2B5EF4-FFF2-40B4-BE49-F238E27FC236}">
                <a16:creationId xmlns:a16="http://schemas.microsoft.com/office/drawing/2014/main" id="{27EC9151-D8CB-4993-853C-75F1C78F654C}"/>
              </a:ext>
            </a:extLst>
          </p:cNvPr>
          <p:cNvSpPr>
            <a:spLocks xmlns:a="http://schemas.openxmlformats.org/drawingml/2006/main" noGrp="1"/>
          </p:cNvSpPr>
          <p:nvPr/>
        </p:nvSpPr>
        <p:spPr>
          <a:xfrm xmlns:a="http://schemas.openxmlformats.org/drawingml/2006/main">
            <a:off x="838200" y="4991100"/>
            <a:ext cx="2819400" cy="742950"/>
          </a:xfrm>
          <a:prstGeom xmlns:a="http://schemas.openxmlformats.org/drawingml/2006/main" prst="roundRect">
            <a:avLst>
              <a:gd name="adj" fmla="val 10256"/>
            </a:avLst>
          </a:prstGeom>
          <a:solidFill xmlns:a="http://schemas.openxmlformats.org/drawingml/2006/main">
            <a:srgbClr val="EAF3F8"/>
          </a:solidFill>
          <a:ln xmlns:a="http://schemas.openxmlformats.org/drawingml/2006/main" w="9525">
            <a:solidFill>
              <a:srgbClr val="075985"/>
            </a:solidFill>
            <a:prstDash val="solid"/>
          </a:ln>
        </p:spPr>
      </p:sp>
      <p:sp>
        <p:nvSpPr>
          <p:cNvPr id="11" name="">
            <a:extLst xmlns:a="http://schemas.openxmlformats.org/drawingml/2006/main">
              <a:ext uri="{FF2B5EF4-FFF2-40B4-BE49-F238E27FC236}">
                <a16:creationId xmlns:a16="http://schemas.microsoft.com/office/drawing/2014/main" id="{13C12C01-B949-4945-9ABE-068FBAFFEA3B}"/>
              </a:ext>
            </a:extLst>
          </p:cNvPr>
          <p:cNvSpPr>
            <a:spLocks xmlns:a="http://schemas.openxmlformats.org/drawingml/2006/main" noGrp="1"/>
          </p:cNvSpPr>
          <p:nvPr/>
        </p:nvSpPr>
        <p:spPr>
          <a:xfrm xmlns:a="http://schemas.openxmlformats.org/drawingml/2006/main">
            <a:off x="990600" y="521970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75985"/>
                </a:solidFill>
              </a:defRPr>
            </a:pPr>
            <a:r>
              <a:rPr sz="1275" b="1">
                <a:solidFill>
                  <a:srgbClr val="075985"/>
                </a:solidFill>
              </a:rPr>
              <a:t>RBAC + segregasi tugas</a:t>
            </a:r>
          </a:p>
        </p:txBody>
      </p:sp>
      <p:sp>
        <p:nvSpPr>
          <p:cNvPr id="12" name="">
            <a:extLst xmlns:a="http://schemas.openxmlformats.org/drawingml/2006/main">
              <a:ext uri="{FF2B5EF4-FFF2-40B4-BE49-F238E27FC236}">
                <a16:creationId xmlns:a16="http://schemas.microsoft.com/office/drawing/2014/main" id="{DB56264B-3A2B-48BC-9DB9-FE53F86DDE91}"/>
              </a:ext>
            </a:extLst>
          </p:cNvPr>
          <p:cNvSpPr>
            <a:spLocks xmlns:a="http://schemas.openxmlformats.org/drawingml/2006/main" noGrp="1"/>
          </p:cNvSpPr>
          <p:nvPr/>
        </p:nvSpPr>
        <p:spPr>
          <a:xfrm xmlns:a="http://schemas.openxmlformats.org/drawingml/2006/main">
            <a:off x="44005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F766E"/>
                </a:solidFill>
              </a:defRPr>
            </a:pPr>
            <a:r>
              <a:rPr sz="1275" b="1">
                <a:solidFill>
                  <a:srgbClr val="0F766E"/>
                </a:solidFill>
              </a:rPr>
              <a:t>FLOWCHART</a:t>
            </a:r>
          </a:p>
        </p:txBody>
      </p:sp>
      <p:sp>
        <p:nvSpPr>
          <p:cNvPr id="13" name="">
            <a:extLst xmlns:a="http://schemas.openxmlformats.org/drawingml/2006/main">
              <a:ext uri="{FF2B5EF4-FFF2-40B4-BE49-F238E27FC236}">
                <a16:creationId xmlns:a16="http://schemas.microsoft.com/office/drawing/2014/main" id="{6431E596-394D-48D2-BA6B-6BB0B6BDFA89}"/>
              </a:ext>
            </a:extLst>
          </p:cNvPr>
          <p:cNvSpPr>
            <a:spLocks xmlns:a="http://schemas.openxmlformats.org/drawingml/2006/main" noGrp="1"/>
          </p:cNvSpPr>
          <p:nvPr/>
        </p:nvSpPr>
        <p:spPr>
          <a:xfrm xmlns:a="http://schemas.openxmlformats.org/drawingml/2006/main">
            <a:off x="4400550" y="2009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B2C999B8-A0AA-4DED-B452-8C208C31B31C}"/>
              </a:ext>
            </a:extLst>
          </p:cNvPr>
          <p:cNvSpPr>
            <a:spLocks xmlns:a="http://schemas.openxmlformats.org/drawingml/2006/main" noGrp="1"/>
          </p:cNvSpPr>
          <p:nvPr/>
        </p:nvSpPr>
        <p:spPr>
          <a:xfrm xmlns:a="http://schemas.openxmlformats.org/drawingml/2006/main">
            <a:off x="4533900" y="2114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1. Dokumen sumber</a:t>
            </a:r>
          </a:p>
        </p:txBody>
      </p:sp>
      <p:sp>
        <p:nvSpPr>
          <p:cNvPr id="15" name="">
            <a:extLst xmlns:a="http://schemas.openxmlformats.org/drawingml/2006/main">
              <a:ext uri="{FF2B5EF4-FFF2-40B4-BE49-F238E27FC236}">
                <a16:creationId xmlns:a16="http://schemas.microsoft.com/office/drawing/2014/main" id="{FC0F0C44-F939-49CB-A3F6-5E94901FDB35}"/>
              </a:ext>
            </a:extLst>
          </p:cNvPr>
          <p:cNvSpPr>
            <a:spLocks xmlns:a="http://schemas.openxmlformats.org/drawingml/2006/main" noGrp="1"/>
          </p:cNvSpPr>
          <p:nvPr/>
        </p:nvSpPr>
        <p:spPr>
          <a:xfrm xmlns:a="http://schemas.openxmlformats.org/drawingml/2006/main">
            <a:off x="5676900" y="2409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6" name="">
            <a:extLst xmlns:a="http://schemas.openxmlformats.org/drawingml/2006/main">
              <a:ext uri="{FF2B5EF4-FFF2-40B4-BE49-F238E27FC236}">
                <a16:creationId xmlns:a16="http://schemas.microsoft.com/office/drawing/2014/main" id="{A1B7D822-46A9-40FC-A53F-35C3DAFA7CE7}"/>
              </a:ext>
            </a:extLst>
          </p:cNvPr>
          <p:cNvSpPr>
            <a:spLocks xmlns:a="http://schemas.openxmlformats.org/drawingml/2006/main" noGrp="1"/>
          </p:cNvSpPr>
          <p:nvPr/>
        </p:nvSpPr>
        <p:spPr>
          <a:xfrm xmlns:a="http://schemas.openxmlformats.org/drawingml/2006/main">
            <a:off x="4400550" y="2581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7" name="">
            <a:extLst xmlns:a="http://schemas.openxmlformats.org/drawingml/2006/main">
              <a:ext uri="{FF2B5EF4-FFF2-40B4-BE49-F238E27FC236}">
                <a16:creationId xmlns:a16="http://schemas.microsoft.com/office/drawing/2014/main" id="{96EC6A71-737F-4BC2-9E1C-9F828A1D8AA9}"/>
              </a:ext>
            </a:extLst>
          </p:cNvPr>
          <p:cNvSpPr>
            <a:spLocks xmlns:a="http://schemas.openxmlformats.org/drawingml/2006/main" noGrp="1"/>
          </p:cNvSpPr>
          <p:nvPr/>
        </p:nvSpPr>
        <p:spPr>
          <a:xfrm xmlns:a="http://schemas.openxmlformats.org/drawingml/2006/main">
            <a:off x="4533900" y="2686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2. Preview/mapping akun</a:t>
            </a:r>
          </a:p>
        </p:txBody>
      </p:sp>
      <p:sp>
        <p:nvSpPr>
          <p:cNvPr id="18" name="">
            <a:extLst xmlns:a="http://schemas.openxmlformats.org/drawingml/2006/main">
              <a:ext uri="{FF2B5EF4-FFF2-40B4-BE49-F238E27FC236}">
                <a16:creationId xmlns:a16="http://schemas.microsoft.com/office/drawing/2014/main" id="{D84A00DC-FE76-44A4-AA66-9CB30996CA28}"/>
              </a:ext>
            </a:extLst>
          </p:cNvPr>
          <p:cNvSpPr>
            <a:spLocks xmlns:a="http://schemas.openxmlformats.org/drawingml/2006/main" noGrp="1"/>
          </p:cNvSpPr>
          <p:nvPr/>
        </p:nvSpPr>
        <p:spPr>
          <a:xfrm xmlns:a="http://schemas.openxmlformats.org/drawingml/2006/main">
            <a:off x="5676900" y="2981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9" name="">
            <a:extLst xmlns:a="http://schemas.openxmlformats.org/drawingml/2006/main">
              <a:ext uri="{FF2B5EF4-FFF2-40B4-BE49-F238E27FC236}">
                <a16:creationId xmlns:a16="http://schemas.microsoft.com/office/drawing/2014/main" id="{C60626B0-E025-4FC6-AC72-77204BF3FDCF}"/>
              </a:ext>
            </a:extLst>
          </p:cNvPr>
          <p:cNvSpPr>
            <a:spLocks xmlns:a="http://schemas.openxmlformats.org/drawingml/2006/main" noGrp="1"/>
          </p:cNvSpPr>
          <p:nvPr/>
        </p:nvSpPr>
        <p:spPr>
          <a:xfrm xmlns:a="http://schemas.openxmlformats.org/drawingml/2006/main">
            <a:off x="4400550" y="3152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0" name="">
            <a:extLst xmlns:a="http://schemas.openxmlformats.org/drawingml/2006/main">
              <a:ext uri="{FF2B5EF4-FFF2-40B4-BE49-F238E27FC236}">
                <a16:creationId xmlns:a16="http://schemas.microsoft.com/office/drawing/2014/main" id="{241ED165-0E88-44AA-B1AC-E27A46D95971}"/>
              </a:ext>
            </a:extLst>
          </p:cNvPr>
          <p:cNvSpPr>
            <a:spLocks xmlns:a="http://schemas.openxmlformats.org/drawingml/2006/main" noGrp="1"/>
          </p:cNvSpPr>
          <p:nvPr/>
        </p:nvSpPr>
        <p:spPr>
          <a:xfrm xmlns:a="http://schemas.openxmlformats.org/drawingml/2006/main">
            <a:off x="4533900" y="3257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3. Jurnal draf</a:t>
            </a:r>
          </a:p>
        </p:txBody>
      </p:sp>
      <p:sp>
        <p:nvSpPr>
          <p:cNvPr id="21" name="">
            <a:extLst xmlns:a="http://schemas.openxmlformats.org/drawingml/2006/main">
              <a:ext uri="{FF2B5EF4-FFF2-40B4-BE49-F238E27FC236}">
                <a16:creationId xmlns:a16="http://schemas.microsoft.com/office/drawing/2014/main" id="{F3B13C15-A96A-4699-8F4F-679DD802D4F7}"/>
              </a:ext>
            </a:extLst>
          </p:cNvPr>
          <p:cNvSpPr>
            <a:spLocks xmlns:a="http://schemas.openxmlformats.org/drawingml/2006/main" noGrp="1"/>
          </p:cNvSpPr>
          <p:nvPr/>
        </p:nvSpPr>
        <p:spPr>
          <a:xfrm xmlns:a="http://schemas.openxmlformats.org/drawingml/2006/main">
            <a:off x="5676900" y="3552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2" name="">
            <a:extLst xmlns:a="http://schemas.openxmlformats.org/drawingml/2006/main">
              <a:ext uri="{FF2B5EF4-FFF2-40B4-BE49-F238E27FC236}">
                <a16:creationId xmlns:a16="http://schemas.microsoft.com/office/drawing/2014/main" id="{AA70468C-0F3F-466C-8ABC-6A310AEF0990}"/>
              </a:ext>
            </a:extLst>
          </p:cNvPr>
          <p:cNvSpPr>
            <a:spLocks xmlns:a="http://schemas.openxmlformats.org/drawingml/2006/main" noGrp="1"/>
          </p:cNvSpPr>
          <p:nvPr/>
        </p:nvSpPr>
        <p:spPr>
          <a:xfrm xmlns:a="http://schemas.openxmlformats.org/drawingml/2006/main">
            <a:off x="4400550" y="3724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3" name="">
            <a:extLst xmlns:a="http://schemas.openxmlformats.org/drawingml/2006/main">
              <a:ext uri="{FF2B5EF4-FFF2-40B4-BE49-F238E27FC236}">
                <a16:creationId xmlns:a16="http://schemas.microsoft.com/office/drawing/2014/main" id="{D1041438-340F-4376-A918-5C0A9A2FEC76}"/>
              </a:ext>
            </a:extLst>
          </p:cNvPr>
          <p:cNvSpPr>
            <a:spLocks xmlns:a="http://schemas.openxmlformats.org/drawingml/2006/main" noGrp="1"/>
          </p:cNvSpPr>
          <p:nvPr/>
        </p:nvSpPr>
        <p:spPr>
          <a:xfrm xmlns:a="http://schemas.openxmlformats.org/drawingml/2006/main">
            <a:off x="4533900" y="3829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4. Validasi seimbang</a:t>
            </a:r>
          </a:p>
        </p:txBody>
      </p:sp>
      <p:sp>
        <p:nvSpPr>
          <p:cNvPr id="24" name="">
            <a:extLst xmlns:a="http://schemas.openxmlformats.org/drawingml/2006/main">
              <a:ext uri="{FF2B5EF4-FFF2-40B4-BE49-F238E27FC236}">
                <a16:creationId xmlns:a16="http://schemas.microsoft.com/office/drawing/2014/main" id="{EAFB4128-FC2B-4DB2-BFF0-FF184D25EE2D}"/>
              </a:ext>
            </a:extLst>
          </p:cNvPr>
          <p:cNvSpPr>
            <a:spLocks xmlns:a="http://schemas.openxmlformats.org/drawingml/2006/main" noGrp="1"/>
          </p:cNvSpPr>
          <p:nvPr/>
        </p:nvSpPr>
        <p:spPr>
          <a:xfrm xmlns:a="http://schemas.openxmlformats.org/drawingml/2006/main">
            <a:off x="5676900" y="4124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5" name="">
            <a:extLst xmlns:a="http://schemas.openxmlformats.org/drawingml/2006/main">
              <a:ext uri="{FF2B5EF4-FFF2-40B4-BE49-F238E27FC236}">
                <a16:creationId xmlns:a16="http://schemas.microsoft.com/office/drawing/2014/main" id="{33AF7F61-7513-4306-BB77-200D413454EF}"/>
              </a:ext>
            </a:extLst>
          </p:cNvPr>
          <p:cNvSpPr>
            <a:spLocks xmlns:a="http://schemas.openxmlformats.org/drawingml/2006/main" noGrp="1"/>
          </p:cNvSpPr>
          <p:nvPr/>
        </p:nvSpPr>
        <p:spPr>
          <a:xfrm xmlns:a="http://schemas.openxmlformats.org/drawingml/2006/main">
            <a:off x="4400550" y="4295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6" name="">
            <a:extLst xmlns:a="http://schemas.openxmlformats.org/drawingml/2006/main">
              <a:ext uri="{FF2B5EF4-FFF2-40B4-BE49-F238E27FC236}">
                <a16:creationId xmlns:a16="http://schemas.microsoft.com/office/drawing/2014/main" id="{FDD0ECB0-0455-4EC3-B1B8-E30D7E45483F}"/>
              </a:ext>
            </a:extLst>
          </p:cNvPr>
          <p:cNvSpPr>
            <a:spLocks xmlns:a="http://schemas.openxmlformats.org/drawingml/2006/main" noGrp="1"/>
          </p:cNvSpPr>
          <p:nvPr/>
        </p:nvSpPr>
        <p:spPr>
          <a:xfrm xmlns:a="http://schemas.openxmlformats.org/drawingml/2006/main">
            <a:off x="4533900" y="4400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5. Posting</a:t>
            </a:r>
          </a:p>
        </p:txBody>
      </p:sp>
      <p:sp>
        <p:nvSpPr>
          <p:cNvPr id="27" name="">
            <a:extLst xmlns:a="http://schemas.openxmlformats.org/drawingml/2006/main">
              <a:ext uri="{FF2B5EF4-FFF2-40B4-BE49-F238E27FC236}">
                <a16:creationId xmlns:a16="http://schemas.microsoft.com/office/drawing/2014/main" id="{4ECDC514-D0AF-4045-9E56-D5B6C19BA1A0}"/>
              </a:ext>
            </a:extLst>
          </p:cNvPr>
          <p:cNvSpPr>
            <a:spLocks xmlns:a="http://schemas.openxmlformats.org/drawingml/2006/main" noGrp="1"/>
          </p:cNvSpPr>
          <p:nvPr/>
        </p:nvSpPr>
        <p:spPr>
          <a:xfrm xmlns:a="http://schemas.openxmlformats.org/drawingml/2006/main">
            <a:off x="5676900" y="4695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8" name="">
            <a:extLst xmlns:a="http://schemas.openxmlformats.org/drawingml/2006/main">
              <a:ext uri="{FF2B5EF4-FFF2-40B4-BE49-F238E27FC236}">
                <a16:creationId xmlns:a16="http://schemas.microsoft.com/office/drawing/2014/main" id="{D4DFB5C6-DBFE-4A70-88F9-5B2322358E04}"/>
              </a:ext>
            </a:extLst>
          </p:cNvPr>
          <p:cNvSpPr>
            <a:spLocks xmlns:a="http://schemas.openxmlformats.org/drawingml/2006/main" noGrp="1"/>
          </p:cNvSpPr>
          <p:nvPr/>
        </p:nvSpPr>
        <p:spPr>
          <a:xfrm xmlns:a="http://schemas.openxmlformats.org/drawingml/2006/main">
            <a:off x="4400550" y="4867275"/>
            <a:ext cx="2857500" cy="409575"/>
          </a:xfrm>
          <a:prstGeom xmlns:a="http://schemas.openxmlformats.org/drawingml/2006/main" prst="roundRect">
            <a:avLst>
              <a:gd name="adj" fmla="val 18605"/>
            </a:avLst>
          </a:prstGeom>
          <a:solidFill xmlns:a="http://schemas.openxmlformats.org/drawingml/2006/main">
            <a:srgbClr val="DCFCE7"/>
          </a:solidFill>
          <a:ln xmlns:a="http://schemas.openxmlformats.org/drawingml/2006/main" w="9525">
            <a:solidFill>
              <a:srgbClr val="15803D"/>
            </a:solidFill>
            <a:prstDash val="solid"/>
          </a:ln>
        </p:spPr>
      </p:sp>
      <p:sp>
        <p:nvSpPr>
          <p:cNvPr id="29" name="">
            <a:extLst xmlns:a="http://schemas.openxmlformats.org/drawingml/2006/main">
              <a:ext uri="{FF2B5EF4-FFF2-40B4-BE49-F238E27FC236}">
                <a16:creationId xmlns:a16="http://schemas.microsoft.com/office/drawing/2014/main" id="{9C8DE7D0-7487-4649-A7C4-669EE2EF478B}"/>
              </a:ext>
            </a:extLst>
          </p:cNvPr>
          <p:cNvSpPr>
            <a:spLocks xmlns:a="http://schemas.openxmlformats.org/drawingml/2006/main" noGrp="1"/>
          </p:cNvSpPr>
          <p:nvPr/>
        </p:nvSpPr>
        <p:spPr>
          <a:xfrm xmlns:a="http://schemas.openxmlformats.org/drawingml/2006/main">
            <a:off x="4533900" y="4972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2033"/>
                </a:solidFill>
              </a:defRPr>
            </a:pPr>
            <a:r>
              <a:rPr sz="1200" b="1">
                <a:solidFill>
                  <a:srgbClr val="172033"/>
                </a:solidFill>
              </a:rPr>
              <a:t>6. Rekonsiliasi</a:t>
            </a:r>
          </a:p>
        </p:txBody>
      </p:sp>
      <p:sp>
        <p:nvSpPr>
          <p:cNvPr id="30" name="">
            <a:extLst xmlns:a="http://schemas.openxmlformats.org/drawingml/2006/main">
              <a:ext uri="{FF2B5EF4-FFF2-40B4-BE49-F238E27FC236}">
                <a16:creationId xmlns:a16="http://schemas.microsoft.com/office/drawing/2014/main" id="{B5F5C33F-8BA5-4B00-A072-3E5756841AB9}"/>
              </a:ext>
            </a:extLst>
          </p:cNvPr>
          <p:cNvSpPr>
            <a:spLocks xmlns:a="http://schemas.openxmlformats.org/drawingml/2006/main" noGrp="1"/>
          </p:cNvSpPr>
          <p:nvPr/>
        </p:nvSpPr>
        <p:spPr>
          <a:xfrm xmlns:a="http://schemas.openxmlformats.org/drawingml/2006/main">
            <a:off x="79819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7C3AED"/>
                </a:solidFill>
              </a:defRPr>
            </a:pPr>
            <a:r>
              <a:rPr sz="1275" b="1">
                <a:solidFill>
                  <a:srgbClr val="7C3AED"/>
                </a:solidFill>
              </a:rPr>
              <a:t>ERD / DATA FLOW</a:t>
            </a:r>
          </a:p>
        </p:txBody>
      </p:sp>
      <p:sp>
        <p:nvSpPr>
          <p:cNvPr id="31" name="">
            <a:extLst xmlns:a="http://schemas.openxmlformats.org/drawingml/2006/main">
              <a:ext uri="{FF2B5EF4-FFF2-40B4-BE49-F238E27FC236}">
                <a16:creationId xmlns:a16="http://schemas.microsoft.com/office/drawing/2014/main" id="{551241BA-CAD1-44EB-97D8-ED0FB3208FAE}"/>
              </a:ext>
            </a:extLst>
          </p:cNvPr>
          <p:cNvSpPr>
            <a:spLocks xmlns:a="http://schemas.openxmlformats.org/drawingml/2006/main" noGrp="1"/>
          </p:cNvSpPr>
          <p:nvPr/>
        </p:nvSpPr>
        <p:spPr>
          <a:xfrm xmlns:a="http://schemas.openxmlformats.org/drawingml/2006/main">
            <a:off x="7981950" y="2009775"/>
            <a:ext cx="2857500" cy="476250"/>
          </a:xfrm>
          <a:prstGeom xmlns:a="http://schemas.openxmlformats.org/drawingml/2006/main" prst="roundRect">
            <a:avLst>
              <a:gd name="adj" fmla="val 16000"/>
            </a:avLst>
          </a:prstGeom>
          <a:solidFill xmlns:a="http://schemas.openxmlformats.org/drawingml/2006/main">
            <a:srgbClr val="EDE9FE"/>
          </a:solidFill>
          <a:ln xmlns:a="http://schemas.openxmlformats.org/drawingml/2006/main" w="9525">
            <a:solidFill>
              <a:srgbClr val="7C3AED"/>
            </a:solidFill>
            <a:prstDash val="solid"/>
          </a:ln>
        </p:spPr>
      </p:sp>
      <p:sp>
        <p:nvSpPr>
          <p:cNvPr id="32" name="">
            <a:extLst xmlns:a="http://schemas.openxmlformats.org/drawingml/2006/main">
              <a:ext uri="{FF2B5EF4-FFF2-40B4-BE49-F238E27FC236}">
                <a16:creationId xmlns:a16="http://schemas.microsoft.com/office/drawing/2014/main" id="{8F74B0EA-8C90-466D-8D56-16A059B772FD}"/>
              </a:ext>
            </a:extLst>
          </p:cNvPr>
          <p:cNvSpPr>
            <a:spLocks xmlns:a="http://schemas.openxmlformats.org/drawingml/2006/main" noGrp="1"/>
          </p:cNvSpPr>
          <p:nvPr/>
        </p:nvSpPr>
        <p:spPr>
          <a:xfrm xmlns:a="http://schemas.openxmlformats.org/drawingml/2006/main">
            <a:off x="8115300" y="21336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72033"/>
                </a:solidFill>
              </a:defRPr>
            </a:pPr>
            <a:r>
              <a:rPr sz="1200" b="1">
                <a:solidFill>
                  <a:srgbClr val="172033"/>
                </a:solidFill>
              </a:rPr>
              <a:t>DOKUMEN SUMBER • pembayaran</a:t>
            </a:r>
          </a:p>
        </p:txBody>
      </p:sp>
      <p:sp>
        <p:nvSpPr>
          <p:cNvPr id="33" name="">
            <a:extLst xmlns:a="http://schemas.openxmlformats.org/drawingml/2006/main">
              <a:ext uri="{FF2B5EF4-FFF2-40B4-BE49-F238E27FC236}">
                <a16:creationId xmlns:a16="http://schemas.microsoft.com/office/drawing/2014/main" id="{1D486AAE-DFBE-4EFD-9C7A-764D98532D57}"/>
              </a:ext>
            </a:extLst>
          </p:cNvPr>
          <p:cNvSpPr>
            <a:spLocks xmlns:a="http://schemas.openxmlformats.org/drawingml/2006/main" noGrp="1"/>
          </p:cNvSpPr>
          <p:nvPr/>
        </p:nvSpPr>
        <p:spPr>
          <a:xfrm xmlns:a="http://schemas.openxmlformats.org/drawingml/2006/main">
            <a:off x="8991600" y="24669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4" name="">
            <a:extLst xmlns:a="http://schemas.openxmlformats.org/drawingml/2006/main">
              <a:ext uri="{FF2B5EF4-FFF2-40B4-BE49-F238E27FC236}">
                <a16:creationId xmlns:a16="http://schemas.microsoft.com/office/drawing/2014/main" id="{4AD4ADEB-D567-47D5-B2C8-313A49D4F064}"/>
              </a:ext>
            </a:extLst>
          </p:cNvPr>
          <p:cNvSpPr>
            <a:spLocks xmlns:a="http://schemas.openxmlformats.org/drawingml/2006/main" noGrp="1"/>
          </p:cNvSpPr>
          <p:nvPr/>
        </p:nvSpPr>
        <p:spPr>
          <a:xfrm xmlns:a="http://schemas.openxmlformats.org/drawingml/2006/main">
            <a:off x="7981950" y="266700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5" name="">
            <a:extLst xmlns:a="http://schemas.openxmlformats.org/drawingml/2006/main">
              <a:ext uri="{FF2B5EF4-FFF2-40B4-BE49-F238E27FC236}">
                <a16:creationId xmlns:a16="http://schemas.microsoft.com/office/drawing/2014/main" id="{7D0451D9-E9E8-47FC-BDCB-9DA8685FFC6D}"/>
              </a:ext>
            </a:extLst>
          </p:cNvPr>
          <p:cNvSpPr>
            <a:spLocks xmlns:a="http://schemas.openxmlformats.org/drawingml/2006/main" noGrp="1"/>
          </p:cNvSpPr>
          <p:nvPr/>
        </p:nvSpPr>
        <p:spPr>
          <a:xfrm xmlns:a="http://schemas.openxmlformats.org/drawingml/2006/main">
            <a:off x="8115300" y="279082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JURNAL • tanggal, referensi</a:t>
            </a:r>
          </a:p>
        </p:txBody>
      </p:sp>
      <p:sp>
        <p:nvSpPr>
          <p:cNvPr id="36" name="">
            <a:extLst xmlns:a="http://schemas.openxmlformats.org/drawingml/2006/main">
              <a:ext uri="{FF2B5EF4-FFF2-40B4-BE49-F238E27FC236}">
                <a16:creationId xmlns:a16="http://schemas.microsoft.com/office/drawing/2014/main" id="{C363D216-7F7D-4E9D-8AB0-A954B3EB9CA7}"/>
              </a:ext>
            </a:extLst>
          </p:cNvPr>
          <p:cNvSpPr>
            <a:spLocks xmlns:a="http://schemas.openxmlformats.org/drawingml/2006/main" noGrp="1"/>
          </p:cNvSpPr>
          <p:nvPr/>
        </p:nvSpPr>
        <p:spPr>
          <a:xfrm xmlns:a="http://schemas.openxmlformats.org/drawingml/2006/main">
            <a:off x="8991600" y="31242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7" name="">
            <a:extLst xmlns:a="http://schemas.openxmlformats.org/drawingml/2006/main">
              <a:ext uri="{FF2B5EF4-FFF2-40B4-BE49-F238E27FC236}">
                <a16:creationId xmlns:a16="http://schemas.microsoft.com/office/drawing/2014/main" id="{469ED3AA-7B4D-4C71-8B18-1123911BF880}"/>
              </a:ext>
            </a:extLst>
          </p:cNvPr>
          <p:cNvSpPr>
            <a:spLocks xmlns:a="http://schemas.openxmlformats.org/drawingml/2006/main" noGrp="1"/>
          </p:cNvSpPr>
          <p:nvPr/>
        </p:nvSpPr>
        <p:spPr>
          <a:xfrm xmlns:a="http://schemas.openxmlformats.org/drawingml/2006/main">
            <a:off x="7981950" y="332422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8" name="">
            <a:extLst xmlns:a="http://schemas.openxmlformats.org/drawingml/2006/main">
              <a:ext uri="{FF2B5EF4-FFF2-40B4-BE49-F238E27FC236}">
                <a16:creationId xmlns:a16="http://schemas.microsoft.com/office/drawing/2014/main" id="{EB0E8046-55DA-4783-9A8A-067546D44E84}"/>
              </a:ext>
            </a:extLst>
          </p:cNvPr>
          <p:cNvSpPr>
            <a:spLocks xmlns:a="http://schemas.openxmlformats.org/drawingml/2006/main" noGrp="1"/>
          </p:cNvSpPr>
          <p:nvPr/>
        </p:nvSpPr>
        <p:spPr>
          <a:xfrm xmlns:a="http://schemas.openxmlformats.org/drawingml/2006/main">
            <a:off x="8115300" y="344805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DETAIL JURNAL • akun, D/K</a:t>
            </a:r>
          </a:p>
        </p:txBody>
      </p:sp>
      <p:sp>
        <p:nvSpPr>
          <p:cNvPr id="39" name="">
            <a:extLst xmlns:a="http://schemas.openxmlformats.org/drawingml/2006/main">
              <a:ext uri="{FF2B5EF4-FFF2-40B4-BE49-F238E27FC236}">
                <a16:creationId xmlns:a16="http://schemas.microsoft.com/office/drawing/2014/main" id="{69603EF4-2F0A-4A1B-BD7A-A72161B02E10}"/>
              </a:ext>
            </a:extLst>
          </p:cNvPr>
          <p:cNvSpPr>
            <a:spLocks xmlns:a="http://schemas.openxmlformats.org/drawingml/2006/main" noGrp="1"/>
          </p:cNvSpPr>
          <p:nvPr/>
        </p:nvSpPr>
        <p:spPr>
          <a:xfrm xmlns:a="http://schemas.openxmlformats.org/drawingml/2006/main">
            <a:off x="8991600" y="378142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0" name="">
            <a:extLst xmlns:a="http://schemas.openxmlformats.org/drawingml/2006/main">
              <a:ext uri="{FF2B5EF4-FFF2-40B4-BE49-F238E27FC236}">
                <a16:creationId xmlns:a16="http://schemas.microsoft.com/office/drawing/2014/main" id="{D0A4F72A-DC70-4EC2-8182-659C66858AB0}"/>
              </a:ext>
            </a:extLst>
          </p:cNvPr>
          <p:cNvSpPr>
            <a:spLocks xmlns:a="http://schemas.openxmlformats.org/drawingml/2006/main" noGrp="1"/>
          </p:cNvSpPr>
          <p:nvPr/>
        </p:nvSpPr>
        <p:spPr>
          <a:xfrm xmlns:a="http://schemas.openxmlformats.org/drawingml/2006/main">
            <a:off x="7981950" y="398145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1" name="">
            <a:extLst xmlns:a="http://schemas.openxmlformats.org/drawingml/2006/main">
              <a:ext uri="{FF2B5EF4-FFF2-40B4-BE49-F238E27FC236}">
                <a16:creationId xmlns:a16="http://schemas.microsoft.com/office/drawing/2014/main" id="{B3379FE5-E122-469D-B143-2A8F04453BC8}"/>
              </a:ext>
            </a:extLst>
          </p:cNvPr>
          <p:cNvSpPr>
            <a:spLocks xmlns:a="http://schemas.openxmlformats.org/drawingml/2006/main" noGrp="1"/>
          </p:cNvSpPr>
          <p:nvPr/>
        </p:nvSpPr>
        <p:spPr>
          <a:xfrm xmlns:a="http://schemas.openxmlformats.org/drawingml/2006/main">
            <a:off x="8115300" y="410527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BUKU BESAR • posting</a:t>
            </a:r>
          </a:p>
        </p:txBody>
      </p:sp>
      <p:sp>
        <p:nvSpPr>
          <p:cNvPr id="42" name="">
            <a:extLst xmlns:a="http://schemas.openxmlformats.org/drawingml/2006/main">
              <a:ext uri="{FF2B5EF4-FFF2-40B4-BE49-F238E27FC236}">
                <a16:creationId xmlns:a16="http://schemas.microsoft.com/office/drawing/2014/main" id="{95B79DD0-7FC2-4FBA-B380-CBCEBFEE261E}"/>
              </a:ext>
            </a:extLst>
          </p:cNvPr>
          <p:cNvSpPr>
            <a:spLocks xmlns:a="http://schemas.openxmlformats.org/drawingml/2006/main" noGrp="1"/>
          </p:cNvSpPr>
          <p:nvPr/>
        </p:nvSpPr>
        <p:spPr>
          <a:xfrm xmlns:a="http://schemas.openxmlformats.org/drawingml/2006/main">
            <a:off x="8991600" y="44386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3" name="">
            <a:extLst xmlns:a="http://schemas.openxmlformats.org/drawingml/2006/main">
              <a:ext uri="{FF2B5EF4-FFF2-40B4-BE49-F238E27FC236}">
                <a16:creationId xmlns:a16="http://schemas.microsoft.com/office/drawing/2014/main" id="{1992D608-F93C-4E86-BE8A-C7E2ABA6BE51}"/>
              </a:ext>
            </a:extLst>
          </p:cNvPr>
          <p:cNvSpPr>
            <a:spLocks xmlns:a="http://schemas.openxmlformats.org/drawingml/2006/main" noGrp="1"/>
          </p:cNvSpPr>
          <p:nvPr/>
        </p:nvSpPr>
        <p:spPr>
          <a:xfrm xmlns:a="http://schemas.openxmlformats.org/drawingml/2006/main">
            <a:off x="7981950" y="463867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4" name="">
            <a:extLst xmlns:a="http://schemas.openxmlformats.org/drawingml/2006/main">
              <a:ext uri="{FF2B5EF4-FFF2-40B4-BE49-F238E27FC236}">
                <a16:creationId xmlns:a16="http://schemas.microsoft.com/office/drawing/2014/main" id="{021E0513-1042-4691-9B22-597B7AEE077A}"/>
              </a:ext>
            </a:extLst>
          </p:cNvPr>
          <p:cNvSpPr>
            <a:spLocks xmlns:a="http://schemas.openxmlformats.org/drawingml/2006/main" noGrp="1"/>
          </p:cNvSpPr>
          <p:nvPr/>
        </p:nvSpPr>
        <p:spPr>
          <a:xfrm xmlns:a="http://schemas.openxmlformats.org/drawingml/2006/main">
            <a:off x="8115300" y="47625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AUDIT • user, waktu</a:t>
            </a:r>
          </a:p>
        </p:txBody>
      </p:sp>
      <p:sp>
        <p:nvSpPr>
          <p:cNvPr id="45" name="">
            <a:extLst xmlns:a="http://schemas.openxmlformats.org/drawingml/2006/main">
              <a:ext uri="{FF2B5EF4-FFF2-40B4-BE49-F238E27FC236}">
                <a16:creationId xmlns:a16="http://schemas.microsoft.com/office/drawing/2014/main" id="{075F78F0-406B-4407-9F46-F6CAF23EF037}"/>
              </a:ext>
            </a:extLst>
          </p:cNvPr>
          <p:cNvSpPr>
            <a:spLocks xmlns:a="http://schemas.openxmlformats.org/drawingml/2006/main" noGrp="1"/>
          </p:cNvSpPr>
          <p:nvPr/>
        </p:nvSpPr>
        <p:spPr>
          <a:xfrm xmlns:a="http://schemas.openxmlformats.org/drawingml/2006/main">
            <a:off x="7981950" y="5391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debit = kredit, periode terbuka, akun sah, referensi sumber dan approval tersedia.</a:t>
            </a:r>
          </a:p>
        </p:txBody>
      </p:sp>
    </p:spTree>
    <p:extLst>
      <p:ext uri="{BB962C8B-B14F-4D97-AF65-F5344CB8AC3E}">
        <p14:creationId xmlns:p14="http://schemas.microsoft.com/office/powerpoint/2010/main" val="322165248"/>
      </p:ext>
    </p:extLst>
  </p:cSld>
</p:sld>
</file>

<file path=ppt/slides/slide1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17C2E77-2ED4-4645-B7D9-313A1BC856B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BUKTI 8</a:t>
            </a:r>
          </a:p>
        </p:txBody>
      </p:sp>
      <p:sp>
        <p:nvSpPr>
          <p:cNvPr id="2" name="">
            <a:extLst xmlns:a="http://schemas.openxmlformats.org/drawingml/2006/main">
              <a:ext uri="{FF2B5EF4-FFF2-40B4-BE49-F238E27FC236}">
                <a16:creationId xmlns:a16="http://schemas.microsoft.com/office/drawing/2014/main" id="{C811B42C-9639-4285-80EE-4143D5942DD8}"/>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Laporan Penjualan dan Kulakan</a:t>
            </a:r>
          </a:p>
        </p:txBody>
      </p:sp>
      <p:sp>
        <p:nvSpPr>
          <p:cNvPr id="3" name="">
            <a:extLst xmlns:a="http://schemas.openxmlformats.org/drawingml/2006/main">
              <a:ext uri="{FF2B5EF4-FFF2-40B4-BE49-F238E27FC236}">
                <a16:creationId xmlns:a16="http://schemas.microsoft.com/office/drawing/2014/main" id="{6E475041-5D60-4093-A84F-B5416F8170EC}"/>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18</a:t>
            </a:r>
          </a:p>
        </p:txBody>
      </p:sp>
      <p:sp>
        <p:nvSpPr>
          <p:cNvPr id="4" name="">
            <a:extLst xmlns:a="http://schemas.openxmlformats.org/drawingml/2006/main">
              <a:ext uri="{FF2B5EF4-FFF2-40B4-BE49-F238E27FC236}">
                <a16:creationId xmlns:a16="http://schemas.microsoft.com/office/drawing/2014/main" id="{34E3764F-1EC1-44FA-BB92-926F7BA8F637}"/>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18</a:t>
            </a:r>
          </a:p>
        </p:txBody>
      </p:sp>
      <p:sp>
        <p:nvSpPr>
          <p:cNvPr id="5" name="">
            <a:extLst xmlns:a="http://schemas.openxmlformats.org/drawingml/2006/main">
              <a:ext uri="{FF2B5EF4-FFF2-40B4-BE49-F238E27FC236}">
                <a16:creationId xmlns:a16="http://schemas.microsoft.com/office/drawing/2014/main" id="{2F90EAEF-64ED-468C-A944-F6D237905518}"/>
              </a:ext>
            </a:extLst>
          </p:cNvPr>
          <p:cNvSpPr>
            <a:spLocks xmlns:a="http://schemas.openxmlformats.org/drawingml/2006/main" noGrp="1"/>
          </p:cNvSpPr>
          <p:nvPr/>
        </p:nvSpPr>
        <p:spPr>
          <a:xfrm xmlns:a="http://schemas.openxmlformats.org/drawingml/2006/main">
            <a:off x="609600" y="1352550"/>
            <a:ext cx="7239000" cy="4286250"/>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9E5EC"/>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cdb17f47c9749f1"/>
          <a:stretch xmlns:a="http://schemas.openxmlformats.org/drawingml/2006/main"/>
        </p:blipFill>
        <p:spPr>
          <a:xfrm xmlns:a="http://schemas.openxmlformats.org/drawingml/2006/main">
            <a:off x="742950" y="1534716"/>
            <a:ext cx="6972300" cy="3921919"/>
          </a:xfrm>
          <a:prstGeom xmlns:a="http://schemas.openxmlformats.org/drawingml/2006/main" prst="roundRect">
            <a:avLst>
              <a:gd name="adj" fmla="val 2844"/>
            </a:avLst>
          </a:prstGeom>
        </p:spPr>
      </p:pic>
      <p:sp>
        <p:nvSpPr>
          <p:cNvPr id="7" name="">
            <a:extLst xmlns:a="http://schemas.openxmlformats.org/drawingml/2006/main">
              <a:ext uri="{FF2B5EF4-FFF2-40B4-BE49-F238E27FC236}">
                <a16:creationId xmlns:a16="http://schemas.microsoft.com/office/drawing/2014/main" id="{DA07C21B-75C3-4B2E-9566-7308D6210CEA}"/>
              </a:ext>
            </a:extLst>
          </p:cNvPr>
          <p:cNvSpPr>
            <a:spLocks xmlns:a="http://schemas.openxmlformats.org/drawingml/2006/main" noGrp="1"/>
          </p:cNvSpPr>
          <p:nvPr/>
        </p:nvSpPr>
        <p:spPr>
          <a:xfrm xmlns:a="http://schemas.openxmlformats.org/drawingml/2006/main">
            <a:off x="8096250" y="1352550"/>
            <a:ext cx="3105150" cy="990600"/>
          </a:xfrm>
          <a:prstGeom xmlns:a="http://schemas.openxmlformats.org/drawingml/2006/main" prst="roundRect">
            <a:avLst>
              <a:gd name="adj" fmla="val 11538"/>
            </a:avLst>
          </a:prstGeom>
          <a:solidFill xmlns:a="http://schemas.openxmlformats.org/drawingml/2006/main">
            <a:srgbClr val="FFF7ED"/>
          </a:solidFill>
          <a:ln xmlns:a="http://schemas.openxmlformats.org/drawingml/2006/main" w="9525">
            <a:solidFill>
              <a:srgbClr val="B45309"/>
            </a:solidFill>
            <a:prstDash val="solid"/>
          </a:ln>
        </p:spPr>
      </p:sp>
      <p:sp>
        <p:nvSpPr>
          <p:cNvPr id="8" name="">
            <a:extLst xmlns:a="http://schemas.openxmlformats.org/drawingml/2006/main">
              <a:ext uri="{FF2B5EF4-FFF2-40B4-BE49-F238E27FC236}">
                <a16:creationId xmlns:a16="http://schemas.microsoft.com/office/drawing/2014/main" id="{3BACC7AD-A59F-402C-869B-0309FC59588E}"/>
              </a:ext>
            </a:extLst>
          </p:cNvPr>
          <p:cNvSpPr>
            <a:spLocks xmlns:a="http://schemas.openxmlformats.org/drawingml/2006/main" noGrp="1"/>
          </p:cNvSpPr>
          <p:nvPr/>
        </p:nvSpPr>
        <p:spPr>
          <a:xfrm xmlns:a="http://schemas.openxmlformats.org/drawingml/2006/main">
            <a:off x="8305800" y="15049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B45309"/>
                </a:solidFill>
              </a:defRPr>
            </a:pPr>
            <a:r>
              <a:rPr sz="975" b="1">
                <a:solidFill>
                  <a:srgbClr val="B45309"/>
                </a:solidFill>
              </a:rPr>
              <a:t>STATUS</a:t>
            </a:r>
          </a:p>
        </p:txBody>
      </p:sp>
      <p:sp>
        <p:nvSpPr>
          <p:cNvPr id="9" name="">
            <a:extLst xmlns:a="http://schemas.openxmlformats.org/drawingml/2006/main">
              <a:ext uri="{FF2B5EF4-FFF2-40B4-BE49-F238E27FC236}">
                <a16:creationId xmlns:a16="http://schemas.microsoft.com/office/drawing/2014/main" id="{796336D9-0ECE-4B13-A647-23FB1D1D1EED}"/>
              </a:ext>
            </a:extLst>
          </p:cNvPr>
          <p:cNvSpPr>
            <a:spLocks xmlns:a="http://schemas.openxmlformats.org/drawingml/2006/main" noGrp="1"/>
          </p:cNvSpPr>
          <p:nvPr/>
        </p:nvSpPr>
        <p:spPr>
          <a:xfrm xmlns:a="http://schemas.openxmlformats.org/drawingml/2006/main">
            <a:off x="8305800" y="17526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45309"/>
                </a:solidFill>
              </a:defRPr>
            </a:pPr>
            <a:r>
              <a:rPr sz="1200" b="1">
                <a:solidFill>
                  <a:srgbClr val="B45309"/>
                </a:solidFill>
              </a:rPr>
              <a:t>PASS akses layar / BLOCKED validasi isi laporan penjualan</a:t>
            </a:r>
          </a:p>
        </p:txBody>
      </p:sp>
      <p:sp>
        <p:nvSpPr>
          <p:cNvPr id="10" name="">
            <a:extLst xmlns:a="http://schemas.openxmlformats.org/drawingml/2006/main">
              <a:ext uri="{FF2B5EF4-FFF2-40B4-BE49-F238E27FC236}">
                <a16:creationId xmlns:a16="http://schemas.microsoft.com/office/drawing/2014/main" id="{57E180DA-DC19-458D-8B5E-A3D34AC2BB08}"/>
              </a:ext>
            </a:extLst>
          </p:cNvPr>
          <p:cNvSpPr>
            <a:spLocks xmlns:a="http://schemas.openxmlformats.org/drawingml/2006/main" noGrp="1"/>
          </p:cNvSpPr>
          <p:nvPr/>
        </p:nvSpPr>
        <p:spPr>
          <a:xfrm xmlns:a="http://schemas.openxmlformats.org/drawingml/2006/main">
            <a:off x="8096250" y="2476500"/>
            <a:ext cx="3105150" cy="3162300"/>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D9E5EC"/>
            </a:solidFill>
            <a:prstDash val="solid"/>
          </a:ln>
        </p:spPr>
      </p:sp>
      <p:sp>
        <p:nvSpPr>
          <p:cNvPr id="11" name="">
            <a:extLst xmlns:a="http://schemas.openxmlformats.org/drawingml/2006/main">
              <a:ext uri="{FF2B5EF4-FFF2-40B4-BE49-F238E27FC236}">
                <a16:creationId xmlns:a16="http://schemas.microsoft.com/office/drawing/2014/main" id="{D0F726C2-9844-41A3-9026-37FA63A6E399}"/>
              </a:ext>
            </a:extLst>
          </p:cNvPr>
          <p:cNvSpPr>
            <a:spLocks xmlns:a="http://schemas.openxmlformats.org/drawingml/2006/main" noGrp="1"/>
          </p:cNvSpPr>
          <p:nvPr/>
        </p:nvSpPr>
        <p:spPr>
          <a:xfrm xmlns:a="http://schemas.openxmlformats.org/drawingml/2006/main">
            <a:off x="8305800" y="26860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F766E"/>
                </a:solidFill>
              </a:defRPr>
            </a:pPr>
            <a:r>
              <a:rPr sz="1050" b="1">
                <a:solidFill>
                  <a:srgbClr val="0F766E"/>
                </a:solidFill>
              </a:rPr>
              <a:t>HASIL AKTUAL</a:t>
            </a:r>
          </a:p>
        </p:txBody>
      </p:sp>
      <p:sp>
        <p:nvSpPr>
          <p:cNvPr id="12" name="">
            <a:extLst xmlns:a="http://schemas.openxmlformats.org/drawingml/2006/main">
              <a:ext uri="{FF2B5EF4-FFF2-40B4-BE49-F238E27FC236}">
                <a16:creationId xmlns:a16="http://schemas.microsoft.com/office/drawing/2014/main" id="{6A6278F2-608E-48F1-9141-2871935FD9D4}"/>
              </a:ext>
            </a:extLst>
          </p:cNvPr>
          <p:cNvSpPr>
            <a:spLocks xmlns:a="http://schemas.openxmlformats.org/drawingml/2006/main" noGrp="1"/>
          </p:cNvSpPr>
          <p:nvPr/>
        </p:nvSpPr>
        <p:spPr>
          <a:xfrm xmlns:a="http://schemas.openxmlformats.org/drawingml/2006/main">
            <a:off x="8305800" y="3028950"/>
            <a:ext cx="26098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endpoint laporan penjualan mengembalikan status success tetapi nol baris setelah 300 transaksi UAT; hal ini dicatat sebagai defect data/reporting, bukan PASS angka. Dashboard PR/PO/BAST/tagihan berhasil menunjukkan data pengadaan volume dan katalog laporan dapat dibuka</a:t>
            </a:r>
          </a:p>
        </p:txBody>
      </p:sp>
      <p:sp>
        <p:nvSpPr>
          <p:cNvPr id="13" name="">
            <a:extLst xmlns:a="http://schemas.openxmlformats.org/drawingml/2006/main">
              <a:ext uri="{FF2B5EF4-FFF2-40B4-BE49-F238E27FC236}">
                <a16:creationId xmlns:a16="http://schemas.microsoft.com/office/drawing/2014/main" id="{E005B25F-6F32-4324-993E-9B16394A8084}"/>
              </a:ext>
            </a:extLst>
          </p:cNvPr>
          <p:cNvSpPr>
            <a:spLocks xmlns:a="http://schemas.openxmlformats.org/drawingml/2006/main" noGrp="1"/>
          </p:cNvSpPr>
          <p:nvPr/>
        </p:nvSpPr>
        <p:spPr>
          <a:xfrm xmlns:a="http://schemas.openxmlformats.org/drawingml/2006/main">
            <a:off x="8305800" y="523875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26273"/>
                </a:solidFill>
              </a:defRPr>
            </a:pPr>
            <a:r>
              <a:rPr sz="1050" b="1">
                <a:solidFill>
                  <a:srgbClr val="526273"/>
                </a:solidFill>
              </a:rPr>
              <a:t>Narasi lengkap: 980 kata</a:t>
            </a:r>
          </a:p>
        </p:txBody>
      </p:sp>
    </p:spTree>
    <p:extLst>
      <p:ext uri="{BB962C8B-B14F-4D97-AF65-F5344CB8AC3E}">
        <p14:creationId xmlns:p14="http://schemas.microsoft.com/office/powerpoint/2010/main" val="2103225158"/>
      </p:ext>
    </p:extLst>
  </p:cSld>
</p:sld>
</file>

<file path=ppt/slides/slide1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AA106D78-6353-47A3-84D4-579085303662}"/>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DIAGRAM 8</a:t>
            </a:r>
          </a:p>
        </p:txBody>
      </p:sp>
      <p:sp>
        <p:nvSpPr>
          <p:cNvPr id="2" name="">
            <a:extLst xmlns:a="http://schemas.openxmlformats.org/drawingml/2006/main">
              <a:ext uri="{FF2B5EF4-FFF2-40B4-BE49-F238E27FC236}">
                <a16:creationId xmlns:a16="http://schemas.microsoft.com/office/drawing/2014/main" id="{785364DF-3E8F-44D1-9A54-6997C17CCEAD}"/>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Laporan Penjualan dan Kulakan: peran, alur, dan data</a:t>
            </a:r>
          </a:p>
        </p:txBody>
      </p:sp>
      <p:sp>
        <p:nvSpPr>
          <p:cNvPr id="3" name="">
            <a:extLst xmlns:a="http://schemas.openxmlformats.org/drawingml/2006/main">
              <a:ext uri="{FF2B5EF4-FFF2-40B4-BE49-F238E27FC236}">
                <a16:creationId xmlns:a16="http://schemas.microsoft.com/office/drawing/2014/main" id="{E3FE9BE7-98A2-489E-A189-F6EA25F68566}"/>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19</a:t>
            </a:r>
          </a:p>
        </p:txBody>
      </p:sp>
      <p:sp>
        <p:nvSpPr>
          <p:cNvPr id="4" name="">
            <a:extLst xmlns:a="http://schemas.openxmlformats.org/drawingml/2006/main">
              <a:ext uri="{FF2B5EF4-FFF2-40B4-BE49-F238E27FC236}">
                <a16:creationId xmlns:a16="http://schemas.microsoft.com/office/drawing/2014/main" id="{2B88C622-EBA9-4255-8397-224819DACA85}"/>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19</a:t>
            </a:r>
          </a:p>
        </p:txBody>
      </p:sp>
      <p:sp>
        <p:nvSpPr>
          <p:cNvPr id="5" name="">
            <a:extLst xmlns:a="http://schemas.openxmlformats.org/drawingml/2006/main">
              <a:ext uri="{FF2B5EF4-FFF2-40B4-BE49-F238E27FC236}">
                <a16:creationId xmlns:a16="http://schemas.microsoft.com/office/drawing/2014/main" id="{4DE925CF-9E27-42A0-914E-1B48D73287F1}"/>
              </a:ext>
            </a:extLst>
          </p:cNvPr>
          <p:cNvSpPr>
            <a:spLocks xmlns:a="http://schemas.openxmlformats.org/drawingml/2006/main" noGrp="1"/>
          </p:cNvSpPr>
          <p:nvPr/>
        </p:nvSpPr>
        <p:spPr>
          <a:xfrm xmlns:a="http://schemas.openxmlformats.org/drawingml/2006/main">
            <a:off x="6096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6" name="">
            <a:extLst xmlns:a="http://schemas.openxmlformats.org/drawingml/2006/main">
              <a:ext uri="{FF2B5EF4-FFF2-40B4-BE49-F238E27FC236}">
                <a16:creationId xmlns:a16="http://schemas.microsoft.com/office/drawing/2014/main" id="{0B3D3704-C613-4FC2-A50E-0D69DBF1E5AE}"/>
              </a:ext>
            </a:extLst>
          </p:cNvPr>
          <p:cNvSpPr>
            <a:spLocks xmlns:a="http://schemas.openxmlformats.org/drawingml/2006/main" noGrp="1"/>
          </p:cNvSpPr>
          <p:nvPr/>
        </p:nvSpPr>
        <p:spPr>
          <a:xfrm xmlns:a="http://schemas.openxmlformats.org/drawingml/2006/main">
            <a:off x="41910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7" name="">
            <a:extLst xmlns:a="http://schemas.openxmlformats.org/drawingml/2006/main">
              <a:ext uri="{FF2B5EF4-FFF2-40B4-BE49-F238E27FC236}">
                <a16:creationId xmlns:a16="http://schemas.microsoft.com/office/drawing/2014/main" id="{4A880934-5EE7-4BDD-BE41-14B723EE340A}"/>
              </a:ext>
            </a:extLst>
          </p:cNvPr>
          <p:cNvSpPr>
            <a:spLocks xmlns:a="http://schemas.openxmlformats.org/drawingml/2006/main" noGrp="1"/>
          </p:cNvSpPr>
          <p:nvPr/>
        </p:nvSpPr>
        <p:spPr>
          <a:xfrm xmlns:a="http://schemas.openxmlformats.org/drawingml/2006/main">
            <a:off x="77724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8" name="">
            <a:extLst xmlns:a="http://schemas.openxmlformats.org/drawingml/2006/main">
              <a:ext uri="{FF2B5EF4-FFF2-40B4-BE49-F238E27FC236}">
                <a16:creationId xmlns:a16="http://schemas.microsoft.com/office/drawing/2014/main" id="{F153AB78-4EE6-4BA1-9769-5AC3D6E70FC5}"/>
              </a:ext>
            </a:extLst>
          </p:cNvPr>
          <p:cNvSpPr>
            <a:spLocks xmlns:a="http://schemas.openxmlformats.org/drawingml/2006/main" noGrp="1"/>
          </p:cNvSpPr>
          <p:nvPr/>
        </p:nvSpPr>
        <p:spPr>
          <a:xfrm xmlns:a="http://schemas.openxmlformats.org/drawingml/2006/main">
            <a:off x="8191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75985"/>
                </a:solidFill>
              </a:defRPr>
            </a:pPr>
            <a:r>
              <a:rPr sz="1275" b="1">
                <a:solidFill>
                  <a:srgbClr val="075985"/>
                </a:solidFill>
              </a:rPr>
              <a:t>USE CASE</a:t>
            </a:r>
          </a:p>
        </p:txBody>
      </p:sp>
      <p:sp>
        <p:nvSpPr>
          <p:cNvPr id="9" name="">
            <a:extLst xmlns:a="http://schemas.openxmlformats.org/drawingml/2006/main">
              <a:ext uri="{FF2B5EF4-FFF2-40B4-BE49-F238E27FC236}">
                <a16:creationId xmlns:a16="http://schemas.microsoft.com/office/drawing/2014/main" id="{49DB8D2C-77F0-4153-85E8-E70944D6D37D}"/>
              </a:ext>
            </a:extLst>
          </p:cNvPr>
          <p:cNvSpPr>
            <a:spLocks xmlns:a="http://schemas.openxmlformats.org/drawingml/2006/main" noGrp="1"/>
          </p:cNvSpPr>
          <p:nvPr/>
        </p:nvSpPr>
        <p:spPr>
          <a:xfrm xmlns:a="http://schemas.openxmlformats.org/drawingml/2006/main">
            <a:off x="819150" y="2047875"/>
            <a:ext cx="2819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Supervisor Apotik → Pilih periode dan filter</a:t>
            </a:r>
          </a:p>
          <a:p xmlns:a="http://schemas.openxmlformats.org/drawingml/2006/main">
            <a:pPr algn="l">
              <a:defRPr sz="1200" b="0">
                <a:solidFill>
                  <a:srgbClr val="172033"/>
                </a:solidFill>
              </a:defRPr>
            </a:pPr>
            <a:r>
              <a:rPr sz="1200" b="0">
                <a:solidFill>
                  <a:srgbClr val="172033"/>
                </a:solidFill>
              </a:rPr>
              <a:t>Procurement → Tampilkan penjualan/kulakan</a:t>
            </a:r>
          </a:p>
          <a:p xmlns:a="http://schemas.openxmlformats.org/drawingml/2006/main">
            <a:pPr algn="l">
              <a:defRPr sz="1200" b="0">
                <a:solidFill>
                  <a:srgbClr val="172033"/>
                </a:solidFill>
              </a:defRPr>
            </a:pPr>
            <a:r>
              <a:rPr sz="1200" b="0">
                <a:solidFill>
                  <a:srgbClr val="172033"/>
                </a:solidFill>
              </a:rPr>
              <a:t>Keuangan → Telusuri rincian sumber</a:t>
            </a:r>
          </a:p>
          <a:p xmlns:a="http://schemas.openxmlformats.org/drawingml/2006/main">
            <a:pPr algn="l">
              <a:defRPr sz="1200" b="0">
                <a:solidFill>
                  <a:srgbClr val="172033"/>
                </a:solidFill>
              </a:defRPr>
            </a:pPr>
            <a:r>
              <a:rPr sz="1200" b="0">
                <a:solidFill>
                  <a:srgbClr val="172033"/>
                </a:solidFill>
              </a:rPr>
              <a:t>Auditor → Ekspor dan rekonsiliasi</a:t>
            </a:r>
          </a:p>
        </p:txBody>
      </p:sp>
      <p:sp>
        <p:nvSpPr>
          <p:cNvPr id="10" name="">
            <a:extLst xmlns:a="http://schemas.openxmlformats.org/drawingml/2006/main">
              <a:ext uri="{FF2B5EF4-FFF2-40B4-BE49-F238E27FC236}">
                <a16:creationId xmlns:a16="http://schemas.microsoft.com/office/drawing/2014/main" id="{C4619CB2-25DB-42E9-95CF-1057CB2F283E}"/>
              </a:ext>
            </a:extLst>
          </p:cNvPr>
          <p:cNvSpPr>
            <a:spLocks xmlns:a="http://schemas.openxmlformats.org/drawingml/2006/main" noGrp="1"/>
          </p:cNvSpPr>
          <p:nvPr/>
        </p:nvSpPr>
        <p:spPr>
          <a:xfrm xmlns:a="http://schemas.openxmlformats.org/drawingml/2006/main">
            <a:off x="838200" y="4991100"/>
            <a:ext cx="2819400" cy="742950"/>
          </a:xfrm>
          <a:prstGeom xmlns:a="http://schemas.openxmlformats.org/drawingml/2006/main" prst="roundRect">
            <a:avLst>
              <a:gd name="adj" fmla="val 10256"/>
            </a:avLst>
          </a:prstGeom>
          <a:solidFill xmlns:a="http://schemas.openxmlformats.org/drawingml/2006/main">
            <a:srgbClr val="EAF3F8"/>
          </a:solidFill>
          <a:ln xmlns:a="http://schemas.openxmlformats.org/drawingml/2006/main" w="9525">
            <a:solidFill>
              <a:srgbClr val="075985"/>
            </a:solidFill>
            <a:prstDash val="solid"/>
          </a:ln>
        </p:spPr>
      </p:sp>
      <p:sp>
        <p:nvSpPr>
          <p:cNvPr id="11" name="">
            <a:extLst xmlns:a="http://schemas.openxmlformats.org/drawingml/2006/main">
              <a:ext uri="{FF2B5EF4-FFF2-40B4-BE49-F238E27FC236}">
                <a16:creationId xmlns:a16="http://schemas.microsoft.com/office/drawing/2014/main" id="{BDDF4B36-B599-4966-A5A2-ECCAEE1E7F6F}"/>
              </a:ext>
            </a:extLst>
          </p:cNvPr>
          <p:cNvSpPr>
            <a:spLocks xmlns:a="http://schemas.openxmlformats.org/drawingml/2006/main" noGrp="1"/>
          </p:cNvSpPr>
          <p:nvPr/>
        </p:nvSpPr>
        <p:spPr>
          <a:xfrm xmlns:a="http://schemas.openxmlformats.org/drawingml/2006/main">
            <a:off x="990600" y="521970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75985"/>
                </a:solidFill>
              </a:defRPr>
            </a:pPr>
            <a:r>
              <a:rPr sz="1275" b="1">
                <a:solidFill>
                  <a:srgbClr val="075985"/>
                </a:solidFill>
              </a:rPr>
              <a:t>RBAC + segregasi tugas</a:t>
            </a:r>
          </a:p>
        </p:txBody>
      </p:sp>
      <p:sp>
        <p:nvSpPr>
          <p:cNvPr id="12" name="">
            <a:extLst xmlns:a="http://schemas.openxmlformats.org/drawingml/2006/main">
              <a:ext uri="{FF2B5EF4-FFF2-40B4-BE49-F238E27FC236}">
                <a16:creationId xmlns:a16="http://schemas.microsoft.com/office/drawing/2014/main" id="{54022C3E-0419-42D1-AC9C-D34A552CDA42}"/>
              </a:ext>
            </a:extLst>
          </p:cNvPr>
          <p:cNvSpPr>
            <a:spLocks xmlns:a="http://schemas.openxmlformats.org/drawingml/2006/main" noGrp="1"/>
          </p:cNvSpPr>
          <p:nvPr/>
        </p:nvSpPr>
        <p:spPr>
          <a:xfrm xmlns:a="http://schemas.openxmlformats.org/drawingml/2006/main">
            <a:off x="44005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F766E"/>
                </a:solidFill>
              </a:defRPr>
            </a:pPr>
            <a:r>
              <a:rPr sz="1275" b="1">
                <a:solidFill>
                  <a:srgbClr val="0F766E"/>
                </a:solidFill>
              </a:rPr>
              <a:t>FLOWCHART</a:t>
            </a:r>
          </a:p>
        </p:txBody>
      </p:sp>
      <p:sp>
        <p:nvSpPr>
          <p:cNvPr id="13" name="">
            <a:extLst xmlns:a="http://schemas.openxmlformats.org/drawingml/2006/main">
              <a:ext uri="{FF2B5EF4-FFF2-40B4-BE49-F238E27FC236}">
                <a16:creationId xmlns:a16="http://schemas.microsoft.com/office/drawing/2014/main" id="{01AC8897-D32B-42FA-9C4A-1AFEB7DD2AD6}"/>
              </a:ext>
            </a:extLst>
          </p:cNvPr>
          <p:cNvSpPr>
            <a:spLocks xmlns:a="http://schemas.openxmlformats.org/drawingml/2006/main" noGrp="1"/>
          </p:cNvSpPr>
          <p:nvPr/>
        </p:nvSpPr>
        <p:spPr>
          <a:xfrm xmlns:a="http://schemas.openxmlformats.org/drawingml/2006/main">
            <a:off x="4400550" y="2009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0BCF5A06-443B-493D-826F-D745EF6FBA2A}"/>
              </a:ext>
            </a:extLst>
          </p:cNvPr>
          <p:cNvSpPr>
            <a:spLocks xmlns:a="http://schemas.openxmlformats.org/drawingml/2006/main" noGrp="1"/>
          </p:cNvSpPr>
          <p:nvPr/>
        </p:nvSpPr>
        <p:spPr>
          <a:xfrm xmlns:a="http://schemas.openxmlformats.org/drawingml/2006/main">
            <a:off x="4533900" y="2114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1. Pilih laporan</a:t>
            </a:r>
          </a:p>
        </p:txBody>
      </p:sp>
      <p:sp>
        <p:nvSpPr>
          <p:cNvPr id="15" name="">
            <a:extLst xmlns:a="http://schemas.openxmlformats.org/drawingml/2006/main">
              <a:ext uri="{FF2B5EF4-FFF2-40B4-BE49-F238E27FC236}">
                <a16:creationId xmlns:a16="http://schemas.microsoft.com/office/drawing/2014/main" id="{36ED695D-A61D-4A73-82FB-0940CF144ECC}"/>
              </a:ext>
            </a:extLst>
          </p:cNvPr>
          <p:cNvSpPr>
            <a:spLocks xmlns:a="http://schemas.openxmlformats.org/drawingml/2006/main" noGrp="1"/>
          </p:cNvSpPr>
          <p:nvPr/>
        </p:nvSpPr>
        <p:spPr>
          <a:xfrm xmlns:a="http://schemas.openxmlformats.org/drawingml/2006/main">
            <a:off x="5676900" y="2409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6" name="">
            <a:extLst xmlns:a="http://schemas.openxmlformats.org/drawingml/2006/main">
              <a:ext uri="{FF2B5EF4-FFF2-40B4-BE49-F238E27FC236}">
                <a16:creationId xmlns:a16="http://schemas.microsoft.com/office/drawing/2014/main" id="{AB4FBD4F-E418-4A47-961B-DF8E221BD5F3}"/>
              </a:ext>
            </a:extLst>
          </p:cNvPr>
          <p:cNvSpPr>
            <a:spLocks xmlns:a="http://schemas.openxmlformats.org/drawingml/2006/main" noGrp="1"/>
          </p:cNvSpPr>
          <p:nvPr/>
        </p:nvSpPr>
        <p:spPr>
          <a:xfrm xmlns:a="http://schemas.openxmlformats.org/drawingml/2006/main">
            <a:off x="4400550" y="2581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7" name="">
            <a:extLst xmlns:a="http://schemas.openxmlformats.org/drawingml/2006/main">
              <a:ext uri="{FF2B5EF4-FFF2-40B4-BE49-F238E27FC236}">
                <a16:creationId xmlns:a16="http://schemas.microsoft.com/office/drawing/2014/main" id="{8042EE7A-BAAD-475A-AAA8-584EDD5C8328}"/>
              </a:ext>
            </a:extLst>
          </p:cNvPr>
          <p:cNvSpPr>
            <a:spLocks xmlns:a="http://schemas.openxmlformats.org/drawingml/2006/main" noGrp="1"/>
          </p:cNvSpPr>
          <p:nvPr/>
        </p:nvSpPr>
        <p:spPr>
          <a:xfrm xmlns:a="http://schemas.openxmlformats.org/drawingml/2006/main">
            <a:off x="4533900" y="2686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2. Atur periode</a:t>
            </a:r>
          </a:p>
        </p:txBody>
      </p:sp>
      <p:sp>
        <p:nvSpPr>
          <p:cNvPr id="18" name="">
            <a:extLst xmlns:a="http://schemas.openxmlformats.org/drawingml/2006/main">
              <a:ext uri="{FF2B5EF4-FFF2-40B4-BE49-F238E27FC236}">
                <a16:creationId xmlns:a16="http://schemas.microsoft.com/office/drawing/2014/main" id="{2CB881EF-59B9-4E20-BE4A-C3377F7146FA}"/>
              </a:ext>
            </a:extLst>
          </p:cNvPr>
          <p:cNvSpPr>
            <a:spLocks xmlns:a="http://schemas.openxmlformats.org/drawingml/2006/main" noGrp="1"/>
          </p:cNvSpPr>
          <p:nvPr/>
        </p:nvSpPr>
        <p:spPr>
          <a:xfrm xmlns:a="http://schemas.openxmlformats.org/drawingml/2006/main">
            <a:off x="5676900" y="2981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9" name="">
            <a:extLst xmlns:a="http://schemas.openxmlformats.org/drawingml/2006/main">
              <a:ext uri="{FF2B5EF4-FFF2-40B4-BE49-F238E27FC236}">
                <a16:creationId xmlns:a16="http://schemas.microsoft.com/office/drawing/2014/main" id="{8655BA09-856D-44DE-9044-B6A9A0D43F62}"/>
              </a:ext>
            </a:extLst>
          </p:cNvPr>
          <p:cNvSpPr>
            <a:spLocks xmlns:a="http://schemas.openxmlformats.org/drawingml/2006/main" noGrp="1"/>
          </p:cNvSpPr>
          <p:nvPr/>
        </p:nvSpPr>
        <p:spPr>
          <a:xfrm xmlns:a="http://schemas.openxmlformats.org/drawingml/2006/main">
            <a:off x="4400550" y="3152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0" name="">
            <a:extLst xmlns:a="http://schemas.openxmlformats.org/drawingml/2006/main">
              <a:ext uri="{FF2B5EF4-FFF2-40B4-BE49-F238E27FC236}">
                <a16:creationId xmlns:a16="http://schemas.microsoft.com/office/drawing/2014/main" id="{9F94BF3B-6FFC-4CD6-B766-67FCDF04A927}"/>
              </a:ext>
            </a:extLst>
          </p:cNvPr>
          <p:cNvSpPr>
            <a:spLocks xmlns:a="http://schemas.openxmlformats.org/drawingml/2006/main" noGrp="1"/>
          </p:cNvSpPr>
          <p:nvPr/>
        </p:nvSpPr>
        <p:spPr>
          <a:xfrm xmlns:a="http://schemas.openxmlformats.org/drawingml/2006/main">
            <a:off x="4533900" y="3257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3. Terapkan filter</a:t>
            </a:r>
          </a:p>
        </p:txBody>
      </p:sp>
      <p:sp>
        <p:nvSpPr>
          <p:cNvPr id="21" name="">
            <a:extLst xmlns:a="http://schemas.openxmlformats.org/drawingml/2006/main">
              <a:ext uri="{FF2B5EF4-FFF2-40B4-BE49-F238E27FC236}">
                <a16:creationId xmlns:a16="http://schemas.microsoft.com/office/drawing/2014/main" id="{5ECA8898-EFB9-4671-875A-A3157769E726}"/>
              </a:ext>
            </a:extLst>
          </p:cNvPr>
          <p:cNvSpPr>
            <a:spLocks xmlns:a="http://schemas.openxmlformats.org/drawingml/2006/main" noGrp="1"/>
          </p:cNvSpPr>
          <p:nvPr/>
        </p:nvSpPr>
        <p:spPr>
          <a:xfrm xmlns:a="http://schemas.openxmlformats.org/drawingml/2006/main">
            <a:off x="5676900" y="3552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2" name="">
            <a:extLst xmlns:a="http://schemas.openxmlformats.org/drawingml/2006/main">
              <a:ext uri="{FF2B5EF4-FFF2-40B4-BE49-F238E27FC236}">
                <a16:creationId xmlns:a16="http://schemas.microsoft.com/office/drawing/2014/main" id="{B6E06011-6C62-40A7-817C-07A0761F47F2}"/>
              </a:ext>
            </a:extLst>
          </p:cNvPr>
          <p:cNvSpPr>
            <a:spLocks xmlns:a="http://schemas.openxmlformats.org/drawingml/2006/main" noGrp="1"/>
          </p:cNvSpPr>
          <p:nvPr/>
        </p:nvSpPr>
        <p:spPr>
          <a:xfrm xmlns:a="http://schemas.openxmlformats.org/drawingml/2006/main">
            <a:off x="4400550" y="3724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3" name="">
            <a:extLst xmlns:a="http://schemas.openxmlformats.org/drawingml/2006/main">
              <a:ext uri="{FF2B5EF4-FFF2-40B4-BE49-F238E27FC236}">
                <a16:creationId xmlns:a16="http://schemas.microsoft.com/office/drawing/2014/main" id="{BFC17A0A-5DB2-4D65-AD9D-9F2A431E48E2}"/>
              </a:ext>
            </a:extLst>
          </p:cNvPr>
          <p:cNvSpPr>
            <a:spLocks xmlns:a="http://schemas.openxmlformats.org/drawingml/2006/main" noGrp="1"/>
          </p:cNvSpPr>
          <p:nvPr/>
        </p:nvSpPr>
        <p:spPr>
          <a:xfrm xmlns:a="http://schemas.openxmlformats.org/drawingml/2006/main">
            <a:off x="4533900" y="3829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4. Tampilkan agregat</a:t>
            </a:r>
          </a:p>
        </p:txBody>
      </p:sp>
      <p:sp>
        <p:nvSpPr>
          <p:cNvPr id="24" name="">
            <a:extLst xmlns:a="http://schemas.openxmlformats.org/drawingml/2006/main">
              <a:ext uri="{FF2B5EF4-FFF2-40B4-BE49-F238E27FC236}">
                <a16:creationId xmlns:a16="http://schemas.microsoft.com/office/drawing/2014/main" id="{75909A8A-9F75-442B-8386-A39EB06B4F39}"/>
              </a:ext>
            </a:extLst>
          </p:cNvPr>
          <p:cNvSpPr>
            <a:spLocks xmlns:a="http://schemas.openxmlformats.org/drawingml/2006/main" noGrp="1"/>
          </p:cNvSpPr>
          <p:nvPr/>
        </p:nvSpPr>
        <p:spPr>
          <a:xfrm xmlns:a="http://schemas.openxmlformats.org/drawingml/2006/main">
            <a:off x="5676900" y="4124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5" name="">
            <a:extLst xmlns:a="http://schemas.openxmlformats.org/drawingml/2006/main">
              <a:ext uri="{FF2B5EF4-FFF2-40B4-BE49-F238E27FC236}">
                <a16:creationId xmlns:a16="http://schemas.microsoft.com/office/drawing/2014/main" id="{F93D1153-066F-4C48-AD8A-EF1936140669}"/>
              </a:ext>
            </a:extLst>
          </p:cNvPr>
          <p:cNvSpPr>
            <a:spLocks xmlns:a="http://schemas.openxmlformats.org/drawingml/2006/main" noGrp="1"/>
          </p:cNvSpPr>
          <p:nvPr/>
        </p:nvSpPr>
        <p:spPr>
          <a:xfrm xmlns:a="http://schemas.openxmlformats.org/drawingml/2006/main">
            <a:off x="4400550" y="4295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6" name="">
            <a:extLst xmlns:a="http://schemas.openxmlformats.org/drawingml/2006/main">
              <a:ext uri="{FF2B5EF4-FFF2-40B4-BE49-F238E27FC236}">
                <a16:creationId xmlns:a16="http://schemas.microsoft.com/office/drawing/2014/main" id="{7762DE69-F44A-4F86-AF34-2FFB623055BE}"/>
              </a:ext>
            </a:extLst>
          </p:cNvPr>
          <p:cNvSpPr>
            <a:spLocks xmlns:a="http://schemas.openxmlformats.org/drawingml/2006/main" noGrp="1"/>
          </p:cNvSpPr>
          <p:nvPr/>
        </p:nvSpPr>
        <p:spPr>
          <a:xfrm xmlns:a="http://schemas.openxmlformats.org/drawingml/2006/main">
            <a:off x="4533900" y="4400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5. Drill-down dokumen</a:t>
            </a:r>
          </a:p>
        </p:txBody>
      </p:sp>
      <p:sp>
        <p:nvSpPr>
          <p:cNvPr id="27" name="">
            <a:extLst xmlns:a="http://schemas.openxmlformats.org/drawingml/2006/main">
              <a:ext uri="{FF2B5EF4-FFF2-40B4-BE49-F238E27FC236}">
                <a16:creationId xmlns:a16="http://schemas.microsoft.com/office/drawing/2014/main" id="{A291EF28-BA3E-40F6-949C-63FD8C05E47A}"/>
              </a:ext>
            </a:extLst>
          </p:cNvPr>
          <p:cNvSpPr>
            <a:spLocks xmlns:a="http://schemas.openxmlformats.org/drawingml/2006/main" noGrp="1"/>
          </p:cNvSpPr>
          <p:nvPr/>
        </p:nvSpPr>
        <p:spPr>
          <a:xfrm xmlns:a="http://schemas.openxmlformats.org/drawingml/2006/main">
            <a:off x="5676900" y="4695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8" name="">
            <a:extLst xmlns:a="http://schemas.openxmlformats.org/drawingml/2006/main">
              <a:ext uri="{FF2B5EF4-FFF2-40B4-BE49-F238E27FC236}">
                <a16:creationId xmlns:a16="http://schemas.microsoft.com/office/drawing/2014/main" id="{19862AF3-416A-4CB7-ABD3-68B77A9DFB2E}"/>
              </a:ext>
            </a:extLst>
          </p:cNvPr>
          <p:cNvSpPr>
            <a:spLocks xmlns:a="http://schemas.openxmlformats.org/drawingml/2006/main" noGrp="1"/>
          </p:cNvSpPr>
          <p:nvPr/>
        </p:nvSpPr>
        <p:spPr>
          <a:xfrm xmlns:a="http://schemas.openxmlformats.org/drawingml/2006/main">
            <a:off x="4400550" y="4867275"/>
            <a:ext cx="2857500" cy="409575"/>
          </a:xfrm>
          <a:prstGeom xmlns:a="http://schemas.openxmlformats.org/drawingml/2006/main" prst="roundRect">
            <a:avLst>
              <a:gd name="adj" fmla="val 18605"/>
            </a:avLst>
          </a:prstGeom>
          <a:solidFill xmlns:a="http://schemas.openxmlformats.org/drawingml/2006/main">
            <a:srgbClr val="DCFCE7"/>
          </a:solidFill>
          <a:ln xmlns:a="http://schemas.openxmlformats.org/drawingml/2006/main" w="9525">
            <a:solidFill>
              <a:srgbClr val="15803D"/>
            </a:solidFill>
            <a:prstDash val="solid"/>
          </a:ln>
        </p:spPr>
      </p:sp>
      <p:sp>
        <p:nvSpPr>
          <p:cNvPr id="29" name="">
            <a:extLst xmlns:a="http://schemas.openxmlformats.org/drawingml/2006/main">
              <a:ext uri="{FF2B5EF4-FFF2-40B4-BE49-F238E27FC236}">
                <a16:creationId xmlns:a16="http://schemas.microsoft.com/office/drawing/2014/main" id="{EB74EFD6-8345-4138-9986-EB07E1AD7737}"/>
              </a:ext>
            </a:extLst>
          </p:cNvPr>
          <p:cNvSpPr>
            <a:spLocks xmlns:a="http://schemas.openxmlformats.org/drawingml/2006/main" noGrp="1"/>
          </p:cNvSpPr>
          <p:nvPr/>
        </p:nvSpPr>
        <p:spPr>
          <a:xfrm xmlns:a="http://schemas.openxmlformats.org/drawingml/2006/main">
            <a:off x="4533900" y="4972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2033"/>
                </a:solidFill>
              </a:defRPr>
            </a:pPr>
            <a:r>
              <a:rPr sz="1200" b="1">
                <a:solidFill>
                  <a:srgbClr val="172033"/>
                </a:solidFill>
              </a:rPr>
              <a:t>6. Ekspor/rekonsiliasi</a:t>
            </a:r>
          </a:p>
        </p:txBody>
      </p:sp>
      <p:sp>
        <p:nvSpPr>
          <p:cNvPr id="30" name="">
            <a:extLst xmlns:a="http://schemas.openxmlformats.org/drawingml/2006/main">
              <a:ext uri="{FF2B5EF4-FFF2-40B4-BE49-F238E27FC236}">
                <a16:creationId xmlns:a16="http://schemas.microsoft.com/office/drawing/2014/main" id="{D05D4946-9531-4354-853D-677B47955DD0}"/>
              </a:ext>
            </a:extLst>
          </p:cNvPr>
          <p:cNvSpPr>
            <a:spLocks xmlns:a="http://schemas.openxmlformats.org/drawingml/2006/main" noGrp="1"/>
          </p:cNvSpPr>
          <p:nvPr/>
        </p:nvSpPr>
        <p:spPr>
          <a:xfrm xmlns:a="http://schemas.openxmlformats.org/drawingml/2006/main">
            <a:off x="79819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7C3AED"/>
                </a:solidFill>
              </a:defRPr>
            </a:pPr>
            <a:r>
              <a:rPr sz="1275" b="1">
                <a:solidFill>
                  <a:srgbClr val="7C3AED"/>
                </a:solidFill>
              </a:rPr>
              <a:t>ERD / DATA FLOW</a:t>
            </a:r>
          </a:p>
        </p:txBody>
      </p:sp>
      <p:sp>
        <p:nvSpPr>
          <p:cNvPr id="31" name="">
            <a:extLst xmlns:a="http://schemas.openxmlformats.org/drawingml/2006/main">
              <a:ext uri="{FF2B5EF4-FFF2-40B4-BE49-F238E27FC236}">
                <a16:creationId xmlns:a16="http://schemas.microsoft.com/office/drawing/2014/main" id="{A41A9A9C-7C01-4F00-AFA1-FDCB08304F34}"/>
              </a:ext>
            </a:extLst>
          </p:cNvPr>
          <p:cNvSpPr>
            <a:spLocks xmlns:a="http://schemas.openxmlformats.org/drawingml/2006/main" noGrp="1"/>
          </p:cNvSpPr>
          <p:nvPr/>
        </p:nvSpPr>
        <p:spPr>
          <a:xfrm xmlns:a="http://schemas.openxmlformats.org/drawingml/2006/main">
            <a:off x="7981950" y="2009775"/>
            <a:ext cx="2857500" cy="476250"/>
          </a:xfrm>
          <a:prstGeom xmlns:a="http://schemas.openxmlformats.org/drawingml/2006/main" prst="roundRect">
            <a:avLst>
              <a:gd name="adj" fmla="val 16000"/>
            </a:avLst>
          </a:prstGeom>
          <a:solidFill xmlns:a="http://schemas.openxmlformats.org/drawingml/2006/main">
            <a:srgbClr val="EDE9FE"/>
          </a:solidFill>
          <a:ln xmlns:a="http://schemas.openxmlformats.org/drawingml/2006/main" w="9525">
            <a:solidFill>
              <a:srgbClr val="7C3AED"/>
            </a:solidFill>
            <a:prstDash val="solid"/>
          </a:ln>
        </p:spPr>
      </p:sp>
      <p:sp>
        <p:nvSpPr>
          <p:cNvPr id="32" name="">
            <a:extLst xmlns:a="http://schemas.openxmlformats.org/drawingml/2006/main">
              <a:ext uri="{FF2B5EF4-FFF2-40B4-BE49-F238E27FC236}">
                <a16:creationId xmlns:a16="http://schemas.microsoft.com/office/drawing/2014/main" id="{B098DE98-5A98-42CA-A890-90A5F7284D4E}"/>
              </a:ext>
            </a:extLst>
          </p:cNvPr>
          <p:cNvSpPr>
            <a:spLocks xmlns:a="http://schemas.openxmlformats.org/drawingml/2006/main" noGrp="1"/>
          </p:cNvSpPr>
          <p:nvPr/>
        </p:nvSpPr>
        <p:spPr>
          <a:xfrm xmlns:a="http://schemas.openxmlformats.org/drawingml/2006/main">
            <a:off x="8115300" y="21336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72033"/>
                </a:solidFill>
              </a:defRPr>
            </a:pPr>
            <a:r>
              <a:rPr sz="1200" b="1">
                <a:solidFill>
                  <a:srgbClr val="172033"/>
                </a:solidFill>
              </a:rPr>
              <a:t>PENJUALAN • header/detail</a:t>
            </a:r>
          </a:p>
        </p:txBody>
      </p:sp>
      <p:sp>
        <p:nvSpPr>
          <p:cNvPr id="33" name="">
            <a:extLst xmlns:a="http://schemas.openxmlformats.org/drawingml/2006/main">
              <a:ext uri="{FF2B5EF4-FFF2-40B4-BE49-F238E27FC236}">
                <a16:creationId xmlns:a16="http://schemas.microsoft.com/office/drawing/2014/main" id="{A2430060-2268-47DD-86A4-A5956915E0B4}"/>
              </a:ext>
            </a:extLst>
          </p:cNvPr>
          <p:cNvSpPr>
            <a:spLocks xmlns:a="http://schemas.openxmlformats.org/drawingml/2006/main" noGrp="1"/>
          </p:cNvSpPr>
          <p:nvPr/>
        </p:nvSpPr>
        <p:spPr>
          <a:xfrm xmlns:a="http://schemas.openxmlformats.org/drawingml/2006/main">
            <a:off x="8991600" y="24669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4" name="">
            <a:extLst xmlns:a="http://schemas.openxmlformats.org/drawingml/2006/main">
              <a:ext uri="{FF2B5EF4-FFF2-40B4-BE49-F238E27FC236}">
                <a16:creationId xmlns:a16="http://schemas.microsoft.com/office/drawing/2014/main" id="{D8FD367C-E83C-4F21-9628-8F42202869FD}"/>
              </a:ext>
            </a:extLst>
          </p:cNvPr>
          <p:cNvSpPr>
            <a:spLocks xmlns:a="http://schemas.openxmlformats.org/drawingml/2006/main" noGrp="1"/>
          </p:cNvSpPr>
          <p:nvPr/>
        </p:nvSpPr>
        <p:spPr>
          <a:xfrm xmlns:a="http://schemas.openxmlformats.org/drawingml/2006/main">
            <a:off x="7981950" y="266700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5" name="">
            <a:extLst xmlns:a="http://schemas.openxmlformats.org/drawingml/2006/main">
              <a:ext uri="{FF2B5EF4-FFF2-40B4-BE49-F238E27FC236}">
                <a16:creationId xmlns:a16="http://schemas.microsoft.com/office/drawing/2014/main" id="{099DB04F-B0AC-47AA-80B3-759EC7518798}"/>
              </a:ext>
            </a:extLst>
          </p:cNvPr>
          <p:cNvSpPr>
            <a:spLocks xmlns:a="http://schemas.openxmlformats.org/drawingml/2006/main" noGrp="1"/>
          </p:cNvSpPr>
          <p:nvPr/>
        </p:nvSpPr>
        <p:spPr>
          <a:xfrm xmlns:a="http://schemas.openxmlformats.org/drawingml/2006/main">
            <a:off x="8115300" y="279082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PENGADAAN • PR-PO-BAST</a:t>
            </a:r>
          </a:p>
        </p:txBody>
      </p:sp>
      <p:sp>
        <p:nvSpPr>
          <p:cNvPr id="36" name="">
            <a:extLst xmlns:a="http://schemas.openxmlformats.org/drawingml/2006/main">
              <a:ext uri="{FF2B5EF4-FFF2-40B4-BE49-F238E27FC236}">
                <a16:creationId xmlns:a16="http://schemas.microsoft.com/office/drawing/2014/main" id="{F55752C2-A5AC-446E-A411-96CF6765B612}"/>
              </a:ext>
            </a:extLst>
          </p:cNvPr>
          <p:cNvSpPr>
            <a:spLocks xmlns:a="http://schemas.openxmlformats.org/drawingml/2006/main" noGrp="1"/>
          </p:cNvSpPr>
          <p:nvPr/>
        </p:nvSpPr>
        <p:spPr>
          <a:xfrm xmlns:a="http://schemas.openxmlformats.org/drawingml/2006/main">
            <a:off x="8991600" y="31242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7" name="">
            <a:extLst xmlns:a="http://schemas.openxmlformats.org/drawingml/2006/main">
              <a:ext uri="{FF2B5EF4-FFF2-40B4-BE49-F238E27FC236}">
                <a16:creationId xmlns:a16="http://schemas.microsoft.com/office/drawing/2014/main" id="{D6B7371B-67B0-4D19-A5F9-A95B58B23302}"/>
              </a:ext>
            </a:extLst>
          </p:cNvPr>
          <p:cNvSpPr>
            <a:spLocks xmlns:a="http://schemas.openxmlformats.org/drawingml/2006/main" noGrp="1"/>
          </p:cNvSpPr>
          <p:nvPr/>
        </p:nvSpPr>
        <p:spPr>
          <a:xfrm xmlns:a="http://schemas.openxmlformats.org/drawingml/2006/main">
            <a:off x="7981950" y="332422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8" name="">
            <a:extLst xmlns:a="http://schemas.openxmlformats.org/drawingml/2006/main">
              <a:ext uri="{FF2B5EF4-FFF2-40B4-BE49-F238E27FC236}">
                <a16:creationId xmlns:a16="http://schemas.microsoft.com/office/drawing/2014/main" id="{9CDFC308-9BB3-431D-8C25-2E46FA1750DC}"/>
              </a:ext>
            </a:extLst>
          </p:cNvPr>
          <p:cNvSpPr>
            <a:spLocks xmlns:a="http://schemas.openxmlformats.org/drawingml/2006/main" noGrp="1"/>
          </p:cNvSpPr>
          <p:nvPr/>
        </p:nvSpPr>
        <p:spPr>
          <a:xfrm xmlns:a="http://schemas.openxmlformats.org/drawingml/2006/main">
            <a:off x="8115300" y="344805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FILTER • periode/toko</a:t>
            </a:r>
          </a:p>
        </p:txBody>
      </p:sp>
      <p:sp>
        <p:nvSpPr>
          <p:cNvPr id="39" name="">
            <a:extLst xmlns:a="http://schemas.openxmlformats.org/drawingml/2006/main">
              <a:ext uri="{FF2B5EF4-FFF2-40B4-BE49-F238E27FC236}">
                <a16:creationId xmlns:a16="http://schemas.microsoft.com/office/drawing/2014/main" id="{85681240-018A-41B0-BF61-A220759715C2}"/>
              </a:ext>
            </a:extLst>
          </p:cNvPr>
          <p:cNvSpPr>
            <a:spLocks xmlns:a="http://schemas.openxmlformats.org/drawingml/2006/main" noGrp="1"/>
          </p:cNvSpPr>
          <p:nvPr/>
        </p:nvSpPr>
        <p:spPr>
          <a:xfrm xmlns:a="http://schemas.openxmlformats.org/drawingml/2006/main">
            <a:off x="8991600" y="378142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0" name="">
            <a:extLst xmlns:a="http://schemas.openxmlformats.org/drawingml/2006/main">
              <a:ext uri="{FF2B5EF4-FFF2-40B4-BE49-F238E27FC236}">
                <a16:creationId xmlns:a16="http://schemas.microsoft.com/office/drawing/2014/main" id="{5547C624-AAB3-45AF-8E5A-FAE40F1FF32C}"/>
              </a:ext>
            </a:extLst>
          </p:cNvPr>
          <p:cNvSpPr>
            <a:spLocks xmlns:a="http://schemas.openxmlformats.org/drawingml/2006/main" noGrp="1"/>
          </p:cNvSpPr>
          <p:nvPr/>
        </p:nvSpPr>
        <p:spPr>
          <a:xfrm xmlns:a="http://schemas.openxmlformats.org/drawingml/2006/main">
            <a:off x="7981950" y="398145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1" name="">
            <a:extLst xmlns:a="http://schemas.openxmlformats.org/drawingml/2006/main">
              <a:ext uri="{FF2B5EF4-FFF2-40B4-BE49-F238E27FC236}">
                <a16:creationId xmlns:a16="http://schemas.microsoft.com/office/drawing/2014/main" id="{2EB286F8-415C-4825-B7BA-F76C51D8FDA5}"/>
              </a:ext>
            </a:extLst>
          </p:cNvPr>
          <p:cNvSpPr>
            <a:spLocks xmlns:a="http://schemas.openxmlformats.org/drawingml/2006/main" noGrp="1"/>
          </p:cNvSpPr>
          <p:nvPr/>
        </p:nvSpPr>
        <p:spPr>
          <a:xfrm xmlns:a="http://schemas.openxmlformats.org/drawingml/2006/main">
            <a:off x="8115300" y="410527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AGREGAT • qty/nilai</a:t>
            </a:r>
          </a:p>
        </p:txBody>
      </p:sp>
      <p:sp>
        <p:nvSpPr>
          <p:cNvPr id="42" name="">
            <a:extLst xmlns:a="http://schemas.openxmlformats.org/drawingml/2006/main">
              <a:ext uri="{FF2B5EF4-FFF2-40B4-BE49-F238E27FC236}">
                <a16:creationId xmlns:a16="http://schemas.microsoft.com/office/drawing/2014/main" id="{DDFA03CC-7FCD-4AE1-8555-51FE660F9E69}"/>
              </a:ext>
            </a:extLst>
          </p:cNvPr>
          <p:cNvSpPr>
            <a:spLocks xmlns:a="http://schemas.openxmlformats.org/drawingml/2006/main" noGrp="1"/>
          </p:cNvSpPr>
          <p:nvPr/>
        </p:nvSpPr>
        <p:spPr>
          <a:xfrm xmlns:a="http://schemas.openxmlformats.org/drawingml/2006/main">
            <a:off x="8991600" y="44386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3" name="">
            <a:extLst xmlns:a="http://schemas.openxmlformats.org/drawingml/2006/main">
              <a:ext uri="{FF2B5EF4-FFF2-40B4-BE49-F238E27FC236}">
                <a16:creationId xmlns:a16="http://schemas.microsoft.com/office/drawing/2014/main" id="{CD4756D5-0753-4EC5-B028-D2415C12A89D}"/>
              </a:ext>
            </a:extLst>
          </p:cNvPr>
          <p:cNvSpPr>
            <a:spLocks xmlns:a="http://schemas.openxmlformats.org/drawingml/2006/main" noGrp="1"/>
          </p:cNvSpPr>
          <p:nvPr/>
        </p:nvSpPr>
        <p:spPr>
          <a:xfrm xmlns:a="http://schemas.openxmlformats.org/drawingml/2006/main">
            <a:off x="7981950" y="463867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4" name="">
            <a:extLst xmlns:a="http://schemas.openxmlformats.org/drawingml/2006/main">
              <a:ext uri="{FF2B5EF4-FFF2-40B4-BE49-F238E27FC236}">
                <a16:creationId xmlns:a16="http://schemas.microsoft.com/office/drawing/2014/main" id="{4BF17C0F-EFC9-4D8B-A6E9-62A743440766}"/>
              </a:ext>
            </a:extLst>
          </p:cNvPr>
          <p:cNvSpPr>
            <a:spLocks xmlns:a="http://schemas.openxmlformats.org/drawingml/2006/main" noGrp="1"/>
          </p:cNvSpPr>
          <p:nvPr/>
        </p:nvSpPr>
        <p:spPr>
          <a:xfrm xmlns:a="http://schemas.openxmlformats.org/drawingml/2006/main">
            <a:off x="8115300" y="47625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EKSPOR • rekonsiliasi</a:t>
            </a:r>
          </a:p>
        </p:txBody>
      </p:sp>
      <p:sp>
        <p:nvSpPr>
          <p:cNvPr id="45" name="">
            <a:extLst xmlns:a="http://schemas.openxmlformats.org/drawingml/2006/main">
              <a:ext uri="{FF2B5EF4-FFF2-40B4-BE49-F238E27FC236}">
                <a16:creationId xmlns:a16="http://schemas.microsoft.com/office/drawing/2014/main" id="{D5BB0736-C09E-466B-B0A2-FCB95F16A528}"/>
              </a:ext>
            </a:extLst>
          </p:cNvPr>
          <p:cNvSpPr>
            <a:spLocks xmlns:a="http://schemas.openxmlformats.org/drawingml/2006/main" noGrp="1"/>
          </p:cNvSpPr>
          <p:nvPr/>
        </p:nvSpPr>
        <p:spPr>
          <a:xfrm xmlns:a="http://schemas.openxmlformats.org/drawingml/2006/main">
            <a:off x="7981950" y="5391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periode, toko, status dokumen, retur, diskon, pajak, dan pembatalan diperlakukan konsisten.</a:t>
            </a:r>
          </a:p>
        </p:txBody>
      </p:sp>
    </p:spTree>
    <p:extLst>
      <p:ext uri="{BB962C8B-B14F-4D97-AF65-F5344CB8AC3E}">
        <p14:creationId xmlns:p14="http://schemas.microsoft.com/office/powerpoint/2010/main" val="872678068"/>
      </p:ext>
    </p:extLst>
  </p:cSld>
</p:sld>
</file>

<file path=ppt/slides/slide2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3FB4C49-122C-47E3-BF73-6CD0683B8E11}"/>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BUKTI 9</a:t>
            </a:r>
          </a:p>
        </p:txBody>
      </p:sp>
      <p:sp>
        <p:nvSpPr>
          <p:cNvPr id="2" name="">
            <a:extLst xmlns:a="http://schemas.openxmlformats.org/drawingml/2006/main">
              <a:ext uri="{FF2B5EF4-FFF2-40B4-BE49-F238E27FC236}">
                <a16:creationId xmlns:a16="http://schemas.microsoft.com/office/drawing/2014/main" id="{37BCCCE2-D0C0-4FFB-9706-434CB1AD6A3E}"/>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Laporan Keuangan</a:t>
            </a:r>
          </a:p>
        </p:txBody>
      </p:sp>
      <p:sp>
        <p:nvSpPr>
          <p:cNvPr id="3" name="">
            <a:extLst xmlns:a="http://schemas.openxmlformats.org/drawingml/2006/main">
              <a:ext uri="{FF2B5EF4-FFF2-40B4-BE49-F238E27FC236}">
                <a16:creationId xmlns:a16="http://schemas.microsoft.com/office/drawing/2014/main" id="{722EC518-48EB-4811-9374-F1A3FAE5E7DD}"/>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20</a:t>
            </a:r>
          </a:p>
        </p:txBody>
      </p:sp>
      <p:sp>
        <p:nvSpPr>
          <p:cNvPr id="4" name="">
            <a:extLst xmlns:a="http://schemas.openxmlformats.org/drawingml/2006/main">
              <a:ext uri="{FF2B5EF4-FFF2-40B4-BE49-F238E27FC236}">
                <a16:creationId xmlns:a16="http://schemas.microsoft.com/office/drawing/2014/main" id="{F9830739-EDC0-4AA0-961C-04C66516C62A}"/>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20</a:t>
            </a:r>
          </a:p>
        </p:txBody>
      </p:sp>
      <p:sp>
        <p:nvSpPr>
          <p:cNvPr id="5" name="">
            <a:extLst xmlns:a="http://schemas.openxmlformats.org/drawingml/2006/main">
              <a:ext uri="{FF2B5EF4-FFF2-40B4-BE49-F238E27FC236}">
                <a16:creationId xmlns:a16="http://schemas.microsoft.com/office/drawing/2014/main" id="{3CFDD6FE-9E01-4383-A62E-458C0A26C4D0}"/>
              </a:ext>
            </a:extLst>
          </p:cNvPr>
          <p:cNvSpPr>
            <a:spLocks xmlns:a="http://schemas.openxmlformats.org/drawingml/2006/main" noGrp="1"/>
          </p:cNvSpPr>
          <p:nvPr/>
        </p:nvSpPr>
        <p:spPr>
          <a:xfrm xmlns:a="http://schemas.openxmlformats.org/drawingml/2006/main">
            <a:off x="609600" y="1352550"/>
            <a:ext cx="7239000" cy="4286250"/>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9E5EC"/>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47caf3e7e6747bc"/>
          <a:stretch xmlns:a="http://schemas.openxmlformats.org/drawingml/2006/main"/>
        </p:blipFill>
        <p:spPr>
          <a:xfrm xmlns:a="http://schemas.openxmlformats.org/drawingml/2006/main">
            <a:off x="742950" y="1534716"/>
            <a:ext cx="6972300" cy="3921919"/>
          </a:xfrm>
          <a:prstGeom xmlns:a="http://schemas.openxmlformats.org/drawingml/2006/main" prst="roundRect">
            <a:avLst>
              <a:gd name="adj" fmla="val 2844"/>
            </a:avLst>
          </a:prstGeom>
        </p:spPr>
      </p:pic>
      <p:sp>
        <p:nvSpPr>
          <p:cNvPr id="7" name="">
            <a:extLst xmlns:a="http://schemas.openxmlformats.org/drawingml/2006/main">
              <a:ext uri="{FF2B5EF4-FFF2-40B4-BE49-F238E27FC236}">
                <a16:creationId xmlns:a16="http://schemas.microsoft.com/office/drawing/2014/main" id="{C74F53F5-92DD-4679-BBD5-8FA18D50C5AC}"/>
              </a:ext>
            </a:extLst>
          </p:cNvPr>
          <p:cNvSpPr>
            <a:spLocks xmlns:a="http://schemas.openxmlformats.org/drawingml/2006/main" noGrp="1"/>
          </p:cNvSpPr>
          <p:nvPr/>
        </p:nvSpPr>
        <p:spPr>
          <a:xfrm xmlns:a="http://schemas.openxmlformats.org/drawingml/2006/main">
            <a:off x="8096250" y="1352550"/>
            <a:ext cx="3105150" cy="990600"/>
          </a:xfrm>
          <a:prstGeom xmlns:a="http://schemas.openxmlformats.org/drawingml/2006/main" prst="roundRect">
            <a:avLst>
              <a:gd name="adj" fmla="val 11538"/>
            </a:avLst>
          </a:prstGeom>
          <a:solidFill xmlns:a="http://schemas.openxmlformats.org/drawingml/2006/main">
            <a:srgbClr val="FFF7ED"/>
          </a:solidFill>
          <a:ln xmlns:a="http://schemas.openxmlformats.org/drawingml/2006/main" w="9525">
            <a:solidFill>
              <a:srgbClr val="B45309"/>
            </a:solidFill>
            <a:prstDash val="solid"/>
          </a:ln>
        </p:spPr>
      </p:sp>
      <p:sp>
        <p:nvSpPr>
          <p:cNvPr id="8" name="">
            <a:extLst xmlns:a="http://schemas.openxmlformats.org/drawingml/2006/main">
              <a:ext uri="{FF2B5EF4-FFF2-40B4-BE49-F238E27FC236}">
                <a16:creationId xmlns:a16="http://schemas.microsoft.com/office/drawing/2014/main" id="{55BB1BD6-7192-4087-929B-541821802D80}"/>
              </a:ext>
            </a:extLst>
          </p:cNvPr>
          <p:cNvSpPr>
            <a:spLocks xmlns:a="http://schemas.openxmlformats.org/drawingml/2006/main" noGrp="1"/>
          </p:cNvSpPr>
          <p:nvPr/>
        </p:nvSpPr>
        <p:spPr>
          <a:xfrm xmlns:a="http://schemas.openxmlformats.org/drawingml/2006/main">
            <a:off x="8305800" y="15049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B45309"/>
                </a:solidFill>
              </a:defRPr>
            </a:pPr>
            <a:r>
              <a:rPr sz="975" b="1">
                <a:solidFill>
                  <a:srgbClr val="B45309"/>
                </a:solidFill>
              </a:rPr>
              <a:t>STATUS</a:t>
            </a:r>
          </a:p>
        </p:txBody>
      </p:sp>
      <p:sp>
        <p:nvSpPr>
          <p:cNvPr id="9" name="">
            <a:extLst xmlns:a="http://schemas.openxmlformats.org/drawingml/2006/main">
              <a:ext uri="{FF2B5EF4-FFF2-40B4-BE49-F238E27FC236}">
                <a16:creationId xmlns:a16="http://schemas.microsoft.com/office/drawing/2014/main" id="{D1990639-0389-4236-8B9E-21B5383885C2}"/>
              </a:ext>
            </a:extLst>
          </p:cNvPr>
          <p:cNvSpPr>
            <a:spLocks xmlns:a="http://schemas.openxmlformats.org/drawingml/2006/main" noGrp="1"/>
          </p:cNvSpPr>
          <p:nvPr/>
        </p:nvSpPr>
        <p:spPr>
          <a:xfrm xmlns:a="http://schemas.openxmlformats.org/drawingml/2006/main">
            <a:off x="8305800" y="17526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45309"/>
                </a:solidFill>
              </a:defRPr>
            </a:pPr>
            <a:r>
              <a:rPr sz="1200" b="1">
                <a:solidFill>
                  <a:srgbClr val="B45309"/>
                </a:solidFill>
              </a:rPr>
              <a:t>PASS render / BLOCKED rekonsiliasi angka dan beberapa backend</a:t>
            </a:r>
          </a:p>
        </p:txBody>
      </p:sp>
      <p:sp>
        <p:nvSpPr>
          <p:cNvPr id="10" name="">
            <a:extLst xmlns:a="http://schemas.openxmlformats.org/drawingml/2006/main">
              <a:ext uri="{FF2B5EF4-FFF2-40B4-BE49-F238E27FC236}">
                <a16:creationId xmlns:a16="http://schemas.microsoft.com/office/drawing/2014/main" id="{688E37D8-72B4-40CF-AC89-ABFC8E549DA4}"/>
              </a:ext>
            </a:extLst>
          </p:cNvPr>
          <p:cNvSpPr>
            <a:spLocks xmlns:a="http://schemas.openxmlformats.org/drawingml/2006/main" noGrp="1"/>
          </p:cNvSpPr>
          <p:nvPr/>
        </p:nvSpPr>
        <p:spPr>
          <a:xfrm xmlns:a="http://schemas.openxmlformats.org/drawingml/2006/main">
            <a:off x="8096250" y="2476500"/>
            <a:ext cx="3105150" cy="3162300"/>
          </a:xfrm>
          <a:prstGeom xmlns:a="http://schemas.openxmlformats.org/drawingml/2006/main" prst="roundRect">
            <a:avLst>
              <a:gd name="adj" fmla="val 4908"/>
            </a:avLst>
          </a:prstGeom>
          <a:solidFill xmlns:a="http://schemas.openxmlformats.org/drawingml/2006/main">
            <a:srgbClr val="FFFFFF"/>
          </a:solidFill>
          <a:ln xmlns:a="http://schemas.openxmlformats.org/drawingml/2006/main" w="9525">
            <a:solidFill>
              <a:srgbClr val="D9E5EC"/>
            </a:solidFill>
            <a:prstDash val="solid"/>
          </a:ln>
        </p:spPr>
      </p:sp>
      <p:sp>
        <p:nvSpPr>
          <p:cNvPr id="11" name="">
            <a:extLst xmlns:a="http://schemas.openxmlformats.org/drawingml/2006/main">
              <a:ext uri="{FF2B5EF4-FFF2-40B4-BE49-F238E27FC236}">
                <a16:creationId xmlns:a16="http://schemas.microsoft.com/office/drawing/2014/main" id="{7B1F8DF1-ABD4-4E7E-99AA-14D6FE6B5391}"/>
              </a:ext>
            </a:extLst>
          </p:cNvPr>
          <p:cNvSpPr>
            <a:spLocks xmlns:a="http://schemas.openxmlformats.org/drawingml/2006/main" noGrp="1"/>
          </p:cNvSpPr>
          <p:nvPr/>
        </p:nvSpPr>
        <p:spPr>
          <a:xfrm xmlns:a="http://schemas.openxmlformats.org/drawingml/2006/main">
            <a:off x="8305800" y="26860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F766E"/>
                </a:solidFill>
              </a:defRPr>
            </a:pPr>
            <a:r>
              <a:rPr sz="1050" b="1">
                <a:solidFill>
                  <a:srgbClr val="0F766E"/>
                </a:solidFill>
              </a:rPr>
              <a:t>HASIL AKTUAL</a:t>
            </a:r>
          </a:p>
        </p:txBody>
      </p:sp>
      <p:sp>
        <p:nvSpPr>
          <p:cNvPr id="12" name="">
            <a:extLst xmlns:a="http://schemas.openxmlformats.org/drawingml/2006/main">
              <a:ext uri="{FF2B5EF4-FFF2-40B4-BE49-F238E27FC236}">
                <a16:creationId xmlns:a16="http://schemas.microsoft.com/office/drawing/2014/main" id="{92D74E0E-1467-45C2-8F0A-4616F104C265}"/>
              </a:ext>
            </a:extLst>
          </p:cNvPr>
          <p:cNvSpPr>
            <a:spLocks xmlns:a="http://schemas.openxmlformats.org/drawingml/2006/main" noGrp="1"/>
          </p:cNvSpPr>
          <p:nvPr/>
        </p:nvSpPr>
        <p:spPr>
          <a:xfrm xmlns:a="http://schemas.openxmlformats.org/drawingml/2006/main">
            <a:off x="8305800" y="3028950"/>
            <a:ext cx="26098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enam halaman inti—Laba Rugi, Neraca, Arus Kas, Keseluruhan Jurnal, Buku Besar, dan Neraca Saldo—berhasil dibuka dan dirender. Beberapa hasil belum mempunyai data yang dapat direkonsiliasi; Saldo Awal dan Jurnal Penyesuaian menampilkan masalah parsing respons, sedangkan katalog menyediakan laporan perbandingan namun belum diuji angka bulan/tahun</a:t>
            </a:r>
          </a:p>
        </p:txBody>
      </p:sp>
      <p:sp>
        <p:nvSpPr>
          <p:cNvPr id="13" name="">
            <a:extLst xmlns:a="http://schemas.openxmlformats.org/drawingml/2006/main">
              <a:ext uri="{FF2B5EF4-FFF2-40B4-BE49-F238E27FC236}">
                <a16:creationId xmlns:a16="http://schemas.microsoft.com/office/drawing/2014/main" id="{DC037DA7-03BC-4774-B527-0D55914CD6F5}"/>
              </a:ext>
            </a:extLst>
          </p:cNvPr>
          <p:cNvSpPr>
            <a:spLocks xmlns:a="http://schemas.openxmlformats.org/drawingml/2006/main" noGrp="1"/>
          </p:cNvSpPr>
          <p:nvPr/>
        </p:nvSpPr>
        <p:spPr>
          <a:xfrm xmlns:a="http://schemas.openxmlformats.org/drawingml/2006/main">
            <a:off x="8305800" y="523875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26273"/>
                </a:solidFill>
              </a:defRPr>
            </a:pPr>
            <a:r>
              <a:rPr sz="1050" b="1">
                <a:solidFill>
                  <a:srgbClr val="526273"/>
                </a:solidFill>
              </a:rPr>
              <a:t>Narasi lengkap: 996 kata</a:t>
            </a:r>
          </a:p>
        </p:txBody>
      </p:sp>
    </p:spTree>
    <p:extLst>
      <p:ext uri="{BB962C8B-B14F-4D97-AF65-F5344CB8AC3E}">
        <p14:creationId xmlns:p14="http://schemas.microsoft.com/office/powerpoint/2010/main" val="919532542"/>
      </p:ext>
    </p:extLst>
  </p:cSld>
</p:sld>
</file>

<file path=ppt/slides/slide2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E7591788-5ECD-4140-906E-FBE92D859554}"/>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DIAGRAM 9</a:t>
            </a:r>
          </a:p>
        </p:txBody>
      </p:sp>
      <p:sp>
        <p:nvSpPr>
          <p:cNvPr id="2" name="">
            <a:extLst xmlns:a="http://schemas.openxmlformats.org/drawingml/2006/main">
              <a:ext uri="{FF2B5EF4-FFF2-40B4-BE49-F238E27FC236}">
                <a16:creationId xmlns:a16="http://schemas.microsoft.com/office/drawing/2014/main" id="{D2EE7516-40AB-4765-A102-8CFAFE1BD03E}"/>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Laporan Keuangan: peran, alur, dan data</a:t>
            </a:r>
          </a:p>
        </p:txBody>
      </p:sp>
      <p:sp>
        <p:nvSpPr>
          <p:cNvPr id="3" name="">
            <a:extLst xmlns:a="http://schemas.openxmlformats.org/drawingml/2006/main">
              <a:ext uri="{FF2B5EF4-FFF2-40B4-BE49-F238E27FC236}">
                <a16:creationId xmlns:a16="http://schemas.microsoft.com/office/drawing/2014/main" id="{5E6AC452-F46E-4C95-9DE3-55F85CF10BDF}"/>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21</a:t>
            </a:r>
          </a:p>
        </p:txBody>
      </p:sp>
      <p:sp>
        <p:nvSpPr>
          <p:cNvPr id="4" name="">
            <a:extLst xmlns:a="http://schemas.openxmlformats.org/drawingml/2006/main">
              <a:ext uri="{FF2B5EF4-FFF2-40B4-BE49-F238E27FC236}">
                <a16:creationId xmlns:a16="http://schemas.microsoft.com/office/drawing/2014/main" id="{1A841637-8C8D-40A3-91D9-A46548A99D66}"/>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21</a:t>
            </a:r>
          </a:p>
        </p:txBody>
      </p:sp>
      <p:sp>
        <p:nvSpPr>
          <p:cNvPr id="5" name="">
            <a:extLst xmlns:a="http://schemas.openxmlformats.org/drawingml/2006/main">
              <a:ext uri="{FF2B5EF4-FFF2-40B4-BE49-F238E27FC236}">
                <a16:creationId xmlns:a16="http://schemas.microsoft.com/office/drawing/2014/main" id="{6622C87D-84D6-45B0-AA82-527D531ECAE1}"/>
              </a:ext>
            </a:extLst>
          </p:cNvPr>
          <p:cNvSpPr>
            <a:spLocks xmlns:a="http://schemas.openxmlformats.org/drawingml/2006/main" noGrp="1"/>
          </p:cNvSpPr>
          <p:nvPr/>
        </p:nvSpPr>
        <p:spPr>
          <a:xfrm xmlns:a="http://schemas.openxmlformats.org/drawingml/2006/main">
            <a:off x="6096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6" name="">
            <a:extLst xmlns:a="http://schemas.openxmlformats.org/drawingml/2006/main">
              <a:ext uri="{FF2B5EF4-FFF2-40B4-BE49-F238E27FC236}">
                <a16:creationId xmlns:a16="http://schemas.microsoft.com/office/drawing/2014/main" id="{EAD914E1-3BD0-480D-800B-32C6F9A5FD62}"/>
              </a:ext>
            </a:extLst>
          </p:cNvPr>
          <p:cNvSpPr>
            <a:spLocks xmlns:a="http://schemas.openxmlformats.org/drawingml/2006/main" noGrp="1"/>
          </p:cNvSpPr>
          <p:nvPr/>
        </p:nvSpPr>
        <p:spPr>
          <a:xfrm xmlns:a="http://schemas.openxmlformats.org/drawingml/2006/main">
            <a:off x="41910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7" name="">
            <a:extLst xmlns:a="http://schemas.openxmlformats.org/drawingml/2006/main">
              <a:ext uri="{FF2B5EF4-FFF2-40B4-BE49-F238E27FC236}">
                <a16:creationId xmlns:a16="http://schemas.microsoft.com/office/drawing/2014/main" id="{3EE61069-5CAC-47BE-A228-994BA9394C28}"/>
              </a:ext>
            </a:extLst>
          </p:cNvPr>
          <p:cNvSpPr>
            <a:spLocks xmlns:a="http://schemas.openxmlformats.org/drawingml/2006/main" noGrp="1"/>
          </p:cNvSpPr>
          <p:nvPr/>
        </p:nvSpPr>
        <p:spPr>
          <a:xfrm xmlns:a="http://schemas.openxmlformats.org/drawingml/2006/main">
            <a:off x="7772400" y="1381125"/>
            <a:ext cx="3276600" cy="462915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9E5EC"/>
            </a:solidFill>
            <a:prstDash val="solid"/>
          </a:ln>
        </p:spPr>
      </p:sp>
      <p:sp>
        <p:nvSpPr>
          <p:cNvPr id="8" name="">
            <a:extLst xmlns:a="http://schemas.openxmlformats.org/drawingml/2006/main">
              <a:ext uri="{FF2B5EF4-FFF2-40B4-BE49-F238E27FC236}">
                <a16:creationId xmlns:a16="http://schemas.microsoft.com/office/drawing/2014/main" id="{E593D3F9-1389-43CF-ACCA-6C80EF380E0A}"/>
              </a:ext>
            </a:extLst>
          </p:cNvPr>
          <p:cNvSpPr>
            <a:spLocks xmlns:a="http://schemas.openxmlformats.org/drawingml/2006/main" noGrp="1"/>
          </p:cNvSpPr>
          <p:nvPr/>
        </p:nvSpPr>
        <p:spPr>
          <a:xfrm xmlns:a="http://schemas.openxmlformats.org/drawingml/2006/main">
            <a:off x="8191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75985"/>
                </a:solidFill>
              </a:defRPr>
            </a:pPr>
            <a:r>
              <a:rPr sz="1275" b="1">
                <a:solidFill>
                  <a:srgbClr val="075985"/>
                </a:solidFill>
              </a:rPr>
              <a:t>USE CASE</a:t>
            </a:r>
          </a:p>
        </p:txBody>
      </p:sp>
      <p:sp>
        <p:nvSpPr>
          <p:cNvPr id="9" name="">
            <a:extLst xmlns:a="http://schemas.openxmlformats.org/drawingml/2006/main">
              <a:ext uri="{FF2B5EF4-FFF2-40B4-BE49-F238E27FC236}">
                <a16:creationId xmlns:a16="http://schemas.microsoft.com/office/drawing/2014/main" id="{F816EECB-82DC-4AA7-BDED-C5C77D50949F}"/>
              </a:ext>
            </a:extLst>
          </p:cNvPr>
          <p:cNvSpPr>
            <a:spLocks xmlns:a="http://schemas.openxmlformats.org/drawingml/2006/main" noGrp="1"/>
          </p:cNvSpPr>
          <p:nvPr/>
        </p:nvSpPr>
        <p:spPr>
          <a:xfrm xmlns:a="http://schemas.openxmlformats.org/drawingml/2006/main">
            <a:off x="819150" y="2047875"/>
            <a:ext cx="2819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Akuntan → Tampilkan buku besar/trial balance</a:t>
            </a:r>
          </a:p>
          <a:p xmlns:a="http://schemas.openxmlformats.org/drawingml/2006/main">
            <a:pPr algn="l">
              <a:defRPr sz="1200" b="0">
                <a:solidFill>
                  <a:srgbClr val="172033"/>
                </a:solidFill>
              </a:defRPr>
            </a:pPr>
            <a:r>
              <a:rPr sz="1200" b="0">
                <a:solidFill>
                  <a:srgbClr val="172033"/>
                </a:solidFill>
              </a:rPr>
              <a:t>Manajemen → Susun Laba Rugi dan Neraca</a:t>
            </a:r>
          </a:p>
          <a:p xmlns:a="http://schemas.openxmlformats.org/drawingml/2006/main">
            <a:pPr algn="l">
              <a:defRPr sz="1200" b="0">
                <a:solidFill>
                  <a:srgbClr val="172033"/>
                </a:solidFill>
              </a:defRPr>
            </a:pPr>
            <a:r>
              <a:rPr sz="1200" b="0">
                <a:solidFill>
                  <a:srgbClr val="172033"/>
                </a:solidFill>
              </a:rPr>
              <a:t>Auditor → Analisis Arus Kas</a:t>
            </a:r>
          </a:p>
          <a:p xmlns:a="http://schemas.openxmlformats.org/drawingml/2006/main">
            <a:pPr algn="l">
              <a:defRPr sz="1200" b="0">
                <a:solidFill>
                  <a:srgbClr val="172033"/>
                </a:solidFill>
              </a:defRPr>
            </a:pPr>
            <a:r>
              <a:rPr sz="1200" b="0">
                <a:solidFill>
                  <a:srgbClr val="172033"/>
                </a:solidFill>
              </a:rPr>
              <a:t>Owner COA → Bandingkan periode dan sign-off</a:t>
            </a:r>
          </a:p>
        </p:txBody>
      </p:sp>
      <p:sp>
        <p:nvSpPr>
          <p:cNvPr id="10" name="">
            <a:extLst xmlns:a="http://schemas.openxmlformats.org/drawingml/2006/main">
              <a:ext uri="{FF2B5EF4-FFF2-40B4-BE49-F238E27FC236}">
                <a16:creationId xmlns:a16="http://schemas.microsoft.com/office/drawing/2014/main" id="{5E67671D-6CB6-4352-A522-9DBE48559D7E}"/>
              </a:ext>
            </a:extLst>
          </p:cNvPr>
          <p:cNvSpPr>
            <a:spLocks xmlns:a="http://schemas.openxmlformats.org/drawingml/2006/main" noGrp="1"/>
          </p:cNvSpPr>
          <p:nvPr/>
        </p:nvSpPr>
        <p:spPr>
          <a:xfrm xmlns:a="http://schemas.openxmlformats.org/drawingml/2006/main">
            <a:off x="838200" y="4991100"/>
            <a:ext cx="2819400" cy="742950"/>
          </a:xfrm>
          <a:prstGeom xmlns:a="http://schemas.openxmlformats.org/drawingml/2006/main" prst="roundRect">
            <a:avLst>
              <a:gd name="adj" fmla="val 10256"/>
            </a:avLst>
          </a:prstGeom>
          <a:solidFill xmlns:a="http://schemas.openxmlformats.org/drawingml/2006/main">
            <a:srgbClr val="EAF3F8"/>
          </a:solidFill>
          <a:ln xmlns:a="http://schemas.openxmlformats.org/drawingml/2006/main" w="9525">
            <a:solidFill>
              <a:srgbClr val="075985"/>
            </a:solidFill>
            <a:prstDash val="solid"/>
          </a:ln>
        </p:spPr>
      </p:sp>
      <p:sp>
        <p:nvSpPr>
          <p:cNvPr id="11" name="">
            <a:extLst xmlns:a="http://schemas.openxmlformats.org/drawingml/2006/main">
              <a:ext uri="{FF2B5EF4-FFF2-40B4-BE49-F238E27FC236}">
                <a16:creationId xmlns:a16="http://schemas.microsoft.com/office/drawing/2014/main" id="{EF49867C-86F2-4FEF-A240-3CC89D06FFF6}"/>
              </a:ext>
            </a:extLst>
          </p:cNvPr>
          <p:cNvSpPr>
            <a:spLocks xmlns:a="http://schemas.openxmlformats.org/drawingml/2006/main" noGrp="1"/>
          </p:cNvSpPr>
          <p:nvPr/>
        </p:nvSpPr>
        <p:spPr>
          <a:xfrm xmlns:a="http://schemas.openxmlformats.org/drawingml/2006/main">
            <a:off x="990600" y="521970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75985"/>
                </a:solidFill>
              </a:defRPr>
            </a:pPr>
            <a:r>
              <a:rPr sz="1275" b="1">
                <a:solidFill>
                  <a:srgbClr val="075985"/>
                </a:solidFill>
              </a:rPr>
              <a:t>RBAC + segregasi tugas</a:t>
            </a:r>
          </a:p>
        </p:txBody>
      </p:sp>
      <p:sp>
        <p:nvSpPr>
          <p:cNvPr id="12" name="">
            <a:extLst xmlns:a="http://schemas.openxmlformats.org/drawingml/2006/main">
              <a:ext uri="{FF2B5EF4-FFF2-40B4-BE49-F238E27FC236}">
                <a16:creationId xmlns:a16="http://schemas.microsoft.com/office/drawing/2014/main" id="{86CEF781-E65A-4514-BC5E-89438E9F1A11}"/>
              </a:ext>
            </a:extLst>
          </p:cNvPr>
          <p:cNvSpPr>
            <a:spLocks xmlns:a="http://schemas.openxmlformats.org/drawingml/2006/main" noGrp="1"/>
          </p:cNvSpPr>
          <p:nvPr/>
        </p:nvSpPr>
        <p:spPr>
          <a:xfrm xmlns:a="http://schemas.openxmlformats.org/drawingml/2006/main">
            <a:off x="44005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F766E"/>
                </a:solidFill>
              </a:defRPr>
            </a:pPr>
            <a:r>
              <a:rPr sz="1275" b="1">
                <a:solidFill>
                  <a:srgbClr val="0F766E"/>
                </a:solidFill>
              </a:rPr>
              <a:t>FLOWCHART</a:t>
            </a:r>
          </a:p>
        </p:txBody>
      </p:sp>
      <p:sp>
        <p:nvSpPr>
          <p:cNvPr id="13" name="">
            <a:extLst xmlns:a="http://schemas.openxmlformats.org/drawingml/2006/main">
              <a:ext uri="{FF2B5EF4-FFF2-40B4-BE49-F238E27FC236}">
                <a16:creationId xmlns:a16="http://schemas.microsoft.com/office/drawing/2014/main" id="{212B8674-6774-4C22-A6C0-A0544F82136B}"/>
              </a:ext>
            </a:extLst>
          </p:cNvPr>
          <p:cNvSpPr>
            <a:spLocks xmlns:a="http://schemas.openxmlformats.org/drawingml/2006/main" noGrp="1"/>
          </p:cNvSpPr>
          <p:nvPr/>
        </p:nvSpPr>
        <p:spPr>
          <a:xfrm xmlns:a="http://schemas.openxmlformats.org/drawingml/2006/main">
            <a:off x="4400550" y="2009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3AE84A2A-6290-4739-A997-CA05004D350D}"/>
              </a:ext>
            </a:extLst>
          </p:cNvPr>
          <p:cNvSpPr>
            <a:spLocks xmlns:a="http://schemas.openxmlformats.org/drawingml/2006/main" noGrp="1"/>
          </p:cNvSpPr>
          <p:nvPr/>
        </p:nvSpPr>
        <p:spPr>
          <a:xfrm xmlns:a="http://schemas.openxmlformats.org/drawingml/2006/main">
            <a:off x="4533900" y="2114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1. Posting jurnal</a:t>
            </a:r>
          </a:p>
        </p:txBody>
      </p:sp>
      <p:sp>
        <p:nvSpPr>
          <p:cNvPr id="15" name="">
            <a:extLst xmlns:a="http://schemas.openxmlformats.org/drawingml/2006/main">
              <a:ext uri="{FF2B5EF4-FFF2-40B4-BE49-F238E27FC236}">
                <a16:creationId xmlns:a16="http://schemas.microsoft.com/office/drawing/2014/main" id="{A04C8202-5ABC-4FBE-9C8D-27B4B517FC06}"/>
              </a:ext>
            </a:extLst>
          </p:cNvPr>
          <p:cNvSpPr>
            <a:spLocks xmlns:a="http://schemas.openxmlformats.org/drawingml/2006/main" noGrp="1"/>
          </p:cNvSpPr>
          <p:nvPr/>
        </p:nvSpPr>
        <p:spPr>
          <a:xfrm xmlns:a="http://schemas.openxmlformats.org/drawingml/2006/main">
            <a:off x="5676900" y="2409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6" name="">
            <a:extLst xmlns:a="http://schemas.openxmlformats.org/drawingml/2006/main">
              <a:ext uri="{FF2B5EF4-FFF2-40B4-BE49-F238E27FC236}">
                <a16:creationId xmlns:a16="http://schemas.microsoft.com/office/drawing/2014/main" id="{CE782AF9-71B7-40CF-890A-6B88FE7D0EBC}"/>
              </a:ext>
            </a:extLst>
          </p:cNvPr>
          <p:cNvSpPr>
            <a:spLocks xmlns:a="http://schemas.openxmlformats.org/drawingml/2006/main" noGrp="1"/>
          </p:cNvSpPr>
          <p:nvPr/>
        </p:nvSpPr>
        <p:spPr>
          <a:xfrm xmlns:a="http://schemas.openxmlformats.org/drawingml/2006/main">
            <a:off x="4400550" y="2581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17" name="">
            <a:extLst xmlns:a="http://schemas.openxmlformats.org/drawingml/2006/main">
              <a:ext uri="{FF2B5EF4-FFF2-40B4-BE49-F238E27FC236}">
                <a16:creationId xmlns:a16="http://schemas.microsoft.com/office/drawing/2014/main" id="{965FCECB-F3CA-4C95-8D85-B2637BA8C189}"/>
              </a:ext>
            </a:extLst>
          </p:cNvPr>
          <p:cNvSpPr>
            <a:spLocks xmlns:a="http://schemas.openxmlformats.org/drawingml/2006/main" noGrp="1"/>
          </p:cNvSpPr>
          <p:nvPr/>
        </p:nvSpPr>
        <p:spPr>
          <a:xfrm xmlns:a="http://schemas.openxmlformats.org/drawingml/2006/main">
            <a:off x="4533900" y="2686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2. Buku besar</a:t>
            </a:r>
          </a:p>
        </p:txBody>
      </p:sp>
      <p:sp>
        <p:nvSpPr>
          <p:cNvPr id="18" name="">
            <a:extLst xmlns:a="http://schemas.openxmlformats.org/drawingml/2006/main">
              <a:ext uri="{FF2B5EF4-FFF2-40B4-BE49-F238E27FC236}">
                <a16:creationId xmlns:a16="http://schemas.microsoft.com/office/drawing/2014/main" id="{B9DCCFFA-8535-42AC-8D23-C5ED10B36750}"/>
              </a:ext>
            </a:extLst>
          </p:cNvPr>
          <p:cNvSpPr>
            <a:spLocks xmlns:a="http://schemas.openxmlformats.org/drawingml/2006/main" noGrp="1"/>
          </p:cNvSpPr>
          <p:nvPr/>
        </p:nvSpPr>
        <p:spPr>
          <a:xfrm xmlns:a="http://schemas.openxmlformats.org/drawingml/2006/main">
            <a:off x="5676900" y="2981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19" name="">
            <a:extLst xmlns:a="http://schemas.openxmlformats.org/drawingml/2006/main">
              <a:ext uri="{FF2B5EF4-FFF2-40B4-BE49-F238E27FC236}">
                <a16:creationId xmlns:a16="http://schemas.microsoft.com/office/drawing/2014/main" id="{7504969A-B3FA-44A8-BE3F-FDDCA2BFE4D0}"/>
              </a:ext>
            </a:extLst>
          </p:cNvPr>
          <p:cNvSpPr>
            <a:spLocks xmlns:a="http://schemas.openxmlformats.org/drawingml/2006/main" noGrp="1"/>
          </p:cNvSpPr>
          <p:nvPr/>
        </p:nvSpPr>
        <p:spPr>
          <a:xfrm xmlns:a="http://schemas.openxmlformats.org/drawingml/2006/main">
            <a:off x="4400550" y="3152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0" name="">
            <a:extLst xmlns:a="http://schemas.openxmlformats.org/drawingml/2006/main">
              <a:ext uri="{FF2B5EF4-FFF2-40B4-BE49-F238E27FC236}">
                <a16:creationId xmlns:a16="http://schemas.microsoft.com/office/drawing/2014/main" id="{451CB99C-4283-4AB2-81C1-A6F17B65FB77}"/>
              </a:ext>
            </a:extLst>
          </p:cNvPr>
          <p:cNvSpPr>
            <a:spLocks xmlns:a="http://schemas.openxmlformats.org/drawingml/2006/main" noGrp="1"/>
          </p:cNvSpPr>
          <p:nvPr/>
        </p:nvSpPr>
        <p:spPr>
          <a:xfrm xmlns:a="http://schemas.openxmlformats.org/drawingml/2006/main">
            <a:off x="4533900" y="3257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3. Neraca saldo</a:t>
            </a:r>
          </a:p>
        </p:txBody>
      </p:sp>
      <p:sp>
        <p:nvSpPr>
          <p:cNvPr id="21" name="">
            <a:extLst xmlns:a="http://schemas.openxmlformats.org/drawingml/2006/main">
              <a:ext uri="{FF2B5EF4-FFF2-40B4-BE49-F238E27FC236}">
                <a16:creationId xmlns:a16="http://schemas.microsoft.com/office/drawing/2014/main" id="{03729F0A-87B4-489B-BB09-6E0DE04E2F78}"/>
              </a:ext>
            </a:extLst>
          </p:cNvPr>
          <p:cNvSpPr>
            <a:spLocks xmlns:a="http://schemas.openxmlformats.org/drawingml/2006/main" noGrp="1"/>
          </p:cNvSpPr>
          <p:nvPr/>
        </p:nvSpPr>
        <p:spPr>
          <a:xfrm xmlns:a="http://schemas.openxmlformats.org/drawingml/2006/main">
            <a:off x="5676900" y="3552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2" name="">
            <a:extLst xmlns:a="http://schemas.openxmlformats.org/drawingml/2006/main">
              <a:ext uri="{FF2B5EF4-FFF2-40B4-BE49-F238E27FC236}">
                <a16:creationId xmlns:a16="http://schemas.microsoft.com/office/drawing/2014/main" id="{C25D3A96-FCA4-4337-BB8E-2336BF3EE83C}"/>
              </a:ext>
            </a:extLst>
          </p:cNvPr>
          <p:cNvSpPr>
            <a:spLocks xmlns:a="http://schemas.openxmlformats.org/drawingml/2006/main" noGrp="1"/>
          </p:cNvSpPr>
          <p:nvPr/>
        </p:nvSpPr>
        <p:spPr>
          <a:xfrm xmlns:a="http://schemas.openxmlformats.org/drawingml/2006/main">
            <a:off x="4400550" y="37242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3" name="">
            <a:extLst xmlns:a="http://schemas.openxmlformats.org/drawingml/2006/main">
              <a:ext uri="{FF2B5EF4-FFF2-40B4-BE49-F238E27FC236}">
                <a16:creationId xmlns:a16="http://schemas.microsoft.com/office/drawing/2014/main" id="{DC295A8B-2D2F-4439-A107-EBA6D939383E}"/>
              </a:ext>
            </a:extLst>
          </p:cNvPr>
          <p:cNvSpPr>
            <a:spLocks xmlns:a="http://schemas.openxmlformats.org/drawingml/2006/main" noGrp="1"/>
          </p:cNvSpPr>
          <p:nvPr/>
        </p:nvSpPr>
        <p:spPr>
          <a:xfrm xmlns:a="http://schemas.openxmlformats.org/drawingml/2006/main">
            <a:off x="4533900" y="3829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4. Laporan utama</a:t>
            </a:r>
          </a:p>
        </p:txBody>
      </p:sp>
      <p:sp>
        <p:nvSpPr>
          <p:cNvPr id="24" name="">
            <a:extLst xmlns:a="http://schemas.openxmlformats.org/drawingml/2006/main">
              <a:ext uri="{FF2B5EF4-FFF2-40B4-BE49-F238E27FC236}">
                <a16:creationId xmlns:a16="http://schemas.microsoft.com/office/drawing/2014/main" id="{CDD1E3FD-C820-402C-8E44-9DD225D73EDD}"/>
              </a:ext>
            </a:extLst>
          </p:cNvPr>
          <p:cNvSpPr>
            <a:spLocks xmlns:a="http://schemas.openxmlformats.org/drawingml/2006/main" noGrp="1"/>
          </p:cNvSpPr>
          <p:nvPr/>
        </p:nvSpPr>
        <p:spPr>
          <a:xfrm xmlns:a="http://schemas.openxmlformats.org/drawingml/2006/main">
            <a:off x="5676900" y="41243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5" name="">
            <a:extLst xmlns:a="http://schemas.openxmlformats.org/drawingml/2006/main">
              <a:ext uri="{FF2B5EF4-FFF2-40B4-BE49-F238E27FC236}">
                <a16:creationId xmlns:a16="http://schemas.microsoft.com/office/drawing/2014/main" id="{B6BD83DB-825A-4446-B7CD-95EBA6333E0E}"/>
              </a:ext>
            </a:extLst>
          </p:cNvPr>
          <p:cNvSpPr>
            <a:spLocks xmlns:a="http://schemas.openxmlformats.org/drawingml/2006/main" noGrp="1"/>
          </p:cNvSpPr>
          <p:nvPr/>
        </p:nvSpPr>
        <p:spPr>
          <a:xfrm xmlns:a="http://schemas.openxmlformats.org/drawingml/2006/main">
            <a:off x="4400550" y="4295775"/>
            <a:ext cx="2857500" cy="409575"/>
          </a:xfrm>
          <a:prstGeom xmlns:a="http://schemas.openxmlformats.org/drawingml/2006/main" prst="roundRect">
            <a:avLst>
              <a:gd name="adj" fmla="val 18605"/>
            </a:avLst>
          </a:prstGeom>
          <a:solidFill xmlns:a="http://schemas.openxmlformats.org/drawingml/2006/main">
            <a:srgbClr val="F8FAFC"/>
          </a:solidFill>
          <a:ln xmlns:a="http://schemas.openxmlformats.org/drawingml/2006/main" w="9525">
            <a:solidFill>
              <a:srgbClr val="0F766E"/>
            </a:solidFill>
            <a:prstDash val="solid"/>
          </a:ln>
        </p:spPr>
      </p:sp>
      <p:sp>
        <p:nvSpPr>
          <p:cNvPr id="26" name="">
            <a:extLst xmlns:a="http://schemas.openxmlformats.org/drawingml/2006/main">
              <a:ext uri="{FF2B5EF4-FFF2-40B4-BE49-F238E27FC236}">
                <a16:creationId xmlns:a16="http://schemas.microsoft.com/office/drawing/2014/main" id="{EC844C8D-5596-405A-B820-0D481530857E}"/>
              </a:ext>
            </a:extLst>
          </p:cNvPr>
          <p:cNvSpPr>
            <a:spLocks xmlns:a="http://schemas.openxmlformats.org/drawingml/2006/main" noGrp="1"/>
          </p:cNvSpPr>
          <p:nvPr/>
        </p:nvSpPr>
        <p:spPr>
          <a:xfrm xmlns:a="http://schemas.openxmlformats.org/drawingml/2006/main">
            <a:off x="4533900" y="44005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72033"/>
                </a:solidFill>
              </a:defRPr>
            </a:pPr>
            <a:r>
              <a:rPr sz="1200" b="0">
                <a:solidFill>
                  <a:srgbClr val="172033"/>
                </a:solidFill>
              </a:rPr>
              <a:t>5. Bandingkan periode</a:t>
            </a:r>
          </a:p>
        </p:txBody>
      </p:sp>
      <p:sp>
        <p:nvSpPr>
          <p:cNvPr id="27" name="">
            <a:extLst xmlns:a="http://schemas.openxmlformats.org/drawingml/2006/main">
              <a:ext uri="{FF2B5EF4-FFF2-40B4-BE49-F238E27FC236}">
                <a16:creationId xmlns:a16="http://schemas.microsoft.com/office/drawing/2014/main" id="{5EABFA04-7041-4056-ABC8-CFB09BBA3646}"/>
              </a:ext>
            </a:extLst>
          </p:cNvPr>
          <p:cNvSpPr>
            <a:spLocks xmlns:a="http://schemas.openxmlformats.org/drawingml/2006/main" noGrp="1"/>
          </p:cNvSpPr>
          <p:nvPr/>
        </p:nvSpPr>
        <p:spPr>
          <a:xfrm xmlns:a="http://schemas.openxmlformats.org/drawingml/2006/main">
            <a:off x="5676900" y="46958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F766E"/>
                </a:solidFill>
              </a:defRPr>
            </a:pPr>
            <a:r>
              <a:rPr sz="1200" b="1">
                <a:solidFill>
                  <a:srgbClr val="0F766E"/>
                </a:solidFill>
              </a:rPr>
              <a:t>↓</a:t>
            </a:r>
          </a:p>
        </p:txBody>
      </p:sp>
      <p:sp>
        <p:nvSpPr>
          <p:cNvPr id="28" name="">
            <a:extLst xmlns:a="http://schemas.openxmlformats.org/drawingml/2006/main">
              <a:ext uri="{FF2B5EF4-FFF2-40B4-BE49-F238E27FC236}">
                <a16:creationId xmlns:a16="http://schemas.microsoft.com/office/drawing/2014/main" id="{98D32C9E-BABC-49A6-B73D-018240B89320}"/>
              </a:ext>
            </a:extLst>
          </p:cNvPr>
          <p:cNvSpPr>
            <a:spLocks xmlns:a="http://schemas.openxmlformats.org/drawingml/2006/main" noGrp="1"/>
          </p:cNvSpPr>
          <p:nvPr/>
        </p:nvSpPr>
        <p:spPr>
          <a:xfrm xmlns:a="http://schemas.openxmlformats.org/drawingml/2006/main">
            <a:off x="4400550" y="4867275"/>
            <a:ext cx="2857500" cy="409575"/>
          </a:xfrm>
          <a:prstGeom xmlns:a="http://schemas.openxmlformats.org/drawingml/2006/main" prst="roundRect">
            <a:avLst>
              <a:gd name="adj" fmla="val 18605"/>
            </a:avLst>
          </a:prstGeom>
          <a:solidFill xmlns:a="http://schemas.openxmlformats.org/drawingml/2006/main">
            <a:srgbClr val="DCFCE7"/>
          </a:solidFill>
          <a:ln xmlns:a="http://schemas.openxmlformats.org/drawingml/2006/main" w="9525">
            <a:solidFill>
              <a:srgbClr val="15803D"/>
            </a:solidFill>
            <a:prstDash val="solid"/>
          </a:ln>
        </p:spPr>
      </p:sp>
      <p:sp>
        <p:nvSpPr>
          <p:cNvPr id="29" name="">
            <a:extLst xmlns:a="http://schemas.openxmlformats.org/drawingml/2006/main">
              <a:ext uri="{FF2B5EF4-FFF2-40B4-BE49-F238E27FC236}">
                <a16:creationId xmlns:a16="http://schemas.microsoft.com/office/drawing/2014/main" id="{B8764E6A-C0D5-43D9-8915-5FB4920B17F3}"/>
              </a:ext>
            </a:extLst>
          </p:cNvPr>
          <p:cNvSpPr>
            <a:spLocks xmlns:a="http://schemas.openxmlformats.org/drawingml/2006/main" noGrp="1"/>
          </p:cNvSpPr>
          <p:nvPr/>
        </p:nvSpPr>
        <p:spPr>
          <a:xfrm xmlns:a="http://schemas.openxmlformats.org/drawingml/2006/main">
            <a:off x="4533900" y="4972050"/>
            <a:ext cx="2590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72033"/>
                </a:solidFill>
              </a:defRPr>
            </a:pPr>
            <a:r>
              <a:rPr sz="1200" b="1">
                <a:solidFill>
                  <a:srgbClr val="172033"/>
                </a:solidFill>
              </a:rPr>
              <a:t>6. Review &amp; sign-off</a:t>
            </a:r>
          </a:p>
        </p:txBody>
      </p:sp>
      <p:sp>
        <p:nvSpPr>
          <p:cNvPr id="30" name="">
            <a:extLst xmlns:a="http://schemas.openxmlformats.org/drawingml/2006/main">
              <a:ext uri="{FF2B5EF4-FFF2-40B4-BE49-F238E27FC236}">
                <a16:creationId xmlns:a16="http://schemas.microsoft.com/office/drawing/2014/main" id="{7DD4FB1F-61AF-4907-BCBB-13AFEB27B754}"/>
              </a:ext>
            </a:extLst>
          </p:cNvPr>
          <p:cNvSpPr>
            <a:spLocks xmlns:a="http://schemas.openxmlformats.org/drawingml/2006/main" noGrp="1"/>
          </p:cNvSpPr>
          <p:nvPr/>
        </p:nvSpPr>
        <p:spPr>
          <a:xfrm xmlns:a="http://schemas.openxmlformats.org/drawingml/2006/main">
            <a:off x="7981950" y="1581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7C3AED"/>
                </a:solidFill>
              </a:defRPr>
            </a:pPr>
            <a:r>
              <a:rPr sz="1275" b="1">
                <a:solidFill>
                  <a:srgbClr val="7C3AED"/>
                </a:solidFill>
              </a:rPr>
              <a:t>ERD / DATA FLOW</a:t>
            </a:r>
          </a:p>
        </p:txBody>
      </p:sp>
      <p:sp>
        <p:nvSpPr>
          <p:cNvPr id="31" name="">
            <a:extLst xmlns:a="http://schemas.openxmlformats.org/drawingml/2006/main">
              <a:ext uri="{FF2B5EF4-FFF2-40B4-BE49-F238E27FC236}">
                <a16:creationId xmlns:a16="http://schemas.microsoft.com/office/drawing/2014/main" id="{EE86CD5A-2E71-4119-8079-F5922717D697}"/>
              </a:ext>
            </a:extLst>
          </p:cNvPr>
          <p:cNvSpPr>
            <a:spLocks xmlns:a="http://schemas.openxmlformats.org/drawingml/2006/main" noGrp="1"/>
          </p:cNvSpPr>
          <p:nvPr/>
        </p:nvSpPr>
        <p:spPr>
          <a:xfrm xmlns:a="http://schemas.openxmlformats.org/drawingml/2006/main">
            <a:off x="7981950" y="2009775"/>
            <a:ext cx="2857500" cy="476250"/>
          </a:xfrm>
          <a:prstGeom xmlns:a="http://schemas.openxmlformats.org/drawingml/2006/main" prst="roundRect">
            <a:avLst>
              <a:gd name="adj" fmla="val 16000"/>
            </a:avLst>
          </a:prstGeom>
          <a:solidFill xmlns:a="http://schemas.openxmlformats.org/drawingml/2006/main">
            <a:srgbClr val="EDE9FE"/>
          </a:solidFill>
          <a:ln xmlns:a="http://schemas.openxmlformats.org/drawingml/2006/main" w="9525">
            <a:solidFill>
              <a:srgbClr val="7C3AED"/>
            </a:solidFill>
            <a:prstDash val="solid"/>
          </a:ln>
        </p:spPr>
      </p:sp>
      <p:sp>
        <p:nvSpPr>
          <p:cNvPr id="32" name="">
            <a:extLst xmlns:a="http://schemas.openxmlformats.org/drawingml/2006/main">
              <a:ext uri="{FF2B5EF4-FFF2-40B4-BE49-F238E27FC236}">
                <a16:creationId xmlns:a16="http://schemas.microsoft.com/office/drawing/2014/main" id="{25419632-CE60-4077-BA2D-40851061894E}"/>
              </a:ext>
            </a:extLst>
          </p:cNvPr>
          <p:cNvSpPr>
            <a:spLocks xmlns:a="http://schemas.openxmlformats.org/drawingml/2006/main" noGrp="1"/>
          </p:cNvSpPr>
          <p:nvPr/>
        </p:nvSpPr>
        <p:spPr>
          <a:xfrm xmlns:a="http://schemas.openxmlformats.org/drawingml/2006/main">
            <a:off x="8115300" y="21336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72033"/>
                </a:solidFill>
              </a:defRPr>
            </a:pPr>
            <a:r>
              <a:rPr sz="1200" b="1">
                <a:solidFill>
                  <a:srgbClr val="172033"/>
                </a:solidFill>
              </a:rPr>
              <a:t>AKUN • kode, grup</a:t>
            </a:r>
          </a:p>
        </p:txBody>
      </p:sp>
      <p:sp>
        <p:nvSpPr>
          <p:cNvPr id="33" name="">
            <a:extLst xmlns:a="http://schemas.openxmlformats.org/drawingml/2006/main">
              <a:ext uri="{FF2B5EF4-FFF2-40B4-BE49-F238E27FC236}">
                <a16:creationId xmlns:a16="http://schemas.microsoft.com/office/drawing/2014/main" id="{1854533D-A9F7-4AA5-9F35-5A65B16A668A}"/>
              </a:ext>
            </a:extLst>
          </p:cNvPr>
          <p:cNvSpPr>
            <a:spLocks xmlns:a="http://schemas.openxmlformats.org/drawingml/2006/main" noGrp="1"/>
          </p:cNvSpPr>
          <p:nvPr/>
        </p:nvSpPr>
        <p:spPr>
          <a:xfrm xmlns:a="http://schemas.openxmlformats.org/drawingml/2006/main">
            <a:off x="8991600" y="24669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4" name="">
            <a:extLst xmlns:a="http://schemas.openxmlformats.org/drawingml/2006/main">
              <a:ext uri="{FF2B5EF4-FFF2-40B4-BE49-F238E27FC236}">
                <a16:creationId xmlns:a16="http://schemas.microsoft.com/office/drawing/2014/main" id="{71BBF87D-17C3-4A5E-9B14-02520EC10887}"/>
              </a:ext>
            </a:extLst>
          </p:cNvPr>
          <p:cNvSpPr>
            <a:spLocks xmlns:a="http://schemas.openxmlformats.org/drawingml/2006/main" noGrp="1"/>
          </p:cNvSpPr>
          <p:nvPr/>
        </p:nvSpPr>
        <p:spPr>
          <a:xfrm xmlns:a="http://schemas.openxmlformats.org/drawingml/2006/main">
            <a:off x="7981950" y="266700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5" name="">
            <a:extLst xmlns:a="http://schemas.openxmlformats.org/drawingml/2006/main">
              <a:ext uri="{FF2B5EF4-FFF2-40B4-BE49-F238E27FC236}">
                <a16:creationId xmlns:a16="http://schemas.microsoft.com/office/drawing/2014/main" id="{D066BB01-1D36-424A-B107-2785DA172DEC}"/>
              </a:ext>
            </a:extLst>
          </p:cNvPr>
          <p:cNvSpPr>
            <a:spLocks xmlns:a="http://schemas.openxmlformats.org/drawingml/2006/main" noGrp="1"/>
          </p:cNvSpPr>
          <p:nvPr/>
        </p:nvSpPr>
        <p:spPr>
          <a:xfrm xmlns:a="http://schemas.openxmlformats.org/drawingml/2006/main">
            <a:off x="8115300" y="279082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DETAIL POSTED • D/K</a:t>
            </a:r>
          </a:p>
        </p:txBody>
      </p:sp>
      <p:sp>
        <p:nvSpPr>
          <p:cNvPr id="36" name="">
            <a:extLst xmlns:a="http://schemas.openxmlformats.org/drawingml/2006/main">
              <a:ext uri="{FF2B5EF4-FFF2-40B4-BE49-F238E27FC236}">
                <a16:creationId xmlns:a16="http://schemas.microsoft.com/office/drawing/2014/main" id="{C8F6F2FD-046E-4E07-94AA-168B0F0C7866}"/>
              </a:ext>
            </a:extLst>
          </p:cNvPr>
          <p:cNvSpPr>
            <a:spLocks xmlns:a="http://schemas.openxmlformats.org/drawingml/2006/main" noGrp="1"/>
          </p:cNvSpPr>
          <p:nvPr/>
        </p:nvSpPr>
        <p:spPr>
          <a:xfrm xmlns:a="http://schemas.openxmlformats.org/drawingml/2006/main">
            <a:off x="8991600" y="31242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37" name="">
            <a:extLst xmlns:a="http://schemas.openxmlformats.org/drawingml/2006/main">
              <a:ext uri="{FF2B5EF4-FFF2-40B4-BE49-F238E27FC236}">
                <a16:creationId xmlns:a16="http://schemas.microsoft.com/office/drawing/2014/main" id="{0848F676-BCE0-4F51-9BF9-E45302AA611D}"/>
              </a:ext>
            </a:extLst>
          </p:cNvPr>
          <p:cNvSpPr>
            <a:spLocks xmlns:a="http://schemas.openxmlformats.org/drawingml/2006/main" noGrp="1"/>
          </p:cNvSpPr>
          <p:nvPr/>
        </p:nvSpPr>
        <p:spPr>
          <a:xfrm xmlns:a="http://schemas.openxmlformats.org/drawingml/2006/main">
            <a:off x="7981950" y="332422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38" name="">
            <a:extLst xmlns:a="http://schemas.openxmlformats.org/drawingml/2006/main">
              <a:ext uri="{FF2B5EF4-FFF2-40B4-BE49-F238E27FC236}">
                <a16:creationId xmlns:a16="http://schemas.microsoft.com/office/drawing/2014/main" id="{A8ED2322-53CD-48D0-9ACE-95EEC237F43D}"/>
              </a:ext>
            </a:extLst>
          </p:cNvPr>
          <p:cNvSpPr>
            <a:spLocks xmlns:a="http://schemas.openxmlformats.org/drawingml/2006/main" noGrp="1"/>
          </p:cNvSpPr>
          <p:nvPr/>
        </p:nvSpPr>
        <p:spPr>
          <a:xfrm xmlns:a="http://schemas.openxmlformats.org/drawingml/2006/main">
            <a:off x="8115300" y="344805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BUKU BESAR • saldo</a:t>
            </a:r>
          </a:p>
        </p:txBody>
      </p:sp>
      <p:sp>
        <p:nvSpPr>
          <p:cNvPr id="39" name="">
            <a:extLst xmlns:a="http://schemas.openxmlformats.org/drawingml/2006/main">
              <a:ext uri="{FF2B5EF4-FFF2-40B4-BE49-F238E27FC236}">
                <a16:creationId xmlns:a16="http://schemas.microsoft.com/office/drawing/2014/main" id="{9423C116-6658-4017-85AE-5157C004ACAA}"/>
              </a:ext>
            </a:extLst>
          </p:cNvPr>
          <p:cNvSpPr>
            <a:spLocks xmlns:a="http://schemas.openxmlformats.org/drawingml/2006/main" noGrp="1"/>
          </p:cNvSpPr>
          <p:nvPr/>
        </p:nvSpPr>
        <p:spPr>
          <a:xfrm xmlns:a="http://schemas.openxmlformats.org/drawingml/2006/main">
            <a:off x="8991600" y="378142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0" name="">
            <a:extLst xmlns:a="http://schemas.openxmlformats.org/drawingml/2006/main">
              <a:ext uri="{FF2B5EF4-FFF2-40B4-BE49-F238E27FC236}">
                <a16:creationId xmlns:a16="http://schemas.microsoft.com/office/drawing/2014/main" id="{68625E36-CDDB-4B34-815D-C9FF4ADDEB52}"/>
              </a:ext>
            </a:extLst>
          </p:cNvPr>
          <p:cNvSpPr>
            <a:spLocks xmlns:a="http://schemas.openxmlformats.org/drawingml/2006/main" noGrp="1"/>
          </p:cNvSpPr>
          <p:nvPr/>
        </p:nvSpPr>
        <p:spPr>
          <a:xfrm xmlns:a="http://schemas.openxmlformats.org/drawingml/2006/main">
            <a:off x="7981950" y="3981450"/>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1" name="">
            <a:extLst xmlns:a="http://schemas.openxmlformats.org/drawingml/2006/main">
              <a:ext uri="{FF2B5EF4-FFF2-40B4-BE49-F238E27FC236}">
                <a16:creationId xmlns:a16="http://schemas.microsoft.com/office/drawing/2014/main" id="{9B697AD2-053A-4B2E-B25E-647DB6B4F06B}"/>
              </a:ext>
            </a:extLst>
          </p:cNvPr>
          <p:cNvSpPr>
            <a:spLocks xmlns:a="http://schemas.openxmlformats.org/drawingml/2006/main" noGrp="1"/>
          </p:cNvSpPr>
          <p:nvPr/>
        </p:nvSpPr>
        <p:spPr>
          <a:xfrm xmlns:a="http://schemas.openxmlformats.org/drawingml/2006/main">
            <a:off x="8115300" y="4105275"/>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TRIAL BALANCE • D/K</a:t>
            </a:r>
          </a:p>
        </p:txBody>
      </p:sp>
      <p:sp>
        <p:nvSpPr>
          <p:cNvPr id="42" name="">
            <a:extLst xmlns:a="http://schemas.openxmlformats.org/drawingml/2006/main">
              <a:ext uri="{FF2B5EF4-FFF2-40B4-BE49-F238E27FC236}">
                <a16:creationId xmlns:a16="http://schemas.microsoft.com/office/drawing/2014/main" id="{99CF9E2B-3A13-4223-B585-1A3B6CACB85E}"/>
              </a:ext>
            </a:extLst>
          </p:cNvPr>
          <p:cNvSpPr>
            <a:spLocks xmlns:a="http://schemas.openxmlformats.org/drawingml/2006/main" noGrp="1"/>
          </p:cNvSpPr>
          <p:nvPr/>
        </p:nvSpPr>
        <p:spPr>
          <a:xfrm xmlns:a="http://schemas.openxmlformats.org/drawingml/2006/main">
            <a:off x="8991600" y="44386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C3AED"/>
                </a:solidFill>
              </a:defRPr>
            </a:pPr>
            <a:r>
              <a:rPr sz="1050" b="1">
                <a:solidFill>
                  <a:srgbClr val="7C3AED"/>
                </a:solidFill>
              </a:rPr>
              <a:t>↕ 1..n</a:t>
            </a:r>
          </a:p>
        </p:txBody>
      </p:sp>
      <p:sp>
        <p:nvSpPr>
          <p:cNvPr id="43" name="">
            <a:extLst xmlns:a="http://schemas.openxmlformats.org/drawingml/2006/main">
              <a:ext uri="{FF2B5EF4-FFF2-40B4-BE49-F238E27FC236}">
                <a16:creationId xmlns:a16="http://schemas.microsoft.com/office/drawing/2014/main" id="{5618A676-0E0E-4CE1-BEEC-7D540CF5FDAB}"/>
              </a:ext>
            </a:extLst>
          </p:cNvPr>
          <p:cNvSpPr>
            <a:spLocks xmlns:a="http://schemas.openxmlformats.org/drawingml/2006/main" noGrp="1"/>
          </p:cNvSpPr>
          <p:nvPr/>
        </p:nvSpPr>
        <p:spPr>
          <a:xfrm xmlns:a="http://schemas.openxmlformats.org/drawingml/2006/main">
            <a:off x="7981950" y="4638675"/>
            <a:ext cx="2857500" cy="47625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9525">
            <a:solidFill>
              <a:srgbClr val="7C3AED"/>
            </a:solidFill>
            <a:prstDash val="solid"/>
          </a:ln>
        </p:spPr>
      </p:sp>
      <p:sp>
        <p:nvSpPr>
          <p:cNvPr id="44" name="">
            <a:extLst xmlns:a="http://schemas.openxmlformats.org/drawingml/2006/main">
              <a:ext uri="{FF2B5EF4-FFF2-40B4-BE49-F238E27FC236}">
                <a16:creationId xmlns:a16="http://schemas.microsoft.com/office/drawing/2014/main" id="{DB9D1000-F6AD-4FC0-8121-1450CE31561A}"/>
              </a:ext>
            </a:extLst>
          </p:cNvPr>
          <p:cNvSpPr>
            <a:spLocks xmlns:a="http://schemas.openxmlformats.org/drawingml/2006/main" noGrp="1"/>
          </p:cNvSpPr>
          <p:nvPr/>
        </p:nvSpPr>
        <p:spPr>
          <a:xfrm xmlns:a="http://schemas.openxmlformats.org/drawingml/2006/main">
            <a:off x="8115300" y="476250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172033"/>
                </a:solidFill>
              </a:defRPr>
            </a:pPr>
            <a:r>
              <a:rPr sz="1200" b="0">
                <a:solidFill>
                  <a:srgbClr val="172033"/>
                </a:solidFill>
              </a:rPr>
              <a:t>LAPORAN • LR/neraca/arus kas</a:t>
            </a:r>
          </a:p>
        </p:txBody>
      </p:sp>
      <p:sp>
        <p:nvSpPr>
          <p:cNvPr id="45" name="">
            <a:extLst xmlns:a="http://schemas.openxmlformats.org/drawingml/2006/main">
              <a:ext uri="{FF2B5EF4-FFF2-40B4-BE49-F238E27FC236}">
                <a16:creationId xmlns:a16="http://schemas.microsoft.com/office/drawing/2014/main" id="{8DCDE46C-5C2B-422F-A45E-3F9F18B07D0A}"/>
              </a:ext>
            </a:extLst>
          </p:cNvPr>
          <p:cNvSpPr>
            <a:spLocks xmlns:a="http://schemas.openxmlformats.org/drawingml/2006/main" noGrp="1"/>
          </p:cNvSpPr>
          <p:nvPr/>
        </p:nvSpPr>
        <p:spPr>
          <a:xfrm xmlns:a="http://schemas.openxmlformats.org/drawingml/2006/main">
            <a:off x="7981950" y="5391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B45309"/>
                </a:solidFill>
              </a:defRPr>
            </a:pPr>
            <a:r>
              <a:rPr sz="1125" b="1">
                <a:solidFill>
                  <a:srgbClr val="B45309"/>
                </a:solidFill>
              </a:rPr>
              <a:t>GATE: hanya jurnal posted, periode dan klasifikasi akun benar, saldo awal dan closing tervalidasi.</a:t>
            </a:r>
          </a:p>
        </p:txBody>
      </p:sp>
    </p:spTree>
    <p:extLst>
      <p:ext uri="{BB962C8B-B14F-4D97-AF65-F5344CB8AC3E}">
        <p14:creationId xmlns:p14="http://schemas.microsoft.com/office/powerpoint/2010/main" val="1909152997"/>
      </p:ext>
    </p:extLst>
  </p:cSld>
</p:sld>
</file>

<file path=ppt/slides/slide2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9BA7E4BF-699A-435F-B344-C5773DFF8690}"/>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RISIKO</a:t>
            </a:r>
          </a:p>
        </p:txBody>
      </p:sp>
      <p:sp>
        <p:nvSpPr>
          <p:cNvPr id="2" name="">
            <a:extLst xmlns:a="http://schemas.openxmlformats.org/drawingml/2006/main">
              <a:ext uri="{FF2B5EF4-FFF2-40B4-BE49-F238E27FC236}">
                <a16:creationId xmlns:a16="http://schemas.microsoft.com/office/drawing/2014/main" id="{8D37D758-40CF-495A-B61E-D4B23FB95FA0}"/>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Delapan temuan yang menahan produksi</a:t>
            </a:r>
          </a:p>
        </p:txBody>
      </p:sp>
      <p:sp>
        <p:nvSpPr>
          <p:cNvPr id="3" name="">
            <a:extLst xmlns:a="http://schemas.openxmlformats.org/drawingml/2006/main">
              <a:ext uri="{FF2B5EF4-FFF2-40B4-BE49-F238E27FC236}">
                <a16:creationId xmlns:a16="http://schemas.microsoft.com/office/drawing/2014/main" id="{A075D538-E401-4E6A-84B1-B59A5CB96ED5}"/>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22</a:t>
            </a:r>
          </a:p>
        </p:txBody>
      </p:sp>
      <p:sp>
        <p:nvSpPr>
          <p:cNvPr id="4" name="">
            <a:extLst xmlns:a="http://schemas.openxmlformats.org/drawingml/2006/main">
              <a:ext uri="{FF2B5EF4-FFF2-40B4-BE49-F238E27FC236}">
                <a16:creationId xmlns:a16="http://schemas.microsoft.com/office/drawing/2014/main" id="{44FFD0F2-4088-4189-A2F2-CFB16974F08E}"/>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22</a:t>
            </a:r>
          </a:p>
        </p:txBody>
      </p:sp>
      <p:sp>
        <p:nvSpPr>
          <p:cNvPr id="5" name="">
            <a:extLst xmlns:a="http://schemas.openxmlformats.org/drawingml/2006/main">
              <a:ext uri="{FF2B5EF4-FFF2-40B4-BE49-F238E27FC236}">
                <a16:creationId xmlns:a16="http://schemas.microsoft.com/office/drawing/2014/main" id="{14736560-378B-4B4C-ADEE-7B762B9FA1D5}"/>
              </a:ext>
            </a:extLst>
          </p:cNvPr>
          <p:cNvSpPr>
            <a:spLocks xmlns:a="http://schemas.openxmlformats.org/drawingml/2006/main" noGrp="1"/>
          </p:cNvSpPr>
          <p:nvPr/>
        </p:nvSpPr>
        <p:spPr>
          <a:xfrm xmlns:a="http://schemas.openxmlformats.org/drawingml/2006/main">
            <a:off x="609600" y="1428750"/>
            <a:ext cx="51054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E5EC"/>
            </a:solidFill>
            <a:prstDash val="solid"/>
          </a:ln>
        </p:spPr>
      </p:sp>
      <p:sp>
        <p:nvSpPr>
          <p:cNvPr id="6" name="">
            <a:extLst xmlns:a="http://schemas.openxmlformats.org/drawingml/2006/main">
              <a:ext uri="{FF2B5EF4-FFF2-40B4-BE49-F238E27FC236}">
                <a16:creationId xmlns:a16="http://schemas.microsoft.com/office/drawing/2014/main" id="{6AB079AD-A2D7-4DB5-AD39-A031B84F3972}"/>
              </a:ext>
            </a:extLst>
          </p:cNvPr>
          <p:cNvSpPr>
            <a:spLocks xmlns:a="http://schemas.openxmlformats.org/drawingml/2006/main" noGrp="1"/>
          </p:cNvSpPr>
          <p:nvPr/>
        </p:nvSpPr>
        <p:spPr>
          <a:xfrm xmlns:a="http://schemas.openxmlformats.org/drawingml/2006/main">
            <a:off x="762000" y="1600200"/>
            <a:ext cx="609600" cy="552450"/>
          </a:xfrm>
          <a:prstGeom xmlns:a="http://schemas.openxmlformats.org/drawingml/2006/main" prst="roundRect">
            <a:avLst>
              <a:gd name="adj" fmla="val 13793"/>
            </a:avLst>
          </a:prstGeom>
          <a:solidFill xmlns:a="http://schemas.openxmlformats.org/drawingml/2006/main">
            <a:srgbClr val="FEE2E2"/>
          </a:solidFill>
          <a:ln xmlns:a="http://schemas.openxmlformats.org/drawingml/2006/main" w="9525">
            <a:solidFill>
              <a:srgbClr val="B91C1C"/>
            </a:solidFill>
            <a:prstDash val="solid"/>
          </a:ln>
        </p:spPr>
      </p:sp>
      <p:sp>
        <p:nvSpPr>
          <p:cNvPr id="7" name="">
            <a:extLst xmlns:a="http://schemas.openxmlformats.org/drawingml/2006/main">
              <a:ext uri="{FF2B5EF4-FFF2-40B4-BE49-F238E27FC236}">
                <a16:creationId xmlns:a16="http://schemas.microsoft.com/office/drawing/2014/main" id="{C7C92303-99BC-491F-8890-E66D40840605}"/>
              </a:ext>
            </a:extLst>
          </p:cNvPr>
          <p:cNvSpPr>
            <a:spLocks xmlns:a="http://schemas.openxmlformats.org/drawingml/2006/main" noGrp="1"/>
          </p:cNvSpPr>
          <p:nvPr/>
        </p:nvSpPr>
        <p:spPr>
          <a:xfrm xmlns:a="http://schemas.openxmlformats.org/drawingml/2006/main">
            <a:off x="876300" y="17716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B91C1C"/>
                </a:solidFill>
              </a:defRPr>
            </a:pPr>
            <a:r>
              <a:rPr sz="1275" b="1">
                <a:solidFill>
                  <a:srgbClr val="B91C1C"/>
                </a:solidFill>
              </a:rPr>
              <a:t>P0</a:t>
            </a:r>
          </a:p>
        </p:txBody>
      </p:sp>
      <p:sp>
        <p:nvSpPr>
          <p:cNvPr id="8" name="">
            <a:extLst xmlns:a="http://schemas.openxmlformats.org/drawingml/2006/main">
              <a:ext uri="{FF2B5EF4-FFF2-40B4-BE49-F238E27FC236}">
                <a16:creationId xmlns:a16="http://schemas.microsoft.com/office/drawing/2014/main" id="{A0317EE6-D374-46D3-8B8E-C33CC91A0750}"/>
              </a:ext>
            </a:extLst>
          </p:cNvPr>
          <p:cNvSpPr>
            <a:spLocks xmlns:a="http://schemas.openxmlformats.org/drawingml/2006/main" noGrp="1"/>
          </p:cNvSpPr>
          <p:nvPr/>
        </p:nvSpPr>
        <p:spPr>
          <a:xfrm xmlns:a="http://schemas.openxmlformats.org/drawingml/2006/main">
            <a:off x="1543050" y="16002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033"/>
                </a:solidFill>
              </a:defRPr>
            </a:pPr>
            <a:r>
              <a:rPr sz="1425" b="1">
                <a:solidFill>
                  <a:srgbClr val="172033"/>
                </a:solidFill>
              </a:rPr>
              <a:t>Katalog</a:t>
            </a:r>
          </a:p>
        </p:txBody>
      </p:sp>
      <p:sp>
        <p:nvSpPr>
          <p:cNvPr id="9" name="">
            <a:extLst xmlns:a="http://schemas.openxmlformats.org/drawingml/2006/main">
              <a:ext uri="{FF2B5EF4-FFF2-40B4-BE49-F238E27FC236}">
                <a16:creationId xmlns:a16="http://schemas.microsoft.com/office/drawing/2014/main" id="{422FDFF4-008C-4534-BBDC-3B920D227F5F}"/>
              </a:ext>
            </a:extLst>
          </p:cNvPr>
          <p:cNvSpPr>
            <a:spLocks xmlns:a="http://schemas.openxmlformats.org/drawingml/2006/main" noGrp="1"/>
          </p:cNvSpPr>
          <p:nvPr/>
        </p:nvSpPr>
        <p:spPr>
          <a:xfrm xmlns:a="http://schemas.openxmlformats.org/drawingml/2006/main">
            <a:off x="1543050" y="19050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273"/>
                </a:solidFill>
              </a:defRPr>
            </a:pPr>
            <a:r>
              <a:rPr sz="1275" b="0">
                <a:solidFill>
                  <a:srgbClr val="526273"/>
                </a:solidFill>
              </a:rPr>
              <a:t>hanya 2 item</a:t>
            </a:r>
          </a:p>
        </p:txBody>
      </p:sp>
      <p:sp>
        <p:nvSpPr>
          <p:cNvPr id="10" name="">
            <a:extLst xmlns:a="http://schemas.openxmlformats.org/drawingml/2006/main">
              <a:ext uri="{FF2B5EF4-FFF2-40B4-BE49-F238E27FC236}">
                <a16:creationId xmlns:a16="http://schemas.microsoft.com/office/drawing/2014/main" id="{6A28DCB6-A73D-4009-BEAA-69F6FDE92DE4}"/>
              </a:ext>
            </a:extLst>
          </p:cNvPr>
          <p:cNvSpPr>
            <a:spLocks xmlns:a="http://schemas.openxmlformats.org/drawingml/2006/main" noGrp="1"/>
          </p:cNvSpPr>
          <p:nvPr/>
        </p:nvSpPr>
        <p:spPr>
          <a:xfrm xmlns:a="http://schemas.openxmlformats.org/drawingml/2006/main">
            <a:off x="5981700" y="1428750"/>
            <a:ext cx="51054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E5EC"/>
            </a:solidFill>
            <a:prstDash val="solid"/>
          </a:ln>
        </p:spPr>
      </p:sp>
      <p:sp>
        <p:nvSpPr>
          <p:cNvPr id="11" name="">
            <a:extLst xmlns:a="http://schemas.openxmlformats.org/drawingml/2006/main">
              <a:ext uri="{FF2B5EF4-FFF2-40B4-BE49-F238E27FC236}">
                <a16:creationId xmlns:a16="http://schemas.microsoft.com/office/drawing/2014/main" id="{03CB0387-91DD-4F3D-B71B-D814486690A9}"/>
              </a:ext>
            </a:extLst>
          </p:cNvPr>
          <p:cNvSpPr>
            <a:spLocks xmlns:a="http://schemas.openxmlformats.org/drawingml/2006/main" noGrp="1"/>
          </p:cNvSpPr>
          <p:nvPr/>
        </p:nvSpPr>
        <p:spPr>
          <a:xfrm xmlns:a="http://schemas.openxmlformats.org/drawingml/2006/main">
            <a:off x="6134100" y="1600200"/>
            <a:ext cx="609600" cy="552450"/>
          </a:xfrm>
          <a:prstGeom xmlns:a="http://schemas.openxmlformats.org/drawingml/2006/main" prst="roundRect">
            <a:avLst>
              <a:gd name="adj" fmla="val 13793"/>
            </a:avLst>
          </a:prstGeom>
          <a:solidFill xmlns:a="http://schemas.openxmlformats.org/drawingml/2006/main">
            <a:srgbClr val="FEE2E2"/>
          </a:solidFill>
          <a:ln xmlns:a="http://schemas.openxmlformats.org/drawingml/2006/main" w="9525">
            <a:solidFill>
              <a:srgbClr val="B91C1C"/>
            </a:solidFill>
            <a:prstDash val="solid"/>
          </a:ln>
        </p:spPr>
      </p:sp>
      <p:sp>
        <p:nvSpPr>
          <p:cNvPr id="12" name="">
            <a:extLst xmlns:a="http://schemas.openxmlformats.org/drawingml/2006/main">
              <a:ext uri="{FF2B5EF4-FFF2-40B4-BE49-F238E27FC236}">
                <a16:creationId xmlns:a16="http://schemas.microsoft.com/office/drawing/2014/main" id="{B75B4EB0-0F57-4774-9F89-B7C5CDFF074B}"/>
              </a:ext>
            </a:extLst>
          </p:cNvPr>
          <p:cNvSpPr>
            <a:spLocks xmlns:a="http://schemas.openxmlformats.org/drawingml/2006/main" noGrp="1"/>
          </p:cNvSpPr>
          <p:nvPr/>
        </p:nvSpPr>
        <p:spPr>
          <a:xfrm xmlns:a="http://schemas.openxmlformats.org/drawingml/2006/main">
            <a:off x="6248400" y="17716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B91C1C"/>
                </a:solidFill>
              </a:defRPr>
            </a:pPr>
            <a:r>
              <a:rPr sz="1275" b="1">
                <a:solidFill>
                  <a:srgbClr val="B91C1C"/>
                </a:solidFill>
              </a:rPr>
              <a:t>P0</a:t>
            </a:r>
          </a:p>
        </p:txBody>
      </p:sp>
      <p:sp>
        <p:nvSpPr>
          <p:cNvPr id="13" name="">
            <a:extLst xmlns:a="http://schemas.openxmlformats.org/drawingml/2006/main">
              <a:ext uri="{FF2B5EF4-FFF2-40B4-BE49-F238E27FC236}">
                <a16:creationId xmlns:a16="http://schemas.microsoft.com/office/drawing/2014/main" id="{50CB58B3-D253-45D8-8906-F35767644417}"/>
              </a:ext>
            </a:extLst>
          </p:cNvPr>
          <p:cNvSpPr>
            <a:spLocks xmlns:a="http://schemas.openxmlformats.org/drawingml/2006/main" noGrp="1"/>
          </p:cNvSpPr>
          <p:nvPr/>
        </p:nvSpPr>
        <p:spPr>
          <a:xfrm xmlns:a="http://schemas.openxmlformats.org/drawingml/2006/main">
            <a:off x="6915150" y="16002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033"/>
                </a:solidFill>
              </a:defRPr>
            </a:pPr>
            <a:r>
              <a:rPr sz="1425" b="1">
                <a:solidFill>
                  <a:srgbClr val="172033"/>
                </a:solidFill>
              </a:rPr>
              <a:t>Antrean</a:t>
            </a:r>
          </a:p>
        </p:txBody>
      </p:sp>
      <p:sp>
        <p:nvSpPr>
          <p:cNvPr id="14" name="">
            <a:extLst xmlns:a="http://schemas.openxmlformats.org/drawingml/2006/main">
              <a:ext uri="{FF2B5EF4-FFF2-40B4-BE49-F238E27FC236}">
                <a16:creationId xmlns:a16="http://schemas.microsoft.com/office/drawing/2014/main" id="{8C421DD6-E349-4E0D-BA14-CF1666B27F92}"/>
              </a:ext>
            </a:extLst>
          </p:cNvPr>
          <p:cNvSpPr>
            <a:spLocks xmlns:a="http://schemas.openxmlformats.org/drawingml/2006/main" noGrp="1"/>
          </p:cNvSpPr>
          <p:nvPr/>
        </p:nvSpPr>
        <p:spPr>
          <a:xfrm xmlns:a="http://schemas.openxmlformats.org/drawingml/2006/main">
            <a:off x="6915150" y="19050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273"/>
                </a:solidFill>
              </a:defRPr>
            </a:pPr>
            <a:r>
              <a:rPr sz="1275" b="0">
                <a:solidFill>
                  <a:srgbClr val="526273"/>
                </a:solidFill>
              </a:rPr>
              <a:t>endpoint belum deploy</a:t>
            </a:r>
          </a:p>
        </p:txBody>
      </p:sp>
      <p:sp>
        <p:nvSpPr>
          <p:cNvPr id="15" name="">
            <a:extLst xmlns:a="http://schemas.openxmlformats.org/drawingml/2006/main">
              <a:ext uri="{FF2B5EF4-FFF2-40B4-BE49-F238E27FC236}">
                <a16:creationId xmlns:a16="http://schemas.microsoft.com/office/drawing/2014/main" id="{627A0C3A-7596-48A6-82B3-F6615DDD9DF5}"/>
              </a:ext>
            </a:extLst>
          </p:cNvPr>
          <p:cNvSpPr>
            <a:spLocks xmlns:a="http://schemas.openxmlformats.org/drawingml/2006/main" noGrp="1"/>
          </p:cNvSpPr>
          <p:nvPr/>
        </p:nvSpPr>
        <p:spPr>
          <a:xfrm xmlns:a="http://schemas.openxmlformats.org/drawingml/2006/main">
            <a:off x="609600" y="2533650"/>
            <a:ext cx="51054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E5EC"/>
            </a:solidFill>
            <a:prstDash val="solid"/>
          </a:ln>
        </p:spPr>
      </p:sp>
      <p:sp>
        <p:nvSpPr>
          <p:cNvPr id="16" name="">
            <a:extLst xmlns:a="http://schemas.openxmlformats.org/drawingml/2006/main">
              <a:ext uri="{FF2B5EF4-FFF2-40B4-BE49-F238E27FC236}">
                <a16:creationId xmlns:a16="http://schemas.microsoft.com/office/drawing/2014/main" id="{965F5078-E490-4627-A8ED-FAE992AB60FB}"/>
              </a:ext>
            </a:extLst>
          </p:cNvPr>
          <p:cNvSpPr>
            <a:spLocks xmlns:a="http://schemas.openxmlformats.org/drawingml/2006/main" noGrp="1"/>
          </p:cNvSpPr>
          <p:nvPr/>
        </p:nvSpPr>
        <p:spPr>
          <a:xfrm xmlns:a="http://schemas.openxmlformats.org/drawingml/2006/main">
            <a:off x="762000" y="2705100"/>
            <a:ext cx="609600" cy="552450"/>
          </a:xfrm>
          <a:prstGeom xmlns:a="http://schemas.openxmlformats.org/drawingml/2006/main" prst="roundRect">
            <a:avLst>
              <a:gd name="adj" fmla="val 13793"/>
            </a:avLst>
          </a:prstGeom>
          <a:solidFill xmlns:a="http://schemas.openxmlformats.org/drawingml/2006/main">
            <a:srgbClr val="FEE2E2"/>
          </a:solidFill>
          <a:ln xmlns:a="http://schemas.openxmlformats.org/drawingml/2006/main" w="9525">
            <a:solidFill>
              <a:srgbClr val="B91C1C"/>
            </a:solidFill>
            <a:prstDash val="solid"/>
          </a:ln>
        </p:spPr>
      </p:sp>
      <p:sp>
        <p:nvSpPr>
          <p:cNvPr id="17" name="">
            <a:extLst xmlns:a="http://schemas.openxmlformats.org/drawingml/2006/main">
              <a:ext uri="{FF2B5EF4-FFF2-40B4-BE49-F238E27FC236}">
                <a16:creationId xmlns:a16="http://schemas.microsoft.com/office/drawing/2014/main" id="{113E047C-FCF1-4748-A422-A6B1865C6920}"/>
              </a:ext>
            </a:extLst>
          </p:cNvPr>
          <p:cNvSpPr>
            <a:spLocks xmlns:a="http://schemas.openxmlformats.org/drawingml/2006/main" noGrp="1"/>
          </p:cNvSpPr>
          <p:nvPr/>
        </p:nvSpPr>
        <p:spPr>
          <a:xfrm xmlns:a="http://schemas.openxmlformats.org/drawingml/2006/main">
            <a:off x="876300" y="28765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B91C1C"/>
                </a:solidFill>
              </a:defRPr>
            </a:pPr>
            <a:r>
              <a:rPr sz="1275" b="1">
                <a:solidFill>
                  <a:srgbClr val="B91C1C"/>
                </a:solidFill>
              </a:rPr>
              <a:t>P0</a:t>
            </a:r>
          </a:p>
        </p:txBody>
      </p:sp>
      <p:sp>
        <p:nvSpPr>
          <p:cNvPr id="18" name="">
            <a:extLst xmlns:a="http://schemas.openxmlformats.org/drawingml/2006/main">
              <a:ext uri="{FF2B5EF4-FFF2-40B4-BE49-F238E27FC236}">
                <a16:creationId xmlns:a16="http://schemas.microsoft.com/office/drawing/2014/main" id="{93AD6611-F120-49CA-87B8-58AF8594A2A6}"/>
              </a:ext>
            </a:extLst>
          </p:cNvPr>
          <p:cNvSpPr>
            <a:spLocks xmlns:a="http://schemas.openxmlformats.org/drawingml/2006/main" noGrp="1"/>
          </p:cNvSpPr>
          <p:nvPr/>
        </p:nvSpPr>
        <p:spPr>
          <a:xfrm xmlns:a="http://schemas.openxmlformats.org/drawingml/2006/main">
            <a:off x="1543050" y="27051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033"/>
                </a:solidFill>
              </a:defRPr>
            </a:pPr>
            <a:r>
              <a:rPr sz="1425" b="1">
                <a:solidFill>
                  <a:srgbClr val="172033"/>
                </a:solidFill>
              </a:rPr>
              <a:t>Laporan jual</a:t>
            </a:r>
          </a:p>
        </p:txBody>
      </p:sp>
      <p:sp>
        <p:nvSpPr>
          <p:cNvPr id="19" name="">
            <a:extLst xmlns:a="http://schemas.openxmlformats.org/drawingml/2006/main">
              <a:ext uri="{FF2B5EF4-FFF2-40B4-BE49-F238E27FC236}">
                <a16:creationId xmlns:a16="http://schemas.microsoft.com/office/drawing/2014/main" id="{9364CA37-7208-4819-818A-D31942EDB0F7}"/>
              </a:ext>
            </a:extLst>
          </p:cNvPr>
          <p:cNvSpPr>
            <a:spLocks xmlns:a="http://schemas.openxmlformats.org/drawingml/2006/main" noGrp="1"/>
          </p:cNvSpPr>
          <p:nvPr/>
        </p:nvSpPr>
        <p:spPr>
          <a:xfrm xmlns:a="http://schemas.openxmlformats.org/drawingml/2006/main">
            <a:off x="1543050" y="30099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273"/>
                </a:solidFill>
              </a:defRPr>
            </a:pPr>
            <a:r>
              <a:rPr sz="1275" b="0">
                <a:solidFill>
                  <a:srgbClr val="526273"/>
                </a:solidFill>
              </a:rPr>
              <a:t>success / 0 rows</a:t>
            </a:r>
          </a:p>
        </p:txBody>
      </p:sp>
      <p:sp>
        <p:nvSpPr>
          <p:cNvPr id="20" name="">
            <a:extLst xmlns:a="http://schemas.openxmlformats.org/drawingml/2006/main">
              <a:ext uri="{FF2B5EF4-FFF2-40B4-BE49-F238E27FC236}">
                <a16:creationId xmlns:a16="http://schemas.microsoft.com/office/drawing/2014/main" id="{995A13CE-0A27-481E-B3C1-336D61C1717C}"/>
              </a:ext>
            </a:extLst>
          </p:cNvPr>
          <p:cNvSpPr>
            <a:spLocks xmlns:a="http://schemas.openxmlformats.org/drawingml/2006/main" noGrp="1"/>
          </p:cNvSpPr>
          <p:nvPr/>
        </p:nvSpPr>
        <p:spPr>
          <a:xfrm xmlns:a="http://schemas.openxmlformats.org/drawingml/2006/main">
            <a:off x="5981700" y="2533650"/>
            <a:ext cx="51054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E5EC"/>
            </a:solidFill>
            <a:prstDash val="solid"/>
          </a:ln>
        </p:spPr>
      </p:sp>
      <p:sp>
        <p:nvSpPr>
          <p:cNvPr id="21" name="">
            <a:extLst xmlns:a="http://schemas.openxmlformats.org/drawingml/2006/main">
              <a:ext uri="{FF2B5EF4-FFF2-40B4-BE49-F238E27FC236}">
                <a16:creationId xmlns:a16="http://schemas.microsoft.com/office/drawing/2014/main" id="{F548A9A9-DE5A-47C7-8F8B-BB304E4F49EC}"/>
              </a:ext>
            </a:extLst>
          </p:cNvPr>
          <p:cNvSpPr>
            <a:spLocks xmlns:a="http://schemas.openxmlformats.org/drawingml/2006/main" noGrp="1"/>
          </p:cNvSpPr>
          <p:nvPr/>
        </p:nvSpPr>
        <p:spPr>
          <a:xfrm xmlns:a="http://schemas.openxmlformats.org/drawingml/2006/main">
            <a:off x="6134100" y="2705100"/>
            <a:ext cx="609600" cy="552450"/>
          </a:xfrm>
          <a:prstGeom xmlns:a="http://schemas.openxmlformats.org/drawingml/2006/main" prst="roundRect">
            <a:avLst>
              <a:gd name="adj" fmla="val 13793"/>
            </a:avLst>
          </a:prstGeom>
          <a:solidFill xmlns:a="http://schemas.openxmlformats.org/drawingml/2006/main">
            <a:srgbClr val="FEE2E2"/>
          </a:solidFill>
          <a:ln xmlns:a="http://schemas.openxmlformats.org/drawingml/2006/main" w="9525">
            <a:solidFill>
              <a:srgbClr val="B91C1C"/>
            </a:solidFill>
            <a:prstDash val="solid"/>
          </a:ln>
        </p:spPr>
      </p:sp>
      <p:sp>
        <p:nvSpPr>
          <p:cNvPr id="22" name="">
            <a:extLst xmlns:a="http://schemas.openxmlformats.org/drawingml/2006/main">
              <a:ext uri="{FF2B5EF4-FFF2-40B4-BE49-F238E27FC236}">
                <a16:creationId xmlns:a16="http://schemas.microsoft.com/office/drawing/2014/main" id="{D301EC69-A6E5-4C57-AE2D-808536522533}"/>
              </a:ext>
            </a:extLst>
          </p:cNvPr>
          <p:cNvSpPr>
            <a:spLocks xmlns:a="http://schemas.openxmlformats.org/drawingml/2006/main" noGrp="1"/>
          </p:cNvSpPr>
          <p:nvPr/>
        </p:nvSpPr>
        <p:spPr>
          <a:xfrm xmlns:a="http://schemas.openxmlformats.org/drawingml/2006/main">
            <a:off x="6248400" y="28765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B91C1C"/>
                </a:solidFill>
              </a:defRPr>
            </a:pPr>
            <a:r>
              <a:rPr sz="1275" b="1">
                <a:solidFill>
                  <a:srgbClr val="B91C1C"/>
                </a:solidFill>
              </a:rPr>
              <a:t>P0</a:t>
            </a:r>
          </a:p>
        </p:txBody>
      </p:sp>
      <p:sp>
        <p:nvSpPr>
          <p:cNvPr id="23" name="">
            <a:extLst xmlns:a="http://schemas.openxmlformats.org/drawingml/2006/main">
              <a:ext uri="{FF2B5EF4-FFF2-40B4-BE49-F238E27FC236}">
                <a16:creationId xmlns:a16="http://schemas.microsoft.com/office/drawing/2014/main" id="{F6BB0D91-1DAE-4DC9-A282-21940522156B}"/>
              </a:ext>
            </a:extLst>
          </p:cNvPr>
          <p:cNvSpPr>
            <a:spLocks xmlns:a="http://schemas.openxmlformats.org/drawingml/2006/main" noGrp="1"/>
          </p:cNvSpPr>
          <p:nvPr/>
        </p:nvSpPr>
        <p:spPr>
          <a:xfrm xmlns:a="http://schemas.openxmlformats.org/drawingml/2006/main">
            <a:off x="6915150" y="27051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033"/>
                </a:solidFill>
              </a:defRPr>
            </a:pPr>
            <a:r>
              <a:rPr sz="1425" b="1">
                <a:solidFill>
                  <a:srgbClr val="172033"/>
                </a:solidFill>
              </a:rPr>
              <a:t>Signing</a:t>
            </a:r>
          </a:p>
        </p:txBody>
      </p:sp>
      <p:sp>
        <p:nvSpPr>
          <p:cNvPr id="24" name="">
            <a:extLst xmlns:a="http://schemas.openxmlformats.org/drawingml/2006/main">
              <a:ext uri="{FF2B5EF4-FFF2-40B4-BE49-F238E27FC236}">
                <a16:creationId xmlns:a16="http://schemas.microsoft.com/office/drawing/2014/main" id="{B8B1432A-2586-4D25-9A28-0ED2B7611A18}"/>
              </a:ext>
            </a:extLst>
          </p:cNvPr>
          <p:cNvSpPr>
            <a:spLocks xmlns:a="http://schemas.openxmlformats.org/drawingml/2006/main" noGrp="1"/>
          </p:cNvSpPr>
          <p:nvPr/>
        </p:nvSpPr>
        <p:spPr>
          <a:xfrm xmlns:a="http://schemas.openxmlformats.org/drawingml/2006/main">
            <a:off x="6915150" y="30099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273"/>
                </a:solidFill>
              </a:defRPr>
            </a:pPr>
            <a:r>
              <a:rPr sz="1275" b="0">
                <a:solidFill>
                  <a:srgbClr val="526273"/>
                </a:solidFill>
              </a:rPr>
              <a:t>APK debug + EXE unsigned</a:t>
            </a:r>
          </a:p>
        </p:txBody>
      </p:sp>
      <p:sp>
        <p:nvSpPr>
          <p:cNvPr id="25" name="">
            <a:extLst xmlns:a="http://schemas.openxmlformats.org/drawingml/2006/main">
              <a:ext uri="{FF2B5EF4-FFF2-40B4-BE49-F238E27FC236}">
                <a16:creationId xmlns:a16="http://schemas.microsoft.com/office/drawing/2014/main" id="{3CB77A00-BD5B-44EB-A384-A6557394DB51}"/>
              </a:ext>
            </a:extLst>
          </p:cNvPr>
          <p:cNvSpPr>
            <a:spLocks xmlns:a="http://schemas.openxmlformats.org/drawingml/2006/main" noGrp="1"/>
          </p:cNvSpPr>
          <p:nvPr/>
        </p:nvSpPr>
        <p:spPr>
          <a:xfrm xmlns:a="http://schemas.openxmlformats.org/drawingml/2006/main">
            <a:off x="609600" y="3638550"/>
            <a:ext cx="51054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E5EC"/>
            </a:solidFill>
            <a:prstDash val="solid"/>
          </a:ln>
        </p:spPr>
      </p:sp>
      <p:sp>
        <p:nvSpPr>
          <p:cNvPr id="26" name="">
            <a:extLst xmlns:a="http://schemas.openxmlformats.org/drawingml/2006/main">
              <a:ext uri="{FF2B5EF4-FFF2-40B4-BE49-F238E27FC236}">
                <a16:creationId xmlns:a16="http://schemas.microsoft.com/office/drawing/2014/main" id="{B059E524-DCCB-4AD9-BEEB-E55ED7FEE200}"/>
              </a:ext>
            </a:extLst>
          </p:cNvPr>
          <p:cNvSpPr>
            <a:spLocks xmlns:a="http://schemas.openxmlformats.org/drawingml/2006/main" noGrp="1"/>
          </p:cNvSpPr>
          <p:nvPr/>
        </p:nvSpPr>
        <p:spPr>
          <a:xfrm xmlns:a="http://schemas.openxmlformats.org/drawingml/2006/main">
            <a:off x="762000" y="3810000"/>
            <a:ext cx="609600" cy="552450"/>
          </a:xfrm>
          <a:prstGeom xmlns:a="http://schemas.openxmlformats.org/drawingml/2006/main" prst="roundRect">
            <a:avLst>
              <a:gd name="adj" fmla="val 13793"/>
            </a:avLst>
          </a:prstGeom>
          <a:solidFill xmlns:a="http://schemas.openxmlformats.org/drawingml/2006/main">
            <a:srgbClr val="FFF7ED"/>
          </a:solidFill>
          <a:ln xmlns:a="http://schemas.openxmlformats.org/drawingml/2006/main" w="9525">
            <a:solidFill>
              <a:srgbClr val="B45309"/>
            </a:solidFill>
            <a:prstDash val="solid"/>
          </a:ln>
        </p:spPr>
      </p:sp>
      <p:sp>
        <p:nvSpPr>
          <p:cNvPr id="27" name="">
            <a:extLst xmlns:a="http://schemas.openxmlformats.org/drawingml/2006/main">
              <a:ext uri="{FF2B5EF4-FFF2-40B4-BE49-F238E27FC236}">
                <a16:creationId xmlns:a16="http://schemas.microsoft.com/office/drawing/2014/main" id="{BB7D9061-3D0A-40AD-8EBA-D9A94ACFD722}"/>
              </a:ext>
            </a:extLst>
          </p:cNvPr>
          <p:cNvSpPr>
            <a:spLocks xmlns:a="http://schemas.openxmlformats.org/drawingml/2006/main" noGrp="1"/>
          </p:cNvSpPr>
          <p:nvPr/>
        </p:nvSpPr>
        <p:spPr>
          <a:xfrm xmlns:a="http://schemas.openxmlformats.org/drawingml/2006/main">
            <a:off x="876300" y="39814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B45309"/>
                </a:solidFill>
              </a:defRPr>
            </a:pPr>
            <a:r>
              <a:rPr sz="1275" b="1">
                <a:solidFill>
                  <a:srgbClr val="B45309"/>
                </a:solidFill>
              </a:rPr>
              <a:t>P0</a:t>
            </a:r>
          </a:p>
        </p:txBody>
      </p:sp>
      <p:sp>
        <p:nvSpPr>
          <p:cNvPr id="28" name="">
            <a:extLst xmlns:a="http://schemas.openxmlformats.org/drawingml/2006/main">
              <a:ext uri="{FF2B5EF4-FFF2-40B4-BE49-F238E27FC236}">
                <a16:creationId xmlns:a16="http://schemas.microsoft.com/office/drawing/2014/main" id="{FE886350-FF58-452C-B3C7-CEB35F22E92F}"/>
              </a:ext>
            </a:extLst>
          </p:cNvPr>
          <p:cNvSpPr>
            <a:spLocks xmlns:a="http://schemas.openxmlformats.org/drawingml/2006/main" noGrp="1"/>
          </p:cNvSpPr>
          <p:nvPr/>
        </p:nvSpPr>
        <p:spPr>
          <a:xfrm xmlns:a="http://schemas.openxmlformats.org/drawingml/2006/main">
            <a:off x="1543050" y="38100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033"/>
                </a:solidFill>
              </a:defRPr>
            </a:pPr>
            <a:r>
              <a:rPr sz="1425" b="1">
                <a:solidFill>
                  <a:srgbClr val="172033"/>
                </a:solidFill>
              </a:rPr>
              <a:t>Saldo awal</a:t>
            </a:r>
          </a:p>
        </p:txBody>
      </p:sp>
      <p:sp>
        <p:nvSpPr>
          <p:cNvPr id="29" name="">
            <a:extLst xmlns:a="http://schemas.openxmlformats.org/drawingml/2006/main">
              <a:ext uri="{FF2B5EF4-FFF2-40B4-BE49-F238E27FC236}">
                <a16:creationId xmlns:a16="http://schemas.microsoft.com/office/drawing/2014/main" id="{E038CF66-0B93-403E-9327-7CC236604E42}"/>
              </a:ext>
            </a:extLst>
          </p:cNvPr>
          <p:cNvSpPr>
            <a:spLocks xmlns:a="http://schemas.openxmlformats.org/drawingml/2006/main" noGrp="1"/>
          </p:cNvSpPr>
          <p:nvPr/>
        </p:nvSpPr>
        <p:spPr>
          <a:xfrm xmlns:a="http://schemas.openxmlformats.org/drawingml/2006/main">
            <a:off x="1543050" y="41148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273"/>
                </a:solidFill>
              </a:defRPr>
            </a:pPr>
            <a:r>
              <a:rPr sz="1275" b="0">
                <a:solidFill>
                  <a:srgbClr val="526273"/>
                </a:solidFill>
              </a:rPr>
              <a:t>respons parse error</a:t>
            </a:r>
          </a:p>
        </p:txBody>
      </p:sp>
      <p:sp>
        <p:nvSpPr>
          <p:cNvPr id="30" name="">
            <a:extLst xmlns:a="http://schemas.openxmlformats.org/drawingml/2006/main">
              <a:ext uri="{FF2B5EF4-FFF2-40B4-BE49-F238E27FC236}">
                <a16:creationId xmlns:a16="http://schemas.microsoft.com/office/drawing/2014/main" id="{3F698FF5-35FA-49C6-A1BB-D1FA1DBC8598}"/>
              </a:ext>
            </a:extLst>
          </p:cNvPr>
          <p:cNvSpPr>
            <a:spLocks xmlns:a="http://schemas.openxmlformats.org/drawingml/2006/main" noGrp="1"/>
          </p:cNvSpPr>
          <p:nvPr/>
        </p:nvSpPr>
        <p:spPr>
          <a:xfrm xmlns:a="http://schemas.openxmlformats.org/drawingml/2006/main">
            <a:off x="5981700" y="3638550"/>
            <a:ext cx="51054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E5EC"/>
            </a:solidFill>
            <a:prstDash val="solid"/>
          </a:ln>
        </p:spPr>
      </p:sp>
      <p:sp>
        <p:nvSpPr>
          <p:cNvPr id="31" name="">
            <a:extLst xmlns:a="http://schemas.openxmlformats.org/drawingml/2006/main">
              <a:ext uri="{FF2B5EF4-FFF2-40B4-BE49-F238E27FC236}">
                <a16:creationId xmlns:a16="http://schemas.microsoft.com/office/drawing/2014/main" id="{1147493D-41B9-45BE-B105-F80631025642}"/>
              </a:ext>
            </a:extLst>
          </p:cNvPr>
          <p:cNvSpPr>
            <a:spLocks xmlns:a="http://schemas.openxmlformats.org/drawingml/2006/main" noGrp="1"/>
          </p:cNvSpPr>
          <p:nvPr/>
        </p:nvSpPr>
        <p:spPr>
          <a:xfrm xmlns:a="http://schemas.openxmlformats.org/drawingml/2006/main">
            <a:off x="6134100" y="3810000"/>
            <a:ext cx="609600" cy="552450"/>
          </a:xfrm>
          <a:prstGeom xmlns:a="http://schemas.openxmlformats.org/drawingml/2006/main" prst="roundRect">
            <a:avLst>
              <a:gd name="adj" fmla="val 13793"/>
            </a:avLst>
          </a:prstGeom>
          <a:solidFill xmlns:a="http://schemas.openxmlformats.org/drawingml/2006/main">
            <a:srgbClr val="FFF7ED"/>
          </a:solidFill>
          <a:ln xmlns:a="http://schemas.openxmlformats.org/drawingml/2006/main" w="9525">
            <a:solidFill>
              <a:srgbClr val="B45309"/>
            </a:solidFill>
            <a:prstDash val="solid"/>
          </a:ln>
        </p:spPr>
      </p:sp>
      <p:sp>
        <p:nvSpPr>
          <p:cNvPr id="32" name="">
            <a:extLst xmlns:a="http://schemas.openxmlformats.org/drawingml/2006/main">
              <a:ext uri="{FF2B5EF4-FFF2-40B4-BE49-F238E27FC236}">
                <a16:creationId xmlns:a16="http://schemas.microsoft.com/office/drawing/2014/main" id="{4A0ACE16-997A-4C9C-A59C-279CE83C0B3E}"/>
              </a:ext>
            </a:extLst>
          </p:cNvPr>
          <p:cNvSpPr>
            <a:spLocks xmlns:a="http://schemas.openxmlformats.org/drawingml/2006/main" noGrp="1"/>
          </p:cNvSpPr>
          <p:nvPr/>
        </p:nvSpPr>
        <p:spPr>
          <a:xfrm xmlns:a="http://schemas.openxmlformats.org/drawingml/2006/main">
            <a:off x="6248400" y="39814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B45309"/>
                </a:solidFill>
              </a:defRPr>
            </a:pPr>
            <a:r>
              <a:rPr sz="1275" b="1">
                <a:solidFill>
                  <a:srgbClr val="B45309"/>
                </a:solidFill>
              </a:rPr>
              <a:t>P0</a:t>
            </a:r>
          </a:p>
        </p:txBody>
      </p:sp>
      <p:sp>
        <p:nvSpPr>
          <p:cNvPr id="33" name="">
            <a:extLst xmlns:a="http://schemas.openxmlformats.org/drawingml/2006/main">
              <a:ext uri="{FF2B5EF4-FFF2-40B4-BE49-F238E27FC236}">
                <a16:creationId xmlns:a16="http://schemas.microsoft.com/office/drawing/2014/main" id="{39142F89-6726-4936-B0A2-301334BCE0C3}"/>
              </a:ext>
            </a:extLst>
          </p:cNvPr>
          <p:cNvSpPr>
            <a:spLocks xmlns:a="http://schemas.openxmlformats.org/drawingml/2006/main" noGrp="1"/>
          </p:cNvSpPr>
          <p:nvPr/>
        </p:nvSpPr>
        <p:spPr>
          <a:xfrm xmlns:a="http://schemas.openxmlformats.org/drawingml/2006/main">
            <a:off x="6915150" y="38100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033"/>
                </a:solidFill>
              </a:defRPr>
            </a:pPr>
            <a:r>
              <a:rPr sz="1425" b="1">
                <a:solidFill>
                  <a:srgbClr val="172033"/>
                </a:solidFill>
              </a:rPr>
              <a:t>Posting</a:t>
            </a:r>
          </a:p>
        </p:txBody>
      </p:sp>
      <p:sp>
        <p:nvSpPr>
          <p:cNvPr id="34" name="">
            <a:extLst xmlns:a="http://schemas.openxmlformats.org/drawingml/2006/main">
              <a:ext uri="{FF2B5EF4-FFF2-40B4-BE49-F238E27FC236}">
                <a16:creationId xmlns:a16="http://schemas.microsoft.com/office/drawing/2014/main" id="{13D621E0-5E92-489B-A297-9F1CAE1FF725}"/>
              </a:ext>
            </a:extLst>
          </p:cNvPr>
          <p:cNvSpPr>
            <a:spLocks xmlns:a="http://schemas.openxmlformats.org/drawingml/2006/main" noGrp="1"/>
          </p:cNvSpPr>
          <p:nvPr/>
        </p:nvSpPr>
        <p:spPr>
          <a:xfrm xmlns:a="http://schemas.openxmlformats.org/drawingml/2006/main">
            <a:off x="6915150" y="41148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273"/>
                </a:solidFill>
              </a:defRPr>
            </a:pPr>
            <a:r>
              <a:rPr sz="1275" b="0">
                <a:solidFill>
                  <a:srgbClr val="526273"/>
                </a:solidFill>
              </a:rPr>
              <a:t>preview tertentu kosong</a:t>
            </a:r>
          </a:p>
        </p:txBody>
      </p:sp>
      <p:sp>
        <p:nvSpPr>
          <p:cNvPr id="35" name="">
            <a:extLst xmlns:a="http://schemas.openxmlformats.org/drawingml/2006/main">
              <a:ext uri="{FF2B5EF4-FFF2-40B4-BE49-F238E27FC236}">
                <a16:creationId xmlns:a16="http://schemas.microsoft.com/office/drawing/2014/main" id="{F62A0620-6D15-4AFF-9B35-779ACB5E5E4E}"/>
              </a:ext>
            </a:extLst>
          </p:cNvPr>
          <p:cNvSpPr>
            <a:spLocks xmlns:a="http://schemas.openxmlformats.org/drawingml/2006/main" noGrp="1"/>
          </p:cNvSpPr>
          <p:nvPr/>
        </p:nvSpPr>
        <p:spPr>
          <a:xfrm xmlns:a="http://schemas.openxmlformats.org/drawingml/2006/main">
            <a:off x="609600" y="4743450"/>
            <a:ext cx="51054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E5EC"/>
            </a:solidFill>
            <a:prstDash val="solid"/>
          </a:ln>
        </p:spPr>
      </p:sp>
      <p:sp>
        <p:nvSpPr>
          <p:cNvPr id="36" name="">
            <a:extLst xmlns:a="http://schemas.openxmlformats.org/drawingml/2006/main">
              <a:ext uri="{FF2B5EF4-FFF2-40B4-BE49-F238E27FC236}">
                <a16:creationId xmlns:a16="http://schemas.microsoft.com/office/drawing/2014/main" id="{4B78F38C-94E0-42CB-B0ED-DF75A6742E5B}"/>
              </a:ext>
            </a:extLst>
          </p:cNvPr>
          <p:cNvSpPr>
            <a:spLocks xmlns:a="http://schemas.openxmlformats.org/drawingml/2006/main" noGrp="1"/>
          </p:cNvSpPr>
          <p:nvPr/>
        </p:nvSpPr>
        <p:spPr>
          <a:xfrm xmlns:a="http://schemas.openxmlformats.org/drawingml/2006/main">
            <a:off x="762000" y="4914900"/>
            <a:ext cx="609600" cy="552450"/>
          </a:xfrm>
          <a:prstGeom xmlns:a="http://schemas.openxmlformats.org/drawingml/2006/main" prst="roundRect">
            <a:avLst>
              <a:gd name="adj" fmla="val 13793"/>
            </a:avLst>
          </a:prstGeom>
          <a:solidFill xmlns:a="http://schemas.openxmlformats.org/drawingml/2006/main">
            <a:srgbClr val="FFF7ED"/>
          </a:solidFill>
          <a:ln xmlns:a="http://schemas.openxmlformats.org/drawingml/2006/main" w="9525">
            <a:solidFill>
              <a:srgbClr val="B45309"/>
            </a:solidFill>
            <a:prstDash val="solid"/>
          </a:ln>
        </p:spPr>
      </p:sp>
      <p:sp>
        <p:nvSpPr>
          <p:cNvPr id="37" name="">
            <a:extLst xmlns:a="http://schemas.openxmlformats.org/drawingml/2006/main">
              <a:ext uri="{FF2B5EF4-FFF2-40B4-BE49-F238E27FC236}">
                <a16:creationId xmlns:a16="http://schemas.microsoft.com/office/drawing/2014/main" id="{3C4B6E5B-C35D-4171-89B8-CF93D1552A51}"/>
              </a:ext>
            </a:extLst>
          </p:cNvPr>
          <p:cNvSpPr>
            <a:spLocks xmlns:a="http://schemas.openxmlformats.org/drawingml/2006/main" noGrp="1"/>
          </p:cNvSpPr>
          <p:nvPr/>
        </p:nvSpPr>
        <p:spPr>
          <a:xfrm xmlns:a="http://schemas.openxmlformats.org/drawingml/2006/main">
            <a:off x="876300" y="50863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B45309"/>
                </a:solidFill>
              </a:defRPr>
            </a:pPr>
            <a:r>
              <a:rPr sz="1275" b="1">
                <a:solidFill>
                  <a:srgbClr val="B45309"/>
                </a:solidFill>
              </a:rPr>
              <a:t>P1</a:t>
            </a:r>
          </a:p>
        </p:txBody>
      </p:sp>
      <p:sp>
        <p:nvSpPr>
          <p:cNvPr id="38" name="">
            <a:extLst xmlns:a="http://schemas.openxmlformats.org/drawingml/2006/main">
              <a:ext uri="{FF2B5EF4-FFF2-40B4-BE49-F238E27FC236}">
                <a16:creationId xmlns:a16="http://schemas.microsoft.com/office/drawing/2014/main" id="{250612F6-F914-4FD9-8183-D8E2C49FAE97}"/>
              </a:ext>
            </a:extLst>
          </p:cNvPr>
          <p:cNvSpPr>
            <a:spLocks xmlns:a="http://schemas.openxmlformats.org/drawingml/2006/main" noGrp="1"/>
          </p:cNvSpPr>
          <p:nvPr/>
        </p:nvSpPr>
        <p:spPr>
          <a:xfrm xmlns:a="http://schemas.openxmlformats.org/drawingml/2006/main">
            <a:off x="1543050" y="49149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033"/>
                </a:solidFill>
              </a:defRPr>
            </a:pPr>
            <a:r>
              <a:rPr sz="1425" b="1">
                <a:solidFill>
                  <a:srgbClr val="172033"/>
                </a:solidFill>
              </a:rPr>
              <a:t>Filter bayar</a:t>
            </a:r>
          </a:p>
        </p:txBody>
      </p:sp>
      <p:sp>
        <p:nvSpPr>
          <p:cNvPr id="39" name="">
            <a:extLst xmlns:a="http://schemas.openxmlformats.org/drawingml/2006/main">
              <a:ext uri="{FF2B5EF4-FFF2-40B4-BE49-F238E27FC236}">
                <a16:creationId xmlns:a16="http://schemas.microsoft.com/office/drawing/2014/main" id="{A89E57A9-FA72-4923-98AE-04C3B573CC42}"/>
              </a:ext>
            </a:extLst>
          </p:cNvPr>
          <p:cNvSpPr>
            <a:spLocks xmlns:a="http://schemas.openxmlformats.org/drawingml/2006/main" noGrp="1"/>
          </p:cNvSpPr>
          <p:nvPr/>
        </p:nvSpPr>
        <p:spPr>
          <a:xfrm xmlns:a="http://schemas.openxmlformats.org/drawingml/2006/main">
            <a:off x="154305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273"/>
                </a:solidFill>
              </a:defRPr>
            </a:pPr>
            <a:r>
              <a:rPr sz="1275" b="0">
                <a:solidFill>
                  <a:srgbClr val="526273"/>
                </a:solidFill>
              </a:rPr>
              <a:t>marker mengembalikan 0</a:t>
            </a:r>
          </a:p>
        </p:txBody>
      </p:sp>
      <p:sp>
        <p:nvSpPr>
          <p:cNvPr id="40" name="">
            <a:extLst xmlns:a="http://schemas.openxmlformats.org/drawingml/2006/main">
              <a:ext uri="{FF2B5EF4-FFF2-40B4-BE49-F238E27FC236}">
                <a16:creationId xmlns:a16="http://schemas.microsoft.com/office/drawing/2014/main" id="{9A7CE6B6-F47F-4656-A373-378D4C9CEA9B}"/>
              </a:ext>
            </a:extLst>
          </p:cNvPr>
          <p:cNvSpPr>
            <a:spLocks xmlns:a="http://schemas.openxmlformats.org/drawingml/2006/main" noGrp="1"/>
          </p:cNvSpPr>
          <p:nvPr/>
        </p:nvSpPr>
        <p:spPr>
          <a:xfrm xmlns:a="http://schemas.openxmlformats.org/drawingml/2006/main">
            <a:off x="5981700" y="4743450"/>
            <a:ext cx="51054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E5EC"/>
            </a:solidFill>
            <a:prstDash val="solid"/>
          </a:ln>
        </p:spPr>
      </p:sp>
      <p:sp>
        <p:nvSpPr>
          <p:cNvPr id="41" name="">
            <a:extLst xmlns:a="http://schemas.openxmlformats.org/drawingml/2006/main">
              <a:ext uri="{FF2B5EF4-FFF2-40B4-BE49-F238E27FC236}">
                <a16:creationId xmlns:a16="http://schemas.microsoft.com/office/drawing/2014/main" id="{DE2B3A07-5ECE-4905-8069-8C72E4AE199D}"/>
              </a:ext>
            </a:extLst>
          </p:cNvPr>
          <p:cNvSpPr>
            <a:spLocks xmlns:a="http://schemas.openxmlformats.org/drawingml/2006/main" noGrp="1"/>
          </p:cNvSpPr>
          <p:nvPr/>
        </p:nvSpPr>
        <p:spPr>
          <a:xfrm xmlns:a="http://schemas.openxmlformats.org/drawingml/2006/main">
            <a:off x="6134100" y="4914900"/>
            <a:ext cx="609600" cy="552450"/>
          </a:xfrm>
          <a:prstGeom xmlns:a="http://schemas.openxmlformats.org/drawingml/2006/main" prst="roundRect">
            <a:avLst>
              <a:gd name="adj" fmla="val 13793"/>
            </a:avLst>
          </a:prstGeom>
          <a:solidFill xmlns:a="http://schemas.openxmlformats.org/drawingml/2006/main">
            <a:srgbClr val="EAF3F8"/>
          </a:solidFill>
          <a:ln xmlns:a="http://schemas.openxmlformats.org/drawingml/2006/main" w="9525">
            <a:solidFill>
              <a:srgbClr val="075985"/>
            </a:solidFill>
            <a:prstDash val="solid"/>
          </a:ln>
        </p:spPr>
      </p:sp>
      <p:sp>
        <p:nvSpPr>
          <p:cNvPr id="42" name="">
            <a:extLst xmlns:a="http://schemas.openxmlformats.org/drawingml/2006/main">
              <a:ext uri="{FF2B5EF4-FFF2-40B4-BE49-F238E27FC236}">
                <a16:creationId xmlns:a16="http://schemas.microsoft.com/office/drawing/2014/main" id="{27B070D4-528C-4DA2-BD08-B3FB4A950985}"/>
              </a:ext>
            </a:extLst>
          </p:cNvPr>
          <p:cNvSpPr>
            <a:spLocks xmlns:a="http://schemas.openxmlformats.org/drawingml/2006/main" noGrp="1"/>
          </p:cNvSpPr>
          <p:nvPr/>
        </p:nvSpPr>
        <p:spPr>
          <a:xfrm xmlns:a="http://schemas.openxmlformats.org/drawingml/2006/main">
            <a:off x="6248400" y="50863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75985"/>
                </a:solidFill>
              </a:defRPr>
            </a:pPr>
            <a:r>
              <a:rPr sz="1275" b="1">
                <a:solidFill>
                  <a:srgbClr val="075985"/>
                </a:solidFill>
              </a:rPr>
              <a:t>P2</a:t>
            </a:r>
          </a:p>
        </p:txBody>
      </p:sp>
      <p:sp>
        <p:nvSpPr>
          <p:cNvPr id="43" name="">
            <a:extLst xmlns:a="http://schemas.openxmlformats.org/drawingml/2006/main">
              <a:ext uri="{FF2B5EF4-FFF2-40B4-BE49-F238E27FC236}">
                <a16:creationId xmlns:a16="http://schemas.microsoft.com/office/drawing/2014/main" id="{FEAD2A5F-BC5C-48AE-A357-2F1536AAFD88}"/>
              </a:ext>
            </a:extLst>
          </p:cNvPr>
          <p:cNvSpPr>
            <a:spLocks xmlns:a="http://schemas.openxmlformats.org/drawingml/2006/main" noGrp="1"/>
          </p:cNvSpPr>
          <p:nvPr/>
        </p:nvSpPr>
        <p:spPr>
          <a:xfrm xmlns:a="http://schemas.openxmlformats.org/drawingml/2006/main">
            <a:off x="6915150" y="49149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033"/>
                </a:solidFill>
              </a:defRPr>
            </a:pPr>
            <a:r>
              <a:rPr sz="1425" b="1">
                <a:solidFill>
                  <a:srgbClr val="172033"/>
                </a:solidFill>
              </a:rPr>
              <a:t>Layout</a:t>
            </a:r>
          </a:p>
        </p:txBody>
      </p:sp>
      <p:sp>
        <p:nvSpPr>
          <p:cNvPr id="44" name="">
            <a:extLst xmlns:a="http://schemas.openxmlformats.org/drawingml/2006/main">
              <a:ext uri="{FF2B5EF4-FFF2-40B4-BE49-F238E27FC236}">
                <a16:creationId xmlns:a16="http://schemas.microsoft.com/office/drawing/2014/main" id="{2A4AE70D-3A8E-4322-BE3F-1240EBEDBBA5}"/>
              </a:ext>
            </a:extLst>
          </p:cNvPr>
          <p:cNvSpPr>
            <a:spLocks xmlns:a="http://schemas.openxmlformats.org/drawingml/2006/main" noGrp="1"/>
          </p:cNvSpPr>
          <p:nvPr/>
        </p:nvSpPr>
        <p:spPr>
          <a:xfrm xmlns:a="http://schemas.openxmlformats.org/drawingml/2006/main">
            <a:off x="691515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273"/>
                </a:solidFill>
              </a:defRPr>
            </a:pPr>
            <a:r>
              <a:rPr sz="1275" b="0">
                <a:solidFill>
                  <a:srgbClr val="526273"/>
                </a:solidFill>
              </a:rPr>
              <a:t>overflow 34 px</a:t>
            </a:r>
          </a:p>
        </p:txBody>
      </p:sp>
    </p:spTree>
    <p:extLst>
      <p:ext uri="{BB962C8B-B14F-4D97-AF65-F5344CB8AC3E}">
        <p14:creationId xmlns:p14="http://schemas.microsoft.com/office/powerpoint/2010/main" val="232535189"/>
      </p:ext>
    </p:extLst>
  </p:cSld>
</p:sld>
</file>

<file path=ppt/slides/slide2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BEEFAD6-F620-4EE0-AF27-4C94B9D88718}"/>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DISTRIBUSI</a:t>
            </a:r>
          </a:p>
        </p:txBody>
      </p:sp>
      <p:sp>
        <p:nvSpPr>
          <p:cNvPr id="2" name="">
            <a:extLst xmlns:a="http://schemas.openxmlformats.org/drawingml/2006/main">
              <a:ext uri="{FF2B5EF4-FFF2-40B4-BE49-F238E27FC236}">
                <a16:creationId xmlns:a16="http://schemas.microsoft.com/office/drawing/2014/main" id="{2EAB79B9-D5CB-413A-A3F7-1ABF4C66D3DE}"/>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Aset GitHub Release v1.34.23</a:t>
            </a:r>
          </a:p>
        </p:txBody>
      </p:sp>
      <p:sp>
        <p:nvSpPr>
          <p:cNvPr id="3" name="">
            <a:extLst xmlns:a="http://schemas.openxmlformats.org/drawingml/2006/main">
              <a:ext uri="{FF2B5EF4-FFF2-40B4-BE49-F238E27FC236}">
                <a16:creationId xmlns:a16="http://schemas.microsoft.com/office/drawing/2014/main" id="{B7C0A1D1-C9A6-471D-A67D-8A00A7C16BD7}"/>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23</a:t>
            </a:r>
          </a:p>
        </p:txBody>
      </p:sp>
      <p:sp>
        <p:nvSpPr>
          <p:cNvPr id="4" name="">
            <a:extLst xmlns:a="http://schemas.openxmlformats.org/drawingml/2006/main">
              <a:ext uri="{FF2B5EF4-FFF2-40B4-BE49-F238E27FC236}">
                <a16:creationId xmlns:a16="http://schemas.microsoft.com/office/drawing/2014/main" id="{BB9D7EE7-9711-4127-B044-7BCCDC70958F}"/>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23</a:t>
            </a:r>
          </a:p>
        </p:txBody>
      </p:sp>
      <p:sp>
        <p:nvSpPr>
          <p:cNvPr id="5" name="">
            <a:extLst xmlns:a="http://schemas.openxmlformats.org/drawingml/2006/main">
              <a:ext uri="{FF2B5EF4-FFF2-40B4-BE49-F238E27FC236}">
                <a16:creationId xmlns:a16="http://schemas.microsoft.com/office/drawing/2014/main" id="{99244F87-1194-4703-8755-50762CF867BB}"/>
              </a:ext>
            </a:extLst>
          </p:cNvPr>
          <p:cNvSpPr>
            <a:spLocks xmlns:a="http://schemas.openxmlformats.org/drawingml/2006/main" noGrp="1"/>
          </p:cNvSpPr>
          <p:nvPr/>
        </p:nvSpPr>
        <p:spPr>
          <a:xfrm xmlns:a="http://schemas.openxmlformats.org/drawingml/2006/main">
            <a:off x="609600" y="1428750"/>
            <a:ext cx="5067300"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5EC"/>
            </a:solidFill>
            <a:prstDash val="solid"/>
          </a:ln>
        </p:spPr>
      </p:sp>
      <p:sp>
        <p:nvSpPr>
          <p:cNvPr id="6" name="">
            <a:extLst xmlns:a="http://schemas.openxmlformats.org/drawingml/2006/main">
              <a:ext uri="{FF2B5EF4-FFF2-40B4-BE49-F238E27FC236}">
                <a16:creationId xmlns:a16="http://schemas.microsoft.com/office/drawing/2014/main" id="{3C84AEDD-9F90-4DA2-B7B6-F6C99B2FE9DE}"/>
              </a:ext>
            </a:extLst>
          </p:cNvPr>
          <p:cNvSpPr>
            <a:spLocks xmlns:a="http://schemas.openxmlformats.org/drawingml/2006/main" noGrp="1"/>
          </p:cNvSpPr>
          <p:nvPr/>
        </p:nvSpPr>
        <p:spPr>
          <a:xfrm xmlns:a="http://schemas.openxmlformats.org/drawingml/2006/main">
            <a:off x="876300" y="17335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766E"/>
                </a:solidFill>
              </a:defRPr>
            </a:pPr>
            <a:r>
              <a:rPr sz="1125" b="1">
                <a:solidFill>
                  <a:srgbClr val="0F766E"/>
                </a:solidFill>
              </a:rPr>
              <a:t>ANDROID</a:t>
            </a:r>
          </a:p>
        </p:txBody>
      </p:sp>
      <p:sp>
        <p:nvSpPr>
          <p:cNvPr id="7" name="">
            <a:extLst xmlns:a="http://schemas.openxmlformats.org/drawingml/2006/main">
              <a:ext uri="{FF2B5EF4-FFF2-40B4-BE49-F238E27FC236}">
                <a16:creationId xmlns:a16="http://schemas.microsoft.com/office/drawing/2014/main" id="{748D7361-7420-4C08-9CBC-C0078C31F4CC}"/>
              </a:ext>
            </a:extLst>
          </p:cNvPr>
          <p:cNvSpPr>
            <a:spLocks xmlns:a="http://schemas.openxmlformats.org/drawingml/2006/main" noGrp="1"/>
          </p:cNvSpPr>
          <p:nvPr/>
        </p:nvSpPr>
        <p:spPr>
          <a:xfrm xmlns:a="http://schemas.openxmlformats.org/drawingml/2006/main">
            <a:off x="876300" y="2190750"/>
            <a:ext cx="285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B1F33"/>
                </a:solidFill>
              </a:defRPr>
            </a:pPr>
            <a:r>
              <a:rPr sz="3150" b="1">
                <a:solidFill>
                  <a:srgbClr val="0B1F33"/>
                </a:solidFill>
              </a:rPr>
              <a:t>APK</a:t>
            </a:r>
          </a:p>
        </p:txBody>
      </p:sp>
      <p:sp>
        <p:nvSpPr>
          <p:cNvPr id="8" name="">
            <a:extLst xmlns:a="http://schemas.openxmlformats.org/drawingml/2006/main">
              <a:ext uri="{FF2B5EF4-FFF2-40B4-BE49-F238E27FC236}">
                <a16:creationId xmlns:a16="http://schemas.microsoft.com/office/drawing/2014/main" id="{A514BDD1-2850-4A83-90F5-D099B324B92B}"/>
              </a:ext>
            </a:extLst>
          </p:cNvPr>
          <p:cNvSpPr>
            <a:spLocks xmlns:a="http://schemas.openxmlformats.org/drawingml/2006/main" noGrp="1"/>
          </p:cNvSpPr>
          <p:nvPr/>
        </p:nvSpPr>
        <p:spPr>
          <a:xfrm xmlns:a="http://schemas.openxmlformats.org/drawingml/2006/main">
            <a:off x="876300" y="2905125"/>
            <a:ext cx="428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033"/>
                </a:solidFill>
              </a:defRPr>
            </a:pPr>
            <a:r>
              <a:rPr sz="1500" b="1">
                <a:solidFill>
                  <a:srgbClr val="172033"/>
                </a:solidFill>
              </a:rPr>
              <a:t>POS-Apotik-v1.34.23-Android.apk</a:t>
            </a:r>
          </a:p>
        </p:txBody>
      </p:sp>
      <p:sp>
        <p:nvSpPr>
          <p:cNvPr id="9" name="">
            <a:extLst xmlns:a="http://schemas.openxmlformats.org/drawingml/2006/main">
              <a:ext uri="{FF2B5EF4-FFF2-40B4-BE49-F238E27FC236}">
                <a16:creationId xmlns:a16="http://schemas.microsoft.com/office/drawing/2014/main" id="{4835D2C6-B4D1-458D-BEA7-7C23D65DF76F}"/>
              </a:ext>
            </a:extLst>
          </p:cNvPr>
          <p:cNvSpPr>
            <a:spLocks xmlns:a="http://schemas.openxmlformats.org/drawingml/2006/main" noGrp="1"/>
          </p:cNvSpPr>
          <p:nvPr/>
        </p:nvSpPr>
        <p:spPr>
          <a:xfrm xmlns:a="http://schemas.openxmlformats.org/drawingml/2006/main">
            <a:off x="876300" y="3476625"/>
            <a:ext cx="428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273"/>
                </a:solidFill>
              </a:defRPr>
            </a:pPr>
            <a:r>
              <a:rPr sz="1350" b="0">
                <a:solidFill>
                  <a:srgbClr val="526273"/>
                </a:solidFill>
              </a:rPr>
              <a:t>Debug-signed sampai keystore pemilik tersedia. Gunakan untuk UAT/pilot, bukan upgrade produksi.</a:t>
            </a:r>
          </a:p>
        </p:txBody>
      </p:sp>
      <p:sp>
        <p:nvSpPr>
          <p:cNvPr id="10" name="">
            <a:extLst xmlns:a="http://schemas.openxmlformats.org/drawingml/2006/main">
              <a:ext uri="{FF2B5EF4-FFF2-40B4-BE49-F238E27FC236}">
                <a16:creationId xmlns:a16="http://schemas.microsoft.com/office/drawing/2014/main" id="{B96C2D29-9D0F-4023-8B49-EEF5CEE7DDF5}"/>
              </a:ext>
            </a:extLst>
          </p:cNvPr>
          <p:cNvSpPr>
            <a:spLocks xmlns:a="http://schemas.openxmlformats.org/drawingml/2006/main" noGrp="1"/>
          </p:cNvSpPr>
          <p:nvPr/>
        </p:nvSpPr>
        <p:spPr>
          <a:xfrm xmlns:a="http://schemas.openxmlformats.org/drawingml/2006/main">
            <a:off x="6134100" y="1428750"/>
            <a:ext cx="5067300"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5EC"/>
            </a:solidFill>
            <a:prstDash val="solid"/>
          </a:ln>
        </p:spPr>
      </p:sp>
      <p:sp>
        <p:nvSpPr>
          <p:cNvPr id="11" name="">
            <a:extLst xmlns:a="http://schemas.openxmlformats.org/drawingml/2006/main">
              <a:ext uri="{FF2B5EF4-FFF2-40B4-BE49-F238E27FC236}">
                <a16:creationId xmlns:a16="http://schemas.microsoft.com/office/drawing/2014/main" id="{10546377-7C93-4530-A483-010EDDA74434}"/>
              </a:ext>
            </a:extLst>
          </p:cNvPr>
          <p:cNvSpPr>
            <a:spLocks xmlns:a="http://schemas.openxmlformats.org/drawingml/2006/main" noGrp="1"/>
          </p:cNvSpPr>
          <p:nvPr/>
        </p:nvSpPr>
        <p:spPr>
          <a:xfrm xmlns:a="http://schemas.openxmlformats.org/drawingml/2006/main">
            <a:off x="6400800" y="17335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75985"/>
                </a:solidFill>
              </a:defRPr>
            </a:pPr>
            <a:r>
              <a:rPr sz="1125" b="1">
                <a:solidFill>
                  <a:srgbClr val="075985"/>
                </a:solidFill>
              </a:rPr>
              <a:t>WINDOWS</a:t>
            </a:r>
          </a:p>
        </p:txBody>
      </p:sp>
      <p:sp>
        <p:nvSpPr>
          <p:cNvPr id="12" name="">
            <a:extLst xmlns:a="http://schemas.openxmlformats.org/drawingml/2006/main">
              <a:ext uri="{FF2B5EF4-FFF2-40B4-BE49-F238E27FC236}">
                <a16:creationId xmlns:a16="http://schemas.microsoft.com/office/drawing/2014/main" id="{BE54458A-3FED-4574-ABD3-FEC1314F54C5}"/>
              </a:ext>
            </a:extLst>
          </p:cNvPr>
          <p:cNvSpPr>
            <a:spLocks xmlns:a="http://schemas.openxmlformats.org/drawingml/2006/main" noGrp="1"/>
          </p:cNvSpPr>
          <p:nvPr/>
        </p:nvSpPr>
        <p:spPr>
          <a:xfrm xmlns:a="http://schemas.openxmlformats.org/drawingml/2006/main">
            <a:off x="6400800" y="2190750"/>
            <a:ext cx="3810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B1F33"/>
                </a:solidFill>
              </a:defRPr>
            </a:pPr>
            <a:r>
              <a:rPr sz="3150" b="1">
                <a:solidFill>
                  <a:srgbClr val="0B1F33"/>
                </a:solidFill>
              </a:rPr>
              <a:t>SETUP.EXE</a:t>
            </a:r>
          </a:p>
        </p:txBody>
      </p:sp>
      <p:sp>
        <p:nvSpPr>
          <p:cNvPr id="13" name="">
            <a:extLst xmlns:a="http://schemas.openxmlformats.org/drawingml/2006/main">
              <a:ext uri="{FF2B5EF4-FFF2-40B4-BE49-F238E27FC236}">
                <a16:creationId xmlns:a16="http://schemas.microsoft.com/office/drawing/2014/main" id="{9773A024-AF0A-4924-8933-38411EDC3590}"/>
              </a:ext>
            </a:extLst>
          </p:cNvPr>
          <p:cNvSpPr>
            <a:spLocks xmlns:a="http://schemas.openxmlformats.org/drawingml/2006/main" noGrp="1"/>
          </p:cNvSpPr>
          <p:nvPr/>
        </p:nvSpPr>
        <p:spPr>
          <a:xfrm xmlns:a="http://schemas.openxmlformats.org/drawingml/2006/main">
            <a:off x="6400800" y="2905125"/>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033"/>
                </a:solidFill>
              </a:defRPr>
            </a:pPr>
            <a:r>
              <a:rPr sz="1500" b="1">
                <a:solidFill>
                  <a:srgbClr val="172033"/>
                </a:solidFill>
              </a:rPr>
              <a:t>POS-Apotik-v1.34.23-Windows-Setup.exe</a:t>
            </a:r>
          </a:p>
        </p:txBody>
      </p:sp>
      <p:sp>
        <p:nvSpPr>
          <p:cNvPr id="14" name="">
            <a:extLst xmlns:a="http://schemas.openxmlformats.org/drawingml/2006/main">
              <a:ext uri="{FF2B5EF4-FFF2-40B4-BE49-F238E27FC236}">
                <a16:creationId xmlns:a16="http://schemas.microsoft.com/office/drawing/2014/main" id="{ABBF1065-B9EA-4661-BCA4-826DBC04EEF4}"/>
              </a:ext>
            </a:extLst>
          </p:cNvPr>
          <p:cNvSpPr>
            <a:spLocks xmlns:a="http://schemas.openxmlformats.org/drawingml/2006/main" noGrp="1"/>
          </p:cNvSpPr>
          <p:nvPr/>
        </p:nvSpPr>
        <p:spPr>
          <a:xfrm xmlns:a="http://schemas.openxmlformats.org/drawingml/2006/main">
            <a:off x="6400800" y="3600450"/>
            <a:ext cx="428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273"/>
                </a:solidFill>
              </a:defRPr>
            </a:pPr>
            <a:r>
              <a:rPr sz="1350" b="0">
                <a:solidFill>
                  <a:srgbClr val="526273"/>
                </a:solidFill>
              </a:rPr>
              <a:t>Installer langsung—tidak ada ZIP. Jendela utama otomatis maximized. Authenticode menunggu sertifikat resmi.</a:t>
            </a:r>
          </a:p>
        </p:txBody>
      </p:sp>
      <p:sp>
        <p:nvSpPr>
          <p:cNvPr id="15" name="">
            <a:extLst xmlns:a="http://schemas.openxmlformats.org/drawingml/2006/main">
              <a:ext uri="{FF2B5EF4-FFF2-40B4-BE49-F238E27FC236}">
                <a16:creationId xmlns:a16="http://schemas.microsoft.com/office/drawing/2014/main" id="{B5CBE0CC-9767-4698-A751-AFB45A8B9191}"/>
              </a:ext>
            </a:extLst>
          </p:cNvPr>
          <p:cNvSpPr>
            <a:spLocks xmlns:a="http://schemas.openxmlformats.org/drawingml/2006/main" noGrp="1"/>
          </p:cNvSpPr>
          <p:nvPr/>
        </p:nvSpPr>
        <p:spPr>
          <a:xfrm xmlns:a="http://schemas.openxmlformats.org/drawingml/2006/main">
            <a:off x="609600" y="5143500"/>
            <a:ext cx="10591800" cy="781050"/>
          </a:xfrm>
          <a:prstGeom xmlns:a="http://schemas.openxmlformats.org/drawingml/2006/main" prst="roundRect">
            <a:avLst>
              <a:gd name="adj" fmla="val 14634"/>
            </a:avLst>
          </a:prstGeom>
          <a:solidFill xmlns:a="http://schemas.openxmlformats.org/drawingml/2006/main">
            <a:srgbClr val="EAF3F8"/>
          </a:solidFill>
          <a:ln xmlns:a="http://schemas.openxmlformats.org/drawingml/2006/main" w="9525">
            <a:solidFill>
              <a:srgbClr val="075985"/>
            </a:solidFill>
            <a:prstDash val="solid"/>
          </a:ln>
        </p:spPr>
      </p:sp>
      <p:sp>
        <p:nvSpPr>
          <p:cNvPr id="16" name="">
            <a:extLst xmlns:a="http://schemas.openxmlformats.org/drawingml/2006/main">
              <a:ext uri="{FF2B5EF4-FFF2-40B4-BE49-F238E27FC236}">
                <a16:creationId xmlns:a16="http://schemas.microsoft.com/office/drawing/2014/main" id="{8EE1E507-257F-4297-9A9C-7C2CB7B8AA64}"/>
              </a:ext>
            </a:extLst>
          </p:cNvPr>
          <p:cNvSpPr>
            <a:spLocks xmlns:a="http://schemas.openxmlformats.org/drawingml/2006/main" noGrp="1"/>
          </p:cNvSpPr>
          <p:nvPr/>
        </p:nvSpPr>
        <p:spPr>
          <a:xfrm xmlns:a="http://schemas.openxmlformats.org/drawingml/2006/main">
            <a:off x="876300" y="5391150"/>
            <a:ext cx="1005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75985"/>
                </a:solidFill>
              </a:defRPr>
            </a:pPr>
            <a:r>
              <a:rPr sz="1650" b="1">
                <a:solidFill>
                  <a:srgbClr val="075985"/>
                </a:solidFill>
              </a:rPr>
              <a:t>Word • PDF • PPTX • Release notes • SHA256SUMS</a:t>
            </a:r>
          </a:p>
        </p:txBody>
      </p:sp>
    </p:spTree>
    <p:extLst>
      <p:ext uri="{BB962C8B-B14F-4D97-AF65-F5344CB8AC3E}">
        <p14:creationId xmlns:p14="http://schemas.microsoft.com/office/powerpoint/2010/main" val="250886885"/>
      </p:ext>
    </p:extLst>
  </p:cSld>
</p:sld>
</file>

<file path=ppt/slides/slide2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47E31D09-C1DF-4782-B3B8-6C3EE5CB1C9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GO-LIVE</a:t>
            </a:r>
          </a:p>
        </p:txBody>
      </p:sp>
      <p:sp>
        <p:nvSpPr>
          <p:cNvPr id="2" name="">
            <a:extLst xmlns:a="http://schemas.openxmlformats.org/drawingml/2006/main">
              <a:ext uri="{FF2B5EF4-FFF2-40B4-BE49-F238E27FC236}">
                <a16:creationId xmlns:a16="http://schemas.microsoft.com/office/drawing/2014/main" id="{3E190FD6-B1B2-4B46-85D9-9B1388D77ED9}"/>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Urutan aman dari UAT ke produksi</a:t>
            </a:r>
          </a:p>
        </p:txBody>
      </p:sp>
      <p:sp>
        <p:nvSpPr>
          <p:cNvPr id="3" name="">
            <a:extLst xmlns:a="http://schemas.openxmlformats.org/drawingml/2006/main">
              <a:ext uri="{FF2B5EF4-FFF2-40B4-BE49-F238E27FC236}">
                <a16:creationId xmlns:a16="http://schemas.microsoft.com/office/drawing/2014/main" id="{3C3E17E1-C0BC-4E6D-8473-9A02B8129FF4}"/>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24</a:t>
            </a:r>
          </a:p>
        </p:txBody>
      </p:sp>
      <p:sp>
        <p:nvSpPr>
          <p:cNvPr id="4" name="">
            <a:extLst xmlns:a="http://schemas.openxmlformats.org/drawingml/2006/main">
              <a:ext uri="{FF2B5EF4-FFF2-40B4-BE49-F238E27FC236}">
                <a16:creationId xmlns:a16="http://schemas.microsoft.com/office/drawing/2014/main" id="{2CEF67F2-3514-4F08-8B47-9DF91EDD027E}"/>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24</a:t>
            </a:r>
          </a:p>
        </p:txBody>
      </p:sp>
      <p:sp>
        <p:nvSpPr>
          <p:cNvPr id="5" name="">
            <a:extLst xmlns:a="http://schemas.openxmlformats.org/drawingml/2006/main">
              <a:ext uri="{FF2B5EF4-FFF2-40B4-BE49-F238E27FC236}">
                <a16:creationId xmlns:a16="http://schemas.microsoft.com/office/drawing/2014/main" id="{E2E5FBDB-B65C-4E7B-BFEB-64AA401D5CD1}"/>
              </a:ext>
            </a:extLst>
          </p:cNvPr>
          <p:cNvSpPr>
            <a:spLocks xmlns:a="http://schemas.openxmlformats.org/drawingml/2006/main" noGrp="1"/>
          </p:cNvSpPr>
          <p:nvPr/>
        </p:nvSpPr>
        <p:spPr>
          <a:xfrm xmlns:a="http://schemas.openxmlformats.org/drawingml/2006/main">
            <a:off x="609600" y="1809750"/>
            <a:ext cx="1562100" cy="285750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9E5EC"/>
            </a:solidFill>
            <a:prstDash val="solid"/>
          </a:ln>
        </p:spPr>
      </p:sp>
      <p:sp>
        <p:nvSpPr>
          <p:cNvPr id="6" name="">
            <a:extLst xmlns:a="http://schemas.openxmlformats.org/drawingml/2006/main">
              <a:ext uri="{FF2B5EF4-FFF2-40B4-BE49-F238E27FC236}">
                <a16:creationId xmlns:a16="http://schemas.microsoft.com/office/drawing/2014/main" id="{90E8C288-58C9-400C-A82B-C30205854C4B}"/>
              </a:ext>
            </a:extLst>
          </p:cNvPr>
          <p:cNvSpPr>
            <a:spLocks xmlns:a="http://schemas.openxmlformats.org/drawingml/2006/main" noGrp="1"/>
          </p:cNvSpPr>
          <p:nvPr/>
        </p:nvSpPr>
        <p:spPr>
          <a:xfrm xmlns:a="http://schemas.openxmlformats.org/drawingml/2006/main">
            <a:off x="1066800" y="2095500"/>
            <a:ext cx="647700" cy="647700"/>
          </a:xfrm>
          <a:prstGeom xmlns:a="http://schemas.openxmlformats.org/drawingml/2006/main" prst="roundRect">
            <a:avLst>
              <a:gd name="adj" fmla="val 23529"/>
            </a:avLst>
          </a:prstGeom>
          <a:solidFill xmlns:a="http://schemas.openxmlformats.org/drawingml/2006/main">
            <a:srgbClr val="075985"/>
          </a:solidFill>
          <a:ln xmlns:a="http://schemas.openxmlformats.org/drawingml/2006/main" w="9525">
            <a:solidFill>
              <a:srgbClr val="075985"/>
            </a:solidFill>
            <a:prstDash val="solid"/>
          </a:ln>
        </p:spPr>
      </p:sp>
      <p:sp>
        <p:nvSpPr>
          <p:cNvPr id="7" name="">
            <a:extLst xmlns:a="http://schemas.openxmlformats.org/drawingml/2006/main">
              <a:ext uri="{FF2B5EF4-FFF2-40B4-BE49-F238E27FC236}">
                <a16:creationId xmlns:a16="http://schemas.microsoft.com/office/drawing/2014/main" id="{D83AB9AD-C0EA-422D-917F-4ED740DE18CD}"/>
              </a:ext>
            </a:extLst>
          </p:cNvPr>
          <p:cNvSpPr>
            <a:spLocks xmlns:a="http://schemas.openxmlformats.org/drawingml/2006/main" noGrp="1"/>
          </p:cNvSpPr>
          <p:nvPr/>
        </p:nvSpPr>
        <p:spPr>
          <a:xfrm xmlns:a="http://schemas.openxmlformats.org/drawingml/2006/main">
            <a:off x="1238250" y="22479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1</a:t>
            </a:r>
          </a:p>
        </p:txBody>
      </p:sp>
      <p:sp>
        <p:nvSpPr>
          <p:cNvPr id="8" name="">
            <a:extLst xmlns:a="http://schemas.openxmlformats.org/drawingml/2006/main">
              <a:ext uri="{FF2B5EF4-FFF2-40B4-BE49-F238E27FC236}">
                <a16:creationId xmlns:a16="http://schemas.microsoft.com/office/drawing/2014/main" id="{F6AE8FD9-10A7-4D0F-81A3-CBF8F2467B2B}"/>
              </a:ext>
            </a:extLst>
          </p:cNvPr>
          <p:cNvSpPr>
            <a:spLocks xmlns:a="http://schemas.openxmlformats.org/drawingml/2006/main" noGrp="1"/>
          </p:cNvSpPr>
          <p:nvPr/>
        </p:nvSpPr>
        <p:spPr>
          <a:xfrm xmlns:a="http://schemas.openxmlformats.org/drawingml/2006/main">
            <a:off x="742950" y="3048000"/>
            <a:ext cx="1295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Deploy backend</a:t>
            </a:r>
          </a:p>
        </p:txBody>
      </p:sp>
      <p:sp>
        <p:nvSpPr>
          <p:cNvPr id="9" name="">
            <a:extLst xmlns:a="http://schemas.openxmlformats.org/drawingml/2006/main">
              <a:ext uri="{FF2B5EF4-FFF2-40B4-BE49-F238E27FC236}">
                <a16:creationId xmlns:a16="http://schemas.microsoft.com/office/drawing/2014/main" id="{1BFB8B34-BBBA-404F-9C7A-47DDE6E8B8C1}"/>
              </a:ext>
            </a:extLst>
          </p:cNvPr>
          <p:cNvSpPr>
            <a:spLocks xmlns:a="http://schemas.openxmlformats.org/drawingml/2006/main" noGrp="1"/>
          </p:cNvSpPr>
          <p:nvPr/>
        </p:nvSpPr>
        <p:spPr>
          <a:xfrm xmlns:a="http://schemas.openxmlformats.org/drawingml/2006/main">
            <a:off x="742950" y="3714750"/>
            <a:ext cx="1295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273"/>
                </a:solidFill>
              </a:defRPr>
            </a:pPr>
            <a:r>
              <a:rPr sz="1200" b="0">
                <a:solidFill>
                  <a:srgbClr val="526273"/>
                </a:solidFill>
              </a:rPr>
              <a:t>endpoint antrean, seed katalog, laporan</a:t>
            </a:r>
          </a:p>
        </p:txBody>
      </p:sp>
      <p:sp>
        <p:nvSpPr>
          <p:cNvPr id="10" name="">
            <a:extLst xmlns:a="http://schemas.openxmlformats.org/drawingml/2006/main">
              <a:ext uri="{FF2B5EF4-FFF2-40B4-BE49-F238E27FC236}">
                <a16:creationId xmlns:a16="http://schemas.microsoft.com/office/drawing/2014/main" id="{0D3B0AC5-0C00-4439-9D85-B6B4AEC92078}"/>
              </a:ext>
            </a:extLst>
          </p:cNvPr>
          <p:cNvSpPr>
            <a:spLocks xmlns:a="http://schemas.openxmlformats.org/drawingml/2006/main" noGrp="1"/>
          </p:cNvSpPr>
          <p:nvPr/>
        </p:nvSpPr>
        <p:spPr>
          <a:xfrm xmlns:a="http://schemas.openxmlformats.org/drawingml/2006/main">
            <a:off x="2190750" y="302895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F766E"/>
                </a:solidFill>
              </a:defRPr>
            </a:pPr>
            <a:r>
              <a:rPr sz="1800" b="1">
                <a:solidFill>
                  <a:srgbClr val="0F766E"/>
                </a:solidFill>
              </a:rPr>
              <a:t>→</a:t>
            </a:r>
          </a:p>
        </p:txBody>
      </p:sp>
      <p:sp>
        <p:nvSpPr>
          <p:cNvPr id="11" name="">
            <a:extLst xmlns:a="http://schemas.openxmlformats.org/drawingml/2006/main">
              <a:ext uri="{FF2B5EF4-FFF2-40B4-BE49-F238E27FC236}">
                <a16:creationId xmlns:a16="http://schemas.microsoft.com/office/drawing/2014/main" id="{700FAC61-CAEF-467B-819D-6A3AE2B62FBC}"/>
              </a:ext>
            </a:extLst>
          </p:cNvPr>
          <p:cNvSpPr>
            <a:spLocks xmlns:a="http://schemas.openxmlformats.org/drawingml/2006/main" noGrp="1"/>
          </p:cNvSpPr>
          <p:nvPr/>
        </p:nvSpPr>
        <p:spPr>
          <a:xfrm xmlns:a="http://schemas.openxmlformats.org/drawingml/2006/main">
            <a:off x="2400300" y="1809750"/>
            <a:ext cx="1562100" cy="285750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9E5EC"/>
            </a:solidFill>
            <a:prstDash val="solid"/>
          </a:ln>
        </p:spPr>
      </p:sp>
      <p:sp>
        <p:nvSpPr>
          <p:cNvPr id="12" name="">
            <a:extLst xmlns:a="http://schemas.openxmlformats.org/drawingml/2006/main">
              <a:ext uri="{FF2B5EF4-FFF2-40B4-BE49-F238E27FC236}">
                <a16:creationId xmlns:a16="http://schemas.microsoft.com/office/drawing/2014/main" id="{42CC244F-13F3-4A0C-88EC-BFE89DB36E2F}"/>
              </a:ext>
            </a:extLst>
          </p:cNvPr>
          <p:cNvSpPr>
            <a:spLocks xmlns:a="http://schemas.openxmlformats.org/drawingml/2006/main" noGrp="1"/>
          </p:cNvSpPr>
          <p:nvPr/>
        </p:nvSpPr>
        <p:spPr>
          <a:xfrm xmlns:a="http://schemas.openxmlformats.org/drawingml/2006/main">
            <a:off x="2857500" y="2095500"/>
            <a:ext cx="647700" cy="647700"/>
          </a:xfrm>
          <a:prstGeom xmlns:a="http://schemas.openxmlformats.org/drawingml/2006/main" prst="roundRect">
            <a:avLst>
              <a:gd name="adj" fmla="val 23529"/>
            </a:avLst>
          </a:prstGeom>
          <a:solidFill xmlns:a="http://schemas.openxmlformats.org/drawingml/2006/main">
            <a:srgbClr val="075985"/>
          </a:solidFill>
          <a:ln xmlns:a="http://schemas.openxmlformats.org/drawingml/2006/main" w="9525">
            <a:solidFill>
              <a:srgbClr val="075985"/>
            </a:solidFill>
            <a:prstDash val="solid"/>
          </a:ln>
        </p:spPr>
      </p:sp>
      <p:sp>
        <p:nvSpPr>
          <p:cNvPr id="13" name="">
            <a:extLst xmlns:a="http://schemas.openxmlformats.org/drawingml/2006/main">
              <a:ext uri="{FF2B5EF4-FFF2-40B4-BE49-F238E27FC236}">
                <a16:creationId xmlns:a16="http://schemas.microsoft.com/office/drawing/2014/main" id="{411DEC04-D874-4F6B-A754-FFC38BBE2173}"/>
              </a:ext>
            </a:extLst>
          </p:cNvPr>
          <p:cNvSpPr>
            <a:spLocks xmlns:a="http://schemas.openxmlformats.org/drawingml/2006/main" noGrp="1"/>
          </p:cNvSpPr>
          <p:nvPr/>
        </p:nvSpPr>
        <p:spPr>
          <a:xfrm xmlns:a="http://schemas.openxmlformats.org/drawingml/2006/main">
            <a:off x="3028950" y="22479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2</a:t>
            </a:r>
          </a:p>
        </p:txBody>
      </p:sp>
      <p:sp>
        <p:nvSpPr>
          <p:cNvPr id="14" name="">
            <a:extLst xmlns:a="http://schemas.openxmlformats.org/drawingml/2006/main">
              <a:ext uri="{FF2B5EF4-FFF2-40B4-BE49-F238E27FC236}">
                <a16:creationId xmlns:a16="http://schemas.microsoft.com/office/drawing/2014/main" id="{04ED5CD6-C23B-4717-989F-C5CAFEC4BCD8}"/>
              </a:ext>
            </a:extLst>
          </p:cNvPr>
          <p:cNvSpPr>
            <a:spLocks xmlns:a="http://schemas.openxmlformats.org/drawingml/2006/main" noGrp="1"/>
          </p:cNvSpPr>
          <p:nvPr/>
        </p:nvSpPr>
        <p:spPr>
          <a:xfrm xmlns:a="http://schemas.openxmlformats.org/drawingml/2006/main">
            <a:off x="2533650" y="3048000"/>
            <a:ext cx="1295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Provision data</a:t>
            </a:r>
          </a:p>
        </p:txBody>
      </p:sp>
      <p:sp>
        <p:nvSpPr>
          <p:cNvPr id="15" name="">
            <a:extLst xmlns:a="http://schemas.openxmlformats.org/drawingml/2006/main">
              <a:ext uri="{FF2B5EF4-FFF2-40B4-BE49-F238E27FC236}">
                <a16:creationId xmlns:a16="http://schemas.microsoft.com/office/drawing/2014/main" id="{D0553003-0E7F-469C-811B-64BAA3CCD816}"/>
              </a:ext>
            </a:extLst>
          </p:cNvPr>
          <p:cNvSpPr>
            <a:spLocks xmlns:a="http://schemas.openxmlformats.org/drawingml/2006/main" noGrp="1"/>
          </p:cNvSpPr>
          <p:nvPr/>
        </p:nvSpPr>
        <p:spPr>
          <a:xfrm xmlns:a="http://schemas.openxmlformats.org/drawingml/2006/main">
            <a:off x="2533650" y="3714750"/>
            <a:ext cx="1295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273"/>
                </a:solidFill>
              </a:defRPr>
            </a:pPr>
            <a:r>
              <a:rPr sz="1200" b="0">
                <a:solidFill>
                  <a:srgbClr val="526273"/>
                </a:solidFill>
              </a:rPr>
              <a:t>≥100 item lintas kategori + batch</a:t>
            </a:r>
          </a:p>
        </p:txBody>
      </p:sp>
      <p:sp>
        <p:nvSpPr>
          <p:cNvPr id="16" name="">
            <a:extLst xmlns:a="http://schemas.openxmlformats.org/drawingml/2006/main">
              <a:ext uri="{FF2B5EF4-FFF2-40B4-BE49-F238E27FC236}">
                <a16:creationId xmlns:a16="http://schemas.microsoft.com/office/drawing/2014/main" id="{7C042D33-D13F-4714-AE21-B227C7B72BE2}"/>
              </a:ext>
            </a:extLst>
          </p:cNvPr>
          <p:cNvSpPr>
            <a:spLocks xmlns:a="http://schemas.openxmlformats.org/drawingml/2006/main" noGrp="1"/>
          </p:cNvSpPr>
          <p:nvPr/>
        </p:nvSpPr>
        <p:spPr>
          <a:xfrm xmlns:a="http://schemas.openxmlformats.org/drawingml/2006/main">
            <a:off x="3981450" y="302895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F766E"/>
                </a:solidFill>
              </a:defRPr>
            </a:pPr>
            <a:r>
              <a:rPr sz="1800" b="1">
                <a:solidFill>
                  <a:srgbClr val="0F766E"/>
                </a:solidFill>
              </a:rPr>
              <a:t>→</a:t>
            </a:r>
          </a:p>
        </p:txBody>
      </p:sp>
      <p:sp>
        <p:nvSpPr>
          <p:cNvPr id="17" name="">
            <a:extLst xmlns:a="http://schemas.openxmlformats.org/drawingml/2006/main">
              <a:ext uri="{FF2B5EF4-FFF2-40B4-BE49-F238E27FC236}">
                <a16:creationId xmlns:a16="http://schemas.microsoft.com/office/drawing/2014/main" id="{71549E85-9DD8-4783-A364-BCAC7F45E411}"/>
              </a:ext>
            </a:extLst>
          </p:cNvPr>
          <p:cNvSpPr>
            <a:spLocks xmlns:a="http://schemas.openxmlformats.org/drawingml/2006/main" noGrp="1"/>
          </p:cNvSpPr>
          <p:nvPr/>
        </p:nvSpPr>
        <p:spPr>
          <a:xfrm xmlns:a="http://schemas.openxmlformats.org/drawingml/2006/main">
            <a:off x="4191000" y="1809750"/>
            <a:ext cx="1562100" cy="285750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9E5EC"/>
            </a:solidFill>
            <a:prstDash val="solid"/>
          </a:ln>
        </p:spPr>
      </p:sp>
      <p:sp>
        <p:nvSpPr>
          <p:cNvPr id="18" name="">
            <a:extLst xmlns:a="http://schemas.openxmlformats.org/drawingml/2006/main">
              <a:ext uri="{FF2B5EF4-FFF2-40B4-BE49-F238E27FC236}">
                <a16:creationId xmlns:a16="http://schemas.microsoft.com/office/drawing/2014/main" id="{387A375C-9082-4B8E-B12C-7A323A1DC57F}"/>
              </a:ext>
            </a:extLst>
          </p:cNvPr>
          <p:cNvSpPr>
            <a:spLocks xmlns:a="http://schemas.openxmlformats.org/drawingml/2006/main" noGrp="1"/>
          </p:cNvSpPr>
          <p:nvPr/>
        </p:nvSpPr>
        <p:spPr>
          <a:xfrm xmlns:a="http://schemas.openxmlformats.org/drawingml/2006/main">
            <a:off x="4648200" y="2095500"/>
            <a:ext cx="647700" cy="647700"/>
          </a:xfrm>
          <a:prstGeom xmlns:a="http://schemas.openxmlformats.org/drawingml/2006/main" prst="roundRect">
            <a:avLst>
              <a:gd name="adj" fmla="val 23529"/>
            </a:avLst>
          </a:prstGeom>
          <a:solidFill xmlns:a="http://schemas.openxmlformats.org/drawingml/2006/main">
            <a:srgbClr val="075985"/>
          </a:solidFill>
          <a:ln xmlns:a="http://schemas.openxmlformats.org/drawingml/2006/main" w="9525">
            <a:solidFill>
              <a:srgbClr val="075985"/>
            </a:solidFill>
            <a:prstDash val="solid"/>
          </a:ln>
        </p:spPr>
      </p:sp>
      <p:sp>
        <p:nvSpPr>
          <p:cNvPr id="19" name="">
            <a:extLst xmlns:a="http://schemas.openxmlformats.org/drawingml/2006/main">
              <a:ext uri="{FF2B5EF4-FFF2-40B4-BE49-F238E27FC236}">
                <a16:creationId xmlns:a16="http://schemas.microsoft.com/office/drawing/2014/main" id="{61ECF45A-FC4A-4F6A-9FE9-272DE235F26C}"/>
              </a:ext>
            </a:extLst>
          </p:cNvPr>
          <p:cNvSpPr>
            <a:spLocks xmlns:a="http://schemas.openxmlformats.org/drawingml/2006/main" noGrp="1"/>
          </p:cNvSpPr>
          <p:nvPr/>
        </p:nvSpPr>
        <p:spPr>
          <a:xfrm xmlns:a="http://schemas.openxmlformats.org/drawingml/2006/main">
            <a:off x="4819650" y="22479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3</a:t>
            </a:r>
          </a:p>
        </p:txBody>
      </p:sp>
      <p:sp>
        <p:nvSpPr>
          <p:cNvPr id="20" name="">
            <a:extLst xmlns:a="http://schemas.openxmlformats.org/drawingml/2006/main">
              <a:ext uri="{FF2B5EF4-FFF2-40B4-BE49-F238E27FC236}">
                <a16:creationId xmlns:a16="http://schemas.microsoft.com/office/drawing/2014/main" id="{279FE3FA-8E23-4AFD-B265-E7287D1D559E}"/>
              </a:ext>
            </a:extLst>
          </p:cNvPr>
          <p:cNvSpPr>
            <a:spLocks xmlns:a="http://schemas.openxmlformats.org/drawingml/2006/main" noGrp="1"/>
          </p:cNvSpPr>
          <p:nvPr/>
        </p:nvSpPr>
        <p:spPr>
          <a:xfrm xmlns:a="http://schemas.openxmlformats.org/drawingml/2006/main">
            <a:off x="4324350" y="3048000"/>
            <a:ext cx="1295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Retest integrasi</a:t>
            </a:r>
          </a:p>
        </p:txBody>
      </p:sp>
      <p:sp>
        <p:nvSpPr>
          <p:cNvPr id="21" name="">
            <a:extLst xmlns:a="http://schemas.openxmlformats.org/drawingml/2006/main">
              <a:ext uri="{FF2B5EF4-FFF2-40B4-BE49-F238E27FC236}">
                <a16:creationId xmlns:a16="http://schemas.microsoft.com/office/drawing/2014/main" id="{F08C405F-24C1-490C-A46D-F514C91FC583}"/>
              </a:ext>
            </a:extLst>
          </p:cNvPr>
          <p:cNvSpPr>
            <a:spLocks xmlns:a="http://schemas.openxmlformats.org/drawingml/2006/main" noGrp="1"/>
          </p:cNvSpPr>
          <p:nvPr/>
        </p:nvSpPr>
        <p:spPr>
          <a:xfrm xmlns:a="http://schemas.openxmlformats.org/drawingml/2006/main">
            <a:off x="4324350" y="3714750"/>
            <a:ext cx="1295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273"/>
                </a:solidFill>
              </a:defRPr>
            </a:pPr>
            <a:r>
              <a:rPr sz="1200" b="0">
                <a:solidFill>
                  <a:srgbClr val="526273"/>
                </a:solidFill>
              </a:rPr>
              <a:t>300 jual + 100 P2P + 100 jurnal</a:t>
            </a:r>
          </a:p>
        </p:txBody>
      </p:sp>
      <p:sp>
        <p:nvSpPr>
          <p:cNvPr id="22" name="">
            <a:extLst xmlns:a="http://schemas.openxmlformats.org/drawingml/2006/main">
              <a:ext uri="{FF2B5EF4-FFF2-40B4-BE49-F238E27FC236}">
                <a16:creationId xmlns:a16="http://schemas.microsoft.com/office/drawing/2014/main" id="{4A5BA3FC-0C76-4D24-92E0-44B09EE2BD95}"/>
              </a:ext>
            </a:extLst>
          </p:cNvPr>
          <p:cNvSpPr>
            <a:spLocks xmlns:a="http://schemas.openxmlformats.org/drawingml/2006/main" noGrp="1"/>
          </p:cNvSpPr>
          <p:nvPr/>
        </p:nvSpPr>
        <p:spPr>
          <a:xfrm xmlns:a="http://schemas.openxmlformats.org/drawingml/2006/main">
            <a:off x="5772150" y="302895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F766E"/>
                </a:solidFill>
              </a:defRPr>
            </a:pPr>
            <a:r>
              <a:rPr sz="1800" b="1">
                <a:solidFill>
                  <a:srgbClr val="0F766E"/>
                </a:solidFill>
              </a:rPr>
              <a:t>→</a:t>
            </a:r>
          </a:p>
        </p:txBody>
      </p:sp>
      <p:sp>
        <p:nvSpPr>
          <p:cNvPr id="23" name="">
            <a:extLst xmlns:a="http://schemas.openxmlformats.org/drawingml/2006/main">
              <a:ext uri="{FF2B5EF4-FFF2-40B4-BE49-F238E27FC236}">
                <a16:creationId xmlns:a16="http://schemas.microsoft.com/office/drawing/2014/main" id="{FCF72A30-20B7-4F81-8E6E-7880ED2DA79E}"/>
              </a:ext>
            </a:extLst>
          </p:cNvPr>
          <p:cNvSpPr>
            <a:spLocks xmlns:a="http://schemas.openxmlformats.org/drawingml/2006/main" noGrp="1"/>
          </p:cNvSpPr>
          <p:nvPr/>
        </p:nvSpPr>
        <p:spPr>
          <a:xfrm xmlns:a="http://schemas.openxmlformats.org/drawingml/2006/main">
            <a:off x="5981700" y="1809750"/>
            <a:ext cx="1562100" cy="285750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9E5EC"/>
            </a:solidFill>
            <a:prstDash val="solid"/>
          </a:ln>
        </p:spPr>
      </p:sp>
      <p:sp>
        <p:nvSpPr>
          <p:cNvPr id="24" name="">
            <a:extLst xmlns:a="http://schemas.openxmlformats.org/drawingml/2006/main">
              <a:ext uri="{FF2B5EF4-FFF2-40B4-BE49-F238E27FC236}">
                <a16:creationId xmlns:a16="http://schemas.microsoft.com/office/drawing/2014/main" id="{C25C87F7-564A-4627-83B1-4DE7ECF16DAE}"/>
              </a:ext>
            </a:extLst>
          </p:cNvPr>
          <p:cNvSpPr>
            <a:spLocks xmlns:a="http://schemas.openxmlformats.org/drawingml/2006/main" noGrp="1"/>
          </p:cNvSpPr>
          <p:nvPr/>
        </p:nvSpPr>
        <p:spPr>
          <a:xfrm xmlns:a="http://schemas.openxmlformats.org/drawingml/2006/main">
            <a:off x="6438900" y="2095500"/>
            <a:ext cx="647700" cy="647700"/>
          </a:xfrm>
          <a:prstGeom xmlns:a="http://schemas.openxmlformats.org/drawingml/2006/main" prst="roundRect">
            <a:avLst>
              <a:gd name="adj" fmla="val 23529"/>
            </a:avLst>
          </a:prstGeom>
          <a:solidFill xmlns:a="http://schemas.openxmlformats.org/drawingml/2006/main">
            <a:srgbClr val="075985"/>
          </a:solidFill>
          <a:ln xmlns:a="http://schemas.openxmlformats.org/drawingml/2006/main" w="9525">
            <a:solidFill>
              <a:srgbClr val="075985"/>
            </a:solidFill>
            <a:prstDash val="solid"/>
          </a:ln>
        </p:spPr>
      </p:sp>
      <p:sp>
        <p:nvSpPr>
          <p:cNvPr id="25" name="">
            <a:extLst xmlns:a="http://schemas.openxmlformats.org/drawingml/2006/main">
              <a:ext uri="{FF2B5EF4-FFF2-40B4-BE49-F238E27FC236}">
                <a16:creationId xmlns:a16="http://schemas.microsoft.com/office/drawing/2014/main" id="{DDD23D6F-2158-41C8-A6FC-D1CED8246A13}"/>
              </a:ext>
            </a:extLst>
          </p:cNvPr>
          <p:cNvSpPr>
            <a:spLocks xmlns:a="http://schemas.openxmlformats.org/drawingml/2006/main" noGrp="1"/>
          </p:cNvSpPr>
          <p:nvPr/>
        </p:nvSpPr>
        <p:spPr>
          <a:xfrm xmlns:a="http://schemas.openxmlformats.org/drawingml/2006/main">
            <a:off x="6610350" y="22479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4</a:t>
            </a:r>
          </a:p>
        </p:txBody>
      </p:sp>
      <p:sp>
        <p:nvSpPr>
          <p:cNvPr id="26" name="">
            <a:extLst xmlns:a="http://schemas.openxmlformats.org/drawingml/2006/main">
              <a:ext uri="{FF2B5EF4-FFF2-40B4-BE49-F238E27FC236}">
                <a16:creationId xmlns:a16="http://schemas.microsoft.com/office/drawing/2014/main" id="{CE5EA059-0486-4F79-B355-7F348395AC70}"/>
              </a:ext>
            </a:extLst>
          </p:cNvPr>
          <p:cNvSpPr>
            <a:spLocks xmlns:a="http://schemas.openxmlformats.org/drawingml/2006/main" noGrp="1"/>
          </p:cNvSpPr>
          <p:nvPr/>
        </p:nvSpPr>
        <p:spPr>
          <a:xfrm xmlns:a="http://schemas.openxmlformats.org/drawingml/2006/main">
            <a:off x="6115050" y="3048000"/>
            <a:ext cx="1295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Rekonsiliasi</a:t>
            </a:r>
          </a:p>
        </p:txBody>
      </p:sp>
      <p:sp>
        <p:nvSpPr>
          <p:cNvPr id="27" name="">
            <a:extLst xmlns:a="http://schemas.openxmlformats.org/drawingml/2006/main">
              <a:ext uri="{FF2B5EF4-FFF2-40B4-BE49-F238E27FC236}">
                <a16:creationId xmlns:a16="http://schemas.microsoft.com/office/drawing/2014/main" id="{A7A89FE4-7F8D-49E3-AB64-AB53D7130BC8}"/>
              </a:ext>
            </a:extLst>
          </p:cNvPr>
          <p:cNvSpPr>
            <a:spLocks xmlns:a="http://schemas.openxmlformats.org/drawingml/2006/main" noGrp="1"/>
          </p:cNvSpPr>
          <p:nvPr/>
        </p:nvSpPr>
        <p:spPr>
          <a:xfrm xmlns:a="http://schemas.openxmlformats.org/drawingml/2006/main">
            <a:off x="6115050" y="3714750"/>
            <a:ext cx="1295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273"/>
                </a:solidFill>
              </a:defRPr>
            </a:pPr>
            <a:r>
              <a:rPr sz="1200" b="0">
                <a:solidFill>
                  <a:srgbClr val="526273"/>
                </a:solidFill>
              </a:rPr>
              <a:t>stok, vendor, buku besar, laporan</a:t>
            </a:r>
          </a:p>
        </p:txBody>
      </p:sp>
      <p:sp>
        <p:nvSpPr>
          <p:cNvPr id="28" name="">
            <a:extLst xmlns:a="http://schemas.openxmlformats.org/drawingml/2006/main">
              <a:ext uri="{FF2B5EF4-FFF2-40B4-BE49-F238E27FC236}">
                <a16:creationId xmlns:a16="http://schemas.microsoft.com/office/drawing/2014/main" id="{34EFDE25-CE3A-45D7-AFAB-2A99884C86D9}"/>
              </a:ext>
            </a:extLst>
          </p:cNvPr>
          <p:cNvSpPr>
            <a:spLocks xmlns:a="http://schemas.openxmlformats.org/drawingml/2006/main" noGrp="1"/>
          </p:cNvSpPr>
          <p:nvPr/>
        </p:nvSpPr>
        <p:spPr>
          <a:xfrm xmlns:a="http://schemas.openxmlformats.org/drawingml/2006/main">
            <a:off x="7562850" y="302895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F766E"/>
                </a:solidFill>
              </a:defRPr>
            </a:pPr>
            <a:r>
              <a:rPr sz="1800" b="1">
                <a:solidFill>
                  <a:srgbClr val="0F766E"/>
                </a:solidFill>
              </a:rPr>
              <a:t>→</a:t>
            </a:r>
          </a:p>
        </p:txBody>
      </p:sp>
      <p:sp>
        <p:nvSpPr>
          <p:cNvPr id="29" name="">
            <a:extLst xmlns:a="http://schemas.openxmlformats.org/drawingml/2006/main">
              <a:ext uri="{FF2B5EF4-FFF2-40B4-BE49-F238E27FC236}">
                <a16:creationId xmlns:a16="http://schemas.microsoft.com/office/drawing/2014/main" id="{76C1C450-D0BB-41B4-B1C0-7168D78A7590}"/>
              </a:ext>
            </a:extLst>
          </p:cNvPr>
          <p:cNvSpPr>
            <a:spLocks xmlns:a="http://schemas.openxmlformats.org/drawingml/2006/main" noGrp="1"/>
          </p:cNvSpPr>
          <p:nvPr/>
        </p:nvSpPr>
        <p:spPr>
          <a:xfrm xmlns:a="http://schemas.openxmlformats.org/drawingml/2006/main">
            <a:off x="7772400" y="1809750"/>
            <a:ext cx="1562100" cy="285750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9E5EC"/>
            </a:solidFill>
            <a:prstDash val="solid"/>
          </a:ln>
        </p:spPr>
      </p:sp>
      <p:sp>
        <p:nvSpPr>
          <p:cNvPr id="30" name="">
            <a:extLst xmlns:a="http://schemas.openxmlformats.org/drawingml/2006/main">
              <a:ext uri="{FF2B5EF4-FFF2-40B4-BE49-F238E27FC236}">
                <a16:creationId xmlns:a16="http://schemas.microsoft.com/office/drawing/2014/main" id="{7141FD41-CA59-4230-8C2F-6A651D60D793}"/>
              </a:ext>
            </a:extLst>
          </p:cNvPr>
          <p:cNvSpPr>
            <a:spLocks xmlns:a="http://schemas.openxmlformats.org/drawingml/2006/main" noGrp="1"/>
          </p:cNvSpPr>
          <p:nvPr/>
        </p:nvSpPr>
        <p:spPr>
          <a:xfrm xmlns:a="http://schemas.openxmlformats.org/drawingml/2006/main">
            <a:off x="8229600" y="2095500"/>
            <a:ext cx="647700" cy="647700"/>
          </a:xfrm>
          <a:prstGeom xmlns:a="http://schemas.openxmlformats.org/drawingml/2006/main" prst="roundRect">
            <a:avLst>
              <a:gd name="adj" fmla="val 23529"/>
            </a:avLst>
          </a:prstGeom>
          <a:solidFill xmlns:a="http://schemas.openxmlformats.org/drawingml/2006/main">
            <a:srgbClr val="075985"/>
          </a:solidFill>
          <a:ln xmlns:a="http://schemas.openxmlformats.org/drawingml/2006/main" w="9525">
            <a:solidFill>
              <a:srgbClr val="075985"/>
            </a:solidFill>
            <a:prstDash val="solid"/>
          </a:ln>
        </p:spPr>
      </p:sp>
      <p:sp>
        <p:nvSpPr>
          <p:cNvPr id="31" name="">
            <a:extLst xmlns:a="http://schemas.openxmlformats.org/drawingml/2006/main">
              <a:ext uri="{FF2B5EF4-FFF2-40B4-BE49-F238E27FC236}">
                <a16:creationId xmlns:a16="http://schemas.microsoft.com/office/drawing/2014/main" id="{BB7E52C1-30DC-47F0-8EC9-F06B7523296C}"/>
              </a:ext>
            </a:extLst>
          </p:cNvPr>
          <p:cNvSpPr>
            <a:spLocks xmlns:a="http://schemas.openxmlformats.org/drawingml/2006/main" noGrp="1"/>
          </p:cNvSpPr>
          <p:nvPr/>
        </p:nvSpPr>
        <p:spPr>
          <a:xfrm xmlns:a="http://schemas.openxmlformats.org/drawingml/2006/main">
            <a:off x="8401050" y="22479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5</a:t>
            </a:r>
          </a:p>
        </p:txBody>
      </p:sp>
      <p:sp>
        <p:nvSpPr>
          <p:cNvPr id="32" name="">
            <a:extLst xmlns:a="http://schemas.openxmlformats.org/drawingml/2006/main">
              <a:ext uri="{FF2B5EF4-FFF2-40B4-BE49-F238E27FC236}">
                <a16:creationId xmlns:a16="http://schemas.microsoft.com/office/drawing/2014/main" id="{309CEA2F-216E-47E0-9DAC-5D05389BE535}"/>
              </a:ext>
            </a:extLst>
          </p:cNvPr>
          <p:cNvSpPr>
            <a:spLocks xmlns:a="http://schemas.openxmlformats.org/drawingml/2006/main" noGrp="1"/>
          </p:cNvSpPr>
          <p:nvPr/>
        </p:nvSpPr>
        <p:spPr>
          <a:xfrm xmlns:a="http://schemas.openxmlformats.org/drawingml/2006/main">
            <a:off x="7905750" y="3048000"/>
            <a:ext cx="1295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Signing</a:t>
            </a:r>
          </a:p>
        </p:txBody>
      </p:sp>
      <p:sp>
        <p:nvSpPr>
          <p:cNvPr id="33" name="">
            <a:extLst xmlns:a="http://schemas.openxmlformats.org/drawingml/2006/main">
              <a:ext uri="{FF2B5EF4-FFF2-40B4-BE49-F238E27FC236}">
                <a16:creationId xmlns:a16="http://schemas.microsoft.com/office/drawing/2014/main" id="{3F10EE77-FCC0-484E-8E0E-A7DFDC8A1383}"/>
              </a:ext>
            </a:extLst>
          </p:cNvPr>
          <p:cNvSpPr>
            <a:spLocks xmlns:a="http://schemas.openxmlformats.org/drawingml/2006/main" noGrp="1"/>
          </p:cNvSpPr>
          <p:nvPr/>
        </p:nvSpPr>
        <p:spPr>
          <a:xfrm xmlns:a="http://schemas.openxmlformats.org/drawingml/2006/main">
            <a:off x="7905750" y="3714750"/>
            <a:ext cx="1295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273"/>
                </a:solidFill>
              </a:defRPr>
            </a:pPr>
            <a:r>
              <a:rPr sz="1200" b="0">
                <a:solidFill>
                  <a:srgbClr val="526273"/>
                </a:solidFill>
              </a:rPr>
              <a:t>keystore Android + Authenticode Windows</a:t>
            </a:r>
          </a:p>
        </p:txBody>
      </p:sp>
      <p:sp>
        <p:nvSpPr>
          <p:cNvPr id="34" name="">
            <a:extLst xmlns:a="http://schemas.openxmlformats.org/drawingml/2006/main">
              <a:ext uri="{FF2B5EF4-FFF2-40B4-BE49-F238E27FC236}">
                <a16:creationId xmlns:a16="http://schemas.microsoft.com/office/drawing/2014/main" id="{52F9A700-D0D1-41A7-BB68-E8C338931E04}"/>
              </a:ext>
            </a:extLst>
          </p:cNvPr>
          <p:cNvSpPr>
            <a:spLocks xmlns:a="http://schemas.openxmlformats.org/drawingml/2006/main" noGrp="1"/>
          </p:cNvSpPr>
          <p:nvPr/>
        </p:nvSpPr>
        <p:spPr>
          <a:xfrm xmlns:a="http://schemas.openxmlformats.org/drawingml/2006/main">
            <a:off x="9353550" y="3028950"/>
            <a:ext cx="209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F766E"/>
                </a:solidFill>
              </a:defRPr>
            </a:pPr>
            <a:r>
              <a:rPr sz="1800" b="1">
                <a:solidFill>
                  <a:srgbClr val="0F766E"/>
                </a:solidFill>
              </a:rPr>
              <a:t>→</a:t>
            </a:r>
          </a:p>
        </p:txBody>
      </p:sp>
      <p:sp>
        <p:nvSpPr>
          <p:cNvPr id="35" name="">
            <a:extLst xmlns:a="http://schemas.openxmlformats.org/drawingml/2006/main">
              <a:ext uri="{FF2B5EF4-FFF2-40B4-BE49-F238E27FC236}">
                <a16:creationId xmlns:a16="http://schemas.microsoft.com/office/drawing/2014/main" id="{D488845B-5007-4B9A-86F2-8CB02A616B0F}"/>
              </a:ext>
            </a:extLst>
          </p:cNvPr>
          <p:cNvSpPr>
            <a:spLocks xmlns:a="http://schemas.openxmlformats.org/drawingml/2006/main" noGrp="1"/>
          </p:cNvSpPr>
          <p:nvPr/>
        </p:nvSpPr>
        <p:spPr>
          <a:xfrm xmlns:a="http://schemas.openxmlformats.org/drawingml/2006/main">
            <a:off x="9563100" y="1809750"/>
            <a:ext cx="1562100" cy="2857500"/>
          </a:xfrm>
          <a:prstGeom xmlns:a="http://schemas.openxmlformats.org/drawingml/2006/main" prst="roundRect">
            <a:avLst>
              <a:gd name="adj" fmla="val 9756"/>
            </a:avLst>
          </a:prstGeom>
          <a:solidFill xmlns:a="http://schemas.openxmlformats.org/drawingml/2006/main">
            <a:srgbClr val="DCFCE7"/>
          </a:solidFill>
          <a:ln xmlns:a="http://schemas.openxmlformats.org/drawingml/2006/main" w="9525">
            <a:solidFill>
              <a:srgbClr val="15803D"/>
            </a:solidFill>
            <a:prstDash val="solid"/>
          </a:ln>
        </p:spPr>
      </p:sp>
      <p:sp>
        <p:nvSpPr>
          <p:cNvPr id="36" name="">
            <a:extLst xmlns:a="http://schemas.openxmlformats.org/drawingml/2006/main">
              <a:ext uri="{FF2B5EF4-FFF2-40B4-BE49-F238E27FC236}">
                <a16:creationId xmlns:a16="http://schemas.microsoft.com/office/drawing/2014/main" id="{36D3FD88-9627-49ED-8A18-436AF1A55313}"/>
              </a:ext>
            </a:extLst>
          </p:cNvPr>
          <p:cNvSpPr>
            <a:spLocks xmlns:a="http://schemas.openxmlformats.org/drawingml/2006/main" noGrp="1"/>
          </p:cNvSpPr>
          <p:nvPr/>
        </p:nvSpPr>
        <p:spPr>
          <a:xfrm xmlns:a="http://schemas.openxmlformats.org/drawingml/2006/main">
            <a:off x="10020300" y="2095500"/>
            <a:ext cx="647700" cy="647700"/>
          </a:xfrm>
          <a:prstGeom xmlns:a="http://schemas.openxmlformats.org/drawingml/2006/main" prst="roundRect">
            <a:avLst>
              <a:gd name="adj" fmla="val 23529"/>
            </a:avLst>
          </a:prstGeom>
          <a:solidFill xmlns:a="http://schemas.openxmlformats.org/drawingml/2006/main">
            <a:srgbClr val="15803D"/>
          </a:solidFill>
          <a:ln xmlns:a="http://schemas.openxmlformats.org/drawingml/2006/main" w="9525">
            <a:solidFill>
              <a:srgbClr val="15803D"/>
            </a:solidFill>
            <a:prstDash val="solid"/>
          </a:ln>
        </p:spPr>
      </p:sp>
      <p:sp>
        <p:nvSpPr>
          <p:cNvPr id="37" name="">
            <a:extLst xmlns:a="http://schemas.openxmlformats.org/drawingml/2006/main">
              <a:ext uri="{FF2B5EF4-FFF2-40B4-BE49-F238E27FC236}">
                <a16:creationId xmlns:a16="http://schemas.microsoft.com/office/drawing/2014/main" id="{B668C2FB-05C1-4E58-A15F-469B2EA3EEE3}"/>
              </a:ext>
            </a:extLst>
          </p:cNvPr>
          <p:cNvSpPr>
            <a:spLocks xmlns:a="http://schemas.openxmlformats.org/drawingml/2006/main" noGrp="1"/>
          </p:cNvSpPr>
          <p:nvPr/>
        </p:nvSpPr>
        <p:spPr>
          <a:xfrm xmlns:a="http://schemas.openxmlformats.org/drawingml/2006/main">
            <a:off x="10191750" y="22479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FFFFF"/>
                </a:solidFill>
              </a:defRPr>
            </a:pPr>
            <a:r>
              <a:rPr sz="1800" b="1">
                <a:solidFill>
                  <a:srgbClr val="FFFFFF"/>
                </a:solidFill>
              </a:rPr>
              <a:t>6</a:t>
            </a:r>
          </a:p>
        </p:txBody>
      </p:sp>
      <p:sp>
        <p:nvSpPr>
          <p:cNvPr id="38" name="">
            <a:extLst xmlns:a="http://schemas.openxmlformats.org/drawingml/2006/main">
              <a:ext uri="{FF2B5EF4-FFF2-40B4-BE49-F238E27FC236}">
                <a16:creationId xmlns:a16="http://schemas.microsoft.com/office/drawing/2014/main" id="{C054B818-90FF-472C-B2B1-3F79DCC02733}"/>
              </a:ext>
            </a:extLst>
          </p:cNvPr>
          <p:cNvSpPr>
            <a:spLocks xmlns:a="http://schemas.openxmlformats.org/drawingml/2006/main" noGrp="1"/>
          </p:cNvSpPr>
          <p:nvPr/>
        </p:nvSpPr>
        <p:spPr>
          <a:xfrm xmlns:a="http://schemas.openxmlformats.org/drawingml/2006/main">
            <a:off x="9696450" y="3048000"/>
            <a:ext cx="1295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B1F33"/>
                </a:solidFill>
              </a:defRPr>
            </a:pPr>
            <a:r>
              <a:rPr sz="1425" b="1">
                <a:solidFill>
                  <a:srgbClr val="0B1F33"/>
                </a:solidFill>
              </a:rPr>
              <a:t>Pilot &amp; monitor</a:t>
            </a:r>
          </a:p>
        </p:txBody>
      </p:sp>
      <p:sp>
        <p:nvSpPr>
          <p:cNvPr id="39" name="">
            <a:extLst xmlns:a="http://schemas.openxmlformats.org/drawingml/2006/main">
              <a:ext uri="{FF2B5EF4-FFF2-40B4-BE49-F238E27FC236}">
                <a16:creationId xmlns:a16="http://schemas.microsoft.com/office/drawing/2014/main" id="{2CC916A6-3C63-4DCB-8480-47F7DE68CA05}"/>
              </a:ext>
            </a:extLst>
          </p:cNvPr>
          <p:cNvSpPr>
            <a:spLocks xmlns:a="http://schemas.openxmlformats.org/drawingml/2006/main" noGrp="1"/>
          </p:cNvSpPr>
          <p:nvPr/>
        </p:nvSpPr>
        <p:spPr>
          <a:xfrm xmlns:a="http://schemas.openxmlformats.org/drawingml/2006/main">
            <a:off x="9696450" y="3714750"/>
            <a:ext cx="1295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26273"/>
                </a:solidFill>
              </a:defRPr>
            </a:pPr>
            <a:r>
              <a:rPr sz="1200" b="0">
                <a:solidFill>
                  <a:srgbClr val="526273"/>
                </a:solidFill>
              </a:rPr>
              <a:t>rollback bila kontrol kritis gagal</a:t>
            </a:r>
          </a:p>
        </p:txBody>
      </p:sp>
      <p:sp>
        <p:nvSpPr>
          <p:cNvPr id="40" name="">
            <a:extLst xmlns:a="http://schemas.openxmlformats.org/drawingml/2006/main">
              <a:ext uri="{FF2B5EF4-FFF2-40B4-BE49-F238E27FC236}">
                <a16:creationId xmlns:a16="http://schemas.microsoft.com/office/drawing/2014/main" id="{F62867B6-5DAB-4B59-8239-3096015B2840}"/>
              </a:ext>
            </a:extLst>
          </p:cNvPr>
          <p:cNvSpPr>
            <a:spLocks xmlns:a="http://schemas.openxmlformats.org/drawingml/2006/main" noGrp="1"/>
          </p:cNvSpPr>
          <p:nvPr/>
        </p:nvSpPr>
        <p:spPr>
          <a:xfrm xmlns:a="http://schemas.openxmlformats.org/drawingml/2006/main">
            <a:off x="609600" y="5048250"/>
            <a:ext cx="10515600" cy="857250"/>
          </a:xfrm>
          <a:prstGeom xmlns:a="http://schemas.openxmlformats.org/drawingml/2006/main" prst="roundRect">
            <a:avLst>
              <a:gd name="adj" fmla="val 13333"/>
            </a:avLst>
          </a:prstGeom>
          <a:solidFill xmlns:a="http://schemas.openxmlformats.org/drawingml/2006/main">
            <a:srgbClr val="FEE2E2"/>
          </a:solidFill>
          <a:ln xmlns:a="http://schemas.openxmlformats.org/drawingml/2006/main" w="9525">
            <a:solidFill>
              <a:srgbClr val="B91C1C"/>
            </a:solidFill>
            <a:prstDash val="solid"/>
          </a:ln>
        </p:spPr>
      </p:sp>
      <p:sp>
        <p:nvSpPr>
          <p:cNvPr id="41" name="">
            <a:extLst xmlns:a="http://schemas.openxmlformats.org/drawingml/2006/main">
              <a:ext uri="{FF2B5EF4-FFF2-40B4-BE49-F238E27FC236}">
                <a16:creationId xmlns:a16="http://schemas.microsoft.com/office/drawing/2014/main" id="{ACDB1F94-7D03-4851-A18B-4469C2C008B9}"/>
              </a:ext>
            </a:extLst>
          </p:cNvPr>
          <p:cNvSpPr>
            <a:spLocks xmlns:a="http://schemas.openxmlformats.org/drawingml/2006/main" noGrp="1"/>
          </p:cNvSpPr>
          <p:nvPr/>
        </p:nvSpPr>
        <p:spPr>
          <a:xfrm xmlns:a="http://schemas.openxmlformats.org/drawingml/2006/main">
            <a:off x="876300" y="5276850"/>
            <a:ext cx="9982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91C1C"/>
                </a:solidFill>
              </a:defRPr>
            </a:pPr>
            <a:r>
              <a:rPr sz="1350" b="1">
                <a:solidFill>
                  <a:srgbClr val="B91C1C"/>
                </a:solidFill>
              </a:rPr>
              <a:t>Rollback bila stok tidak terlacak, batch ED dapat dijual, privasi bocor, pembayaran tanpa sumber, jurnal tidak seimbang, atau laporan material berbeda.</a:t>
            </a:r>
          </a:p>
        </p:txBody>
      </p:sp>
    </p:spTree>
    <p:extLst>
      <p:ext uri="{BB962C8B-B14F-4D97-AF65-F5344CB8AC3E}">
        <p14:creationId xmlns:p14="http://schemas.microsoft.com/office/powerpoint/2010/main" val="1631061443"/>
      </p:ext>
    </p:extLst>
  </p:cSld>
</p:sld>
</file>

<file path=ppt/slides/slide2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501E5AE-7865-4245-B7AB-4ECE16B56A07}"/>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766E"/>
                </a:solidFill>
              </a:defRPr>
            </a:pPr>
            <a:r>
              <a:rPr sz="975" b="1">
                <a:solidFill>
                  <a:srgbClr val="0F766E"/>
                </a:solidFill>
              </a:rPr>
              <a:t>KEPUTUSAN</a:t>
            </a:r>
          </a:p>
        </p:txBody>
      </p:sp>
      <p:sp>
        <p:nvSpPr>
          <p:cNvPr id="2" name="">
            <a:extLst xmlns:a="http://schemas.openxmlformats.org/drawingml/2006/main">
              <a:ext uri="{FF2B5EF4-FFF2-40B4-BE49-F238E27FC236}">
                <a16:creationId xmlns:a16="http://schemas.microsoft.com/office/drawing/2014/main" id="{CA4AD706-BDCD-4E14-AB6E-4C4013E0CF87}"/>
              </a:ext>
            </a:extLst>
          </p:cNvPr>
          <p:cNvSpPr>
            <a:spLocks xmlns:a="http://schemas.openxmlformats.org/drawingml/2006/main" noGrp="1"/>
          </p:cNvSpPr>
          <p:nvPr/>
        </p:nvSpPr>
        <p:spPr>
          <a:xfrm xmlns:a="http://schemas.openxmlformats.org/drawingml/2006/main">
            <a:off x="609600" y="6381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B1F33"/>
                </a:solidFill>
              </a:defRPr>
            </a:pPr>
            <a:r>
              <a:rPr sz="2700" b="1">
                <a:solidFill>
                  <a:srgbClr val="0B1F33"/>
                </a:solidFill>
              </a:rPr>
              <a:t>Sign-off lintas pemilik proses</a:t>
            </a:r>
          </a:p>
        </p:txBody>
      </p:sp>
      <p:sp>
        <p:nvSpPr>
          <p:cNvPr id="3" name="">
            <a:extLst xmlns:a="http://schemas.openxmlformats.org/drawingml/2006/main">
              <a:ext uri="{FF2B5EF4-FFF2-40B4-BE49-F238E27FC236}">
                <a16:creationId xmlns:a16="http://schemas.microsoft.com/office/drawing/2014/main" id="{762C4830-48E3-4984-8756-F56E81338F09}"/>
              </a:ext>
            </a:extLst>
          </p:cNvPr>
          <p:cNvSpPr>
            <a:spLocks xmlns:a="http://schemas.openxmlformats.org/drawingml/2006/main" noGrp="1"/>
          </p:cNvSpPr>
          <p:nvPr/>
        </p:nvSpPr>
        <p:spPr>
          <a:xfrm xmlns:a="http://schemas.openxmlformats.org/drawingml/2006/main">
            <a:off x="609600" y="650557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POS APOTIK • v1.34.23 • 25</a:t>
            </a:r>
          </a:p>
        </p:txBody>
      </p:sp>
      <p:sp>
        <p:nvSpPr>
          <p:cNvPr id="4" name="">
            <a:extLst xmlns:a="http://schemas.openxmlformats.org/drawingml/2006/main">
              <a:ext uri="{FF2B5EF4-FFF2-40B4-BE49-F238E27FC236}">
                <a16:creationId xmlns:a16="http://schemas.microsoft.com/office/drawing/2014/main" id="{81A22598-05D4-44A1-8F04-E7C232D9ED24}"/>
              </a:ext>
            </a:extLst>
          </p:cNvPr>
          <p:cNvSpPr>
            <a:spLocks xmlns:a="http://schemas.openxmlformats.org/drawingml/2006/main" noGrp="1"/>
          </p:cNvSpPr>
          <p:nvPr/>
        </p:nvSpPr>
        <p:spPr>
          <a:xfrm xmlns:a="http://schemas.openxmlformats.org/drawingml/2006/main">
            <a:off x="11144250" y="64579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075985"/>
                </a:solidFill>
              </a:defRPr>
            </a:pPr>
            <a:r>
              <a:rPr sz="975" b="1">
                <a:solidFill>
                  <a:srgbClr val="075985"/>
                </a:solidFill>
              </a:rPr>
              <a:t>25</a:t>
            </a:r>
          </a:p>
        </p:txBody>
      </p:sp>
      <p:sp>
        <p:nvSpPr>
          <p:cNvPr id="5" name="">
            <a:extLst xmlns:a="http://schemas.openxmlformats.org/drawingml/2006/main">
              <a:ext uri="{FF2B5EF4-FFF2-40B4-BE49-F238E27FC236}">
                <a16:creationId xmlns:a16="http://schemas.microsoft.com/office/drawing/2014/main" id="{406C1D01-9C3C-427A-9239-0DA6FB51C041}"/>
              </a:ext>
            </a:extLst>
          </p:cNvPr>
          <p:cNvSpPr>
            <a:spLocks xmlns:a="http://schemas.openxmlformats.org/drawingml/2006/main" noGrp="1"/>
          </p:cNvSpPr>
          <p:nvPr/>
        </p:nvSpPr>
        <p:spPr>
          <a:xfrm xmlns:a="http://schemas.openxmlformats.org/drawingml/2006/main">
            <a:off x="609600" y="1524000"/>
            <a:ext cx="3276600"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D9E5EC"/>
            </a:solidFill>
            <a:prstDash val="solid"/>
          </a:ln>
        </p:spPr>
      </p:sp>
      <p:sp>
        <p:nvSpPr>
          <p:cNvPr id="6" name="">
            <a:extLst xmlns:a="http://schemas.openxmlformats.org/drawingml/2006/main">
              <a:ext uri="{FF2B5EF4-FFF2-40B4-BE49-F238E27FC236}">
                <a16:creationId xmlns:a16="http://schemas.microsoft.com/office/drawing/2014/main" id="{E460C29C-BEAB-4DC0-BD1E-281CD0983C63}"/>
              </a:ext>
            </a:extLst>
          </p:cNvPr>
          <p:cNvSpPr>
            <a:spLocks xmlns:a="http://schemas.openxmlformats.org/drawingml/2006/main" noGrp="1"/>
          </p:cNvSpPr>
          <p:nvPr/>
        </p:nvSpPr>
        <p:spPr>
          <a:xfrm xmlns:a="http://schemas.openxmlformats.org/drawingml/2006/main">
            <a:off x="819150" y="1733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B1F33"/>
                </a:solidFill>
              </a:defRPr>
            </a:pPr>
            <a:r>
              <a:rPr sz="1425" b="1">
                <a:solidFill>
                  <a:srgbClr val="0B1F33"/>
                </a:solidFill>
              </a:rPr>
              <a:t>Owner Apotik</a:t>
            </a:r>
          </a:p>
        </p:txBody>
      </p:sp>
      <p:sp>
        <p:nvSpPr>
          <p:cNvPr id="7" name="">
            <a:extLst xmlns:a="http://schemas.openxmlformats.org/drawingml/2006/main">
              <a:ext uri="{FF2B5EF4-FFF2-40B4-BE49-F238E27FC236}">
                <a16:creationId xmlns:a16="http://schemas.microsoft.com/office/drawing/2014/main" id="{32084B4D-5B98-40C1-B7FE-EB8F57B7F109}"/>
              </a:ext>
            </a:extLst>
          </p:cNvPr>
          <p:cNvSpPr>
            <a:spLocks xmlns:a="http://schemas.openxmlformats.org/drawingml/2006/main" noGrp="1"/>
          </p:cNvSpPr>
          <p:nvPr/>
        </p:nvSpPr>
        <p:spPr>
          <a:xfrm xmlns:a="http://schemas.openxmlformats.org/drawingml/2006/main">
            <a:off x="819150" y="2209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Keputusan: __________________</a:t>
            </a:r>
          </a:p>
        </p:txBody>
      </p:sp>
      <p:sp>
        <p:nvSpPr>
          <p:cNvPr id="8" name="">
            <a:extLst xmlns:a="http://schemas.openxmlformats.org/drawingml/2006/main">
              <a:ext uri="{FF2B5EF4-FFF2-40B4-BE49-F238E27FC236}">
                <a16:creationId xmlns:a16="http://schemas.microsoft.com/office/drawing/2014/main" id="{945352D2-7D47-4476-8A42-1EBDA58EB32E}"/>
              </a:ext>
            </a:extLst>
          </p:cNvPr>
          <p:cNvSpPr>
            <a:spLocks xmlns:a="http://schemas.openxmlformats.org/drawingml/2006/main" noGrp="1"/>
          </p:cNvSpPr>
          <p:nvPr/>
        </p:nvSpPr>
        <p:spPr>
          <a:xfrm xmlns:a="http://schemas.openxmlformats.org/drawingml/2006/main">
            <a:off x="819150" y="2552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Tanggal / paraf: _____________</a:t>
            </a:r>
          </a:p>
        </p:txBody>
      </p:sp>
      <p:sp>
        <p:nvSpPr>
          <p:cNvPr id="9" name="">
            <a:extLst xmlns:a="http://schemas.openxmlformats.org/drawingml/2006/main">
              <a:ext uri="{FF2B5EF4-FFF2-40B4-BE49-F238E27FC236}">
                <a16:creationId xmlns:a16="http://schemas.microsoft.com/office/drawing/2014/main" id="{47ADF710-B26B-496A-865A-CFC4931D4125}"/>
              </a:ext>
            </a:extLst>
          </p:cNvPr>
          <p:cNvSpPr>
            <a:spLocks xmlns:a="http://schemas.openxmlformats.org/drawingml/2006/main" noGrp="1"/>
          </p:cNvSpPr>
          <p:nvPr/>
        </p:nvSpPr>
        <p:spPr>
          <a:xfrm xmlns:a="http://schemas.openxmlformats.org/drawingml/2006/main">
            <a:off x="4191000" y="1524000"/>
            <a:ext cx="3276600"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D9E5EC"/>
            </a:solidFill>
            <a:prstDash val="solid"/>
          </a:ln>
        </p:spPr>
      </p:sp>
      <p:sp>
        <p:nvSpPr>
          <p:cNvPr id="10" name="">
            <a:extLst xmlns:a="http://schemas.openxmlformats.org/drawingml/2006/main">
              <a:ext uri="{FF2B5EF4-FFF2-40B4-BE49-F238E27FC236}">
                <a16:creationId xmlns:a16="http://schemas.microsoft.com/office/drawing/2014/main" id="{9D5D3987-10CE-4F49-9E82-4CC25B65E563}"/>
              </a:ext>
            </a:extLst>
          </p:cNvPr>
          <p:cNvSpPr>
            <a:spLocks xmlns:a="http://schemas.openxmlformats.org/drawingml/2006/main" noGrp="1"/>
          </p:cNvSpPr>
          <p:nvPr/>
        </p:nvSpPr>
        <p:spPr>
          <a:xfrm xmlns:a="http://schemas.openxmlformats.org/drawingml/2006/main">
            <a:off x="4400550" y="1733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B1F33"/>
                </a:solidFill>
              </a:defRPr>
            </a:pPr>
            <a:r>
              <a:rPr sz="1425" b="1">
                <a:solidFill>
                  <a:srgbClr val="0B1F33"/>
                </a:solidFill>
              </a:rPr>
              <a:t>Apoteker PJ</a:t>
            </a:r>
          </a:p>
        </p:txBody>
      </p:sp>
      <p:sp>
        <p:nvSpPr>
          <p:cNvPr id="11" name="">
            <a:extLst xmlns:a="http://schemas.openxmlformats.org/drawingml/2006/main">
              <a:ext uri="{FF2B5EF4-FFF2-40B4-BE49-F238E27FC236}">
                <a16:creationId xmlns:a16="http://schemas.microsoft.com/office/drawing/2014/main" id="{D4148679-EAEB-4ADA-B01D-A0C1D6DF70B2}"/>
              </a:ext>
            </a:extLst>
          </p:cNvPr>
          <p:cNvSpPr>
            <a:spLocks xmlns:a="http://schemas.openxmlformats.org/drawingml/2006/main" noGrp="1"/>
          </p:cNvSpPr>
          <p:nvPr/>
        </p:nvSpPr>
        <p:spPr>
          <a:xfrm xmlns:a="http://schemas.openxmlformats.org/drawingml/2006/main">
            <a:off x="4400550" y="2209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Keputusan: __________________</a:t>
            </a:r>
          </a:p>
        </p:txBody>
      </p:sp>
      <p:sp>
        <p:nvSpPr>
          <p:cNvPr id="12" name="">
            <a:extLst xmlns:a="http://schemas.openxmlformats.org/drawingml/2006/main">
              <a:ext uri="{FF2B5EF4-FFF2-40B4-BE49-F238E27FC236}">
                <a16:creationId xmlns:a16="http://schemas.microsoft.com/office/drawing/2014/main" id="{CD1B35FA-E452-4EA3-B509-E56B41405553}"/>
              </a:ext>
            </a:extLst>
          </p:cNvPr>
          <p:cNvSpPr>
            <a:spLocks xmlns:a="http://schemas.openxmlformats.org/drawingml/2006/main" noGrp="1"/>
          </p:cNvSpPr>
          <p:nvPr/>
        </p:nvSpPr>
        <p:spPr>
          <a:xfrm xmlns:a="http://schemas.openxmlformats.org/drawingml/2006/main">
            <a:off x="4400550" y="2552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Tanggal / paraf: _____________</a:t>
            </a:r>
          </a:p>
        </p:txBody>
      </p:sp>
      <p:sp>
        <p:nvSpPr>
          <p:cNvPr id="13" name="">
            <a:extLst xmlns:a="http://schemas.openxmlformats.org/drawingml/2006/main">
              <a:ext uri="{FF2B5EF4-FFF2-40B4-BE49-F238E27FC236}">
                <a16:creationId xmlns:a16="http://schemas.microsoft.com/office/drawing/2014/main" id="{8C192AED-DC65-4B85-B526-9ECE43156F4E}"/>
              </a:ext>
            </a:extLst>
          </p:cNvPr>
          <p:cNvSpPr>
            <a:spLocks xmlns:a="http://schemas.openxmlformats.org/drawingml/2006/main" noGrp="1"/>
          </p:cNvSpPr>
          <p:nvPr/>
        </p:nvSpPr>
        <p:spPr>
          <a:xfrm xmlns:a="http://schemas.openxmlformats.org/drawingml/2006/main">
            <a:off x="7772400" y="1524000"/>
            <a:ext cx="3276600"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D9E5EC"/>
            </a:solidFill>
            <a:prstDash val="solid"/>
          </a:ln>
        </p:spPr>
      </p:sp>
      <p:sp>
        <p:nvSpPr>
          <p:cNvPr id="14" name="">
            <a:extLst xmlns:a="http://schemas.openxmlformats.org/drawingml/2006/main">
              <a:ext uri="{FF2B5EF4-FFF2-40B4-BE49-F238E27FC236}">
                <a16:creationId xmlns:a16="http://schemas.microsoft.com/office/drawing/2014/main" id="{C86871B1-60C0-4092-A82C-57AE14814CF5}"/>
              </a:ext>
            </a:extLst>
          </p:cNvPr>
          <p:cNvSpPr>
            <a:spLocks xmlns:a="http://schemas.openxmlformats.org/drawingml/2006/main" noGrp="1"/>
          </p:cNvSpPr>
          <p:nvPr/>
        </p:nvSpPr>
        <p:spPr>
          <a:xfrm xmlns:a="http://schemas.openxmlformats.org/drawingml/2006/main">
            <a:off x="7981950" y="1733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B1F33"/>
                </a:solidFill>
              </a:defRPr>
            </a:pPr>
            <a:r>
              <a:rPr sz="1425" b="1">
                <a:solidFill>
                  <a:srgbClr val="0B1F33"/>
                </a:solidFill>
              </a:rPr>
              <a:t>Procurement</a:t>
            </a:r>
          </a:p>
        </p:txBody>
      </p:sp>
      <p:sp>
        <p:nvSpPr>
          <p:cNvPr id="15" name="">
            <a:extLst xmlns:a="http://schemas.openxmlformats.org/drawingml/2006/main">
              <a:ext uri="{FF2B5EF4-FFF2-40B4-BE49-F238E27FC236}">
                <a16:creationId xmlns:a16="http://schemas.microsoft.com/office/drawing/2014/main" id="{CC7A395B-F3B5-4913-A546-81D66CDDC9C1}"/>
              </a:ext>
            </a:extLst>
          </p:cNvPr>
          <p:cNvSpPr>
            <a:spLocks xmlns:a="http://schemas.openxmlformats.org/drawingml/2006/main" noGrp="1"/>
          </p:cNvSpPr>
          <p:nvPr/>
        </p:nvSpPr>
        <p:spPr>
          <a:xfrm xmlns:a="http://schemas.openxmlformats.org/drawingml/2006/main">
            <a:off x="7981950" y="2209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Keputusan: __________________</a:t>
            </a:r>
          </a:p>
        </p:txBody>
      </p:sp>
      <p:sp>
        <p:nvSpPr>
          <p:cNvPr id="16" name="">
            <a:extLst xmlns:a="http://schemas.openxmlformats.org/drawingml/2006/main">
              <a:ext uri="{FF2B5EF4-FFF2-40B4-BE49-F238E27FC236}">
                <a16:creationId xmlns:a16="http://schemas.microsoft.com/office/drawing/2014/main" id="{3E92A68B-14BC-44D9-8EA9-1C482F57FF79}"/>
              </a:ext>
            </a:extLst>
          </p:cNvPr>
          <p:cNvSpPr>
            <a:spLocks xmlns:a="http://schemas.openxmlformats.org/drawingml/2006/main" noGrp="1"/>
          </p:cNvSpPr>
          <p:nvPr/>
        </p:nvSpPr>
        <p:spPr>
          <a:xfrm xmlns:a="http://schemas.openxmlformats.org/drawingml/2006/main">
            <a:off x="7981950" y="2552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Tanggal / paraf: _____________</a:t>
            </a:r>
          </a:p>
        </p:txBody>
      </p:sp>
      <p:sp>
        <p:nvSpPr>
          <p:cNvPr id="17" name="">
            <a:extLst xmlns:a="http://schemas.openxmlformats.org/drawingml/2006/main">
              <a:ext uri="{FF2B5EF4-FFF2-40B4-BE49-F238E27FC236}">
                <a16:creationId xmlns:a16="http://schemas.microsoft.com/office/drawing/2014/main" id="{E814FBF3-CAB4-400E-AFD2-201690784482}"/>
              </a:ext>
            </a:extLst>
          </p:cNvPr>
          <p:cNvSpPr>
            <a:spLocks xmlns:a="http://schemas.openxmlformats.org/drawingml/2006/main" noGrp="1"/>
          </p:cNvSpPr>
          <p:nvPr/>
        </p:nvSpPr>
        <p:spPr>
          <a:xfrm xmlns:a="http://schemas.openxmlformats.org/drawingml/2006/main">
            <a:off x="609600" y="3333750"/>
            <a:ext cx="3276600"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D9E5EC"/>
            </a:solidFill>
            <a:prstDash val="solid"/>
          </a:ln>
        </p:spPr>
      </p:sp>
      <p:sp>
        <p:nvSpPr>
          <p:cNvPr id="18" name="">
            <a:extLst xmlns:a="http://schemas.openxmlformats.org/drawingml/2006/main">
              <a:ext uri="{FF2B5EF4-FFF2-40B4-BE49-F238E27FC236}">
                <a16:creationId xmlns:a16="http://schemas.microsoft.com/office/drawing/2014/main" id="{DD5D3679-A07F-4125-A593-147387B097C4}"/>
              </a:ext>
            </a:extLst>
          </p:cNvPr>
          <p:cNvSpPr>
            <a:spLocks xmlns:a="http://schemas.openxmlformats.org/drawingml/2006/main" noGrp="1"/>
          </p:cNvSpPr>
          <p:nvPr/>
        </p:nvSpPr>
        <p:spPr>
          <a:xfrm xmlns:a="http://schemas.openxmlformats.org/drawingml/2006/main">
            <a:off x="819150" y="35433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B1F33"/>
                </a:solidFill>
              </a:defRPr>
            </a:pPr>
            <a:r>
              <a:rPr sz="1425" b="1">
                <a:solidFill>
                  <a:srgbClr val="0B1F33"/>
                </a:solidFill>
              </a:rPr>
              <a:t>Keuangan/Akuntansi</a:t>
            </a:r>
          </a:p>
        </p:txBody>
      </p:sp>
      <p:sp>
        <p:nvSpPr>
          <p:cNvPr id="19" name="">
            <a:extLst xmlns:a="http://schemas.openxmlformats.org/drawingml/2006/main">
              <a:ext uri="{FF2B5EF4-FFF2-40B4-BE49-F238E27FC236}">
                <a16:creationId xmlns:a16="http://schemas.microsoft.com/office/drawing/2014/main" id="{4DF38316-ECE8-4E9D-BE7E-24DAB9D4E1C3}"/>
              </a:ext>
            </a:extLst>
          </p:cNvPr>
          <p:cNvSpPr>
            <a:spLocks xmlns:a="http://schemas.openxmlformats.org/drawingml/2006/main" noGrp="1"/>
          </p:cNvSpPr>
          <p:nvPr/>
        </p:nvSpPr>
        <p:spPr>
          <a:xfrm xmlns:a="http://schemas.openxmlformats.org/drawingml/2006/main">
            <a:off x="819150" y="4019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Keputusan: __________________</a:t>
            </a:r>
          </a:p>
        </p:txBody>
      </p:sp>
      <p:sp>
        <p:nvSpPr>
          <p:cNvPr id="20" name="">
            <a:extLst xmlns:a="http://schemas.openxmlformats.org/drawingml/2006/main">
              <a:ext uri="{FF2B5EF4-FFF2-40B4-BE49-F238E27FC236}">
                <a16:creationId xmlns:a16="http://schemas.microsoft.com/office/drawing/2014/main" id="{4A4A79A8-997A-4197-997C-FAC10B0CD121}"/>
              </a:ext>
            </a:extLst>
          </p:cNvPr>
          <p:cNvSpPr>
            <a:spLocks xmlns:a="http://schemas.openxmlformats.org/drawingml/2006/main" noGrp="1"/>
          </p:cNvSpPr>
          <p:nvPr/>
        </p:nvSpPr>
        <p:spPr>
          <a:xfrm xmlns:a="http://schemas.openxmlformats.org/drawingml/2006/main">
            <a:off x="819150" y="4362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Tanggal / paraf: _____________</a:t>
            </a:r>
          </a:p>
        </p:txBody>
      </p:sp>
      <p:sp>
        <p:nvSpPr>
          <p:cNvPr id="21" name="">
            <a:extLst xmlns:a="http://schemas.openxmlformats.org/drawingml/2006/main">
              <a:ext uri="{FF2B5EF4-FFF2-40B4-BE49-F238E27FC236}">
                <a16:creationId xmlns:a16="http://schemas.microsoft.com/office/drawing/2014/main" id="{E33A0F0E-E26F-4536-804E-7AE532738CBA}"/>
              </a:ext>
            </a:extLst>
          </p:cNvPr>
          <p:cNvSpPr>
            <a:spLocks xmlns:a="http://schemas.openxmlformats.org/drawingml/2006/main" noGrp="1"/>
          </p:cNvSpPr>
          <p:nvPr/>
        </p:nvSpPr>
        <p:spPr>
          <a:xfrm xmlns:a="http://schemas.openxmlformats.org/drawingml/2006/main">
            <a:off x="4191000" y="3333750"/>
            <a:ext cx="3276600"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D9E5EC"/>
            </a:solidFill>
            <a:prstDash val="solid"/>
          </a:ln>
        </p:spPr>
      </p:sp>
      <p:sp>
        <p:nvSpPr>
          <p:cNvPr id="22" name="">
            <a:extLst xmlns:a="http://schemas.openxmlformats.org/drawingml/2006/main">
              <a:ext uri="{FF2B5EF4-FFF2-40B4-BE49-F238E27FC236}">
                <a16:creationId xmlns:a16="http://schemas.microsoft.com/office/drawing/2014/main" id="{5FE29556-8215-49C1-A220-8C183280DD99}"/>
              </a:ext>
            </a:extLst>
          </p:cNvPr>
          <p:cNvSpPr>
            <a:spLocks xmlns:a="http://schemas.openxmlformats.org/drawingml/2006/main" noGrp="1"/>
          </p:cNvSpPr>
          <p:nvPr/>
        </p:nvSpPr>
        <p:spPr>
          <a:xfrm xmlns:a="http://schemas.openxmlformats.org/drawingml/2006/main">
            <a:off x="4400550" y="35433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B1F33"/>
                </a:solidFill>
              </a:defRPr>
            </a:pPr>
            <a:r>
              <a:rPr sz="1425" b="1">
                <a:solidFill>
                  <a:srgbClr val="0B1F33"/>
                </a:solidFill>
              </a:rPr>
              <a:t>IT/DevOps</a:t>
            </a:r>
          </a:p>
        </p:txBody>
      </p:sp>
      <p:sp>
        <p:nvSpPr>
          <p:cNvPr id="23" name="">
            <a:extLst xmlns:a="http://schemas.openxmlformats.org/drawingml/2006/main">
              <a:ext uri="{FF2B5EF4-FFF2-40B4-BE49-F238E27FC236}">
                <a16:creationId xmlns:a16="http://schemas.microsoft.com/office/drawing/2014/main" id="{DAFC38FA-30FB-41A2-B9F8-0CDAB8369DBC}"/>
              </a:ext>
            </a:extLst>
          </p:cNvPr>
          <p:cNvSpPr>
            <a:spLocks xmlns:a="http://schemas.openxmlformats.org/drawingml/2006/main" noGrp="1"/>
          </p:cNvSpPr>
          <p:nvPr/>
        </p:nvSpPr>
        <p:spPr>
          <a:xfrm xmlns:a="http://schemas.openxmlformats.org/drawingml/2006/main">
            <a:off x="4400550" y="4019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Keputusan: __________________</a:t>
            </a:r>
          </a:p>
        </p:txBody>
      </p:sp>
      <p:sp>
        <p:nvSpPr>
          <p:cNvPr id="24" name="">
            <a:extLst xmlns:a="http://schemas.openxmlformats.org/drawingml/2006/main">
              <a:ext uri="{FF2B5EF4-FFF2-40B4-BE49-F238E27FC236}">
                <a16:creationId xmlns:a16="http://schemas.microsoft.com/office/drawing/2014/main" id="{C015517B-6A01-46AE-8F7D-BB37E937AD4D}"/>
              </a:ext>
            </a:extLst>
          </p:cNvPr>
          <p:cNvSpPr>
            <a:spLocks xmlns:a="http://schemas.openxmlformats.org/drawingml/2006/main" noGrp="1"/>
          </p:cNvSpPr>
          <p:nvPr/>
        </p:nvSpPr>
        <p:spPr>
          <a:xfrm xmlns:a="http://schemas.openxmlformats.org/drawingml/2006/main">
            <a:off x="4400550" y="4362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Tanggal / paraf: _____________</a:t>
            </a:r>
          </a:p>
        </p:txBody>
      </p:sp>
      <p:sp>
        <p:nvSpPr>
          <p:cNvPr id="25" name="">
            <a:extLst xmlns:a="http://schemas.openxmlformats.org/drawingml/2006/main">
              <a:ext uri="{FF2B5EF4-FFF2-40B4-BE49-F238E27FC236}">
                <a16:creationId xmlns:a16="http://schemas.microsoft.com/office/drawing/2014/main" id="{FFA331FB-862B-4D9F-813E-4002F2B78EC7}"/>
              </a:ext>
            </a:extLst>
          </p:cNvPr>
          <p:cNvSpPr>
            <a:spLocks xmlns:a="http://schemas.openxmlformats.org/drawingml/2006/main" noGrp="1"/>
          </p:cNvSpPr>
          <p:nvPr/>
        </p:nvSpPr>
        <p:spPr>
          <a:xfrm xmlns:a="http://schemas.openxmlformats.org/drawingml/2006/main">
            <a:off x="7772400" y="3333750"/>
            <a:ext cx="3276600"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D9E5EC"/>
            </a:solidFill>
            <a:prstDash val="solid"/>
          </a:ln>
        </p:spPr>
      </p:sp>
      <p:sp>
        <p:nvSpPr>
          <p:cNvPr id="26" name="">
            <a:extLst xmlns:a="http://schemas.openxmlformats.org/drawingml/2006/main">
              <a:ext uri="{FF2B5EF4-FFF2-40B4-BE49-F238E27FC236}">
                <a16:creationId xmlns:a16="http://schemas.microsoft.com/office/drawing/2014/main" id="{44234C15-E691-4D1F-ADB3-08801E8D0468}"/>
              </a:ext>
            </a:extLst>
          </p:cNvPr>
          <p:cNvSpPr>
            <a:spLocks xmlns:a="http://schemas.openxmlformats.org/drawingml/2006/main" noGrp="1"/>
          </p:cNvSpPr>
          <p:nvPr/>
        </p:nvSpPr>
        <p:spPr>
          <a:xfrm xmlns:a="http://schemas.openxmlformats.org/drawingml/2006/main">
            <a:off x="7981950" y="35433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0B1F33"/>
                </a:solidFill>
              </a:defRPr>
            </a:pPr>
            <a:r>
              <a:rPr sz="1425" b="1">
                <a:solidFill>
                  <a:srgbClr val="0B1F33"/>
                </a:solidFill>
              </a:rPr>
              <a:t>Keamanan/Privasi</a:t>
            </a:r>
          </a:p>
        </p:txBody>
      </p:sp>
      <p:sp>
        <p:nvSpPr>
          <p:cNvPr id="27" name="">
            <a:extLst xmlns:a="http://schemas.openxmlformats.org/drawingml/2006/main">
              <a:ext uri="{FF2B5EF4-FFF2-40B4-BE49-F238E27FC236}">
                <a16:creationId xmlns:a16="http://schemas.microsoft.com/office/drawing/2014/main" id="{223E4034-6B51-49FC-B462-74D9AA3194F4}"/>
              </a:ext>
            </a:extLst>
          </p:cNvPr>
          <p:cNvSpPr>
            <a:spLocks xmlns:a="http://schemas.openxmlformats.org/drawingml/2006/main" noGrp="1"/>
          </p:cNvSpPr>
          <p:nvPr/>
        </p:nvSpPr>
        <p:spPr>
          <a:xfrm xmlns:a="http://schemas.openxmlformats.org/drawingml/2006/main">
            <a:off x="7981950" y="4019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Keputusan: __________________</a:t>
            </a:r>
          </a:p>
        </p:txBody>
      </p:sp>
      <p:sp>
        <p:nvSpPr>
          <p:cNvPr id="28" name="">
            <a:extLst xmlns:a="http://schemas.openxmlformats.org/drawingml/2006/main">
              <a:ext uri="{FF2B5EF4-FFF2-40B4-BE49-F238E27FC236}">
                <a16:creationId xmlns:a16="http://schemas.microsoft.com/office/drawing/2014/main" id="{3386908F-F7F6-46F8-A3FC-A42B5D75E12C}"/>
              </a:ext>
            </a:extLst>
          </p:cNvPr>
          <p:cNvSpPr>
            <a:spLocks xmlns:a="http://schemas.openxmlformats.org/drawingml/2006/main" noGrp="1"/>
          </p:cNvSpPr>
          <p:nvPr/>
        </p:nvSpPr>
        <p:spPr>
          <a:xfrm xmlns:a="http://schemas.openxmlformats.org/drawingml/2006/main">
            <a:off x="7981950" y="4362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26273"/>
                </a:solidFill>
              </a:defRPr>
            </a:pPr>
            <a:r>
              <a:rPr sz="1200" b="0">
                <a:solidFill>
                  <a:srgbClr val="526273"/>
                </a:solidFill>
              </a:rPr>
              <a:t>Tanggal / paraf: _____________</a:t>
            </a:r>
          </a:p>
        </p:txBody>
      </p:sp>
      <p:sp>
        <p:nvSpPr>
          <p:cNvPr id="29" name="">
            <a:extLst xmlns:a="http://schemas.openxmlformats.org/drawingml/2006/main">
              <a:ext uri="{FF2B5EF4-FFF2-40B4-BE49-F238E27FC236}">
                <a16:creationId xmlns:a16="http://schemas.microsoft.com/office/drawing/2014/main" id="{01F37F71-A807-421B-B337-D27211408E28}"/>
              </a:ext>
            </a:extLst>
          </p:cNvPr>
          <p:cNvSpPr>
            <a:spLocks xmlns:a="http://schemas.openxmlformats.org/drawingml/2006/main" noGrp="1"/>
          </p:cNvSpPr>
          <p:nvPr/>
        </p:nvSpPr>
        <p:spPr>
          <a:xfrm xmlns:a="http://schemas.openxmlformats.org/drawingml/2006/main">
            <a:off x="609600" y="5381625"/>
            <a:ext cx="10439400" cy="552450"/>
          </a:xfrm>
          <a:prstGeom xmlns:a="http://schemas.openxmlformats.org/drawingml/2006/main" prst="roundRect">
            <a:avLst>
              <a:gd name="adj" fmla="val 20690"/>
            </a:avLst>
          </a:prstGeom>
          <a:solidFill xmlns:a="http://schemas.openxmlformats.org/drawingml/2006/main">
            <a:srgbClr val="FFF7ED"/>
          </a:solidFill>
          <a:ln xmlns:a="http://schemas.openxmlformats.org/drawingml/2006/main" w="9525">
            <a:solidFill>
              <a:srgbClr val="B45309"/>
            </a:solidFill>
            <a:prstDash val="solid"/>
          </a:ln>
        </p:spPr>
      </p:sp>
      <p:sp>
        <p:nvSpPr>
          <p:cNvPr id="30" name="">
            <a:extLst xmlns:a="http://schemas.openxmlformats.org/drawingml/2006/main">
              <a:ext uri="{FF2B5EF4-FFF2-40B4-BE49-F238E27FC236}">
                <a16:creationId xmlns:a16="http://schemas.microsoft.com/office/drawing/2014/main" id="{27E9C3FA-1177-4E47-A1E7-7D23EE16D9C1}"/>
              </a:ext>
            </a:extLst>
          </p:cNvPr>
          <p:cNvSpPr>
            <a:spLocks xmlns:a="http://schemas.openxmlformats.org/drawingml/2006/main" noGrp="1"/>
          </p:cNvSpPr>
          <p:nvPr/>
        </p:nvSpPr>
        <p:spPr>
          <a:xfrm xmlns:a="http://schemas.openxmlformats.org/drawingml/2006/main">
            <a:off x="876300" y="5543550"/>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B45309"/>
                </a:solidFill>
              </a:defRPr>
            </a:pPr>
            <a:r>
              <a:rPr sz="1425" b="1">
                <a:solidFill>
                  <a:srgbClr val="B45309"/>
                </a:solidFill>
              </a:rPr>
              <a:t>Status saat rilis: UAT/PILOT • produksi menunggu seluruh P0 ditutup dan signing resmi</a:t>
            </a:r>
          </a:p>
        </p:txBody>
      </p:sp>
    </p:spTree>
    <p:extLst>
      <p:ext uri="{BB962C8B-B14F-4D97-AF65-F5344CB8AC3E}">
        <p14:creationId xmlns:p14="http://schemas.microsoft.com/office/powerpoint/2010/main" val="20037614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2026-09-04T10:34:33.9880000Z</dcterms:created>
  <dcterms:modified xsi:type="dcterms:W3CDTF">2026-09-04T10:34:33.9880000Z</dcterms:modified>
</coreProperties>
</file>